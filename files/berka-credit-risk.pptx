
<file path=[Content_Types].xml><?xml version="1.0" encoding="utf-8"?>
<Types xmlns="http://schemas.openxmlformats.org/package/2006/content-types">
  <Default ContentType="application/vnd.openxmlformats-officedocument.spreadsheetml.sheet" Extension="xlsx"/>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drawingml.chart+xml" PartName="/ppt/charts/chart9.xml"/>
  <Override ContentType="application/vnd.openxmlformats-officedocument.drawingml.chart+xml" PartName="/ppt/charts/chart2.xml"/>
  <Override ContentType="application/vnd.openxmlformats-officedocument.drawingml.chart+xml" PartName="/ppt/charts/chart7.xml"/>
  <Override ContentType="application/vnd.openxmlformats-officedocument.drawingml.chart+xml" PartName="/ppt/charts/chart4.xml"/>
  <Override ContentType="application/vnd.openxmlformats-officedocument.drawingml.chart+xml" PartName="/ppt/charts/chart6.xml"/>
  <Override ContentType="application/vnd.openxmlformats-officedocument.drawingml.chart+xml" PartName="/ppt/charts/chart1.xml"/>
  <Override ContentType="application/vnd.openxmlformats-officedocument.drawingml.chart+xml" PartName="/ppt/charts/chart10.xml"/>
  <Override ContentType="application/vnd.openxmlformats-officedocument.drawingml.chart+xml" PartName="/ppt/charts/chart12.xml"/>
  <Override ContentType="application/vnd.openxmlformats-officedocument.drawingml.chart+xml" PartName="/ppt/charts/chart14.xml"/>
  <Override ContentType="application/vnd.openxmlformats-officedocument.drawingml.chart+xml" PartName="/ppt/charts/chart3.xml"/>
  <Override ContentType="application/vnd.openxmlformats-officedocument.drawingml.chart+xml" PartName="/ppt/charts/chart8.xml"/>
  <Override ContentType="application/vnd.openxmlformats-officedocument.drawingml.chart+xml" PartName="/ppt/charts/chart5.xml"/>
  <Override ContentType="application/vnd.openxmlformats-officedocument.drawingml.chart+xml" PartName="/ppt/charts/chart11.xml"/>
  <Override ContentType="application/vnd.openxmlformats-officedocument.drawingml.chart+xml" PartName="/ppt/charts/chart13.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 id="2147483650" r:id="rId5"/>
    <p:sldMasterId id="214748365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9" roundtripDataSignature="AMtx7mjUl+iTie51txdIFB2dGaL/CWhon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B324BE7-9142-4693-9B00-A251BD5E6397}">
  <a:tblStyle styleId="{DB324BE7-9142-4693-9B00-A251BD5E6397}"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customschemas.google.com/relationships/presentationmetadata" Target="metadata"/><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Problematic loan rate</c:v>
                </c:pt>
              </c:strCache>
            </c:strRef>
          </c:tx>
          <c:spPr>
            <a:ln w="31750" cap="flat">
              <a:solidFill>
                <a:srgbClr val="B23A2E"/>
              </a:solidFill>
              <a:prstDash val="solid"/>
              <a:round/>
            </a:ln>
            <a:effectLst/>
          </c:spPr>
          <c:marker>
            <c:symbol val="circle"/>
            <c:size val="6"/>
            <c:spPr>
              <a:solidFill>
                <a:srgbClr val="B23A2E"/>
              </a:solidFill>
              <a:ln w="9525" cap="flat">
                <a:solidFill>
                  <a:srgbClr val="B23A2E"/>
                </a:solidFill>
                <a:prstDash val="solid"/>
                <a:round/>
              </a:ln>
              <a:effectLst/>
            </c:spPr>
          </c:marker>
          <c:dLbls>
            <c:numFmt formatCode="0.0&quot;%&quot;" sourceLinked="0"/>
            <c:spPr>
              <a:noFill/>
              <a:ln>
                <a:noFill/>
              </a:ln>
              <a:effectLst/>
            </c:spPr>
            <c:txPr>
              <a:bodyPr/>
              <a:lstStyle/>
              <a:p>
                <a:pPr>
                  <a:defRPr sz="900" b="1" i="0" u="none" strike="noStrike">
                    <a:solidFill>
                      <a:srgbClr val="2B2621"/>
                    </a:solidFill>
                    <a:latin typeface="Aria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1993</c:v>
                </c:pt>
                <c:pt idx="1">
                  <c:v>1994</c:v>
                </c:pt>
                <c:pt idx="2">
                  <c:v>1995</c:v>
                </c:pt>
                <c:pt idx="3">
                  <c:v>1996</c:v>
                </c:pt>
                <c:pt idx="4">
                  <c:v>1997</c:v>
                </c:pt>
                <c:pt idx="5">
                  <c:v>1998</c:v>
                </c:pt>
              </c:strCache>
            </c:strRef>
          </c:cat>
          <c:val>
            <c:numRef>
              <c:f>Sheet1!$B$2:$B$7</c:f>
              <c:numCache>
                <c:formatCode>General</c:formatCode>
                <c:ptCount val="6"/>
                <c:pt idx="0">
                  <c:v>20</c:v>
                </c:pt>
                <c:pt idx="1">
                  <c:v>13.9</c:v>
                </c:pt>
                <c:pt idx="2">
                  <c:v>13.3</c:v>
                </c:pt>
                <c:pt idx="3">
                  <c:v>13.7</c:v>
                </c:pt>
                <c:pt idx="4">
                  <c:v>13.3</c:v>
                </c:pt>
                <c:pt idx="5">
                  <c:v>2.5</c:v>
                </c:pt>
              </c:numCache>
            </c:numRef>
          </c:val>
          <c:smooth val="0"/>
          <c:extLst>
            <c:ext xmlns:c16="http://schemas.microsoft.com/office/drawing/2014/chart" uri="{C3380CC4-5D6E-409C-BE32-E72D297353CC}">
              <c16:uniqueId val="{00000000-EEF0-4FB9-8E24-638D376FD859}"/>
            </c:ext>
          </c:extLst>
        </c:ser>
        <c:dLbls>
          <c:dLblPos val="t"/>
          <c:showLegendKey val="0"/>
          <c:showVal val="1"/>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DE4D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4"/>
        <c:crosses val="autoZero"/>
        <c:crossBetween val="between"/>
      </c:valAx>
      <c:spPr>
        <a:solidFill>
          <a:srgbClr val="FFFFFF"/>
        </a:solidFill>
        <a:ln w="9525" cap="flat">
          <a:solidFill>
            <a:srgbClr val="D8CDB4"/>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Problematic loan rate</c:v>
                </c:pt>
              </c:strCache>
            </c:strRef>
          </c:tx>
          <c:spPr>
            <a:solidFill>
              <a:srgbClr val="C9BFA6"/>
            </a:solidFill>
            <a:effectLst/>
          </c:spPr>
          <c:invertIfNegative val="0"/>
          <c:dPt>
            <c:idx val="0"/>
            <c:invertIfNegative val="0"/>
            <c:bubble3D val="0"/>
            <c:extLst>
              <c:ext xmlns:c16="http://schemas.microsoft.com/office/drawing/2014/chart" uri="{C3380CC4-5D6E-409C-BE32-E72D297353CC}">
                <c16:uniqueId val="{00000001-5E47-449F-BA47-C729EC399B0F}"/>
              </c:ext>
            </c:extLst>
          </c:dPt>
          <c:dPt>
            <c:idx val="1"/>
            <c:invertIfNegative val="0"/>
            <c:bubble3D val="0"/>
            <c:spPr>
              <a:solidFill>
                <a:srgbClr val="B23A2E"/>
              </a:solidFill>
              <a:effectLst/>
            </c:spPr>
            <c:extLst>
              <c:ext xmlns:c16="http://schemas.microsoft.com/office/drawing/2014/chart" uri="{C3380CC4-5D6E-409C-BE32-E72D297353CC}">
                <c16:uniqueId val="{00000003-5E47-449F-BA47-C729EC399B0F}"/>
              </c:ext>
            </c:extLst>
          </c:dPt>
          <c:dLbls>
            <c:numFmt formatCode="0.0&quot;%&quot;" sourceLinked="0"/>
            <c:spPr>
              <a:noFill/>
              <a:ln>
                <a:noFill/>
              </a:ln>
              <a:effectLst/>
            </c:spPr>
            <c:txPr>
              <a:bodyPr/>
              <a:lstStyle/>
              <a:p>
                <a:pPr>
                  <a:defRPr sz="900" b="1" i="0" u="none" strike="noStrike">
                    <a:solidFill>
                      <a:srgbClr val="2B26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Never went negative (655 loans)</c:v>
                </c:pt>
                <c:pt idx="1">
                  <c:v>Went negative before the loan (27 loans)</c:v>
                </c:pt>
              </c:strCache>
            </c:strRef>
          </c:cat>
          <c:val>
            <c:numRef>
              <c:f>Sheet1!$B$2:$B$3</c:f>
              <c:numCache>
                <c:formatCode>General</c:formatCode>
                <c:ptCount val="2"/>
                <c:pt idx="0">
                  <c:v>7.5</c:v>
                </c:pt>
                <c:pt idx="1">
                  <c:v>100</c:v>
                </c:pt>
              </c:numCache>
            </c:numRef>
          </c:val>
          <c:extLst>
            <c:ext xmlns:c16="http://schemas.microsoft.com/office/drawing/2014/chart" uri="{C3380CC4-5D6E-409C-BE32-E72D297353CC}">
              <c16:uniqueId val="{00000004-5E47-449F-BA47-C729EC399B0F}"/>
            </c:ext>
          </c:extLst>
        </c:ser>
        <c:dLbls>
          <c:showLegendKey val="0"/>
          <c:showVal val="1"/>
          <c:showCatName val="0"/>
          <c:showSerName val="0"/>
          <c:showPercent val="0"/>
          <c:showBubbleSize val="0"/>
        </c:dLbls>
        <c:gapWidth val="12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DE4D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4"/>
        <c:crosses val="autoZero"/>
        <c:crossBetween val="between"/>
      </c:valAx>
      <c:spPr>
        <a:solidFill>
          <a:srgbClr val="FFFFFF"/>
        </a:solidFill>
        <a:ln w="9525" cap="flat">
          <a:solidFill>
            <a:srgbClr val="D8CDB4"/>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rate</c:v>
                </c:pt>
              </c:strCache>
            </c:strRef>
          </c:tx>
          <c:spPr>
            <a:solidFill>
              <a:srgbClr val="F5B301"/>
            </a:solidFill>
            <a:effectLst/>
          </c:spPr>
          <c:invertIfNegative val="0"/>
          <c:dPt>
            <c:idx val="0"/>
            <c:invertIfNegative val="0"/>
            <c:bubble3D val="0"/>
            <c:extLst>
              <c:ext xmlns:c16="http://schemas.microsoft.com/office/drawing/2014/chart" uri="{C3380CC4-5D6E-409C-BE32-E72D297353CC}">
                <c16:uniqueId val="{00000001-E9FC-4893-A880-095E60833259}"/>
              </c:ext>
            </c:extLst>
          </c:dPt>
          <c:dPt>
            <c:idx val="1"/>
            <c:invertIfNegative val="0"/>
            <c:bubble3D val="0"/>
            <c:extLst>
              <c:ext xmlns:c16="http://schemas.microsoft.com/office/drawing/2014/chart" uri="{C3380CC4-5D6E-409C-BE32-E72D297353CC}">
                <c16:uniqueId val="{00000003-E9FC-4893-A880-095E60833259}"/>
              </c:ext>
            </c:extLst>
          </c:dPt>
          <c:dPt>
            <c:idx val="2"/>
            <c:invertIfNegative val="0"/>
            <c:bubble3D val="0"/>
            <c:spPr>
              <a:solidFill>
                <a:srgbClr val="B23A2E"/>
              </a:solidFill>
              <a:effectLst/>
            </c:spPr>
            <c:extLst>
              <c:ext xmlns:c16="http://schemas.microsoft.com/office/drawing/2014/chart" uri="{C3380CC4-5D6E-409C-BE32-E72D297353CC}">
                <c16:uniqueId val="{00000005-E9FC-4893-A880-095E60833259}"/>
              </c:ext>
            </c:extLst>
          </c:dPt>
          <c:dPt>
            <c:idx val="3"/>
            <c:invertIfNegative val="0"/>
            <c:bubble3D val="0"/>
            <c:spPr>
              <a:solidFill>
                <a:srgbClr val="B23A2E"/>
              </a:solidFill>
              <a:effectLst/>
            </c:spPr>
            <c:extLst>
              <c:ext xmlns:c16="http://schemas.microsoft.com/office/drawing/2014/chart" uri="{C3380CC4-5D6E-409C-BE32-E72D297353CC}">
                <c16:uniqueId val="{00000007-E9FC-4893-A880-095E60833259}"/>
              </c:ext>
            </c:extLst>
          </c:dPt>
          <c:dLbls>
            <c:numFmt formatCode="0.0&quot;%&quot;" sourceLinked="0"/>
            <c:spPr>
              <a:noFill/>
              <a:ln>
                <a:noFill/>
              </a:ln>
              <a:effectLst/>
            </c:spPr>
            <c:txPr>
              <a:bodyPr/>
              <a:lstStyle/>
              <a:p>
                <a:pPr>
                  <a:defRPr sz="900" b="1" i="0" u="none" strike="noStrike">
                    <a:solidFill>
                      <a:srgbClr val="2B26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c:v>
                </c:pt>
                <c:pt idx="1">
                  <c:v>Q2</c:v>
                </c:pt>
                <c:pt idx="2">
                  <c:v>Q3</c:v>
                </c:pt>
                <c:pt idx="3">
                  <c:v>Q4</c:v>
                </c:pt>
              </c:strCache>
            </c:strRef>
          </c:cat>
          <c:val>
            <c:numRef>
              <c:f>Sheet1!$B$2:$B$5</c:f>
              <c:numCache>
                <c:formatCode>General</c:formatCode>
                <c:ptCount val="4"/>
                <c:pt idx="0">
                  <c:v>4.7</c:v>
                </c:pt>
                <c:pt idx="1">
                  <c:v>7.6</c:v>
                </c:pt>
                <c:pt idx="2">
                  <c:v>14.1</c:v>
                </c:pt>
                <c:pt idx="3">
                  <c:v>18.100000000000001</c:v>
                </c:pt>
              </c:numCache>
            </c:numRef>
          </c:val>
          <c:extLst>
            <c:ext xmlns:c16="http://schemas.microsoft.com/office/drawing/2014/chart" uri="{C3380CC4-5D6E-409C-BE32-E72D297353CC}">
              <c16:uniqueId val="{00000008-E9FC-4893-A880-095E60833259}"/>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DE4D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4"/>
        <c:crosses val="autoZero"/>
        <c:crossBetween val="between"/>
      </c:valAx>
      <c:spPr>
        <a:solidFill>
          <a:srgbClr val="FFFFFF"/>
        </a:solidFill>
        <a:ln w="9525" cap="flat">
          <a:solidFill>
            <a:srgbClr val="D8CDB4"/>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rate</c:v>
                </c:pt>
              </c:strCache>
            </c:strRef>
          </c:tx>
          <c:spPr>
            <a:solidFill>
              <a:srgbClr val="F5B301"/>
            </a:solidFill>
            <a:effectLst/>
          </c:spPr>
          <c:invertIfNegative val="0"/>
          <c:dPt>
            <c:idx val="0"/>
            <c:invertIfNegative val="0"/>
            <c:bubble3D val="0"/>
            <c:extLst>
              <c:ext xmlns:c16="http://schemas.microsoft.com/office/drawing/2014/chart" uri="{C3380CC4-5D6E-409C-BE32-E72D297353CC}">
                <c16:uniqueId val="{00000001-0818-4115-9CAC-04A3F9ED9415}"/>
              </c:ext>
            </c:extLst>
          </c:dPt>
          <c:dPt>
            <c:idx val="1"/>
            <c:invertIfNegative val="0"/>
            <c:bubble3D val="0"/>
            <c:extLst>
              <c:ext xmlns:c16="http://schemas.microsoft.com/office/drawing/2014/chart" uri="{C3380CC4-5D6E-409C-BE32-E72D297353CC}">
                <c16:uniqueId val="{00000003-0818-4115-9CAC-04A3F9ED9415}"/>
              </c:ext>
            </c:extLst>
          </c:dPt>
          <c:dPt>
            <c:idx val="2"/>
            <c:invertIfNegative val="0"/>
            <c:bubble3D val="0"/>
            <c:extLst>
              <c:ext xmlns:c16="http://schemas.microsoft.com/office/drawing/2014/chart" uri="{C3380CC4-5D6E-409C-BE32-E72D297353CC}">
                <c16:uniqueId val="{00000005-0818-4115-9CAC-04A3F9ED9415}"/>
              </c:ext>
            </c:extLst>
          </c:dPt>
          <c:dPt>
            <c:idx val="3"/>
            <c:invertIfNegative val="0"/>
            <c:bubble3D val="0"/>
            <c:spPr>
              <a:solidFill>
                <a:srgbClr val="B23A2E"/>
              </a:solidFill>
              <a:effectLst/>
            </c:spPr>
            <c:extLst>
              <c:ext xmlns:c16="http://schemas.microsoft.com/office/drawing/2014/chart" uri="{C3380CC4-5D6E-409C-BE32-E72D297353CC}">
                <c16:uniqueId val="{00000007-0818-4115-9CAC-04A3F9ED9415}"/>
              </c:ext>
            </c:extLst>
          </c:dPt>
          <c:dLbls>
            <c:numFmt formatCode="0.0&quot;%&quot;" sourceLinked="0"/>
            <c:spPr>
              <a:noFill/>
              <a:ln>
                <a:noFill/>
              </a:ln>
              <a:effectLst/>
            </c:spPr>
            <c:txPr>
              <a:bodyPr/>
              <a:lstStyle/>
              <a:p>
                <a:pPr>
                  <a:defRPr sz="900" b="1" i="0" u="none" strike="noStrike">
                    <a:solidFill>
                      <a:srgbClr val="2B26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c:v>
                </c:pt>
                <c:pt idx="1">
                  <c:v>Q2</c:v>
                </c:pt>
                <c:pt idx="2">
                  <c:v>Q3</c:v>
                </c:pt>
                <c:pt idx="3">
                  <c:v>Q4</c:v>
                </c:pt>
              </c:strCache>
            </c:strRef>
          </c:cat>
          <c:val>
            <c:numRef>
              <c:f>Sheet1!$B$2:$B$5</c:f>
              <c:numCache>
                <c:formatCode>General</c:formatCode>
                <c:ptCount val="4"/>
                <c:pt idx="0">
                  <c:v>5.8</c:v>
                </c:pt>
                <c:pt idx="1">
                  <c:v>10.6</c:v>
                </c:pt>
                <c:pt idx="2">
                  <c:v>8.8000000000000007</c:v>
                </c:pt>
                <c:pt idx="3">
                  <c:v>19.3</c:v>
                </c:pt>
              </c:numCache>
            </c:numRef>
          </c:val>
          <c:extLst>
            <c:ext xmlns:c16="http://schemas.microsoft.com/office/drawing/2014/chart" uri="{C3380CC4-5D6E-409C-BE32-E72D297353CC}">
              <c16:uniqueId val="{00000008-0818-4115-9CAC-04A3F9ED941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DE4D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4"/>
        <c:crosses val="autoZero"/>
        <c:crossBetween val="between"/>
      </c:valAx>
      <c:spPr>
        <a:solidFill>
          <a:srgbClr val="FFFFFF"/>
        </a:solidFill>
        <a:ln w="9525" cap="flat">
          <a:solidFill>
            <a:srgbClr val="D8CDB4"/>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rate</c:v>
                </c:pt>
              </c:strCache>
            </c:strRef>
          </c:tx>
          <c:spPr>
            <a:solidFill>
              <a:srgbClr val="C9BFA6"/>
            </a:solidFill>
            <a:effectLst/>
          </c:spPr>
          <c:invertIfNegative val="0"/>
          <c:dPt>
            <c:idx val="0"/>
            <c:invertIfNegative val="0"/>
            <c:bubble3D val="0"/>
            <c:extLst>
              <c:ext xmlns:c16="http://schemas.microsoft.com/office/drawing/2014/chart" uri="{C3380CC4-5D6E-409C-BE32-E72D297353CC}">
                <c16:uniqueId val="{00000001-D1BA-470A-939D-01A17E917060}"/>
              </c:ext>
            </c:extLst>
          </c:dPt>
          <c:dPt>
            <c:idx val="1"/>
            <c:invertIfNegative val="0"/>
            <c:bubble3D val="0"/>
            <c:extLst>
              <c:ext xmlns:c16="http://schemas.microsoft.com/office/drawing/2014/chart" uri="{C3380CC4-5D6E-409C-BE32-E72D297353CC}">
                <c16:uniqueId val="{00000003-D1BA-470A-939D-01A17E917060}"/>
              </c:ext>
            </c:extLst>
          </c:dPt>
          <c:dPt>
            <c:idx val="2"/>
            <c:invertIfNegative val="0"/>
            <c:bubble3D val="0"/>
            <c:extLst>
              <c:ext xmlns:c16="http://schemas.microsoft.com/office/drawing/2014/chart" uri="{C3380CC4-5D6E-409C-BE32-E72D297353CC}">
                <c16:uniqueId val="{00000005-D1BA-470A-939D-01A17E917060}"/>
              </c:ext>
            </c:extLst>
          </c:dPt>
          <c:dPt>
            <c:idx val="3"/>
            <c:invertIfNegative val="0"/>
            <c:bubble3D val="0"/>
            <c:spPr>
              <a:solidFill>
                <a:srgbClr val="B23A2E"/>
              </a:solidFill>
              <a:effectLst/>
            </c:spPr>
            <c:extLst>
              <c:ext xmlns:c16="http://schemas.microsoft.com/office/drawing/2014/chart" uri="{C3380CC4-5D6E-409C-BE32-E72D297353CC}">
                <c16:uniqueId val="{00000007-D1BA-470A-939D-01A17E917060}"/>
              </c:ext>
            </c:extLst>
          </c:dPt>
          <c:dLbls>
            <c:numFmt formatCode="0.0&quot;%&quot;" sourceLinked="0"/>
            <c:spPr>
              <a:noFill/>
              <a:ln>
                <a:noFill/>
              </a:ln>
              <a:effectLst/>
            </c:spPr>
            <c:txPr>
              <a:bodyPr/>
              <a:lstStyle/>
              <a:p>
                <a:pPr>
                  <a:defRPr sz="900" b="1" i="0" u="none" strike="noStrike">
                    <a:solidFill>
                      <a:srgbClr val="2B26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c:v>
                </c:pt>
                <c:pt idx="1">
                  <c:v>Q2</c:v>
                </c:pt>
                <c:pt idx="2">
                  <c:v>Q3</c:v>
                </c:pt>
                <c:pt idx="3">
                  <c:v>Q4</c:v>
                </c:pt>
              </c:strCache>
            </c:strRef>
          </c:cat>
          <c:val>
            <c:numRef>
              <c:f>Sheet1!$B$2:$B$5</c:f>
              <c:numCache>
                <c:formatCode>General</c:formatCode>
                <c:ptCount val="4"/>
                <c:pt idx="0">
                  <c:v>8.8000000000000007</c:v>
                </c:pt>
                <c:pt idx="1">
                  <c:v>6.5</c:v>
                </c:pt>
                <c:pt idx="2">
                  <c:v>8.9</c:v>
                </c:pt>
                <c:pt idx="3">
                  <c:v>18.8</c:v>
                </c:pt>
              </c:numCache>
            </c:numRef>
          </c:val>
          <c:extLst>
            <c:ext xmlns:c16="http://schemas.microsoft.com/office/drawing/2014/chart" uri="{C3380CC4-5D6E-409C-BE32-E72D297353CC}">
              <c16:uniqueId val="{00000008-D1BA-470A-939D-01A17E917060}"/>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DE4D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4"/>
        <c:crosses val="autoZero"/>
        <c:crossBetween val="between"/>
      </c:valAx>
      <c:spPr>
        <a:solidFill>
          <a:srgbClr val="FFFFFF"/>
        </a:solidFill>
        <a:ln w="9525" cap="flat">
          <a:solidFill>
            <a:srgbClr val="D8CDB4"/>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rate</c:v>
                </c:pt>
              </c:strCache>
            </c:strRef>
          </c:tx>
          <c:spPr>
            <a:solidFill>
              <a:srgbClr val="B23A2E"/>
            </a:solidFill>
            <a:effectLst/>
          </c:spPr>
          <c:invertIfNegative val="0"/>
          <c:dPt>
            <c:idx val="0"/>
            <c:invertIfNegative val="0"/>
            <c:bubble3D val="0"/>
            <c:extLst>
              <c:ext xmlns:c16="http://schemas.microsoft.com/office/drawing/2014/chart" uri="{C3380CC4-5D6E-409C-BE32-E72D297353CC}">
                <c16:uniqueId val="{00000001-0F9B-46CA-92B8-82CE7B47F61A}"/>
              </c:ext>
            </c:extLst>
          </c:dPt>
          <c:dPt>
            <c:idx val="1"/>
            <c:invertIfNegative val="0"/>
            <c:bubble3D val="0"/>
            <c:spPr>
              <a:solidFill>
                <a:srgbClr val="F5B301"/>
              </a:solidFill>
              <a:effectLst/>
            </c:spPr>
            <c:extLst>
              <c:ext xmlns:c16="http://schemas.microsoft.com/office/drawing/2014/chart" uri="{C3380CC4-5D6E-409C-BE32-E72D297353CC}">
                <c16:uniqueId val="{00000003-0F9B-46CA-92B8-82CE7B47F61A}"/>
              </c:ext>
            </c:extLst>
          </c:dPt>
          <c:dPt>
            <c:idx val="2"/>
            <c:invertIfNegative val="0"/>
            <c:bubble3D val="0"/>
            <c:spPr>
              <a:solidFill>
                <a:srgbClr val="F5B301"/>
              </a:solidFill>
              <a:effectLst/>
            </c:spPr>
            <c:extLst>
              <c:ext xmlns:c16="http://schemas.microsoft.com/office/drawing/2014/chart" uri="{C3380CC4-5D6E-409C-BE32-E72D297353CC}">
                <c16:uniqueId val="{00000005-0F9B-46CA-92B8-82CE7B47F61A}"/>
              </c:ext>
            </c:extLst>
          </c:dPt>
          <c:dPt>
            <c:idx val="3"/>
            <c:invertIfNegative val="0"/>
            <c:bubble3D val="0"/>
            <c:spPr>
              <a:solidFill>
                <a:srgbClr val="C9BFA6"/>
              </a:solidFill>
              <a:effectLst/>
            </c:spPr>
            <c:extLst>
              <c:ext xmlns:c16="http://schemas.microsoft.com/office/drawing/2014/chart" uri="{C3380CC4-5D6E-409C-BE32-E72D297353CC}">
                <c16:uniqueId val="{00000007-0F9B-46CA-92B8-82CE7B47F61A}"/>
              </c:ext>
            </c:extLst>
          </c:dPt>
          <c:dLbls>
            <c:numFmt formatCode="0.0&quot;%&quot;" sourceLinked="0"/>
            <c:spPr>
              <a:noFill/>
              <a:ln>
                <a:noFill/>
              </a:ln>
              <a:effectLst/>
            </c:spPr>
            <c:txPr>
              <a:bodyPr/>
              <a:lstStyle/>
              <a:p>
                <a:pPr>
                  <a:defRPr sz="900" b="1" i="0" u="none" strike="noStrike">
                    <a:solidFill>
                      <a:srgbClr val="2B26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 lowest</c:v>
                </c:pt>
                <c:pt idx="1">
                  <c:v>Q2</c:v>
                </c:pt>
                <c:pt idx="2">
                  <c:v>Q3</c:v>
                </c:pt>
                <c:pt idx="3">
                  <c:v>Q4 highest</c:v>
                </c:pt>
              </c:strCache>
            </c:strRef>
          </c:cat>
          <c:val>
            <c:numRef>
              <c:f>Sheet1!$B$2:$B$5</c:f>
              <c:numCache>
                <c:formatCode>General</c:formatCode>
                <c:ptCount val="4"/>
                <c:pt idx="0">
                  <c:v>19.3</c:v>
                </c:pt>
                <c:pt idx="1">
                  <c:v>8.1999999999999993</c:v>
                </c:pt>
                <c:pt idx="2">
                  <c:v>11.8</c:v>
                </c:pt>
                <c:pt idx="3">
                  <c:v>5.3</c:v>
                </c:pt>
              </c:numCache>
            </c:numRef>
          </c:val>
          <c:extLst>
            <c:ext xmlns:c16="http://schemas.microsoft.com/office/drawing/2014/chart" uri="{C3380CC4-5D6E-409C-BE32-E72D297353CC}">
              <c16:uniqueId val="{00000008-0F9B-46CA-92B8-82CE7B47F61A}"/>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EDE4D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4"/>
        <c:crosses val="autoZero"/>
        <c:crossBetween val="between"/>
      </c:valAx>
      <c:spPr>
        <a:solidFill>
          <a:srgbClr val="FFFFFF"/>
        </a:solidFill>
        <a:ln w="9525" cap="flat">
          <a:solidFill>
            <a:srgbClr val="D8CDB4"/>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lift</c:v>
                </c:pt>
              </c:strCache>
            </c:strRef>
          </c:tx>
          <c:spPr>
            <a:solidFill>
              <a:srgbClr val="B23A2E"/>
            </a:solidFill>
            <a:effectLst/>
          </c:spPr>
          <c:invertIfNegative val="0"/>
          <c:dPt>
            <c:idx val="0"/>
            <c:invertIfNegative val="0"/>
            <c:bubble3D val="0"/>
            <c:extLst>
              <c:ext xmlns:c16="http://schemas.microsoft.com/office/drawing/2014/chart" uri="{C3380CC4-5D6E-409C-BE32-E72D297353CC}">
                <c16:uniqueId val="{00000001-806A-43E6-A83C-49E830A4627F}"/>
              </c:ext>
            </c:extLst>
          </c:dPt>
          <c:dPt>
            <c:idx val="1"/>
            <c:invertIfNegative val="0"/>
            <c:bubble3D val="0"/>
            <c:extLst>
              <c:ext xmlns:c16="http://schemas.microsoft.com/office/drawing/2014/chart" uri="{C3380CC4-5D6E-409C-BE32-E72D297353CC}">
                <c16:uniqueId val="{00000003-806A-43E6-A83C-49E830A4627F}"/>
              </c:ext>
            </c:extLst>
          </c:dPt>
          <c:dPt>
            <c:idx val="2"/>
            <c:invertIfNegative val="0"/>
            <c:bubble3D val="0"/>
            <c:extLst>
              <c:ext xmlns:c16="http://schemas.microsoft.com/office/drawing/2014/chart" uri="{C3380CC4-5D6E-409C-BE32-E72D297353CC}">
                <c16:uniqueId val="{00000005-806A-43E6-A83C-49E830A4627F}"/>
              </c:ext>
            </c:extLst>
          </c:dPt>
          <c:dPt>
            <c:idx val="3"/>
            <c:invertIfNegative val="0"/>
            <c:bubble3D val="0"/>
            <c:spPr>
              <a:solidFill>
                <a:srgbClr val="F5B301"/>
              </a:solidFill>
              <a:effectLst/>
            </c:spPr>
            <c:extLst>
              <c:ext xmlns:c16="http://schemas.microsoft.com/office/drawing/2014/chart" uri="{C3380CC4-5D6E-409C-BE32-E72D297353CC}">
                <c16:uniqueId val="{00000007-806A-43E6-A83C-49E830A4627F}"/>
              </c:ext>
            </c:extLst>
          </c:dPt>
          <c:dPt>
            <c:idx val="4"/>
            <c:invertIfNegative val="0"/>
            <c:bubble3D val="0"/>
            <c:spPr>
              <a:solidFill>
                <a:srgbClr val="F5B301"/>
              </a:solidFill>
              <a:effectLst/>
            </c:spPr>
            <c:extLst>
              <c:ext xmlns:c16="http://schemas.microsoft.com/office/drawing/2014/chart" uri="{C3380CC4-5D6E-409C-BE32-E72D297353CC}">
                <c16:uniqueId val="{00000009-806A-43E6-A83C-49E830A4627F}"/>
              </c:ext>
            </c:extLst>
          </c:dPt>
          <c:dPt>
            <c:idx val="5"/>
            <c:invertIfNegative val="0"/>
            <c:bubble3D val="0"/>
            <c:spPr>
              <a:solidFill>
                <a:srgbClr val="C9BFA6"/>
              </a:solidFill>
              <a:effectLst/>
            </c:spPr>
            <c:extLst>
              <c:ext xmlns:c16="http://schemas.microsoft.com/office/drawing/2014/chart" uri="{C3380CC4-5D6E-409C-BE32-E72D297353CC}">
                <c16:uniqueId val="{0000000B-806A-43E6-A83C-49E830A4627F}"/>
              </c:ext>
            </c:extLst>
          </c:dPt>
          <c:dPt>
            <c:idx val="6"/>
            <c:invertIfNegative val="0"/>
            <c:bubble3D val="0"/>
            <c:spPr>
              <a:solidFill>
                <a:srgbClr val="C9BFA6"/>
              </a:solidFill>
              <a:effectLst/>
            </c:spPr>
            <c:extLst>
              <c:ext xmlns:c16="http://schemas.microsoft.com/office/drawing/2014/chart" uri="{C3380CC4-5D6E-409C-BE32-E72D297353CC}">
                <c16:uniqueId val="{0000000D-806A-43E6-A83C-49E830A4627F}"/>
              </c:ext>
            </c:extLst>
          </c:dPt>
          <c:dPt>
            <c:idx val="7"/>
            <c:invertIfNegative val="0"/>
            <c:bubble3D val="0"/>
            <c:spPr>
              <a:solidFill>
                <a:srgbClr val="C9BFA6"/>
              </a:solidFill>
              <a:effectLst/>
            </c:spPr>
            <c:extLst>
              <c:ext xmlns:c16="http://schemas.microsoft.com/office/drawing/2014/chart" uri="{C3380CC4-5D6E-409C-BE32-E72D297353CC}">
                <c16:uniqueId val="{0000000F-806A-43E6-A83C-49E830A4627F}"/>
              </c:ext>
            </c:extLst>
          </c:dPt>
          <c:dLbls>
            <c:numFmt formatCode="0.0&quot;×&quot;" sourceLinked="0"/>
            <c:spPr>
              <a:noFill/>
              <a:ln>
                <a:noFill/>
              </a:ln>
              <a:effectLst/>
            </c:spPr>
            <c:txPr>
              <a:bodyPr/>
              <a:lstStyle/>
              <a:p>
                <a:pPr>
                  <a:defRPr sz="900" b="1" i="0" u="none" strike="noStrike">
                    <a:solidFill>
                      <a:srgbClr val="2B262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Pre-loan overdraft</c:v>
                </c:pt>
                <c:pt idx="1">
                  <c:v>Payment ÷ district salary</c:v>
                </c:pt>
                <c:pt idx="2">
                  <c:v>Average balance</c:v>
                </c:pt>
                <c:pt idx="3">
                  <c:v>Payment ÷ own inflow</c:v>
                </c:pt>
                <c:pt idx="4">
                  <c:v>Loan amount</c:v>
                </c:pt>
                <c:pt idx="5">
                  <c:v>Outflow ÷ inflow</c:v>
                </c:pt>
                <c:pt idx="6">
                  <c:v>Account tenure</c:v>
                </c:pt>
                <c:pt idx="7">
                  <c:v>Gender</c:v>
                </c:pt>
              </c:strCache>
            </c:strRef>
          </c:cat>
          <c:val>
            <c:numRef>
              <c:f>Sheet1!$B$2:$B$9</c:f>
              <c:numCache>
                <c:formatCode>General</c:formatCode>
                <c:ptCount val="8"/>
                <c:pt idx="0">
                  <c:v>13.3</c:v>
                </c:pt>
                <c:pt idx="1">
                  <c:v>3.9</c:v>
                </c:pt>
                <c:pt idx="2">
                  <c:v>3.6</c:v>
                </c:pt>
                <c:pt idx="3">
                  <c:v>3.3</c:v>
                </c:pt>
                <c:pt idx="4">
                  <c:v>2.6</c:v>
                </c:pt>
                <c:pt idx="5">
                  <c:v>2.1</c:v>
                </c:pt>
                <c:pt idx="6">
                  <c:v>1.7</c:v>
                </c:pt>
                <c:pt idx="7">
                  <c:v>1.1000000000000001</c:v>
                </c:pt>
              </c:numCache>
            </c:numRef>
          </c:val>
          <c:extLst>
            <c:ext xmlns:c16="http://schemas.microsoft.com/office/drawing/2014/chart" uri="{C3380CC4-5D6E-409C-BE32-E72D297353CC}">
              <c16:uniqueId val="{00000010-806A-43E6-A83C-49E830A4627F}"/>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9525" cap="flat">
              <a:solidFill>
                <a:srgbClr val="EDE4D0"/>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900" b="0" i="0" u="none" strike="noStrike">
                <a:solidFill>
                  <a:srgbClr val="8A8071"/>
                </a:solidFill>
                <a:latin typeface="Arial"/>
              </a:defRPr>
            </a:pPr>
            <a:endParaRPr lang="en-US"/>
          </a:p>
        </c:txPr>
        <c:crossAx val="2094734554"/>
        <c:crosses val="autoZero"/>
        <c:crossBetween val="between"/>
      </c:valAx>
      <c:spPr>
        <a:solidFill>
          <a:srgbClr val="FFFFFF"/>
        </a:solidFill>
        <a:ln w="9525" cap="flat">
          <a:solidFill>
            <a:srgbClr val="D8CDB4"/>
          </a:solidFill>
        </a:ln>
        <a:effectLst/>
      </c:spPr>
    </c:plotArea>
    <c:plotVisOnly val="1"/>
    <c:dispBlanksAs val="span"/>
    <c:showDLblsOverMax val="1"/>
  </c:chart>
  <c:spPr>
    <a:solidFill>
      <a:srgbClr val="FFFFFF"/>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Problematic rate</c:v>
                </c:pt>
              </c:strCache>
            </c:strRef>
          </c:tx>
          <c:spPr>
            <a:ln w="28575">
              <a:solidFill>
                <a:srgbClr val="2B2621"/>
              </a:solidFill>
            </a:ln>
          </c:spPr>
          <c:marker>
            <c:symbol val="circle"/>
            <c:size val="7"/>
            <c:spPr>
              <a:solidFill>
                <a:srgbClr val="2B2621"/>
              </a:solidFill>
              <a:ln>
                <a:solidFill>
                  <a:srgbClr val="2B2621"/>
                </a:solidFill>
              </a:ln>
            </c:spPr>
          </c:marker>
          <c:dPt>
            <c:idx val="5"/>
            <c:marker>
              <c:spPr>
                <a:solidFill>
                  <a:srgbClr val="B23A2E"/>
                </a:solidFill>
                <a:ln>
                  <a:solidFill>
                    <a:srgbClr val="B23A2E"/>
                  </a:solidFill>
                </a:ln>
              </c:spPr>
            </c:marker>
            <c:bubble3D val="0"/>
            <c:extLst>
              <c:ext xmlns:c16="http://schemas.microsoft.com/office/drawing/2014/chart" uri="{C3380CC4-5D6E-409C-BE32-E72D297353CC}">
                <c16:uniqueId val="{00000000-E4AA-4F67-A505-FD631CA7CCE7}"/>
              </c:ext>
            </c:extLst>
          </c:dPt>
          <c:dLbls>
            <c:numFmt formatCode="0.0&quot;%&quot;" sourceLinked="0"/>
            <c:spPr>
              <a:noFill/>
              <a:ln>
                <a:noFill/>
              </a:ln>
              <a:effectLst/>
            </c:spPr>
            <c:txPr>
              <a:bodyPr/>
              <a:lstStyle/>
              <a:p>
                <a:pPr>
                  <a:defRPr sz="900" b="1">
                    <a:solidFill>
                      <a:srgbClr val="2B2621"/>
                    </a:solidFill>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1993</c:v>
                </c:pt>
                <c:pt idx="1">
                  <c:v>1994</c:v>
                </c:pt>
                <c:pt idx="2">
                  <c:v>1995</c:v>
                </c:pt>
                <c:pt idx="3">
                  <c:v>1996</c:v>
                </c:pt>
                <c:pt idx="4">
                  <c:v>1997</c:v>
                </c:pt>
                <c:pt idx="5">
                  <c:v>1998</c:v>
                </c:pt>
              </c:strCache>
            </c:strRef>
          </c:cat>
          <c:val>
            <c:numRef>
              <c:f>Sheet1!$B$2:$B$7</c:f>
              <c:numCache>
                <c:formatCode>General</c:formatCode>
                <c:ptCount val="6"/>
                <c:pt idx="0">
                  <c:v>20</c:v>
                </c:pt>
                <c:pt idx="1">
                  <c:v>13.9</c:v>
                </c:pt>
                <c:pt idx="2">
                  <c:v>13.3</c:v>
                </c:pt>
                <c:pt idx="3">
                  <c:v>13.7</c:v>
                </c:pt>
                <c:pt idx="4">
                  <c:v>13.3</c:v>
                </c:pt>
                <c:pt idx="5">
                  <c:v>2.5</c:v>
                </c:pt>
              </c:numCache>
            </c:numRef>
          </c:val>
          <c:smooth val="0"/>
          <c:extLst>
            <c:ext xmlns:c16="http://schemas.microsoft.com/office/drawing/2014/chart" uri="{C3380CC4-5D6E-409C-BE32-E72D297353CC}">
              <c16:uniqueId val="{00000001-E4AA-4F67-A505-FD631CA7CCE7}"/>
            </c:ext>
          </c:extLst>
        </c:ser>
        <c:ser>
          <c:idx val="1"/>
          <c:order val="1"/>
          <c:tx>
            <c:strRef>
              <c:f>Sheet1!$C$1</c:f>
              <c:strCache>
                <c:ptCount val="1"/>
                <c:pt idx="0">
                  <c:v>Portfolio average 11.1%</c:v>
                </c:pt>
              </c:strCache>
            </c:strRef>
          </c:tx>
          <c:spPr>
            <a:ln w="19050">
              <a:solidFill>
                <a:srgbClr val="8A8071"/>
              </a:solidFill>
              <a:prstDash val="dash"/>
            </a:ln>
          </c:spPr>
          <c:marker>
            <c:symbol val="none"/>
          </c:marker>
          <c:cat>
            <c:strRef>
              <c:f>Sheet1!$A$2:$A$7</c:f>
              <c:strCache>
                <c:ptCount val="6"/>
                <c:pt idx="0">
                  <c:v>1993</c:v>
                </c:pt>
                <c:pt idx="1">
                  <c:v>1994</c:v>
                </c:pt>
                <c:pt idx="2">
                  <c:v>1995</c:v>
                </c:pt>
                <c:pt idx="3">
                  <c:v>1996</c:v>
                </c:pt>
                <c:pt idx="4">
                  <c:v>1997</c:v>
                </c:pt>
                <c:pt idx="5">
                  <c:v>1998</c:v>
                </c:pt>
              </c:strCache>
            </c:strRef>
          </c:cat>
          <c:val>
            <c:numRef>
              <c:f>Sheet1!$C$2:$C$7</c:f>
              <c:numCache>
                <c:formatCode>General</c:formatCode>
                <c:ptCount val="6"/>
                <c:pt idx="0">
                  <c:v>11.1</c:v>
                </c:pt>
                <c:pt idx="1">
                  <c:v>11.1</c:v>
                </c:pt>
                <c:pt idx="2">
                  <c:v>11.1</c:v>
                </c:pt>
                <c:pt idx="3">
                  <c:v>11.1</c:v>
                </c:pt>
                <c:pt idx="4">
                  <c:v>11.1</c:v>
                </c:pt>
                <c:pt idx="5">
                  <c:v>11.1</c:v>
                </c:pt>
              </c:numCache>
            </c:numRef>
          </c:val>
          <c:smooth val="0"/>
          <c:extLst>
            <c:ext xmlns:c16="http://schemas.microsoft.com/office/drawing/2014/chart" uri="{C3380CC4-5D6E-409C-BE32-E72D297353CC}">
              <c16:uniqueId val="{00000002-E4AA-4F67-A505-FD631CA7CCE7}"/>
            </c:ext>
          </c:extLst>
        </c:ser>
        <c:ser>
          <c:idx val="2"/>
          <c:order val="2"/>
          <c:tx>
            <c:strRef>
              <c:f>Sheet1!$D$1</c:f>
              <c:strCache>
                <c:ptCount val="1"/>
                <c:pt idx="0">
                  <c:v>Target 5%</c:v>
                </c:pt>
              </c:strCache>
            </c:strRef>
          </c:tx>
          <c:spPr>
            <a:ln w="19050">
              <a:solidFill>
                <a:srgbClr val="4E7D3A"/>
              </a:solidFill>
              <a:prstDash val="dash"/>
            </a:ln>
          </c:spPr>
          <c:marker>
            <c:symbol val="none"/>
          </c:marker>
          <c:cat>
            <c:strRef>
              <c:f>Sheet1!$A$2:$A$7</c:f>
              <c:strCache>
                <c:ptCount val="6"/>
                <c:pt idx="0">
                  <c:v>1993</c:v>
                </c:pt>
                <c:pt idx="1">
                  <c:v>1994</c:v>
                </c:pt>
                <c:pt idx="2">
                  <c:v>1995</c:v>
                </c:pt>
                <c:pt idx="3">
                  <c:v>1996</c:v>
                </c:pt>
                <c:pt idx="4">
                  <c:v>1997</c:v>
                </c:pt>
                <c:pt idx="5">
                  <c:v>1998</c:v>
                </c:pt>
              </c:strCache>
            </c:strRef>
          </c:cat>
          <c:val>
            <c:numRef>
              <c:f>Sheet1!$D$2:$D$7</c:f>
              <c:numCache>
                <c:formatCode>General</c:formatCode>
                <c:ptCount val="6"/>
                <c:pt idx="0">
                  <c:v>5</c:v>
                </c:pt>
                <c:pt idx="1">
                  <c:v>5</c:v>
                </c:pt>
                <c:pt idx="2">
                  <c:v>5</c:v>
                </c:pt>
                <c:pt idx="3">
                  <c:v>5</c:v>
                </c:pt>
                <c:pt idx="4">
                  <c:v>5</c:v>
                </c:pt>
                <c:pt idx="5">
                  <c:v>5</c:v>
                </c:pt>
              </c:numCache>
            </c:numRef>
          </c:val>
          <c:smooth val="0"/>
          <c:extLst>
            <c:ext xmlns:c16="http://schemas.microsoft.com/office/drawing/2014/chart" uri="{C3380CC4-5D6E-409C-BE32-E72D297353CC}">
              <c16:uniqueId val="{00000003-E4AA-4F67-A505-FD631CA7CCE7}"/>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D8CDB4"/>
            </a:solidFill>
          </a:ln>
        </c:spPr>
        <c:txPr>
          <a:bodyPr/>
          <a:lstStyle/>
          <a:p>
            <a:pPr>
              <a:defRPr sz="900">
                <a:solidFill>
                  <a:srgbClr val="2B2621"/>
                </a:solidFill>
              </a:defRPr>
            </a:pPr>
            <a:endParaRPr lang="en-US"/>
          </a:p>
        </c:txPr>
        <c:crossAx val="2140495176"/>
        <c:crosses val="autoZero"/>
        <c:auto val="1"/>
        <c:lblAlgn val="ctr"/>
        <c:lblOffset val="100"/>
        <c:noMultiLvlLbl val="0"/>
      </c:catAx>
      <c:valAx>
        <c:axId val="2140495176"/>
        <c:scaling>
          <c:orientation val="minMax"/>
          <c:max val="25"/>
          <c:min val="0"/>
        </c:scaling>
        <c:delete val="0"/>
        <c:axPos val="l"/>
        <c:majorGridlines>
          <c:spPr>
            <a:ln>
              <a:solidFill>
                <a:srgbClr val="EDE6D6"/>
              </a:solidFill>
            </a:ln>
          </c:spPr>
        </c:majorGridlines>
        <c:numFmt formatCode="0&quot;%&quot;" sourceLinked="0"/>
        <c:majorTickMark val="out"/>
        <c:minorTickMark val="none"/>
        <c:tickLblPos val="nextTo"/>
        <c:spPr>
          <a:ln>
            <a:noFill/>
          </a:ln>
        </c:spPr>
        <c:txPr>
          <a:bodyPr/>
          <a:lstStyle/>
          <a:p>
            <a:pPr>
              <a:defRPr sz="800"/>
            </a:pPr>
            <a:endParaRPr lang="en-US"/>
          </a:p>
        </c:txPr>
        <c:crossAx val="2118791784"/>
        <c:crosses val="autoZero"/>
        <c:crossBetween val="between"/>
      </c:valAx>
    </c:plotArea>
    <c:legend>
      <c:legendPos val="b"/>
      <c:overlay val="0"/>
      <c:txPr>
        <a:bodyPr/>
        <a:lstStyle/>
        <a:p>
          <a:pPr>
            <a:defRPr sz="900"/>
          </a:pPr>
          <a:endParaRPr lang="en-US"/>
        </a:p>
      </c:txPr>
    </c:legend>
    <c:plotVisOnly val="1"/>
    <c:dispBlanksAs val="gap"/>
    <c:showDLblsOverMax val="0"/>
  </c:chart>
  <c:txPr>
    <a:bodyPr/>
    <a:lstStyle/>
    <a:p>
      <a:pPr>
        <a:defRPr sz="900">
          <a:solidFill>
            <a:srgbClr val="8A8071"/>
          </a:solidFill>
          <a:latin typeface="Aria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rate</c:v>
                </c:pt>
              </c:strCache>
            </c:strRef>
          </c:tx>
          <c:invertIfNegative val="1"/>
          <c:dPt>
            <c:idx val="0"/>
            <c:invertIfNegative val="1"/>
            <c:bubble3D val="0"/>
            <c:spPr>
              <a:solidFill>
                <a:srgbClr val="C9BFA6"/>
              </a:solidFill>
            </c:spPr>
            <c:extLst>
              <c:ext xmlns:c16="http://schemas.microsoft.com/office/drawing/2014/chart" uri="{C3380CC4-5D6E-409C-BE32-E72D297353CC}">
                <c16:uniqueId val="{00000001-7C23-41EC-A046-3407A97C3246}"/>
              </c:ext>
            </c:extLst>
          </c:dPt>
          <c:dPt>
            <c:idx val="1"/>
            <c:invertIfNegative val="1"/>
            <c:bubble3D val="0"/>
            <c:spPr>
              <a:solidFill>
                <a:srgbClr val="C9BFA6"/>
              </a:solidFill>
            </c:spPr>
            <c:extLst>
              <c:ext xmlns:c16="http://schemas.microsoft.com/office/drawing/2014/chart" uri="{C3380CC4-5D6E-409C-BE32-E72D297353CC}">
                <c16:uniqueId val="{00000003-7C23-41EC-A046-3407A97C3246}"/>
              </c:ext>
            </c:extLst>
          </c:dPt>
          <c:dPt>
            <c:idx val="2"/>
            <c:invertIfNegative val="1"/>
            <c:bubble3D val="0"/>
            <c:spPr>
              <a:solidFill>
                <a:srgbClr val="C9BFA6"/>
              </a:solidFill>
            </c:spPr>
            <c:extLst>
              <c:ext xmlns:c16="http://schemas.microsoft.com/office/drawing/2014/chart" uri="{C3380CC4-5D6E-409C-BE32-E72D297353CC}">
                <c16:uniqueId val="{00000005-7C23-41EC-A046-3407A97C3246}"/>
              </c:ext>
            </c:extLst>
          </c:dPt>
          <c:dPt>
            <c:idx val="3"/>
            <c:invertIfNegative val="1"/>
            <c:bubble3D val="0"/>
            <c:spPr>
              <a:solidFill>
                <a:srgbClr val="C9BFA6"/>
              </a:solidFill>
            </c:spPr>
            <c:extLst>
              <c:ext xmlns:c16="http://schemas.microsoft.com/office/drawing/2014/chart" uri="{C3380CC4-5D6E-409C-BE32-E72D297353CC}">
                <c16:uniqueId val="{00000007-7C23-41EC-A046-3407A97C3246}"/>
              </c:ext>
            </c:extLst>
          </c:dPt>
          <c:dPt>
            <c:idx val="4"/>
            <c:invertIfNegative val="1"/>
            <c:bubble3D val="0"/>
            <c:spPr>
              <a:solidFill>
                <a:srgbClr val="C9BFA6"/>
              </a:solidFill>
            </c:spPr>
            <c:extLst>
              <c:ext xmlns:c16="http://schemas.microsoft.com/office/drawing/2014/chart" uri="{C3380CC4-5D6E-409C-BE32-E72D297353CC}">
                <c16:uniqueId val="{00000009-7C23-41EC-A046-3407A97C3246}"/>
              </c:ext>
            </c:extLst>
          </c:dPt>
          <c:dPt>
            <c:idx val="5"/>
            <c:invertIfNegative val="1"/>
            <c:bubble3D val="0"/>
            <c:spPr>
              <a:solidFill>
                <a:srgbClr val="B23A2E"/>
              </a:solidFill>
            </c:spPr>
            <c:extLst>
              <c:ext xmlns:c16="http://schemas.microsoft.com/office/drawing/2014/chart" uri="{C3380CC4-5D6E-409C-BE32-E72D297353CC}">
                <c16:uniqueId val="{0000000B-7C23-41EC-A046-3407A97C3246}"/>
              </c:ext>
            </c:extLst>
          </c:dPt>
          <c:dPt>
            <c:idx val="6"/>
            <c:invertIfNegative val="1"/>
            <c:bubble3D val="0"/>
            <c:spPr>
              <a:solidFill>
                <a:srgbClr val="B23A2E"/>
              </a:solidFill>
            </c:spPr>
            <c:extLst>
              <c:ext xmlns:c16="http://schemas.microsoft.com/office/drawing/2014/chart" uri="{C3380CC4-5D6E-409C-BE32-E72D297353CC}">
                <c16:uniqueId val="{0000000D-7C23-41EC-A046-3407A97C3246}"/>
              </c:ext>
            </c:extLst>
          </c:dPt>
          <c:dPt>
            <c:idx val="7"/>
            <c:invertIfNegative val="1"/>
            <c:bubble3D val="0"/>
            <c:spPr>
              <a:solidFill>
                <a:srgbClr val="B23A2E"/>
              </a:solidFill>
            </c:spPr>
            <c:extLst>
              <c:ext xmlns:c16="http://schemas.microsoft.com/office/drawing/2014/chart" uri="{C3380CC4-5D6E-409C-BE32-E72D297353CC}">
                <c16:uniqueId val="{0000000F-7C23-41EC-A046-3407A97C3246}"/>
              </c:ext>
            </c:extLst>
          </c:dPt>
          <c:dLbls>
            <c:numFmt formatCode="0.0&quot;x&quot;" sourceLinked="0"/>
            <c:spPr>
              <a:noFill/>
              <a:ln>
                <a:noFill/>
              </a:ln>
              <a:effectLst/>
            </c:spPr>
            <c:txPr>
              <a:bodyPr/>
              <a:lstStyle/>
              <a:p>
                <a:pPr>
                  <a:defRPr sz="900" b="1">
                    <a:solidFill>
                      <a:srgbClr val="2B262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Gender (female vs male)</c:v>
                </c:pt>
                <c:pt idx="1">
                  <c:v>Short account tenure</c:v>
                </c:pt>
                <c:pt idx="2">
                  <c:v>Outflow ÷ inflow</c:v>
                </c:pt>
                <c:pt idx="3">
                  <c:v>Loan amount</c:v>
                </c:pt>
                <c:pt idx="4">
                  <c:v>Payment ÷ own inflow</c:v>
                </c:pt>
                <c:pt idx="5">
                  <c:v>Low average balance</c:v>
                </c:pt>
                <c:pt idx="6">
                  <c:v>Payment ÷ district salary</c:v>
                </c:pt>
                <c:pt idx="7">
                  <c:v>Pre-loan overdraft</c:v>
                </c:pt>
              </c:strCache>
            </c:strRef>
          </c:cat>
          <c:val>
            <c:numRef>
              <c:f>Sheet1!$B$2:$B$9</c:f>
              <c:numCache>
                <c:formatCode>General</c:formatCode>
                <c:ptCount val="8"/>
                <c:pt idx="0">
                  <c:v>1.1000000000000001</c:v>
                </c:pt>
                <c:pt idx="1">
                  <c:v>1.7</c:v>
                </c:pt>
                <c:pt idx="2">
                  <c:v>2.1</c:v>
                </c:pt>
                <c:pt idx="3">
                  <c:v>2.6</c:v>
                </c:pt>
                <c:pt idx="4">
                  <c:v>3.3</c:v>
                </c:pt>
                <c:pt idx="5">
                  <c:v>3.6</c:v>
                </c:pt>
                <c:pt idx="6">
                  <c:v>3.9</c:v>
                </c:pt>
                <c:pt idx="7">
                  <c:v>13.3</c:v>
                </c:pt>
              </c:numCache>
            </c:numRef>
          </c:val>
          <c:extLst>
            <c:ext xmlns:c16="http://schemas.microsoft.com/office/drawing/2014/chart" uri="{C3380CC4-5D6E-409C-BE32-E72D297353CC}">
              <c16:uniqueId val="{00000010-7C23-41EC-A046-3407A97C324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8CDB4"/>
            </a:solidFill>
          </a:ln>
        </c:spPr>
        <c:txPr>
          <a:bodyPr/>
          <a:lstStyle/>
          <a:p>
            <a:pPr>
              <a:defRPr sz="900">
                <a:solidFill>
                  <a:srgbClr val="2B2621"/>
                </a:solidFill>
              </a:defRPr>
            </a:pPr>
            <a:endParaRPr lang="en-US"/>
          </a:p>
        </c:txPr>
        <c:crossAx val="-2113994440"/>
        <c:crosses val="autoZero"/>
        <c:auto val="1"/>
        <c:lblAlgn val="ctr"/>
        <c:lblOffset val="100"/>
        <c:noMultiLvlLbl val="0"/>
      </c:catAx>
      <c:valAx>
        <c:axId val="-2113994440"/>
        <c:scaling>
          <c:orientation val="minMax"/>
          <c:max val="15"/>
          <c:min val="0"/>
        </c:scaling>
        <c:delete val="0"/>
        <c:axPos val="b"/>
        <c:majorGridlines>
          <c:spPr>
            <a:ln>
              <a:solidFill>
                <a:srgbClr val="EDE6D6"/>
              </a:solidFill>
            </a:ln>
          </c:spPr>
        </c:majorGridlines>
        <c:numFmt formatCode="0&quot;x&quot;" sourceLinked="0"/>
        <c:majorTickMark val="out"/>
        <c:minorTickMark val="none"/>
        <c:tickLblPos val="nextTo"/>
        <c:spPr>
          <a:ln>
            <a:noFill/>
          </a:ln>
        </c:spPr>
        <c:txPr>
          <a:bodyPr/>
          <a:lstStyle/>
          <a:p>
            <a:pPr>
              <a:defRPr sz="800"/>
            </a:pPr>
            <a:endParaRPr lang="en-US"/>
          </a:p>
        </c:txPr>
        <c:crossAx val="-2068027336"/>
        <c:crosses val="autoZero"/>
        <c:crossBetween val="between"/>
      </c:valAx>
    </c:plotArea>
    <c:plotVisOnly val="1"/>
    <c:dispBlanksAs val="gap"/>
    <c:showDLblsOverMax val="1"/>
  </c:chart>
  <c:txPr>
    <a:bodyPr/>
    <a:lstStyle/>
    <a:p>
      <a:pPr>
        <a:defRPr sz="900">
          <a:solidFill>
            <a:srgbClr val="8A8071"/>
          </a:solidFill>
          <a:latin typeface="Arial"/>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rate</c:v>
                </c:pt>
              </c:strCache>
            </c:strRef>
          </c:tx>
          <c:invertIfNegative val="1"/>
          <c:dPt>
            <c:idx val="0"/>
            <c:invertIfNegative val="1"/>
            <c:bubble3D val="0"/>
            <c:spPr>
              <a:solidFill>
                <a:srgbClr val="C9BFA6"/>
              </a:solidFill>
            </c:spPr>
            <c:extLst>
              <c:ext xmlns:c16="http://schemas.microsoft.com/office/drawing/2014/chart" uri="{C3380CC4-5D6E-409C-BE32-E72D297353CC}">
                <c16:uniqueId val="{00000001-7726-4FBB-A607-A5607138DE1B}"/>
              </c:ext>
            </c:extLst>
          </c:dPt>
          <c:dPt>
            <c:idx val="1"/>
            <c:invertIfNegative val="1"/>
            <c:bubble3D val="0"/>
            <c:spPr>
              <a:solidFill>
                <a:srgbClr val="C9BFA6"/>
              </a:solidFill>
            </c:spPr>
            <c:extLst>
              <c:ext xmlns:c16="http://schemas.microsoft.com/office/drawing/2014/chart" uri="{C3380CC4-5D6E-409C-BE32-E72D297353CC}">
                <c16:uniqueId val="{00000003-7726-4FBB-A607-A5607138DE1B}"/>
              </c:ext>
            </c:extLst>
          </c:dPt>
          <c:dPt>
            <c:idx val="2"/>
            <c:invertIfNegative val="1"/>
            <c:bubble3D val="0"/>
            <c:spPr>
              <a:solidFill>
                <a:srgbClr val="C9BFA6"/>
              </a:solidFill>
            </c:spPr>
            <c:extLst>
              <c:ext xmlns:c16="http://schemas.microsoft.com/office/drawing/2014/chart" uri="{C3380CC4-5D6E-409C-BE32-E72D297353CC}">
                <c16:uniqueId val="{00000005-7726-4FBB-A607-A5607138DE1B}"/>
              </c:ext>
            </c:extLst>
          </c:dPt>
          <c:dPt>
            <c:idx val="3"/>
            <c:invertIfNegative val="1"/>
            <c:bubble3D val="0"/>
            <c:spPr>
              <a:solidFill>
                <a:srgbClr val="B23A2E"/>
              </a:solidFill>
            </c:spPr>
            <c:extLst>
              <c:ext xmlns:c16="http://schemas.microsoft.com/office/drawing/2014/chart" uri="{C3380CC4-5D6E-409C-BE32-E72D297353CC}">
                <c16:uniqueId val="{00000007-7726-4FBB-A607-A5607138DE1B}"/>
              </c:ext>
            </c:extLst>
          </c:dPt>
          <c:dLbls>
            <c:numFmt formatCode="0.0&quot;%&quot;" sourceLinked="0"/>
            <c:spPr>
              <a:noFill/>
              <a:ln>
                <a:noFill/>
              </a:ln>
              <a:effectLst/>
            </c:spPr>
            <c:txPr>
              <a:bodyPr/>
              <a:lstStyle/>
              <a:p>
                <a:pPr>
                  <a:defRPr sz="900" b="1">
                    <a:solidFill>
                      <a:srgbClr val="2B262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c:v>
                </c:pt>
                <c:pt idx="1">
                  <c:v>Q2</c:v>
                </c:pt>
                <c:pt idx="2">
                  <c:v>Q3</c:v>
                </c:pt>
                <c:pt idx="3">
                  <c:v>Q4</c:v>
                </c:pt>
              </c:strCache>
            </c:strRef>
          </c:cat>
          <c:val>
            <c:numRef>
              <c:f>Sheet1!$B$2:$B$5</c:f>
              <c:numCache>
                <c:formatCode>General</c:formatCode>
                <c:ptCount val="4"/>
                <c:pt idx="0">
                  <c:v>5.8</c:v>
                </c:pt>
                <c:pt idx="1">
                  <c:v>10.6</c:v>
                </c:pt>
                <c:pt idx="2">
                  <c:v>8.8000000000000007</c:v>
                </c:pt>
                <c:pt idx="3">
                  <c:v>19.3</c:v>
                </c:pt>
              </c:numCache>
            </c:numRef>
          </c:val>
          <c:extLst>
            <c:ext xmlns:c16="http://schemas.microsoft.com/office/drawing/2014/chart" uri="{C3380CC4-5D6E-409C-BE32-E72D297353CC}">
              <c16:uniqueId val="{00000008-7726-4FBB-A607-A5607138DE1B}"/>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8CDB4"/>
            </a:solidFill>
          </a:ln>
        </c:spPr>
        <c:txPr>
          <a:bodyPr/>
          <a:lstStyle/>
          <a:p>
            <a:pPr>
              <a:defRPr sz="900">
                <a:solidFill>
                  <a:srgbClr val="2B2621"/>
                </a:solidFill>
              </a:defRPr>
            </a:pPr>
            <a:endParaRPr lang="en-US"/>
          </a:p>
        </c:txPr>
        <c:crossAx val="-2113994440"/>
        <c:crosses val="autoZero"/>
        <c:auto val="1"/>
        <c:lblAlgn val="ctr"/>
        <c:lblOffset val="100"/>
        <c:noMultiLvlLbl val="0"/>
      </c:catAx>
      <c:valAx>
        <c:axId val="-2113994440"/>
        <c:scaling>
          <c:orientation val="minMax"/>
          <c:max val="25"/>
          <c:min val="0"/>
        </c:scaling>
        <c:delete val="0"/>
        <c:axPos val="l"/>
        <c:majorGridlines>
          <c:spPr>
            <a:ln>
              <a:solidFill>
                <a:srgbClr val="EDE6D6"/>
              </a:solidFill>
            </a:ln>
          </c:spPr>
        </c:majorGridlines>
        <c:numFmt formatCode="0&quot;%&quot;" sourceLinked="0"/>
        <c:majorTickMark val="out"/>
        <c:minorTickMark val="none"/>
        <c:tickLblPos val="nextTo"/>
        <c:spPr>
          <a:ln>
            <a:noFill/>
          </a:ln>
        </c:spPr>
        <c:txPr>
          <a:bodyPr/>
          <a:lstStyle/>
          <a:p>
            <a:pPr>
              <a:defRPr sz="800"/>
            </a:pPr>
            <a:endParaRPr lang="en-US"/>
          </a:p>
        </c:txPr>
        <c:crossAx val="-2068027336"/>
        <c:crosses val="autoZero"/>
        <c:crossBetween val="between"/>
      </c:valAx>
    </c:plotArea>
    <c:plotVisOnly val="1"/>
    <c:dispBlanksAs val="gap"/>
    <c:showDLblsOverMax val="1"/>
  </c:chart>
  <c:txPr>
    <a:bodyPr/>
    <a:lstStyle/>
    <a:p>
      <a:pPr>
        <a:defRPr sz="900">
          <a:solidFill>
            <a:srgbClr val="8A8071"/>
          </a:solidFill>
          <a:latin typeface="Arial"/>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rate</c:v>
                </c:pt>
              </c:strCache>
            </c:strRef>
          </c:tx>
          <c:invertIfNegative val="1"/>
          <c:dPt>
            <c:idx val="0"/>
            <c:invertIfNegative val="1"/>
            <c:bubble3D val="0"/>
            <c:spPr>
              <a:solidFill>
                <a:srgbClr val="B23A2E"/>
              </a:solidFill>
            </c:spPr>
            <c:extLst>
              <c:ext xmlns:c16="http://schemas.microsoft.com/office/drawing/2014/chart" uri="{C3380CC4-5D6E-409C-BE32-E72D297353CC}">
                <c16:uniqueId val="{00000001-8C14-446A-B8F5-A3A505A9CD92}"/>
              </c:ext>
            </c:extLst>
          </c:dPt>
          <c:dPt>
            <c:idx val="1"/>
            <c:invertIfNegative val="1"/>
            <c:bubble3D val="0"/>
            <c:spPr>
              <a:solidFill>
                <a:srgbClr val="C9BFA6"/>
              </a:solidFill>
            </c:spPr>
            <c:extLst>
              <c:ext xmlns:c16="http://schemas.microsoft.com/office/drawing/2014/chart" uri="{C3380CC4-5D6E-409C-BE32-E72D297353CC}">
                <c16:uniqueId val="{00000003-8C14-446A-B8F5-A3A505A9CD92}"/>
              </c:ext>
            </c:extLst>
          </c:dPt>
          <c:dPt>
            <c:idx val="2"/>
            <c:invertIfNegative val="1"/>
            <c:bubble3D val="0"/>
            <c:spPr>
              <a:solidFill>
                <a:srgbClr val="C9BFA6"/>
              </a:solidFill>
            </c:spPr>
            <c:extLst>
              <c:ext xmlns:c16="http://schemas.microsoft.com/office/drawing/2014/chart" uri="{C3380CC4-5D6E-409C-BE32-E72D297353CC}">
                <c16:uniqueId val="{00000005-8C14-446A-B8F5-A3A505A9CD92}"/>
              </c:ext>
            </c:extLst>
          </c:dPt>
          <c:dPt>
            <c:idx val="3"/>
            <c:invertIfNegative val="1"/>
            <c:bubble3D val="0"/>
            <c:spPr>
              <a:solidFill>
                <a:srgbClr val="C9BFA6"/>
              </a:solidFill>
            </c:spPr>
            <c:extLst>
              <c:ext xmlns:c16="http://schemas.microsoft.com/office/drawing/2014/chart" uri="{C3380CC4-5D6E-409C-BE32-E72D297353CC}">
                <c16:uniqueId val="{00000007-8C14-446A-B8F5-A3A505A9CD92}"/>
              </c:ext>
            </c:extLst>
          </c:dPt>
          <c:dLbls>
            <c:numFmt formatCode="0.0&quot;%&quot;" sourceLinked="0"/>
            <c:spPr>
              <a:noFill/>
              <a:ln>
                <a:noFill/>
              </a:ln>
              <a:effectLst/>
            </c:spPr>
            <c:txPr>
              <a:bodyPr/>
              <a:lstStyle/>
              <a:p>
                <a:pPr>
                  <a:defRPr sz="900" b="1">
                    <a:solidFill>
                      <a:srgbClr val="2B262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c:v>
                </c:pt>
                <c:pt idx="1">
                  <c:v>Q2</c:v>
                </c:pt>
                <c:pt idx="2">
                  <c:v>Q3</c:v>
                </c:pt>
                <c:pt idx="3">
                  <c:v>Q4</c:v>
                </c:pt>
              </c:strCache>
            </c:strRef>
          </c:cat>
          <c:val>
            <c:numRef>
              <c:f>Sheet1!$B$2:$B$5</c:f>
              <c:numCache>
                <c:formatCode>General</c:formatCode>
                <c:ptCount val="4"/>
                <c:pt idx="0">
                  <c:v>19.3</c:v>
                </c:pt>
                <c:pt idx="1">
                  <c:v>8.1999999999999993</c:v>
                </c:pt>
                <c:pt idx="2">
                  <c:v>11.8</c:v>
                </c:pt>
                <c:pt idx="3">
                  <c:v>5.3</c:v>
                </c:pt>
              </c:numCache>
            </c:numRef>
          </c:val>
          <c:extLst>
            <c:ext xmlns:c16="http://schemas.microsoft.com/office/drawing/2014/chart" uri="{C3380CC4-5D6E-409C-BE32-E72D297353CC}">
              <c16:uniqueId val="{00000008-8C14-446A-B8F5-A3A505A9CD92}"/>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8CDB4"/>
            </a:solidFill>
          </a:ln>
        </c:spPr>
        <c:txPr>
          <a:bodyPr/>
          <a:lstStyle/>
          <a:p>
            <a:pPr>
              <a:defRPr sz="900">
                <a:solidFill>
                  <a:srgbClr val="2B2621"/>
                </a:solidFill>
              </a:defRPr>
            </a:pPr>
            <a:endParaRPr lang="en-US"/>
          </a:p>
        </c:txPr>
        <c:crossAx val="-2113994440"/>
        <c:crosses val="autoZero"/>
        <c:auto val="1"/>
        <c:lblAlgn val="ctr"/>
        <c:lblOffset val="100"/>
        <c:noMultiLvlLbl val="0"/>
      </c:catAx>
      <c:valAx>
        <c:axId val="-2113994440"/>
        <c:scaling>
          <c:orientation val="minMax"/>
          <c:max val="25"/>
          <c:min val="0"/>
        </c:scaling>
        <c:delete val="0"/>
        <c:axPos val="l"/>
        <c:majorGridlines>
          <c:spPr>
            <a:ln>
              <a:solidFill>
                <a:srgbClr val="EDE6D6"/>
              </a:solidFill>
            </a:ln>
          </c:spPr>
        </c:majorGridlines>
        <c:numFmt formatCode="0&quot;%&quot;" sourceLinked="0"/>
        <c:majorTickMark val="out"/>
        <c:minorTickMark val="none"/>
        <c:tickLblPos val="nextTo"/>
        <c:spPr>
          <a:ln>
            <a:noFill/>
          </a:ln>
        </c:spPr>
        <c:txPr>
          <a:bodyPr/>
          <a:lstStyle/>
          <a:p>
            <a:pPr>
              <a:defRPr sz="800"/>
            </a:pPr>
            <a:endParaRPr lang="en-US"/>
          </a:p>
        </c:txPr>
        <c:crossAx val="-2068027336"/>
        <c:crosses val="autoZero"/>
        <c:crossBetween val="between"/>
      </c:valAx>
    </c:plotArea>
    <c:plotVisOnly val="1"/>
    <c:dispBlanksAs val="gap"/>
    <c:showDLblsOverMax val="1"/>
  </c:chart>
  <c:txPr>
    <a:bodyPr/>
    <a:lstStyle/>
    <a:p>
      <a:pPr>
        <a:defRPr sz="900">
          <a:solidFill>
            <a:srgbClr val="8A8071"/>
          </a:solidFill>
          <a:latin typeface="Arial"/>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rate</c:v>
                </c:pt>
              </c:strCache>
            </c:strRef>
          </c:tx>
          <c:invertIfNegative val="1"/>
          <c:dPt>
            <c:idx val="0"/>
            <c:invertIfNegative val="1"/>
            <c:bubble3D val="0"/>
            <c:spPr>
              <a:solidFill>
                <a:srgbClr val="C9BFA6"/>
              </a:solidFill>
            </c:spPr>
            <c:extLst>
              <c:ext xmlns:c16="http://schemas.microsoft.com/office/drawing/2014/chart" uri="{C3380CC4-5D6E-409C-BE32-E72D297353CC}">
                <c16:uniqueId val="{00000001-E782-4CB9-8966-FEC964906007}"/>
              </c:ext>
            </c:extLst>
          </c:dPt>
          <c:dPt>
            <c:idx val="1"/>
            <c:invertIfNegative val="1"/>
            <c:bubble3D val="0"/>
            <c:spPr>
              <a:solidFill>
                <a:srgbClr val="C9BFA6"/>
              </a:solidFill>
            </c:spPr>
            <c:extLst>
              <c:ext xmlns:c16="http://schemas.microsoft.com/office/drawing/2014/chart" uri="{C3380CC4-5D6E-409C-BE32-E72D297353CC}">
                <c16:uniqueId val="{00000003-E782-4CB9-8966-FEC964906007}"/>
              </c:ext>
            </c:extLst>
          </c:dPt>
          <c:dPt>
            <c:idx val="2"/>
            <c:invertIfNegative val="1"/>
            <c:bubble3D val="0"/>
            <c:spPr>
              <a:solidFill>
                <a:srgbClr val="C9BFA6"/>
              </a:solidFill>
            </c:spPr>
            <c:extLst>
              <c:ext xmlns:c16="http://schemas.microsoft.com/office/drawing/2014/chart" uri="{C3380CC4-5D6E-409C-BE32-E72D297353CC}">
                <c16:uniqueId val="{00000005-E782-4CB9-8966-FEC964906007}"/>
              </c:ext>
            </c:extLst>
          </c:dPt>
          <c:dPt>
            <c:idx val="3"/>
            <c:invertIfNegative val="1"/>
            <c:bubble3D val="0"/>
            <c:spPr>
              <a:solidFill>
                <a:srgbClr val="B23A2E"/>
              </a:solidFill>
            </c:spPr>
            <c:extLst>
              <c:ext xmlns:c16="http://schemas.microsoft.com/office/drawing/2014/chart" uri="{C3380CC4-5D6E-409C-BE32-E72D297353CC}">
                <c16:uniqueId val="{00000007-E782-4CB9-8966-FEC964906007}"/>
              </c:ext>
            </c:extLst>
          </c:dPt>
          <c:dLbls>
            <c:numFmt formatCode="0.0&quot;%&quot;" sourceLinked="0"/>
            <c:spPr>
              <a:noFill/>
              <a:ln>
                <a:noFill/>
              </a:ln>
              <a:effectLst/>
            </c:spPr>
            <c:txPr>
              <a:bodyPr/>
              <a:lstStyle/>
              <a:p>
                <a:pPr>
                  <a:defRPr sz="900" b="1">
                    <a:solidFill>
                      <a:srgbClr val="2B262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Q1</c:v>
                </c:pt>
                <c:pt idx="1">
                  <c:v>Q2</c:v>
                </c:pt>
                <c:pt idx="2">
                  <c:v>Q3</c:v>
                </c:pt>
                <c:pt idx="3">
                  <c:v>Q4</c:v>
                </c:pt>
              </c:strCache>
            </c:strRef>
          </c:cat>
          <c:val>
            <c:numRef>
              <c:f>Sheet1!$B$2:$B$5</c:f>
              <c:numCache>
                <c:formatCode>General</c:formatCode>
                <c:ptCount val="4"/>
                <c:pt idx="0">
                  <c:v>7.6</c:v>
                </c:pt>
                <c:pt idx="1">
                  <c:v>7.6</c:v>
                </c:pt>
                <c:pt idx="2">
                  <c:v>9.4</c:v>
                </c:pt>
                <c:pt idx="3">
                  <c:v>19.899999999999999</c:v>
                </c:pt>
              </c:numCache>
            </c:numRef>
          </c:val>
          <c:extLst>
            <c:ext xmlns:c16="http://schemas.microsoft.com/office/drawing/2014/chart" uri="{C3380CC4-5D6E-409C-BE32-E72D297353CC}">
              <c16:uniqueId val="{00000008-E782-4CB9-8966-FEC964906007}"/>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8CDB4"/>
            </a:solidFill>
          </a:ln>
        </c:spPr>
        <c:txPr>
          <a:bodyPr/>
          <a:lstStyle/>
          <a:p>
            <a:pPr>
              <a:defRPr sz="900">
                <a:solidFill>
                  <a:srgbClr val="2B2621"/>
                </a:solidFill>
              </a:defRPr>
            </a:pPr>
            <a:endParaRPr lang="en-US"/>
          </a:p>
        </c:txPr>
        <c:crossAx val="-2113994440"/>
        <c:crosses val="autoZero"/>
        <c:auto val="1"/>
        <c:lblAlgn val="ctr"/>
        <c:lblOffset val="100"/>
        <c:noMultiLvlLbl val="0"/>
      </c:catAx>
      <c:valAx>
        <c:axId val="-2113994440"/>
        <c:scaling>
          <c:orientation val="minMax"/>
          <c:max val="25"/>
          <c:min val="0"/>
        </c:scaling>
        <c:delete val="0"/>
        <c:axPos val="l"/>
        <c:majorGridlines>
          <c:spPr>
            <a:ln>
              <a:solidFill>
                <a:srgbClr val="EDE6D6"/>
              </a:solidFill>
            </a:ln>
          </c:spPr>
        </c:majorGridlines>
        <c:numFmt formatCode="0&quot;%&quot;" sourceLinked="0"/>
        <c:majorTickMark val="out"/>
        <c:minorTickMark val="none"/>
        <c:tickLblPos val="nextTo"/>
        <c:spPr>
          <a:ln>
            <a:noFill/>
          </a:ln>
        </c:spPr>
        <c:txPr>
          <a:bodyPr/>
          <a:lstStyle/>
          <a:p>
            <a:pPr>
              <a:defRPr sz="800"/>
            </a:pPr>
            <a:endParaRPr lang="en-US"/>
          </a:p>
        </c:txPr>
        <c:crossAx val="-2068027336"/>
        <c:crosses val="autoZero"/>
        <c:crossBetween val="between"/>
      </c:valAx>
    </c:plotArea>
    <c:plotVisOnly val="1"/>
    <c:dispBlanksAs val="gap"/>
    <c:showDLblsOverMax val="1"/>
  </c:chart>
  <c:txPr>
    <a:bodyPr/>
    <a:lstStyle/>
    <a:p>
      <a:pPr>
        <a:defRPr sz="900">
          <a:solidFill>
            <a:srgbClr val="8A8071"/>
          </a:solidFill>
          <a:latin typeface="Arial"/>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rate</c:v>
                </c:pt>
              </c:strCache>
            </c:strRef>
          </c:tx>
          <c:invertIfNegative val="1"/>
          <c:dPt>
            <c:idx val="0"/>
            <c:invertIfNegative val="1"/>
            <c:bubble3D val="0"/>
            <c:spPr>
              <a:solidFill>
                <a:srgbClr val="C9BFA6"/>
              </a:solidFill>
            </c:spPr>
            <c:extLst>
              <c:ext xmlns:c16="http://schemas.microsoft.com/office/drawing/2014/chart" uri="{C3380CC4-5D6E-409C-BE32-E72D297353CC}">
                <c16:uniqueId val="{00000001-AFEB-4366-870D-6EC7E3BA499D}"/>
              </c:ext>
            </c:extLst>
          </c:dPt>
          <c:dPt>
            <c:idx val="1"/>
            <c:invertIfNegative val="1"/>
            <c:bubble3D val="0"/>
            <c:spPr>
              <a:solidFill>
                <a:srgbClr val="C9BFA6"/>
              </a:solidFill>
            </c:spPr>
            <c:extLst>
              <c:ext xmlns:c16="http://schemas.microsoft.com/office/drawing/2014/chart" uri="{C3380CC4-5D6E-409C-BE32-E72D297353CC}">
                <c16:uniqueId val="{00000003-AFEB-4366-870D-6EC7E3BA499D}"/>
              </c:ext>
            </c:extLst>
          </c:dPt>
          <c:dPt>
            <c:idx val="2"/>
            <c:invertIfNegative val="1"/>
            <c:bubble3D val="0"/>
            <c:spPr>
              <a:solidFill>
                <a:srgbClr val="C9BFA6"/>
              </a:solidFill>
            </c:spPr>
            <c:extLst>
              <c:ext xmlns:c16="http://schemas.microsoft.com/office/drawing/2014/chart" uri="{C3380CC4-5D6E-409C-BE32-E72D297353CC}">
                <c16:uniqueId val="{00000005-AFEB-4366-870D-6EC7E3BA499D}"/>
              </c:ext>
            </c:extLst>
          </c:dPt>
          <c:dPt>
            <c:idx val="3"/>
            <c:invertIfNegative val="1"/>
            <c:bubble3D val="0"/>
            <c:spPr>
              <a:solidFill>
                <a:srgbClr val="C9BFA6"/>
              </a:solidFill>
            </c:spPr>
            <c:extLst>
              <c:ext xmlns:c16="http://schemas.microsoft.com/office/drawing/2014/chart" uri="{C3380CC4-5D6E-409C-BE32-E72D297353CC}">
                <c16:uniqueId val="{00000007-AFEB-4366-870D-6EC7E3BA499D}"/>
              </c:ext>
            </c:extLst>
          </c:dPt>
          <c:dPt>
            <c:idx val="4"/>
            <c:invertIfNegative val="1"/>
            <c:bubble3D val="0"/>
            <c:spPr>
              <a:solidFill>
                <a:srgbClr val="B23A2E"/>
              </a:solidFill>
            </c:spPr>
            <c:extLst>
              <c:ext xmlns:c16="http://schemas.microsoft.com/office/drawing/2014/chart" uri="{C3380CC4-5D6E-409C-BE32-E72D297353CC}">
                <c16:uniqueId val="{00000009-AFEB-4366-870D-6EC7E3BA499D}"/>
              </c:ext>
            </c:extLst>
          </c:dPt>
          <c:dLbls>
            <c:numFmt formatCode="0.0&quot;%&quot;" sourceLinked="0"/>
            <c:spPr>
              <a:noFill/>
              <a:ln>
                <a:noFill/>
              </a:ln>
              <a:effectLst/>
            </c:spPr>
            <c:txPr>
              <a:bodyPr/>
              <a:lstStyle/>
              <a:p>
                <a:pPr>
                  <a:defRPr sz="900" b="1">
                    <a:solidFill>
                      <a:srgbClr val="2B262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Very low</c:v>
                </c:pt>
                <c:pt idx="1">
                  <c:v>Low</c:v>
                </c:pt>
                <c:pt idx="2">
                  <c:v>Medium</c:v>
                </c:pt>
                <c:pt idx="3">
                  <c:v>High</c:v>
                </c:pt>
                <c:pt idx="4">
                  <c:v>Very high</c:v>
                </c:pt>
              </c:strCache>
            </c:strRef>
          </c:cat>
          <c:val>
            <c:numRef>
              <c:f>Sheet1!$B$2:$B$6</c:f>
              <c:numCache>
                <c:formatCode>General</c:formatCode>
                <c:ptCount val="5"/>
                <c:pt idx="0">
                  <c:v>1.5</c:v>
                </c:pt>
                <c:pt idx="1">
                  <c:v>3.7</c:v>
                </c:pt>
                <c:pt idx="2">
                  <c:v>7.4</c:v>
                </c:pt>
                <c:pt idx="3">
                  <c:v>8.1</c:v>
                </c:pt>
                <c:pt idx="4">
                  <c:v>35</c:v>
                </c:pt>
              </c:numCache>
            </c:numRef>
          </c:val>
          <c:extLst>
            <c:ext xmlns:c16="http://schemas.microsoft.com/office/drawing/2014/chart" uri="{C3380CC4-5D6E-409C-BE32-E72D297353CC}">
              <c16:uniqueId val="{0000000A-AFEB-4366-870D-6EC7E3BA499D}"/>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8CDB4"/>
            </a:solidFill>
          </a:ln>
        </c:spPr>
        <c:txPr>
          <a:bodyPr/>
          <a:lstStyle/>
          <a:p>
            <a:pPr>
              <a:defRPr sz="900">
                <a:solidFill>
                  <a:srgbClr val="2B2621"/>
                </a:solidFill>
              </a:defRPr>
            </a:pPr>
            <a:endParaRPr lang="en-US"/>
          </a:p>
        </c:txPr>
        <c:crossAx val="-2113994440"/>
        <c:crosses val="autoZero"/>
        <c:auto val="1"/>
        <c:lblAlgn val="ctr"/>
        <c:lblOffset val="100"/>
        <c:noMultiLvlLbl val="0"/>
      </c:catAx>
      <c:valAx>
        <c:axId val="-2113994440"/>
        <c:scaling>
          <c:orientation val="minMax"/>
          <c:max val="40"/>
          <c:min val="0"/>
        </c:scaling>
        <c:delete val="0"/>
        <c:axPos val="l"/>
        <c:majorGridlines>
          <c:spPr>
            <a:ln>
              <a:solidFill>
                <a:srgbClr val="EDE6D6"/>
              </a:solidFill>
            </a:ln>
          </c:spPr>
        </c:majorGridlines>
        <c:numFmt formatCode="0&quot;%&quot;" sourceLinked="0"/>
        <c:majorTickMark val="out"/>
        <c:minorTickMark val="none"/>
        <c:tickLblPos val="nextTo"/>
        <c:spPr>
          <a:ln>
            <a:noFill/>
          </a:ln>
        </c:spPr>
        <c:txPr>
          <a:bodyPr/>
          <a:lstStyle/>
          <a:p>
            <a:pPr>
              <a:defRPr sz="800"/>
            </a:pPr>
            <a:endParaRPr lang="en-US"/>
          </a:p>
        </c:txPr>
        <c:crossAx val="-2068027336"/>
        <c:crosses val="autoZero"/>
        <c:crossBetween val="between"/>
      </c:valAx>
    </c:plotArea>
    <c:plotVisOnly val="1"/>
    <c:dispBlanksAs val="gap"/>
    <c:showDLblsOverMax val="1"/>
  </c:chart>
  <c:txPr>
    <a:bodyPr/>
    <a:lstStyle/>
    <a:p>
      <a:pPr>
        <a:defRPr sz="900">
          <a:solidFill>
            <a:srgbClr val="8A8071"/>
          </a:solidFill>
          <a:latin typeface="Arial"/>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rate</c:v>
                </c:pt>
              </c:strCache>
            </c:strRef>
          </c:tx>
          <c:invertIfNegative val="1"/>
          <c:dPt>
            <c:idx val="0"/>
            <c:invertIfNegative val="1"/>
            <c:bubble3D val="0"/>
            <c:spPr>
              <a:solidFill>
                <a:srgbClr val="4E7D3A"/>
              </a:solidFill>
            </c:spPr>
            <c:extLst>
              <c:ext xmlns:c16="http://schemas.microsoft.com/office/drawing/2014/chart" uri="{C3380CC4-5D6E-409C-BE32-E72D297353CC}">
                <c16:uniqueId val="{00000001-5328-4DB4-BC31-00D2D6E84C08}"/>
              </c:ext>
            </c:extLst>
          </c:dPt>
          <c:dPt>
            <c:idx val="1"/>
            <c:invertIfNegative val="1"/>
            <c:bubble3D val="0"/>
            <c:spPr>
              <a:solidFill>
                <a:srgbClr val="F5B301"/>
              </a:solidFill>
            </c:spPr>
            <c:extLst>
              <c:ext xmlns:c16="http://schemas.microsoft.com/office/drawing/2014/chart" uri="{C3380CC4-5D6E-409C-BE32-E72D297353CC}">
                <c16:uniqueId val="{00000003-5328-4DB4-BC31-00D2D6E84C08}"/>
              </c:ext>
            </c:extLst>
          </c:dPt>
          <c:dPt>
            <c:idx val="2"/>
            <c:invertIfNegative val="1"/>
            <c:bubble3D val="0"/>
            <c:spPr>
              <a:solidFill>
                <a:srgbClr val="F5B301"/>
              </a:solidFill>
            </c:spPr>
            <c:extLst>
              <c:ext xmlns:c16="http://schemas.microsoft.com/office/drawing/2014/chart" uri="{C3380CC4-5D6E-409C-BE32-E72D297353CC}">
                <c16:uniqueId val="{00000005-5328-4DB4-BC31-00D2D6E84C08}"/>
              </c:ext>
            </c:extLst>
          </c:dPt>
          <c:dPt>
            <c:idx val="3"/>
            <c:invertIfNegative val="1"/>
            <c:bubble3D val="0"/>
            <c:spPr>
              <a:solidFill>
                <a:srgbClr val="C9BFA6"/>
              </a:solidFill>
            </c:spPr>
            <c:extLst>
              <c:ext xmlns:c16="http://schemas.microsoft.com/office/drawing/2014/chart" uri="{C3380CC4-5D6E-409C-BE32-E72D297353CC}">
                <c16:uniqueId val="{00000007-5328-4DB4-BC31-00D2D6E84C08}"/>
              </c:ext>
            </c:extLst>
          </c:dPt>
          <c:dPt>
            <c:idx val="4"/>
            <c:invertIfNegative val="1"/>
            <c:bubble3D val="0"/>
            <c:spPr>
              <a:solidFill>
                <a:srgbClr val="C9BFA6"/>
              </a:solidFill>
            </c:spPr>
            <c:extLst>
              <c:ext xmlns:c16="http://schemas.microsoft.com/office/drawing/2014/chart" uri="{C3380CC4-5D6E-409C-BE32-E72D297353CC}">
                <c16:uniqueId val="{00000009-5328-4DB4-BC31-00D2D6E84C08}"/>
              </c:ext>
            </c:extLst>
          </c:dPt>
          <c:dPt>
            <c:idx val="5"/>
            <c:invertIfNegative val="1"/>
            <c:bubble3D val="0"/>
            <c:spPr>
              <a:solidFill>
                <a:srgbClr val="B23A2E"/>
              </a:solidFill>
            </c:spPr>
            <c:extLst>
              <c:ext xmlns:c16="http://schemas.microsoft.com/office/drawing/2014/chart" uri="{C3380CC4-5D6E-409C-BE32-E72D297353CC}">
                <c16:uniqueId val="{0000000B-5328-4DB4-BC31-00D2D6E84C08}"/>
              </c:ext>
            </c:extLst>
          </c:dPt>
          <c:dLbls>
            <c:numFmt formatCode="0.0&quot;%&quot;" sourceLinked="0"/>
            <c:spPr>
              <a:noFill/>
              <a:ln>
                <a:noFill/>
              </a:ln>
              <a:effectLst/>
            </c:spPr>
            <c:txPr>
              <a:bodyPr/>
              <a:lstStyle/>
              <a:p>
                <a:pPr>
                  <a:defRPr sz="900" b="1">
                    <a:solidFill>
                      <a:srgbClr val="2B262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R1 + R3</c:v>
                </c:pt>
                <c:pt idx="1">
                  <c:v>R3  Risk score top 20%</c:v>
                </c:pt>
                <c:pt idx="2">
                  <c:v>R1 + R2</c:v>
                </c:pt>
                <c:pt idx="3">
                  <c:v>R1  Overdraft to manual review</c:v>
                </c:pt>
                <c:pt idx="4">
                  <c:v>R2  Payment ÷ inflow &gt; 0.17</c:v>
                </c:pt>
                <c:pt idx="5">
                  <c:v>Current portfolio</c:v>
                </c:pt>
              </c:strCache>
            </c:strRef>
          </c:cat>
          <c:val>
            <c:numRef>
              <c:f>Sheet1!$B$2:$B$7</c:f>
              <c:numCache>
                <c:formatCode>General</c:formatCode>
                <c:ptCount val="6"/>
                <c:pt idx="0">
                  <c:v>5</c:v>
                </c:pt>
                <c:pt idx="1">
                  <c:v>5.0999999999999996</c:v>
                </c:pt>
                <c:pt idx="2">
                  <c:v>5.8</c:v>
                </c:pt>
                <c:pt idx="3">
                  <c:v>7.5</c:v>
                </c:pt>
                <c:pt idx="4">
                  <c:v>8.4</c:v>
                </c:pt>
                <c:pt idx="5">
                  <c:v>11.1</c:v>
                </c:pt>
              </c:numCache>
            </c:numRef>
          </c:val>
          <c:extLst>
            <c:ext xmlns:c16="http://schemas.microsoft.com/office/drawing/2014/chart" uri="{C3380CC4-5D6E-409C-BE32-E72D297353CC}">
              <c16:uniqueId val="{0000000C-5328-4DB4-BC31-00D2D6E84C08}"/>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l"/>
        <c:numFmt formatCode="General" sourceLinked="0"/>
        <c:majorTickMark val="out"/>
        <c:minorTickMark val="none"/>
        <c:tickLblPos val="nextTo"/>
        <c:spPr>
          <a:ln>
            <a:solidFill>
              <a:srgbClr val="D8CDB4"/>
            </a:solidFill>
          </a:ln>
        </c:spPr>
        <c:txPr>
          <a:bodyPr/>
          <a:lstStyle/>
          <a:p>
            <a:pPr>
              <a:defRPr sz="900">
                <a:solidFill>
                  <a:srgbClr val="2B2621"/>
                </a:solidFill>
              </a:defRPr>
            </a:pPr>
            <a:endParaRPr lang="en-US"/>
          </a:p>
        </c:txPr>
        <c:crossAx val="-2113994440"/>
        <c:crosses val="autoZero"/>
        <c:auto val="1"/>
        <c:lblAlgn val="ctr"/>
        <c:lblOffset val="100"/>
        <c:noMultiLvlLbl val="0"/>
      </c:catAx>
      <c:valAx>
        <c:axId val="-2113994440"/>
        <c:scaling>
          <c:orientation val="minMax"/>
          <c:max val="12"/>
          <c:min val="0"/>
        </c:scaling>
        <c:delete val="0"/>
        <c:axPos val="b"/>
        <c:majorGridlines>
          <c:spPr>
            <a:ln>
              <a:solidFill>
                <a:srgbClr val="EDE6D6"/>
              </a:solidFill>
            </a:ln>
          </c:spPr>
        </c:majorGridlines>
        <c:numFmt formatCode="0&quot;%&quot;" sourceLinked="0"/>
        <c:majorTickMark val="out"/>
        <c:minorTickMark val="none"/>
        <c:tickLblPos val="nextTo"/>
        <c:spPr>
          <a:ln>
            <a:noFill/>
          </a:ln>
        </c:spPr>
        <c:txPr>
          <a:bodyPr/>
          <a:lstStyle/>
          <a:p>
            <a:pPr>
              <a:defRPr sz="800"/>
            </a:pPr>
            <a:endParaRPr lang="en-US"/>
          </a:p>
        </c:txPr>
        <c:crossAx val="-2068027336"/>
        <c:crosses val="autoZero"/>
        <c:crossBetween val="between"/>
      </c:valAx>
    </c:plotArea>
    <c:plotVisOnly val="1"/>
    <c:dispBlanksAs val="gap"/>
    <c:showDLblsOverMax val="1"/>
  </c:chart>
  <c:txPr>
    <a:bodyPr/>
    <a:lstStyle/>
    <a:p>
      <a:pPr>
        <a:defRPr sz="900">
          <a:solidFill>
            <a:srgbClr val="8A8071"/>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 name="Google Shape;5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 name="Google Shape;10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 name="Google Shape;15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Eight tables, account_id is the spine. disp is a bridge table so the OWNER filter matters. Analysis population is 682 loans, not 4500 accounts. No orphan rows.</a:t>
            </a:r>
            <a:endParaRPr/>
          </a:p>
        </p:txBody>
      </p:sp>
      <p:sp>
        <p:nvSpPr>
          <p:cNvPr id="156" name="Google Shape;15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2. Four mandatory cleaning items with issue, impact and decision, plus the two decisions that shaped the result: keeping the outliers and the pre-loan cut-off.</a:t>
            </a:r>
            <a:endParaRPr/>
          </a:p>
        </p:txBody>
      </p:sp>
      <p:sp>
        <p:nvSpPr>
          <p:cNvPr id="207" name="Google Shape;20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 name="Google Shape;24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Trend slide. The 1998 figure is a maturity artefact, not a credit quality improvement.</a:t>
            </a:r>
            <a:endParaRPr/>
          </a:p>
        </p:txBody>
      </p:sp>
      <p:sp>
        <p:nvSpPr>
          <p:cNvPr id="242" name="Google Shape;24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Strongest finding. Exists only because negative balances were treated as signal rather than deleted as outliers.</a:t>
            </a:r>
            <a:endParaRPr/>
          </a:p>
        </p:txBody>
      </p:sp>
      <p:sp>
        <p:nvSpPr>
          <p:cNvPr id="261" name="Google Shape;261;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Payment-to-inflow is the cleanest gradient. Cap near the Q3 boundary where the rate crosses the portfolio average.</a:t>
            </a:r>
            <a:endParaRPr/>
          </a:p>
        </p:txBody>
      </p:sp>
      <p:sp>
        <p:nvSpPr>
          <p:cNvPr id="280" name="Google Shape;28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findings on one slide. Minimum balance beats average balance, and demographics plus region do not separate risk in this portfolio.</a:t>
            </a:r>
            <a:endParaRPr/>
          </a:p>
        </p:txBody>
      </p:sp>
      <p:sp>
        <p:nvSpPr>
          <p:cNvPr id="300" name="Google Shape;30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root cause from Milestone 1 tested, and every recommendation tied to a specific finding available before disbursement.</a:t>
            </a:r>
            <a:endParaRPr/>
          </a:p>
        </p:txBody>
      </p:sp>
      <p:sp>
        <p:nvSpPr>
          <p:cNvPr id="317" name="Google Shape;31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7" name="Google Shape;35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Limitations first, then the two-layer method, then the bridge to Milestone 3. Replace the Colab placeholder before submitting.</a:t>
            </a:r>
            <a:endParaRPr/>
          </a:p>
        </p:txBody>
      </p:sp>
      <p:sp>
        <p:nvSpPr>
          <p:cNvPr id="358" name="Google Shape;35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9" name="Google Shape;39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Opening slide for Milestone 3. Python does the heavy work and the testing, Tableau does the presentation for the credit team. The export file is the hand-off between them. Add the Tableau Public link before submitting.</a:t>
            </a:r>
            <a:endParaRPr/>
          </a:p>
        </p:txBody>
      </p:sp>
      <p:sp>
        <p:nvSpPr>
          <p:cNvPr id="400" name="Google Shape;40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Reading guide for the dashboard. Quartiles split the 682 loans into four equal groups of about 170 loans. The simulation panel is coloured from green, low rate left, to red, high rate left.</a:t>
            </a:r>
            <a:endParaRPr/>
          </a:p>
        </p:txBody>
      </p:sp>
      <p:sp>
        <p:nvSpPr>
          <p:cNvPr id="433" name="Google Shape;43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The KPI row sets the size of the problem. The trend shows the real gap is larger than 11.1% suggests, because the mature cohorts sit at 13 to 14%.</a:t>
            </a:r>
            <a:endParaRPr/>
          </a:p>
        </p:txBody>
      </p:sp>
      <p:sp>
        <p:nvSpPr>
          <p:cNvPr id="497" name="Google Shape;49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 name="Google Shape;526;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Driver ranking. Top three in red. Gender and tenure barely move risk, so demographics should not drive the credit decision.</a:t>
            </a:r>
            <a:endParaRPr/>
          </a:p>
        </p:txBody>
      </p:sp>
      <p:sp>
        <p:nvSpPr>
          <p:cNvPr id="527" name="Google Shape;527;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5" name="Google Shape;54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Three drivers side by side. Affordability and balance separate risk at both ends. Loan amount is flat until its top quartile, which suggests large loans hurt through their instalment.</a:t>
            </a:r>
            <a:endParaRPr/>
          </a:p>
        </p:txBody>
      </p:sp>
      <p:sp>
        <p:nvSpPr>
          <p:cNvPr id="546" name="Google Shape;546;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1" name="Shape 571"/>
        <p:cNvGrpSpPr/>
        <p:nvPr/>
      </p:nvGrpSpPr>
      <p:grpSpPr>
        <a:xfrm>
          <a:off x="0" y="0"/>
          <a:ext cx="0" cy="0"/>
          <a:chOff x="0" y="0"/>
          <a:chExt cx="0" cy="0"/>
        </a:xfrm>
      </p:grpSpPr>
      <p:sp>
        <p:nvSpPr>
          <p:cNvPr id="572" name="Google Shape;572;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3" name="Google Shape;57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Model validation. Five equal risk bands of about 136 loans. The very high band holds 48 of the 76 problematic loans, 63%.</a:t>
            </a:r>
            <a:endParaRPr/>
          </a:p>
        </p:txBody>
      </p:sp>
      <p:sp>
        <p:nvSpPr>
          <p:cNvPr id="574" name="Google Shape;574;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3" name="Shape 593"/>
        <p:cNvGrpSpPr/>
        <p:nvPr/>
      </p:nvGrpSpPr>
      <p:grpSpPr>
        <a:xfrm>
          <a:off x="0" y="0"/>
          <a:ext cx="0" cy="0"/>
          <a:chOff x="0" y="0"/>
          <a:chExt cx="0" cy="0"/>
        </a:xfrm>
      </p:grpSpPr>
      <p:sp>
        <p:nvSpPr>
          <p:cNvPr id="594" name="Google Shape;594;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5" name="Google Shape;595;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Impact simulation. No single rule reaches 5%. R1 plus R3 lands at 5.0%, right on the target, so R2 is kept as a buffer.</a:t>
            </a:r>
            <a:endParaRPr/>
          </a:p>
        </p:txBody>
      </p:sp>
      <p:sp>
        <p:nvSpPr>
          <p:cNvPr id="596" name="Google Shape;596;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6" name="Google Shape;61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Calibri"/>
                <a:ea typeface="Calibri"/>
                <a:cs typeface="Calibri"/>
                <a:sym typeface="Calibri"/>
              </a:rPr>
              <a:t>Closing summary. Each row reads left to right: what we found, what it means, what to do, and the measured effect.</a:t>
            </a:r>
            <a:endParaRPr/>
          </a:p>
        </p:txBody>
      </p:sp>
      <p:sp>
        <p:nvSpPr>
          <p:cNvPr id="617" name="Google Shape;61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4.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1" name="Shape 1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1"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 name="Shape 13"/>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3"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chart" Target="../charts/char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hart" Target="../charts/chart6.xml"/><Relationship Id="rId4" Type="http://schemas.openxmlformats.org/officeDocument/2006/relationships/chart" Target="../charts/char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chart" Target="../charts/char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chart" Target="../charts/char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chart" Target="../charts/char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chart" Target="../charts/char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s://colab.research.google.com/drive/1e9emuAy44EXOmNlLx93IDxuazRG6gOMy?usp=sharing" TargetMode="External"/><Relationship Id="rId4" Type="http://schemas.openxmlformats.org/officeDocument/2006/relationships/hyperlink" Target="https://public.tableau.com/shared/9DCRP6QSK?:display_count=n&amp;:origin=viz_share_link"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18" name="Shape 18"/>
        <p:cNvGrpSpPr/>
        <p:nvPr/>
      </p:nvGrpSpPr>
      <p:grpSpPr>
        <a:xfrm>
          <a:off x="0" y="0"/>
          <a:ext cx="0" cy="0"/>
          <a:chOff x="0" y="0"/>
          <a:chExt cx="0" cy="0"/>
        </a:xfrm>
      </p:grpSpPr>
      <p:sp>
        <p:nvSpPr>
          <p:cNvPr id="19" name="Google Shape;19;p1"/>
          <p:cNvSpPr/>
          <p:nvPr/>
        </p:nvSpPr>
        <p:spPr>
          <a:xfrm>
            <a:off x="685800" y="457200"/>
            <a:ext cx="8229600" cy="237744"/>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rgbClr val="8A6D0B"/>
                </a:solidFill>
                <a:latin typeface="Arial"/>
                <a:ea typeface="Arial"/>
                <a:cs typeface="Arial"/>
                <a:sym typeface="Arial"/>
              </a:rPr>
              <a:t>DEEPP MILESTONE 0   ·</a:t>
            </a:r>
            <a:endParaRPr b="1" i="0" sz="1100" u="none" cap="none" strike="noStrike">
              <a:solidFill>
                <a:srgbClr val="8A6D0B"/>
              </a:solidFill>
              <a:latin typeface="Arial"/>
              <a:ea typeface="Arial"/>
              <a:cs typeface="Arial"/>
              <a:sym typeface="Arial"/>
            </a:endParaRPr>
          </a:p>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rgbClr val="8A6D0B"/>
                </a:solidFill>
                <a:latin typeface="Arial"/>
                <a:ea typeface="Arial"/>
                <a:cs typeface="Arial"/>
                <a:sym typeface="Arial"/>
              </a:rPr>
              <a:t>REINALDY ZULFANANDA ARKAAN · SEOUL · BATCH JUN26</a:t>
            </a:r>
            <a:endParaRPr b="1" i="0" sz="1100" u="none" cap="none" strike="noStrike">
              <a:solidFill>
                <a:srgbClr val="8A6D0B"/>
              </a:solidFill>
              <a:latin typeface="Arial"/>
              <a:ea typeface="Arial"/>
              <a:cs typeface="Arial"/>
              <a:sym typeface="Arial"/>
            </a:endParaRPr>
          </a:p>
          <a:p>
            <a:pPr indent="0" lvl="0" marL="0" marR="0" rtl="0" algn="l">
              <a:lnSpc>
                <a:spcPct val="100000"/>
              </a:lnSpc>
              <a:spcBef>
                <a:spcPts val="0"/>
              </a:spcBef>
              <a:spcAft>
                <a:spcPts val="0"/>
              </a:spcAft>
              <a:buClr>
                <a:srgbClr val="8A6D0B"/>
              </a:buClr>
              <a:buSzPts val="1100"/>
              <a:buFont typeface="Arial"/>
              <a:buNone/>
            </a:pPr>
            <a:r>
              <a:t/>
            </a:r>
            <a:endParaRPr b="1" i="0" sz="1100" u="none" cap="none" strike="noStrike">
              <a:solidFill>
                <a:srgbClr val="8A6D0B"/>
              </a:solidFill>
              <a:latin typeface="Arial"/>
              <a:ea typeface="Arial"/>
              <a:cs typeface="Arial"/>
              <a:sym typeface="Arial"/>
            </a:endParaRPr>
          </a:p>
        </p:txBody>
      </p:sp>
      <p:sp>
        <p:nvSpPr>
          <p:cNvPr id="20" name="Google Shape;20;p1"/>
          <p:cNvSpPr/>
          <p:nvPr/>
        </p:nvSpPr>
        <p:spPr>
          <a:xfrm>
            <a:off x="8759952" y="457200"/>
            <a:ext cx="2745943" cy="237744"/>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100"/>
              <a:buFont typeface="Arial"/>
              <a:buNone/>
            </a:pPr>
            <a:r>
              <a:rPr b="1" i="0" lang="en-US" sz="1100" u="none" cap="none" strike="noStrike">
                <a:solidFill>
                  <a:srgbClr val="8A8071"/>
                </a:solidFill>
                <a:latin typeface="Arial"/>
                <a:ea typeface="Arial"/>
                <a:cs typeface="Arial"/>
                <a:sym typeface="Arial"/>
              </a:rPr>
              <a:t>INDUSTRY: BANKING</a:t>
            </a:r>
            <a:endParaRPr b="0" i="0" sz="1100" u="none" cap="none" strike="noStrike">
              <a:solidFill>
                <a:schemeClr val="dk1"/>
              </a:solidFill>
              <a:latin typeface="Calibri"/>
              <a:ea typeface="Calibri"/>
              <a:cs typeface="Calibri"/>
              <a:sym typeface="Calibri"/>
            </a:endParaRPr>
          </a:p>
        </p:txBody>
      </p:sp>
      <p:sp>
        <p:nvSpPr>
          <p:cNvPr id="21" name="Google Shape;21;p1"/>
          <p:cNvSpPr/>
          <p:nvPr/>
        </p:nvSpPr>
        <p:spPr>
          <a:xfrm>
            <a:off x="658368" y="749808"/>
            <a:ext cx="109728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3200"/>
              <a:buFont typeface="Bookman Old Style"/>
              <a:buNone/>
            </a:pPr>
            <a:r>
              <a:rPr b="1" i="0" lang="en-US" sz="3200" u="none" cap="none" strike="noStrike">
                <a:solidFill>
                  <a:srgbClr val="2B2621"/>
                </a:solidFill>
                <a:latin typeface="Bookman Old Style"/>
                <a:ea typeface="Bookman Old Style"/>
                <a:cs typeface="Bookman Old Style"/>
                <a:sym typeface="Bookman Old Style"/>
              </a:rPr>
              <a:t>Banking Credit Risk Analysis</a:t>
            </a:r>
            <a:endParaRPr b="0" i="0" sz="3200" u="none" cap="none" strike="noStrike">
              <a:solidFill>
                <a:schemeClr val="dk1"/>
              </a:solidFill>
              <a:latin typeface="Calibri"/>
              <a:ea typeface="Calibri"/>
              <a:cs typeface="Calibri"/>
              <a:sym typeface="Calibri"/>
            </a:endParaRPr>
          </a:p>
        </p:txBody>
      </p:sp>
      <p:sp>
        <p:nvSpPr>
          <p:cNvPr id="22" name="Google Shape;22;p1"/>
          <p:cNvSpPr/>
          <p:nvPr/>
        </p:nvSpPr>
        <p:spPr>
          <a:xfrm>
            <a:off x="685800" y="1463040"/>
            <a:ext cx="1078992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300"/>
              <a:buFont typeface="Arial"/>
              <a:buNone/>
            </a:pPr>
            <a:r>
              <a:rPr b="0" i="0" lang="en-US" sz="1300" u="none" cap="none" strike="noStrike">
                <a:solidFill>
                  <a:srgbClr val="8A8071"/>
                </a:solidFill>
                <a:latin typeface="Arial"/>
                <a:ea typeface="Arial"/>
                <a:cs typeface="Arial"/>
                <a:sym typeface="Arial"/>
              </a:rPr>
              <a:t>Berka Retail Bank, a B2C retail bank based on the public Czech banking dataset</a:t>
            </a:r>
            <a:endParaRPr b="0" i="0" sz="1300" u="none" cap="none" strike="noStrike">
              <a:solidFill>
                <a:schemeClr val="dk1"/>
              </a:solidFill>
              <a:latin typeface="Calibri"/>
              <a:ea typeface="Calibri"/>
              <a:cs typeface="Calibri"/>
              <a:sym typeface="Calibri"/>
            </a:endParaRPr>
          </a:p>
        </p:txBody>
      </p:sp>
      <p:sp>
        <p:nvSpPr>
          <p:cNvPr id="23" name="Google Shape;23;p1"/>
          <p:cNvSpPr/>
          <p:nvPr/>
        </p:nvSpPr>
        <p:spPr>
          <a:xfrm>
            <a:off x="685800" y="1847088"/>
            <a:ext cx="3456432" cy="1810512"/>
          </a:xfrm>
          <a:prstGeom prst="rect">
            <a:avLst/>
          </a:prstGeom>
          <a:solidFill>
            <a:srgbClr val="FFFFFF"/>
          </a:solidFill>
          <a:ln cap="flat" cmpd="sng" w="12700">
            <a:solidFill>
              <a:srgbClr val="C9BF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24" name="Google Shape;24;p1"/>
          <p:cNvSpPr/>
          <p:nvPr/>
        </p:nvSpPr>
        <p:spPr>
          <a:xfrm>
            <a:off x="923544" y="2048256"/>
            <a:ext cx="2980944"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INDUSTRY &amp; COMPANY</a:t>
            </a:r>
            <a:endParaRPr b="0" i="0" sz="1100" u="none" cap="none" strike="noStrike">
              <a:solidFill>
                <a:schemeClr val="dk1"/>
              </a:solidFill>
              <a:latin typeface="Calibri"/>
              <a:ea typeface="Calibri"/>
              <a:cs typeface="Calibri"/>
              <a:sym typeface="Calibri"/>
            </a:endParaRPr>
          </a:p>
        </p:txBody>
      </p:sp>
      <p:sp>
        <p:nvSpPr>
          <p:cNvPr id="25" name="Google Shape;25;p1"/>
          <p:cNvSpPr/>
          <p:nvPr/>
        </p:nvSpPr>
        <p:spPr>
          <a:xfrm>
            <a:off x="923544" y="2395728"/>
            <a:ext cx="2980944" cy="109728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2B2621"/>
              </a:buClr>
              <a:buSzPts val="1100"/>
              <a:buFont typeface="Arial"/>
              <a:buNone/>
            </a:pPr>
            <a:r>
              <a:rPr b="0" i="0" lang="en-US" sz="1100" u="none" cap="none" strike="noStrike">
                <a:solidFill>
                  <a:srgbClr val="2B2621"/>
                </a:solidFill>
                <a:latin typeface="Arial"/>
                <a:ea typeface="Arial"/>
                <a:cs typeface="Arial"/>
                <a:sym typeface="Arial"/>
              </a:rPr>
              <a:t>Berka Retail Bank is a retail bank offering accounts, transactions, loans, and cards. We chose banking because it is rich in data and credit risk is very relevant for a data analyst.</a:t>
            </a:r>
            <a:endParaRPr b="0" i="0" sz="1100" u="none" cap="none" strike="noStrike">
              <a:solidFill>
                <a:schemeClr val="dk1"/>
              </a:solidFill>
              <a:latin typeface="Calibri"/>
              <a:ea typeface="Calibri"/>
              <a:cs typeface="Calibri"/>
              <a:sym typeface="Calibri"/>
            </a:endParaRPr>
          </a:p>
        </p:txBody>
      </p:sp>
      <p:sp>
        <p:nvSpPr>
          <p:cNvPr id="26" name="Google Shape;26;p1"/>
          <p:cNvSpPr/>
          <p:nvPr/>
        </p:nvSpPr>
        <p:spPr>
          <a:xfrm>
            <a:off x="4366260" y="1847088"/>
            <a:ext cx="3456432" cy="1810512"/>
          </a:xfrm>
          <a:prstGeom prst="rect">
            <a:avLst/>
          </a:prstGeom>
          <a:solidFill>
            <a:srgbClr val="FFFFFF"/>
          </a:solidFill>
          <a:ln cap="flat" cmpd="sng" w="12700">
            <a:solidFill>
              <a:srgbClr val="C9BF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27" name="Google Shape;27;p1"/>
          <p:cNvSpPr/>
          <p:nvPr/>
        </p:nvSpPr>
        <p:spPr>
          <a:xfrm>
            <a:off x="4604004" y="2048256"/>
            <a:ext cx="2980944"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BUSINESS MODEL: B2C</a:t>
            </a:r>
            <a:endParaRPr b="0" i="0" sz="1100" u="none" cap="none" strike="noStrike">
              <a:solidFill>
                <a:schemeClr val="dk1"/>
              </a:solidFill>
              <a:latin typeface="Calibri"/>
              <a:ea typeface="Calibri"/>
              <a:cs typeface="Calibri"/>
              <a:sym typeface="Calibri"/>
            </a:endParaRPr>
          </a:p>
        </p:txBody>
      </p:sp>
      <p:sp>
        <p:nvSpPr>
          <p:cNvPr id="28" name="Google Shape;28;p1"/>
          <p:cNvSpPr/>
          <p:nvPr/>
        </p:nvSpPr>
        <p:spPr>
          <a:xfrm>
            <a:off x="4604004" y="2395728"/>
            <a:ext cx="2980944" cy="109728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2B2621"/>
              </a:buClr>
              <a:buSzPts val="1100"/>
              <a:buFont typeface="Arial"/>
              <a:buNone/>
            </a:pPr>
            <a:r>
              <a:rPr b="0" i="0" lang="en-US" sz="1100" u="none" cap="none" strike="noStrike">
                <a:solidFill>
                  <a:srgbClr val="2B2621"/>
                </a:solidFill>
                <a:latin typeface="Arial"/>
                <a:ea typeface="Arial"/>
                <a:cs typeface="Arial"/>
                <a:sym typeface="Arial"/>
              </a:rPr>
              <a:t>The bank earns mainly from lending interest, plus fees on cards and transactions, serving individual customers. Key processes: open account, transact, apply for a loan, then track repayment.</a:t>
            </a:r>
            <a:endParaRPr b="0" i="0" sz="1100" u="none" cap="none" strike="noStrike">
              <a:solidFill>
                <a:schemeClr val="dk1"/>
              </a:solidFill>
              <a:latin typeface="Calibri"/>
              <a:ea typeface="Calibri"/>
              <a:cs typeface="Calibri"/>
              <a:sym typeface="Calibri"/>
            </a:endParaRPr>
          </a:p>
        </p:txBody>
      </p:sp>
      <p:sp>
        <p:nvSpPr>
          <p:cNvPr id="29" name="Google Shape;29;p1"/>
          <p:cNvSpPr/>
          <p:nvPr/>
        </p:nvSpPr>
        <p:spPr>
          <a:xfrm>
            <a:off x="8046720" y="1847088"/>
            <a:ext cx="3456432" cy="1810512"/>
          </a:xfrm>
          <a:prstGeom prst="rect">
            <a:avLst/>
          </a:prstGeom>
          <a:solidFill>
            <a:srgbClr val="FFFFFF"/>
          </a:solidFill>
          <a:ln cap="flat" cmpd="sng" w="12700">
            <a:solidFill>
              <a:srgbClr val="C9BF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30" name="Google Shape;30;p1"/>
          <p:cNvSpPr/>
          <p:nvPr/>
        </p:nvSpPr>
        <p:spPr>
          <a:xfrm>
            <a:off x="8284464" y="2048256"/>
            <a:ext cx="2980944"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DATA SCALE &amp; RANGE</a:t>
            </a:r>
            <a:endParaRPr b="0" i="0" sz="1100" u="none" cap="none" strike="noStrike">
              <a:solidFill>
                <a:schemeClr val="dk1"/>
              </a:solidFill>
              <a:latin typeface="Calibri"/>
              <a:ea typeface="Calibri"/>
              <a:cs typeface="Calibri"/>
              <a:sym typeface="Calibri"/>
            </a:endParaRPr>
          </a:p>
        </p:txBody>
      </p:sp>
      <p:sp>
        <p:nvSpPr>
          <p:cNvPr id="31" name="Google Shape;31;p1"/>
          <p:cNvSpPr/>
          <p:nvPr/>
        </p:nvSpPr>
        <p:spPr>
          <a:xfrm>
            <a:off x="8284464" y="2395728"/>
            <a:ext cx="2980944" cy="109728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2B2621"/>
              </a:buClr>
              <a:buSzPts val="1100"/>
              <a:buFont typeface="Arial"/>
              <a:buNone/>
            </a:pPr>
            <a:r>
              <a:rPr b="0" i="0" lang="en-US" sz="1100" u="none" cap="none" strike="noStrike">
                <a:solidFill>
                  <a:srgbClr val="2B2621"/>
                </a:solidFill>
                <a:latin typeface="Arial"/>
                <a:ea typeface="Arial"/>
                <a:cs typeface="Arial"/>
                <a:sym typeface="Arial"/>
              </a:rPr>
              <a:t>1993 to 1998, six full years. Covers 5,369 clients, 4,500 accounts, ~1.05M transactions, 682 loans, and 892 cards.</a:t>
            </a:r>
            <a:endParaRPr b="0" i="0" sz="1100" u="none" cap="none" strike="noStrike">
              <a:solidFill>
                <a:schemeClr val="dk1"/>
              </a:solidFill>
              <a:latin typeface="Calibri"/>
              <a:ea typeface="Calibri"/>
              <a:cs typeface="Calibri"/>
              <a:sym typeface="Calibri"/>
            </a:endParaRPr>
          </a:p>
        </p:txBody>
      </p:sp>
      <p:sp>
        <p:nvSpPr>
          <p:cNvPr id="32" name="Google Shape;32;p1"/>
          <p:cNvSpPr/>
          <p:nvPr/>
        </p:nvSpPr>
        <p:spPr>
          <a:xfrm>
            <a:off x="685800" y="3840480"/>
            <a:ext cx="8229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BUSINESS FLOW: WHERE DATA IS GENERATED</a:t>
            </a:r>
            <a:endParaRPr b="0" i="0" sz="1100" u="none" cap="none" strike="noStrike">
              <a:solidFill>
                <a:schemeClr val="dk1"/>
              </a:solidFill>
              <a:latin typeface="Calibri"/>
              <a:ea typeface="Calibri"/>
              <a:cs typeface="Calibri"/>
              <a:sym typeface="Calibri"/>
            </a:endParaRPr>
          </a:p>
        </p:txBody>
      </p:sp>
      <p:sp>
        <p:nvSpPr>
          <p:cNvPr id="33" name="Google Shape;33;p1"/>
          <p:cNvSpPr/>
          <p:nvPr/>
        </p:nvSpPr>
        <p:spPr>
          <a:xfrm>
            <a:off x="685800" y="4114800"/>
            <a:ext cx="10820095" cy="960120"/>
          </a:xfrm>
          <a:prstGeom prst="rect">
            <a:avLst/>
          </a:prstGeom>
          <a:solidFill>
            <a:srgbClr val="FFFFFF"/>
          </a:solidFill>
          <a:ln cap="flat" cmpd="sng" w="12700">
            <a:solidFill>
              <a:srgbClr val="C9BF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34" name="Google Shape;34;p1"/>
          <p:cNvSpPr/>
          <p:nvPr/>
        </p:nvSpPr>
        <p:spPr>
          <a:xfrm>
            <a:off x="923544" y="4297680"/>
            <a:ext cx="1798259"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Arial"/>
              <a:buNone/>
            </a:pPr>
            <a:r>
              <a:rPr b="1" i="0" lang="en-US" sz="1200" u="none" cap="none" strike="noStrike">
                <a:solidFill>
                  <a:srgbClr val="2B2621"/>
                </a:solidFill>
                <a:latin typeface="Arial"/>
                <a:ea typeface="Arial"/>
                <a:cs typeface="Arial"/>
                <a:sym typeface="Arial"/>
              </a:rPr>
              <a:t>New client</a:t>
            </a:r>
            <a:endParaRPr b="0" i="0" sz="1200" u="none" cap="none" strike="noStrike">
              <a:solidFill>
                <a:schemeClr val="dk1"/>
              </a:solidFill>
              <a:latin typeface="Calibri"/>
              <a:ea typeface="Calibri"/>
              <a:cs typeface="Calibri"/>
              <a:sym typeface="Calibri"/>
            </a:endParaRPr>
          </a:p>
        </p:txBody>
      </p:sp>
      <p:sp>
        <p:nvSpPr>
          <p:cNvPr id="35" name="Google Shape;35;p1"/>
          <p:cNvSpPr/>
          <p:nvPr/>
        </p:nvSpPr>
        <p:spPr>
          <a:xfrm>
            <a:off x="923544" y="4617720"/>
            <a:ext cx="1798259"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00"/>
              <a:buFont typeface="Courier New"/>
              <a:buNone/>
            </a:pPr>
            <a:r>
              <a:rPr b="0" i="0" lang="en-US" sz="900" u="none" cap="none" strike="noStrike">
                <a:solidFill>
                  <a:srgbClr val="8A8071"/>
                </a:solidFill>
                <a:latin typeface="Courier New"/>
                <a:ea typeface="Courier New"/>
                <a:cs typeface="Courier New"/>
                <a:sym typeface="Courier New"/>
              </a:rPr>
              <a:t>client</a:t>
            </a:r>
            <a:endParaRPr b="0" i="0" sz="900" u="none" cap="none" strike="noStrike">
              <a:solidFill>
                <a:schemeClr val="dk1"/>
              </a:solidFill>
              <a:latin typeface="Calibri"/>
              <a:ea typeface="Calibri"/>
              <a:cs typeface="Calibri"/>
              <a:sym typeface="Calibri"/>
            </a:endParaRPr>
          </a:p>
        </p:txBody>
      </p:sp>
      <p:sp>
        <p:nvSpPr>
          <p:cNvPr id="36" name="Google Shape;36;p1"/>
          <p:cNvSpPr/>
          <p:nvPr/>
        </p:nvSpPr>
        <p:spPr>
          <a:xfrm>
            <a:off x="2849819" y="4279392"/>
            <a:ext cx="10058" cy="630936"/>
          </a:xfrm>
          <a:prstGeom prst="rect">
            <a:avLst/>
          </a:prstGeom>
          <a:solidFill>
            <a:srgbClr val="C9BF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37" name="Google Shape;37;p1"/>
          <p:cNvSpPr/>
          <p:nvPr/>
        </p:nvSpPr>
        <p:spPr>
          <a:xfrm>
            <a:off x="3087563" y="4297680"/>
            <a:ext cx="1798259"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Arial"/>
              <a:buNone/>
            </a:pPr>
            <a:r>
              <a:rPr b="1" i="0" lang="en-US" sz="1200" u="none" cap="none" strike="noStrike">
                <a:solidFill>
                  <a:srgbClr val="2B2621"/>
                </a:solidFill>
                <a:latin typeface="Arial"/>
                <a:ea typeface="Arial"/>
                <a:cs typeface="Arial"/>
                <a:sym typeface="Arial"/>
              </a:rPr>
              <a:t>Open account</a:t>
            </a:r>
            <a:endParaRPr b="0" i="0" sz="1200" u="none" cap="none" strike="noStrike">
              <a:solidFill>
                <a:schemeClr val="dk1"/>
              </a:solidFill>
              <a:latin typeface="Calibri"/>
              <a:ea typeface="Calibri"/>
              <a:cs typeface="Calibri"/>
              <a:sym typeface="Calibri"/>
            </a:endParaRPr>
          </a:p>
        </p:txBody>
      </p:sp>
      <p:sp>
        <p:nvSpPr>
          <p:cNvPr id="38" name="Google Shape;38;p1"/>
          <p:cNvSpPr/>
          <p:nvPr/>
        </p:nvSpPr>
        <p:spPr>
          <a:xfrm>
            <a:off x="3087563" y="4617720"/>
            <a:ext cx="1798259"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00"/>
              <a:buFont typeface="Courier New"/>
              <a:buNone/>
            </a:pPr>
            <a:r>
              <a:rPr b="0" i="0" lang="en-US" sz="900" u="none" cap="none" strike="noStrike">
                <a:solidFill>
                  <a:srgbClr val="8A8071"/>
                </a:solidFill>
                <a:latin typeface="Courier New"/>
                <a:ea typeface="Courier New"/>
                <a:cs typeface="Courier New"/>
                <a:sym typeface="Courier New"/>
              </a:rPr>
              <a:t>account</a:t>
            </a:r>
            <a:endParaRPr b="0" i="0" sz="900" u="none" cap="none" strike="noStrike">
              <a:solidFill>
                <a:schemeClr val="dk1"/>
              </a:solidFill>
              <a:latin typeface="Calibri"/>
              <a:ea typeface="Calibri"/>
              <a:cs typeface="Calibri"/>
              <a:sym typeface="Calibri"/>
            </a:endParaRPr>
          </a:p>
        </p:txBody>
      </p:sp>
      <p:sp>
        <p:nvSpPr>
          <p:cNvPr id="39" name="Google Shape;39;p1"/>
          <p:cNvSpPr/>
          <p:nvPr/>
        </p:nvSpPr>
        <p:spPr>
          <a:xfrm>
            <a:off x="5013838" y="4279392"/>
            <a:ext cx="10058" cy="630936"/>
          </a:xfrm>
          <a:prstGeom prst="rect">
            <a:avLst/>
          </a:prstGeom>
          <a:solidFill>
            <a:srgbClr val="C9BF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40" name="Google Shape;40;p1"/>
          <p:cNvSpPr/>
          <p:nvPr/>
        </p:nvSpPr>
        <p:spPr>
          <a:xfrm>
            <a:off x="5251582" y="4297680"/>
            <a:ext cx="1798259"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Arial"/>
              <a:buNone/>
            </a:pPr>
            <a:r>
              <a:rPr b="1" i="0" lang="en-US" sz="1200" u="none" cap="none" strike="noStrike">
                <a:solidFill>
                  <a:srgbClr val="2B2621"/>
                </a:solidFill>
                <a:latin typeface="Arial"/>
                <a:ea typeface="Arial"/>
                <a:cs typeface="Arial"/>
                <a:sym typeface="Arial"/>
              </a:rPr>
              <a:t>Transactions</a:t>
            </a:r>
            <a:endParaRPr b="0" i="0" sz="1200" u="none" cap="none" strike="noStrike">
              <a:solidFill>
                <a:schemeClr val="dk1"/>
              </a:solidFill>
              <a:latin typeface="Calibri"/>
              <a:ea typeface="Calibri"/>
              <a:cs typeface="Calibri"/>
              <a:sym typeface="Calibri"/>
            </a:endParaRPr>
          </a:p>
        </p:txBody>
      </p:sp>
      <p:sp>
        <p:nvSpPr>
          <p:cNvPr id="41" name="Google Shape;41;p1"/>
          <p:cNvSpPr/>
          <p:nvPr/>
        </p:nvSpPr>
        <p:spPr>
          <a:xfrm>
            <a:off x="5251582" y="4617720"/>
            <a:ext cx="1798259"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00"/>
              <a:buFont typeface="Courier New"/>
              <a:buNone/>
            </a:pPr>
            <a:r>
              <a:rPr b="0" i="0" lang="en-US" sz="900" u="none" cap="none" strike="noStrike">
                <a:solidFill>
                  <a:srgbClr val="8A8071"/>
                </a:solidFill>
                <a:latin typeface="Courier New"/>
                <a:ea typeface="Courier New"/>
                <a:cs typeface="Courier New"/>
                <a:sym typeface="Courier New"/>
              </a:rPr>
              <a:t>trans</a:t>
            </a:r>
            <a:endParaRPr b="0" i="0" sz="900" u="none" cap="none" strike="noStrike">
              <a:solidFill>
                <a:schemeClr val="dk1"/>
              </a:solidFill>
              <a:latin typeface="Calibri"/>
              <a:ea typeface="Calibri"/>
              <a:cs typeface="Calibri"/>
              <a:sym typeface="Calibri"/>
            </a:endParaRPr>
          </a:p>
        </p:txBody>
      </p:sp>
      <p:sp>
        <p:nvSpPr>
          <p:cNvPr id="42" name="Google Shape;42;p1"/>
          <p:cNvSpPr/>
          <p:nvPr/>
        </p:nvSpPr>
        <p:spPr>
          <a:xfrm>
            <a:off x="7177857" y="4279392"/>
            <a:ext cx="10058" cy="630936"/>
          </a:xfrm>
          <a:prstGeom prst="rect">
            <a:avLst/>
          </a:prstGeom>
          <a:solidFill>
            <a:srgbClr val="C9BF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43" name="Google Shape;43;p1"/>
          <p:cNvSpPr/>
          <p:nvPr/>
        </p:nvSpPr>
        <p:spPr>
          <a:xfrm>
            <a:off x="7415601" y="4297680"/>
            <a:ext cx="1798259"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Arial"/>
              <a:buNone/>
            </a:pPr>
            <a:r>
              <a:rPr b="1" i="0" lang="en-US" sz="1200" u="none" cap="none" strike="noStrike">
                <a:solidFill>
                  <a:srgbClr val="2B2621"/>
                </a:solidFill>
                <a:latin typeface="Arial"/>
                <a:ea typeface="Arial"/>
                <a:cs typeface="Arial"/>
                <a:sym typeface="Arial"/>
              </a:rPr>
              <a:t>Loan application</a:t>
            </a:r>
            <a:endParaRPr b="0" i="0" sz="1200" u="none" cap="none" strike="noStrike">
              <a:solidFill>
                <a:schemeClr val="dk1"/>
              </a:solidFill>
              <a:latin typeface="Calibri"/>
              <a:ea typeface="Calibri"/>
              <a:cs typeface="Calibri"/>
              <a:sym typeface="Calibri"/>
            </a:endParaRPr>
          </a:p>
        </p:txBody>
      </p:sp>
      <p:sp>
        <p:nvSpPr>
          <p:cNvPr id="44" name="Google Shape;44;p1"/>
          <p:cNvSpPr/>
          <p:nvPr/>
        </p:nvSpPr>
        <p:spPr>
          <a:xfrm>
            <a:off x="7415601" y="4617720"/>
            <a:ext cx="1798259"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00"/>
              <a:buFont typeface="Courier New"/>
              <a:buNone/>
            </a:pPr>
            <a:r>
              <a:rPr b="0" i="0" lang="en-US" sz="900" u="none" cap="none" strike="noStrike">
                <a:solidFill>
                  <a:srgbClr val="8A8071"/>
                </a:solidFill>
                <a:latin typeface="Courier New"/>
                <a:ea typeface="Courier New"/>
                <a:cs typeface="Courier New"/>
                <a:sym typeface="Courier New"/>
              </a:rPr>
              <a:t>loan</a:t>
            </a:r>
            <a:endParaRPr b="0" i="0" sz="900" u="none" cap="none" strike="noStrike">
              <a:solidFill>
                <a:schemeClr val="dk1"/>
              </a:solidFill>
              <a:latin typeface="Calibri"/>
              <a:ea typeface="Calibri"/>
              <a:cs typeface="Calibri"/>
              <a:sym typeface="Calibri"/>
            </a:endParaRPr>
          </a:p>
        </p:txBody>
      </p:sp>
      <p:sp>
        <p:nvSpPr>
          <p:cNvPr id="45" name="Google Shape;45;p1"/>
          <p:cNvSpPr/>
          <p:nvPr/>
        </p:nvSpPr>
        <p:spPr>
          <a:xfrm>
            <a:off x="9341876" y="4279392"/>
            <a:ext cx="10058" cy="630936"/>
          </a:xfrm>
          <a:prstGeom prst="rect">
            <a:avLst/>
          </a:prstGeom>
          <a:solidFill>
            <a:srgbClr val="C9BFA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46" name="Google Shape;46;p1"/>
          <p:cNvSpPr/>
          <p:nvPr/>
        </p:nvSpPr>
        <p:spPr>
          <a:xfrm>
            <a:off x="9579620" y="4297680"/>
            <a:ext cx="1798259"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Arial"/>
              <a:buNone/>
            </a:pPr>
            <a:r>
              <a:rPr b="1" i="0" lang="en-US" sz="1200" u="none" cap="none" strike="noStrike">
                <a:solidFill>
                  <a:srgbClr val="2B2621"/>
                </a:solidFill>
                <a:latin typeface="Arial"/>
                <a:ea typeface="Arial"/>
                <a:cs typeface="Arial"/>
                <a:sym typeface="Arial"/>
              </a:rPr>
              <a:t>Repayment &amp; status</a:t>
            </a:r>
            <a:endParaRPr b="0" i="0" sz="1200" u="none" cap="none" strike="noStrike">
              <a:solidFill>
                <a:schemeClr val="dk1"/>
              </a:solidFill>
              <a:latin typeface="Calibri"/>
              <a:ea typeface="Calibri"/>
              <a:cs typeface="Calibri"/>
              <a:sym typeface="Calibri"/>
            </a:endParaRPr>
          </a:p>
        </p:txBody>
      </p:sp>
      <p:sp>
        <p:nvSpPr>
          <p:cNvPr id="47" name="Google Shape;47;p1"/>
          <p:cNvSpPr/>
          <p:nvPr/>
        </p:nvSpPr>
        <p:spPr>
          <a:xfrm>
            <a:off x="9579620" y="4617720"/>
            <a:ext cx="1798259"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00"/>
              <a:buFont typeface="Courier New"/>
              <a:buNone/>
            </a:pPr>
            <a:r>
              <a:rPr b="0" i="0" lang="en-US" sz="900" u="none" cap="none" strike="noStrike">
                <a:solidFill>
                  <a:srgbClr val="8A8071"/>
                </a:solidFill>
                <a:latin typeface="Courier New"/>
                <a:ea typeface="Courier New"/>
                <a:cs typeface="Courier New"/>
                <a:sym typeface="Courier New"/>
              </a:rPr>
              <a:t>loan.status</a:t>
            </a:r>
            <a:endParaRPr b="0" i="0" sz="900" u="none" cap="none" strike="noStrike">
              <a:solidFill>
                <a:schemeClr val="dk1"/>
              </a:solidFill>
              <a:latin typeface="Calibri"/>
              <a:ea typeface="Calibri"/>
              <a:cs typeface="Calibri"/>
              <a:sym typeface="Calibri"/>
            </a:endParaRPr>
          </a:p>
        </p:txBody>
      </p:sp>
      <p:sp>
        <p:nvSpPr>
          <p:cNvPr id="48" name="Google Shape;48;p1"/>
          <p:cNvSpPr/>
          <p:nvPr/>
        </p:nvSpPr>
        <p:spPr>
          <a:xfrm>
            <a:off x="685800" y="5257800"/>
            <a:ext cx="6720840" cy="1371600"/>
          </a:xfrm>
          <a:prstGeom prst="rect">
            <a:avLst/>
          </a:prstGeom>
          <a:solidFill>
            <a:srgbClr val="FFFFFF"/>
          </a:solidFill>
          <a:ln cap="flat" cmpd="sng" w="12700">
            <a:solidFill>
              <a:srgbClr val="C9BF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49" name="Google Shape;49;p1"/>
          <p:cNvSpPr/>
          <p:nvPr/>
        </p:nvSpPr>
        <p:spPr>
          <a:xfrm>
            <a:off x="923544" y="5458968"/>
            <a:ext cx="621792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ROLE OF DATA IN DECISIONS</a:t>
            </a:r>
            <a:endParaRPr b="0" i="0" sz="1100" u="none" cap="none" strike="noStrike">
              <a:solidFill>
                <a:schemeClr val="dk1"/>
              </a:solidFill>
              <a:latin typeface="Calibri"/>
              <a:ea typeface="Calibri"/>
              <a:cs typeface="Calibri"/>
              <a:sym typeface="Calibri"/>
            </a:endParaRPr>
          </a:p>
        </p:txBody>
      </p:sp>
      <p:sp>
        <p:nvSpPr>
          <p:cNvPr id="50" name="Google Shape;50;p1"/>
          <p:cNvSpPr/>
          <p:nvPr/>
        </p:nvSpPr>
        <p:spPr>
          <a:xfrm>
            <a:off x="923544" y="5806440"/>
            <a:ext cx="6263640" cy="73152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2B2621"/>
              </a:buClr>
              <a:buSzPts val="1150"/>
              <a:buFont typeface="Arial"/>
              <a:buNone/>
            </a:pPr>
            <a:r>
              <a:rPr b="0" i="0" lang="en-US" sz="1150" u="none" cap="none" strike="noStrike">
                <a:solidFill>
                  <a:srgbClr val="2B2621"/>
                </a:solidFill>
                <a:latin typeface="Arial"/>
                <a:ea typeface="Arial"/>
                <a:cs typeface="Arial"/>
                <a:sym typeface="Arial"/>
              </a:rPr>
              <a:t>The bank uses transaction behavior, account activity, and loan status to watch credit risk, guide lending decisions, and group its customers.</a:t>
            </a:r>
            <a:endParaRPr b="0" i="0" sz="1150" u="none" cap="none" strike="noStrike">
              <a:solidFill>
                <a:schemeClr val="dk1"/>
              </a:solidFill>
              <a:latin typeface="Calibri"/>
              <a:ea typeface="Calibri"/>
              <a:cs typeface="Calibri"/>
              <a:sym typeface="Calibri"/>
            </a:endParaRPr>
          </a:p>
        </p:txBody>
      </p:sp>
      <p:sp>
        <p:nvSpPr>
          <p:cNvPr id="51" name="Google Shape;51;p1"/>
          <p:cNvSpPr/>
          <p:nvPr/>
        </p:nvSpPr>
        <p:spPr>
          <a:xfrm>
            <a:off x="7635240" y="5257800"/>
            <a:ext cx="3870655" cy="1371600"/>
          </a:xfrm>
          <a:prstGeom prst="rect">
            <a:avLst/>
          </a:prstGeom>
          <a:solidFill>
            <a:srgbClr val="FDF3D6"/>
          </a:solidFill>
          <a:ln cap="flat" cmpd="sng" w="12700">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52" name="Google Shape;52;p1"/>
          <p:cNvSpPr/>
          <p:nvPr/>
        </p:nvSpPr>
        <p:spPr>
          <a:xfrm>
            <a:off x="7872984" y="5458968"/>
            <a:ext cx="3657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DATASET SOURCE</a:t>
            </a:r>
            <a:endParaRPr b="0" i="0" sz="1100" u="none" cap="none" strike="noStrike">
              <a:solidFill>
                <a:schemeClr val="dk1"/>
              </a:solidFill>
              <a:latin typeface="Calibri"/>
              <a:ea typeface="Calibri"/>
              <a:cs typeface="Calibri"/>
              <a:sym typeface="Calibri"/>
            </a:endParaRPr>
          </a:p>
        </p:txBody>
      </p:sp>
      <p:sp>
        <p:nvSpPr>
          <p:cNvPr id="53" name="Google Shape;53;p1"/>
          <p:cNvSpPr/>
          <p:nvPr/>
        </p:nvSpPr>
        <p:spPr>
          <a:xfrm>
            <a:off x="7872984" y="5806440"/>
            <a:ext cx="3395167" cy="457200"/>
          </a:xfrm>
          <a:prstGeom prst="rect">
            <a:avLst/>
          </a:prstGeom>
          <a:noFill/>
          <a:ln>
            <a:noFill/>
          </a:ln>
        </p:spPr>
        <p:txBody>
          <a:bodyPr anchorCtr="0" anchor="t" bIns="0" lIns="0" spcFirstLastPara="1" rIns="0" wrap="square" tIns="0">
            <a:noAutofit/>
          </a:bodyPr>
          <a:lstStyle/>
          <a:p>
            <a:pPr indent="0" lvl="0" marL="0" marR="0" rtl="0" algn="l">
              <a:lnSpc>
                <a:spcPct val="104000"/>
              </a:lnSpc>
              <a:spcBef>
                <a:spcPts val="0"/>
              </a:spcBef>
              <a:spcAft>
                <a:spcPts val="0"/>
              </a:spcAft>
              <a:buClr>
                <a:srgbClr val="2B2621"/>
              </a:buClr>
              <a:buSzPts val="1200"/>
              <a:buFont typeface="Arial"/>
              <a:buNone/>
            </a:pPr>
            <a:r>
              <a:rPr b="0" i="0" lang="en-US" sz="1200" u="none" cap="none" strike="noStrike">
                <a:solidFill>
                  <a:srgbClr val="2B2621"/>
                </a:solidFill>
                <a:latin typeface="Arial"/>
                <a:ea typeface="Arial"/>
                <a:cs typeface="Arial"/>
                <a:sym typeface="Arial"/>
              </a:rPr>
              <a:t>Available on Kaggle as “The Berka Dataset”, a Czech banking dataset from PKDD’99. </a:t>
            </a:r>
            <a:endParaRPr b="0" i="0" sz="1200" u="none" cap="none" strike="noStrike">
              <a:solidFill>
                <a:schemeClr val="dk1"/>
              </a:solidFill>
              <a:latin typeface="Calibri"/>
              <a:ea typeface="Calibri"/>
              <a:cs typeface="Calibri"/>
              <a:sym typeface="Calibri"/>
            </a:endParaRPr>
          </a:p>
        </p:txBody>
      </p:sp>
      <p:sp>
        <p:nvSpPr>
          <p:cNvPr id="54" name="Google Shape;54;p1"/>
          <p:cNvSpPr/>
          <p:nvPr/>
        </p:nvSpPr>
        <p:spPr>
          <a:xfrm>
            <a:off x="7872984" y="6245352"/>
            <a:ext cx="3504895"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0" i="1" lang="en-US" sz="1100" u="none" cap="none" strike="noStrike">
                <a:solidFill>
                  <a:srgbClr val="8A6D0B"/>
                </a:solidFill>
                <a:latin typeface="Arial"/>
                <a:ea typeface="Arial"/>
                <a:cs typeface="Arial"/>
                <a:sym typeface="Arial"/>
              </a:rPr>
              <a:t>kaggle.com/datasets/marceloventura/the-berka-dataset</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58" name="Shape 58"/>
        <p:cNvGrpSpPr/>
        <p:nvPr/>
      </p:nvGrpSpPr>
      <p:grpSpPr>
        <a:xfrm>
          <a:off x="0" y="0"/>
          <a:ext cx="0" cy="0"/>
          <a:chOff x="0" y="0"/>
          <a:chExt cx="0" cy="0"/>
        </a:xfrm>
      </p:grpSpPr>
      <p:sp>
        <p:nvSpPr>
          <p:cNvPr id="59" name="Google Shape;59;p2"/>
          <p:cNvSpPr/>
          <p:nvPr/>
        </p:nvSpPr>
        <p:spPr>
          <a:xfrm>
            <a:off x="685800" y="457200"/>
            <a:ext cx="822960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DEEPP MILESTONE 0  ·  DATA VALIDATION</a:t>
            </a:r>
            <a:endParaRPr b="0" i="0" sz="1100" u="none" cap="none" strike="noStrike">
              <a:solidFill>
                <a:schemeClr val="dk1"/>
              </a:solidFill>
              <a:latin typeface="Calibri"/>
              <a:ea typeface="Calibri"/>
              <a:cs typeface="Calibri"/>
              <a:sym typeface="Calibri"/>
            </a:endParaRPr>
          </a:p>
        </p:txBody>
      </p:sp>
      <p:sp>
        <p:nvSpPr>
          <p:cNvPr id="60" name="Google Shape;60;p2"/>
          <p:cNvSpPr/>
          <p:nvPr/>
        </p:nvSpPr>
        <p:spPr>
          <a:xfrm>
            <a:off x="8759952" y="457200"/>
            <a:ext cx="2745943" cy="237744"/>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100"/>
              <a:buFont typeface="Arial"/>
              <a:buNone/>
            </a:pPr>
            <a:r>
              <a:rPr b="1" i="0" lang="en-US" sz="1100" u="none" cap="none" strike="noStrike">
                <a:solidFill>
                  <a:srgbClr val="8A8071"/>
                </a:solidFill>
                <a:latin typeface="Arial"/>
                <a:ea typeface="Arial"/>
                <a:cs typeface="Arial"/>
                <a:sym typeface="Arial"/>
              </a:rPr>
              <a:t>SLIDE 2 / 21</a:t>
            </a:r>
            <a:endParaRPr b="0" i="0" sz="1100" u="none" cap="none" strike="noStrike">
              <a:solidFill>
                <a:schemeClr val="dk1"/>
              </a:solidFill>
              <a:latin typeface="Calibri"/>
              <a:ea typeface="Calibri"/>
              <a:cs typeface="Calibri"/>
              <a:sym typeface="Calibri"/>
            </a:endParaRPr>
          </a:p>
        </p:txBody>
      </p:sp>
      <p:sp>
        <p:nvSpPr>
          <p:cNvPr id="61" name="Google Shape;61;p2"/>
          <p:cNvSpPr/>
          <p:nvPr/>
        </p:nvSpPr>
        <p:spPr>
          <a:xfrm>
            <a:off x="658368" y="749808"/>
            <a:ext cx="1097280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3200"/>
              <a:buFont typeface="Bookman Old Style"/>
              <a:buNone/>
            </a:pPr>
            <a:r>
              <a:rPr b="1" i="0" lang="en-US" sz="3200" u="none" cap="none" strike="noStrike">
                <a:solidFill>
                  <a:srgbClr val="2B2621"/>
                </a:solidFill>
                <a:latin typeface="Bookman Old Style"/>
                <a:ea typeface="Bookman Old Style"/>
                <a:cs typeface="Bookman Old Style"/>
                <a:sym typeface="Bookman Old Style"/>
              </a:rPr>
              <a:t>Data Validation &amp; Problem Framing</a:t>
            </a:r>
            <a:endParaRPr b="0" i="0" sz="3200" u="none" cap="none" strike="noStrike">
              <a:solidFill>
                <a:schemeClr val="dk1"/>
              </a:solidFill>
              <a:latin typeface="Calibri"/>
              <a:ea typeface="Calibri"/>
              <a:cs typeface="Calibri"/>
              <a:sym typeface="Calibri"/>
            </a:endParaRPr>
          </a:p>
        </p:txBody>
      </p:sp>
      <p:sp>
        <p:nvSpPr>
          <p:cNvPr id="62" name="Google Shape;62;p2"/>
          <p:cNvSpPr/>
          <p:nvPr/>
        </p:nvSpPr>
        <p:spPr>
          <a:xfrm>
            <a:off x="685800" y="1554480"/>
            <a:ext cx="5074920" cy="3108960"/>
          </a:xfrm>
          <a:prstGeom prst="rect">
            <a:avLst/>
          </a:prstGeom>
          <a:solidFill>
            <a:srgbClr val="FFFFFF"/>
          </a:solidFill>
          <a:ln cap="flat" cmpd="sng" w="12700">
            <a:solidFill>
              <a:srgbClr val="C9BF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63" name="Google Shape;63;p2"/>
          <p:cNvSpPr/>
          <p:nvPr/>
        </p:nvSpPr>
        <p:spPr>
          <a:xfrm>
            <a:off x="941832" y="1773936"/>
            <a:ext cx="456285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DATASET STRUCTURE &amp; GRANULARITY</a:t>
            </a:r>
            <a:endParaRPr b="0" i="0" sz="1100" u="none" cap="none" strike="noStrike">
              <a:solidFill>
                <a:schemeClr val="dk1"/>
              </a:solidFill>
              <a:latin typeface="Calibri"/>
              <a:ea typeface="Calibri"/>
              <a:cs typeface="Calibri"/>
              <a:sym typeface="Calibri"/>
            </a:endParaRPr>
          </a:p>
        </p:txBody>
      </p:sp>
      <p:sp>
        <p:nvSpPr>
          <p:cNvPr id="64" name="Google Shape;64;p2"/>
          <p:cNvSpPr/>
          <p:nvPr/>
        </p:nvSpPr>
        <p:spPr>
          <a:xfrm>
            <a:off x="941832" y="2231136"/>
            <a:ext cx="456285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50"/>
              <a:buFont typeface="Courier New"/>
              <a:buNone/>
            </a:pPr>
            <a:r>
              <a:rPr b="1" i="0" lang="en-US" sz="1050" u="none" cap="none" strike="noStrike">
                <a:solidFill>
                  <a:srgbClr val="8A6D0B"/>
                </a:solidFill>
                <a:latin typeface="Courier New"/>
                <a:ea typeface="Courier New"/>
                <a:cs typeface="Courier New"/>
                <a:sym typeface="Courier New"/>
              </a:rPr>
              <a:t>client</a:t>
            </a:r>
            <a:r>
              <a:rPr b="0" i="0" lang="en-US" sz="1050" u="none" cap="none" strike="noStrike">
                <a:solidFill>
                  <a:srgbClr val="2B2621"/>
                </a:solidFill>
                <a:latin typeface="Arial"/>
                <a:ea typeface="Arial"/>
                <a:cs typeface="Arial"/>
                <a:sym typeface="Arial"/>
              </a:rPr>
              <a:t>, one row per customer</a:t>
            </a:r>
            <a:endParaRPr b="0" i="0" sz="1050" u="none" cap="none" strike="noStrike">
              <a:solidFill>
                <a:schemeClr val="dk1"/>
              </a:solidFill>
              <a:latin typeface="Calibri"/>
              <a:ea typeface="Calibri"/>
              <a:cs typeface="Calibri"/>
              <a:sym typeface="Calibri"/>
            </a:endParaRPr>
          </a:p>
        </p:txBody>
      </p:sp>
      <p:sp>
        <p:nvSpPr>
          <p:cNvPr id="65" name="Google Shape;65;p2"/>
          <p:cNvSpPr/>
          <p:nvPr/>
        </p:nvSpPr>
        <p:spPr>
          <a:xfrm>
            <a:off x="941832" y="2432304"/>
            <a:ext cx="4562856"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50"/>
              <a:buFont typeface="Arial"/>
              <a:buNone/>
            </a:pPr>
            <a:r>
              <a:rPr b="0" i="1" lang="en-US" sz="850" u="none" cap="none" strike="noStrike">
                <a:solidFill>
                  <a:srgbClr val="8A8071"/>
                </a:solidFill>
                <a:latin typeface="Arial"/>
                <a:ea typeface="Arial"/>
                <a:cs typeface="Arial"/>
                <a:sym typeface="Arial"/>
              </a:rPr>
              <a:t>key columns: client_id, district_id</a:t>
            </a:r>
            <a:endParaRPr b="0" i="0" sz="850" u="none" cap="none" strike="noStrike">
              <a:solidFill>
                <a:schemeClr val="dk1"/>
              </a:solidFill>
              <a:latin typeface="Calibri"/>
              <a:ea typeface="Calibri"/>
              <a:cs typeface="Calibri"/>
              <a:sym typeface="Calibri"/>
            </a:endParaRPr>
          </a:p>
        </p:txBody>
      </p:sp>
      <p:sp>
        <p:nvSpPr>
          <p:cNvPr id="66" name="Google Shape;66;p2"/>
          <p:cNvSpPr/>
          <p:nvPr/>
        </p:nvSpPr>
        <p:spPr>
          <a:xfrm>
            <a:off x="941832" y="2633472"/>
            <a:ext cx="456285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50"/>
              <a:buFont typeface="Courier New"/>
              <a:buNone/>
            </a:pPr>
            <a:r>
              <a:rPr b="1" i="0" lang="en-US" sz="1050" u="none" cap="none" strike="noStrike">
                <a:solidFill>
                  <a:srgbClr val="8A6D0B"/>
                </a:solidFill>
                <a:latin typeface="Courier New"/>
                <a:ea typeface="Courier New"/>
                <a:cs typeface="Courier New"/>
                <a:sym typeface="Courier New"/>
              </a:rPr>
              <a:t>account</a:t>
            </a:r>
            <a:r>
              <a:rPr b="0" i="0" lang="en-US" sz="1050" u="none" cap="none" strike="noStrike">
                <a:solidFill>
                  <a:srgbClr val="2B2621"/>
                </a:solidFill>
                <a:latin typeface="Arial"/>
                <a:ea typeface="Arial"/>
                <a:cs typeface="Arial"/>
                <a:sym typeface="Arial"/>
              </a:rPr>
              <a:t>, one row per account</a:t>
            </a:r>
            <a:endParaRPr b="0" i="0" sz="1050" u="none" cap="none" strike="noStrike">
              <a:solidFill>
                <a:schemeClr val="dk1"/>
              </a:solidFill>
              <a:latin typeface="Calibri"/>
              <a:ea typeface="Calibri"/>
              <a:cs typeface="Calibri"/>
              <a:sym typeface="Calibri"/>
            </a:endParaRPr>
          </a:p>
        </p:txBody>
      </p:sp>
      <p:sp>
        <p:nvSpPr>
          <p:cNvPr id="67" name="Google Shape;67;p2"/>
          <p:cNvSpPr/>
          <p:nvPr/>
        </p:nvSpPr>
        <p:spPr>
          <a:xfrm>
            <a:off x="941832" y="2834640"/>
            <a:ext cx="4562856"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50"/>
              <a:buFont typeface="Arial"/>
              <a:buNone/>
            </a:pPr>
            <a:r>
              <a:rPr b="0" i="1" lang="en-US" sz="850" u="none" cap="none" strike="noStrike">
                <a:solidFill>
                  <a:srgbClr val="8A8071"/>
                </a:solidFill>
                <a:latin typeface="Arial"/>
                <a:ea typeface="Arial"/>
                <a:cs typeface="Arial"/>
                <a:sym typeface="Arial"/>
              </a:rPr>
              <a:t>key columns: account_id, frequency, date</a:t>
            </a:r>
            <a:endParaRPr b="0" i="0" sz="850" u="none" cap="none" strike="noStrike">
              <a:solidFill>
                <a:schemeClr val="dk1"/>
              </a:solidFill>
              <a:latin typeface="Calibri"/>
              <a:ea typeface="Calibri"/>
              <a:cs typeface="Calibri"/>
              <a:sym typeface="Calibri"/>
            </a:endParaRPr>
          </a:p>
        </p:txBody>
      </p:sp>
      <p:sp>
        <p:nvSpPr>
          <p:cNvPr id="68" name="Google Shape;68;p2"/>
          <p:cNvSpPr/>
          <p:nvPr/>
        </p:nvSpPr>
        <p:spPr>
          <a:xfrm>
            <a:off x="941832" y="3035808"/>
            <a:ext cx="456285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50"/>
              <a:buFont typeface="Courier New"/>
              <a:buNone/>
            </a:pPr>
            <a:r>
              <a:rPr b="1" i="0" lang="en-US" sz="1050" u="none" cap="none" strike="noStrike">
                <a:solidFill>
                  <a:srgbClr val="8A6D0B"/>
                </a:solidFill>
                <a:latin typeface="Courier New"/>
                <a:ea typeface="Courier New"/>
                <a:cs typeface="Courier New"/>
                <a:sym typeface="Courier New"/>
              </a:rPr>
              <a:t>disp</a:t>
            </a:r>
            <a:r>
              <a:rPr b="0" i="0" lang="en-US" sz="1050" u="none" cap="none" strike="noStrike">
                <a:solidFill>
                  <a:srgbClr val="2B2621"/>
                </a:solidFill>
                <a:latin typeface="Arial"/>
                <a:ea typeface="Arial"/>
                <a:cs typeface="Arial"/>
                <a:sym typeface="Arial"/>
              </a:rPr>
              <a:t>, links a client to an account</a:t>
            </a:r>
            <a:endParaRPr b="0" i="0" sz="1050" u="none" cap="none" strike="noStrike">
              <a:solidFill>
                <a:schemeClr val="dk1"/>
              </a:solidFill>
              <a:latin typeface="Calibri"/>
              <a:ea typeface="Calibri"/>
              <a:cs typeface="Calibri"/>
              <a:sym typeface="Calibri"/>
            </a:endParaRPr>
          </a:p>
        </p:txBody>
      </p:sp>
      <p:sp>
        <p:nvSpPr>
          <p:cNvPr id="69" name="Google Shape;69;p2"/>
          <p:cNvSpPr/>
          <p:nvPr/>
        </p:nvSpPr>
        <p:spPr>
          <a:xfrm>
            <a:off x="941832" y="3236976"/>
            <a:ext cx="4562856"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50"/>
              <a:buFont typeface="Arial"/>
              <a:buNone/>
            </a:pPr>
            <a:r>
              <a:rPr b="0" i="1" lang="en-US" sz="850" u="none" cap="none" strike="noStrike">
                <a:solidFill>
                  <a:srgbClr val="8A8071"/>
                </a:solidFill>
                <a:latin typeface="Arial"/>
                <a:ea typeface="Arial"/>
                <a:cs typeface="Arial"/>
                <a:sym typeface="Arial"/>
              </a:rPr>
              <a:t>key columns: client_id, account_id, type</a:t>
            </a:r>
            <a:endParaRPr b="0" i="0" sz="850" u="none" cap="none" strike="noStrike">
              <a:solidFill>
                <a:schemeClr val="dk1"/>
              </a:solidFill>
              <a:latin typeface="Calibri"/>
              <a:ea typeface="Calibri"/>
              <a:cs typeface="Calibri"/>
              <a:sym typeface="Calibri"/>
            </a:endParaRPr>
          </a:p>
        </p:txBody>
      </p:sp>
      <p:sp>
        <p:nvSpPr>
          <p:cNvPr id="70" name="Google Shape;70;p2"/>
          <p:cNvSpPr/>
          <p:nvPr/>
        </p:nvSpPr>
        <p:spPr>
          <a:xfrm>
            <a:off x="941832" y="3438144"/>
            <a:ext cx="456285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50"/>
              <a:buFont typeface="Courier New"/>
              <a:buNone/>
            </a:pPr>
            <a:r>
              <a:rPr b="1" i="0" lang="en-US" sz="1050" u="none" cap="none" strike="noStrike">
                <a:solidFill>
                  <a:srgbClr val="8A6D0B"/>
                </a:solidFill>
                <a:latin typeface="Courier New"/>
                <a:ea typeface="Courier New"/>
                <a:cs typeface="Courier New"/>
                <a:sym typeface="Courier New"/>
              </a:rPr>
              <a:t>trans</a:t>
            </a:r>
            <a:r>
              <a:rPr b="0" i="0" lang="en-US" sz="1050" u="none" cap="none" strike="noStrike">
                <a:solidFill>
                  <a:srgbClr val="2B2621"/>
                </a:solidFill>
                <a:latin typeface="Arial"/>
                <a:ea typeface="Arial"/>
                <a:cs typeface="Arial"/>
                <a:sym typeface="Arial"/>
              </a:rPr>
              <a:t>, one row per transaction</a:t>
            </a:r>
            <a:endParaRPr b="0" i="0" sz="1050" u="none" cap="none" strike="noStrike">
              <a:solidFill>
                <a:schemeClr val="dk1"/>
              </a:solidFill>
              <a:latin typeface="Calibri"/>
              <a:ea typeface="Calibri"/>
              <a:cs typeface="Calibri"/>
              <a:sym typeface="Calibri"/>
            </a:endParaRPr>
          </a:p>
        </p:txBody>
      </p:sp>
      <p:sp>
        <p:nvSpPr>
          <p:cNvPr id="71" name="Google Shape;71;p2"/>
          <p:cNvSpPr/>
          <p:nvPr/>
        </p:nvSpPr>
        <p:spPr>
          <a:xfrm>
            <a:off x="941832" y="3639312"/>
            <a:ext cx="4562856"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50"/>
              <a:buFont typeface="Arial"/>
              <a:buNone/>
            </a:pPr>
            <a:r>
              <a:rPr b="0" i="1" lang="en-US" sz="850" u="none" cap="none" strike="noStrike">
                <a:solidFill>
                  <a:srgbClr val="8A8071"/>
                </a:solidFill>
                <a:latin typeface="Arial"/>
                <a:ea typeface="Arial"/>
                <a:cs typeface="Arial"/>
                <a:sym typeface="Arial"/>
              </a:rPr>
              <a:t>key columns: amount, balance, type</a:t>
            </a:r>
            <a:endParaRPr b="0" i="0" sz="850" u="none" cap="none" strike="noStrike">
              <a:solidFill>
                <a:schemeClr val="dk1"/>
              </a:solidFill>
              <a:latin typeface="Calibri"/>
              <a:ea typeface="Calibri"/>
              <a:cs typeface="Calibri"/>
              <a:sym typeface="Calibri"/>
            </a:endParaRPr>
          </a:p>
        </p:txBody>
      </p:sp>
      <p:sp>
        <p:nvSpPr>
          <p:cNvPr id="72" name="Google Shape;72;p2"/>
          <p:cNvSpPr/>
          <p:nvPr/>
        </p:nvSpPr>
        <p:spPr>
          <a:xfrm>
            <a:off x="941832" y="3840480"/>
            <a:ext cx="456285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50"/>
              <a:buFont typeface="Courier New"/>
              <a:buNone/>
            </a:pPr>
            <a:r>
              <a:rPr b="1" i="0" lang="en-US" sz="1050" u="none" cap="none" strike="noStrike">
                <a:solidFill>
                  <a:srgbClr val="8A6D0B"/>
                </a:solidFill>
                <a:latin typeface="Courier New"/>
                <a:ea typeface="Courier New"/>
                <a:cs typeface="Courier New"/>
                <a:sym typeface="Courier New"/>
              </a:rPr>
              <a:t>loan</a:t>
            </a:r>
            <a:r>
              <a:rPr b="0" i="0" lang="en-US" sz="1050" u="none" cap="none" strike="noStrike">
                <a:solidFill>
                  <a:srgbClr val="2B2621"/>
                </a:solidFill>
                <a:latin typeface="Arial"/>
                <a:ea typeface="Arial"/>
                <a:cs typeface="Arial"/>
                <a:sym typeface="Arial"/>
              </a:rPr>
              <a:t>, one row per loan</a:t>
            </a:r>
            <a:endParaRPr b="0" i="0" sz="1050" u="none" cap="none" strike="noStrike">
              <a:solidFill>
                <a:schemeClr val="dk1"/>
              </a:solidFill>
              <a:latin typeface="Calibri"/>
              <a:ea typeface="Calibri"/>
              <a:cs typeface="Calibri"/>
              <a:sym typeface="Calibri"/>
            </a:endParaRPr>
          </a:p>
        </p:txBody>
      </p:sp>
      <p:sp>
        <p:nvSpPr>
          <p:cNvPr id="73" name="Google Shape;73;p2"/>
          <p:cNvSpPr/>
          <p:nvPr/>
        </p:nvSpPr>
        <p:spPr>
          <a:xfrm>
            <a:off x="941832" y="4041648"/>
            <a:ext cx="4562856"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50"/>
              <a:buFont typeface="Arial"/>
              <a:buNone/>
            </a:pPr>
            <a:r>
              <a:rPr b="0" i="1" lang="en-US" sz="850" u="none" cap="none" strike="noStrike">
                <a:solidFill>
                  <a:srgbClr val="8A8071"/>
                </a:solidFill>
                <a:latin typeface="Arial"/>
                <a:ea typeface="Arial"/>
                <a:cs typeface="Arial"/>
                <a:sym typeface="Arial"/>
              </a:rPr>
              <a:t>key columns: amount, duration, status</a:t>
            </a:r>
            <a:endParaRPr b="0" i="0" sz="850" u="none" cap="none" strike="noStrike">
              <a:solidFill>
                <a:schemeClr val="dk1"/>
              </a:solidFill>
              <a:latin typeface="Calibri"/>
              <a:ea typeface="Calibri"/>
              <a:cs typeface="Calibri"/>
              <a:sym typeface="Calibri"/>
            </a:endParaRPr>
          </a:p>
        </p:txBody>
      </p:sp>
      <p:sp>
        <p:nvSpPr>
          <p:cNvPr id="74" name="Google Shape;74;p2"/>
          <p:cNvSpPr/>
          <p:nvPr/>
        </p:nvSpPr>
        <p:spPr>
          <a:xfrm>
            <a:off x="941832" y="4242816"/>
            <a:ext cx="456285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50"/>
              <a:buFont typeface="Courier New"/>
              <a:buNone/>
            </a:pPr>
            <a:r>
              <a:rPr b="1" i="0" lang="en-US" sz="1050" u="none" cap="none" strike="noStrike">
                <a:solidFill>
                  <a:srgbClr val="8A6D0B"/>
                </a:solidFill>
                <a:latin typeface="Courier New"/>
                <a:ea typeface="Courier New"/>
                <a:cs typeface="Courier New"/>
                <a:sym typeface="Courier New"/>
              </a:rPr>
              <a:t>card</a:t>
            </a:r>
            <a:r>
              <a:rPr b="0" i="0" lang="en-US" sz="1050" u="none" cap="none" strike="noStrike">
                <a:solidFill>
                  <a:srgbClr val="2B2621"/>
                </a:solidFill>
                <a:latin typeface="Arial"/>
                <a:ea typeface="Arial"/>
                <a:cs typeface="Arial"/>
                <a:sym typeface="Arial"/>
              </a:rPr>
              <a:t>, one row per issued card</a:t>
            </a:r>
            <a:endParaRPr b="0" i="0" sz="1050" u="none" cap="none" strike="noStrike">
              <a:solidFill>
                <a:schemeClr val="dk1"/>
              </a:solidFill>
              <a:latin typeface="Calibri"/>
              <a:ea typeface="Calibri"/>
              <a:cs typeface="Calibri"/>
              <a:sym typeface="Calibri"/>
            </a:endParaRPr>
          </a:p>
        </p:txBody>
      </p:sp>
      <p:sp>
        <p:nvSpPr>
          <p:cNvPr id="75" name="Google Shape;75;p2"/>
          <p:cNvSpPr/>
          <p:nvPr/>
        </p:nvSpPr>
        <p:spPr>
          <a:xfrm>
            <a:off x="941832" y="4443984"/>
            <a:ext cx="4562856"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50"/>
              <a:buFont typeface="Arial"/>
              <a:buNone/>
            </a:pPr>
            <a:r>
              <a:rPr b="0" i="1" lang="en-US" sz="850" u="none" cap="none" strike="noStrike">
                <a:solidFill>
                  <a:srgbClr val="8A8071"/>
                </a:solidFill>
                <a:latin typeface="Arial"/>
                <a:ea typeface="Arial"/>
                <a:cs typeface="Arial"/>
                <a:sym typeface="Arial"/>
              </a:rPr>
              <a:t>key columns: type, issued</a:t>
            </a:r>
            <a:endParaRPr b="0" i="0" sz="850" u="none" cap="none" strike="noStrike">
              <a:solidFill>
                <a:schemeClr val="dk1"/>
              </a:solidFill>
              <a:latin typeface="Calibri"/>
              <a:ea typeface="Calibri"/>
              <a:cs typeface="Calibri"/>
              <a:sym typeface="Calibri"/>
            </a:endParaRPr>
          </a:p>
        </p:txBody>
      </p:sp>
      <p:sp>
        <p:nvSpPr>
          <p:cNvPr id="76" name="Google Shape;76;p2"/>
          <p:cNvSpPr/>
          <p:nvPr/>
        </p:nvSpPr>
        <p:spPr>
          <a:xfrm>
            <a:off x="5989320" y="1572768"/>
            <a:ext cx="5516575"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KPIs COMPUTABLE FROM THE DATASET</a:t>
            </a:r>
            <a:endParaRPr b="0" i="0" sz="1100" u="none" cap="none" strike="noStrike">
              <a:solidFill>
                <a:schemeClr val="dk1"/>
              </a:solidFill>
              <a:latin typeface="Calibri"/>
              <a:ea typeface="Calibri"/>
              <a:cs typeface="Calibri"/>
              <a:sym typeface="Calibri"/>
            </a:endParaRPr>
          </a:p>
        </p:txBody>
      </p:sp>
      <p:graphicFrame>
        <p:nvGraphicFramePr>
          <p:cNvPr id="77" name="Google Shape;77;p2"/>
          <p:cNvGraphicFramePr/>
          <p:nvPr/>
        </p:nvGraphicFramePr>
        <p:xfrm>
          <a:off x="5989320" y="1938528"/>
          <a:ext cx="3000000" cy="3000000"/>
        </p:xfrm>
        <a:graphic>
          <a:graphicData uri="http://schemas.openxmlformats.org/drawingml/2006/table">
            <a:tbl>
              <a:tblPr>
                <a:noFill/>
                <a:tableStyleId>{DB324BE7-9142-4693-9B00-A251BD5E6397}</a:tableStyleId>
              </a:tblPr>
              <a:tblGrid>
                <a:gridCol w="1737350"/>
                <a:gridCol w="2880350"/>
                <a:gridCol w="1170425"/>
              </a:tblGrid>
              <a:tr h="566925">
                <a:tc>
                  <a:txBody>
                    <a:bodyPr/>
                    <a:lstStyle/>
                    <a:p>
                      <a:pPr indent="0" lvl="0" marL="0" marR="0" rtl="0" algn="l">
                        <a:lnSpc>
                          <a:spcPct val="100000"/>
                        </a:lnSpc>
                        <a:spcBef>
                          <a:spcPts val="0"/>
                        </a:spcBef>
                        <a:spcAft>
                          <a:spcPts val="0"/>
                        </a:spcAft>
                        <a:buClr>
                          <a:srgbClr val="2B2621"/>
                        </a:buClr>
                        <a:buSzPts val="1100"/>
                        <a:buFont typeface="Arial"/>
                        <a:buNone/>
                      </a:pPr>
                      <a:r>
                        <a:rPr b="1" lang="en-US" sz="1100" u="none" cap="none" strike="noStrike">
                          <a:solidFill>
                            <a:srgbClr val="2B2621"/>
                          </a:solidFill>
                          <a:latin typeface="Arial"/>
                          <a:ea typeface="Arial"/>
                          <a:cs typeface="Arial"/>
                          <a:sym typeface="Arial"/>
                        </a:rPr>
                        <a:t>KPI</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5B301"/>
                    </a:solidFill>
                  </a:tcPr>
                </a:tc>
                <a:tc>
                  <a:txBody>
                    <a:bodyPr/>
                    <a:lstStyle/>
                    <a:p>
                      <a:pPr indent="0" lvl="0" marL="0" marR="0" rtl="0" algn="l">
                        <a:lnSpc>
                          <a:spcPct val="100000"/>
                        </a:lnSpc>
                        <a:spcBef>
                          <a:spcPts val="0"/>
                        </a:spcBef>
                        <a:spcAft>
                          <a:spcPts val="0"/>
                        </a:spcAft>
                        <a:buClr>
                          <a:srgbClr val="2B2621"/>
                        </a:buClr>
                        <a:buSzPts val="1100"/>
                        <a:buFont typeface="Arial"/>
                        <a:buNone/>
                      </a:pPr>
                      <a:r>
                        <a:rPr b="1" lang="en-US" sz="1100" u="none" cap="none" strike="noStrike">
                          <a:solidFill>
                            <a:srgbClr val="2B2621"/>
                          </a:solidFill>
                          <a:latin typeface="Arial"/>
                          <a:ea typeface="Arial"/>
                          <a:cs typeface="Arial"/>
                          <a:sym typeface="Arial"/>
                        </a:rPr>
                        <a:t>Formula</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5B301"/>
                    </a:solidFill>
                  </a:tcPr>
                </a:tc>
                <a:tc>
                  <a:txBody>
                    <a:bodyPr/>
                    <a:lstStyle/>
                    <a:p>
                      <a:pPr indent="0" lvl="0" marL="0" marR="0" rtl="0" algn="l">
                        <a:lnSpc>
                          <a:spcPct val="100000"/>
                        </a:lnSpc>
                        <a:spcBef>
                          <a:spcPts val="0"/>
                        </a:spcBef>
                        <a:spcAft>
                          <a:spcPts val="0"/>
                        </a:spcAft>
                        <a:buClr>
                          <a:srgbClr val="2B2621"/>
                        </a:buClr>
                        <a:buSzPts val="1100"/>
                        <a:buFont typeface="Arial"/>
                        <a:buNone/>
                      </a:pPr>
                      <a:r>
                        <a:rPr b="1" lang="en-US" sz="1100" u="none" cap="none" strike="noStrike">
                          <a:solidFill>
                            <a:srgbClr val="2B2621"/>
                          </a:solidFill>
                          <a:latin typeface="Arial"/>
                          <a:ea typeface="Arial"/>
                          <a:cs typeface="Arial"/>
                          <a:sym typeface="Arial"/>
                        </a:rPr>
                        <a:t>Value</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5B301"/>
                    </a:solidFill>
                  </a:tcPr>
                </a:tc>
              </a:tr>
              <a:tr h="566925">
                <a:tc>
                  <a:txBody>
                    <a:bodyPr/>
                    <a:lstStyle/>
                    <a:p>
                      <a:pPr indent="0" lvl="0" marL="0" marR="0" rtl="0" algn="l">
                        <a:lnSpc>
                          <a:spcPct val="100000"/>
                        </a:lnSpc>
                        <a:spcBef>
                          <a:spcPts val="0"/>
                        </a:spcBef>
                        <a:spcAft>
                          <a:spcPts val="0"/>
                        </a:spcAft>
                        <a:buClr>
                          <a:srgbClr val="2B2621"/>
                        </a:buClr>
                        <a:buSzPts val="1100"/>
                        <a:buFont typeface="Arial"/>
                        <a:buNone/>
                      </a:pPr>
                      <a:r>
                        <a:rPr lang="en-US" sz="1100" u="none" cap="none" strike="noStrike">
                          <a:solidFill>
                            <a:srgbClr val="2B2621"/>
                          </a:solidFill>
                          <a:latin typeface="Arial"/>
                          <a:ea typeface="Arial"/>
                          <a:cs typeface="Arial"/>
                          <a:sym typeface="Arial"/>
                        </a:rPr>
                        <a:t>Problematic Loan Rate</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2B2621"/>
                        </a:buClr>
                        <a:buSzPts val="950"/>
                        <a:buFont typeface="Courier New"/>
                        <a:buNone/>
                      </a:pPr>
                      <a:r>
                        <a:rPr lang="en-US" sz="950" u="none" cap="none" strike="noStrike">
                          <a:solidFill>
                            <a:srgbClr val="2B2621"/>
                          </a:solidFill>
                          <a:latin typeface="Courier New"/>
                          <a:ea typeface="Courier New"/>
                          <a:cs typeface="Courier New"/>
                          <a:sym typeface="Courier New"/>
                        </a:rPr>
                        <a:t>(B + D) ÷ total loans</a:t>
                      </a:r>
                      <a:endParaRPr sz="950" u="none" cap="none" strike="noStrike">
                        <a:latin typeface="Courier New"/>
                        <a:ea typeface="Courier New"/>
                        <a:cs typeface="Courier New"/>
                        <a:sym typeface="Courier New"/>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2B2621"/>
                        </a:buClr>
                        <a:buSzPts val="1100"/>
                        <a:buFont typeface="Arial"/>
                        <a:buNone/>
                      </a:pPr>
                      <a:r>
                        <a:rPr lang="en-US" sz="1100" u="none" cap="none" strike="noStrike">
                          <a:solidFill>
                            <a:srgbClr val="2B2621"/>
                          </a:solidFill>
                          <a:latin typeface="Arial"/>
                          <a:ea typeface="Arial"/>
                          <a:cs typeface="Arial"/>
                          <a:sym typeface="Arial"/>
                        </a:rPr>
                        <a:t>11.1%</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FFFFF"/>
                    </a:solidFill>
                  </a:tcPr>
                </a:tc>
              </a:tr>
              <a:tr h="566925">
                <a:tc>
                  <a:txBody>
                    <a:bodyPr/>
                    <a:lstStyle/>
                    <a:p>
                      <a:pPr indent="0" lvl="0" marL="0" marR="0" rtl="0" algn="l">
                        <a:lnSpc>
                          <a:spcPct val="100000"/>
                        </a:lnSpc>
                        <a:spcBef>
                          <a:spcPts val="0"/>
                        </a:spcBef>
                        <a:spcAft>
                          <a:spcPts val="0"/>
                        </a:spcAft>
                        <a:buClr>
                          <a:srgbClr val="2B2621"/>
                        </a:buClr>
                        <a:buSzPts val="1100"/>
                        <a:buFont typeface="Arial"/>
                        <a:buNone/>
                      </a:pPr>
                      <a:r>
                        <a:rPr lang="en-US" sz="1100" u="none" cap="none" strike="noStrike">
                          <a:solidFill>
                            <a:srgbClr val="2B2621"/>
                          </a:solidFill>
                          <a:latin typeface="Arial"/>
                          <a:ea typeface="Arial"/>
                          <a:cs typeface="Arial"/>
                          <a:sym typeface="Arial"/>
                        </a:rPr>
                        <a:t>Transaction Volume</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DF3D6"/>
                    </a:solidFill>
                  </a:tcPr>
                </a:tc>
                <a:tc>
                  <a:txBody>
                    <a:bodyPr/>
                    <a:lstStyle/>
                    <a:p>
                      <a:pPr indent="0" lvl="0" marL="0" marR="0" rtl="0" algn="l">
                        <a:lnSpc>
                          <a:spcPct val="100000"/>
                        </a:lnSpc>
                        <a:spcBef>
                          <a:spcPts val="0"/>
                        </a:spcBef>
                        <a:spcAft>
                          <a:spcPts val="0"/>
                        </a:spcAft>
                        <a:buClr>
                          <a:srgbClr val="2B2621"/>
                        </a:buClr>
                        <a:buSzPts val="950"/>
                        <a:buFont typeface="Courier New"/>
                        <a:buNone/>
                      </a:pPr>
                      <a:r>
                        <a:rPr lang="en-US" sz="950" u="none" cap="none" strike="noStrike">
                          <a:solidFill>
                            <a:srgbClr val="2B2621"/>
                          </a:solidFill>
                          <a:latin typeface="Courier New"/>
                          <a:ea typeface="Courier New"/>
                          <a:cs typeface="Courier New"/>
                          <a:sym typeface="Courier New"/>
                        </a:rPr>
                        <a:t>COUNT(trans_id)</a:t>
                      </a:r>
                      <a:endParaRPr sz="950" u="none" cap="none" strike="noStrike">
                        <a:latin typeface="Courier New"/>
                        <a:ea typeface="Courier New"/>
                        <a:cs typeface="Courier New"/>
                        <a:sym typeface="Courier New"/>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DF3D6"/>
                    </a:solidFill>
                  </a:tcPr>
                </a:tc>
                <a:tc>
                  <a:txBody>
                    <a:bodyPr/>
                    <a:lstStyle/>
                    <a:p>
                      <a:pPr indent="0" lvl="0" marL="0" marR="0" rtl="0" algn="l">
                        <a:lnSpc>
                          <a:spcPct val="100000"/>
                        </a:lnSpc>
                        <a:spcBef>
                          <a:spcPts val="0"/>
                        </a:spcBef>
                        <a:spcAft>
                          <a:spcPts val="0"/>
                        </a:spcAft>
                        <a:buClr>
                          <a:srgbClr val="2B2621"/>
                        </a:buClr>
                        <a:buSzPts val="1100"/>
                        <a:buFont typeface="Arial"/>
                        <a:buNone/>
                      </a:pPr>
                      <a:r>
                        <a:rPr lang="en-US" sz="1100" u="none" cap="none" strike="noStrike">
                          <a:solidFill>
                            <a:srgbClr val="2B2621"/>
                          </a:solidFill>
                          <a:latin typeface="Arial"/>
                          <a:ea typeface="Arial"/>
                          <a:cs typeface="Arial"/>
                          <a:sym typeface="Arial"/>
                        </a:rPr>
                        <a:t>1.05M</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DF3D6"/>
                    </a:solidFill>
                  </a:tcPr>
                </a:tc>
              </a:tr>
              <a:tr h="566925">
                <a:tc>
                  <a:txBody>
                    <a:bodyPr/>
                    <a:lstStyle/>
                    <a:p>
                      <a:pPr indent="0" lvl="0" marL="0" marR="0" rtl="0" algn="l">
                        <a:lnSpc>
                          <a:spcPct val="100000"/>
                        </a:lnSpc>
                        <a:spcBef>
                          <a:spcPts val="0"/>
                        </a:spcBef>
                        <a:spcAft>
                          <a:spcPts val="0"/>
                        </a:spcAft>
                        <a:buClr>
                          <a:srgbClr val="2B2621"/>
                        </a:buClr>
                        <a:buSzPts val="1100"/>
                        <a:buFont typeface="Arial"/>
                        <a:buNone/>
                      </a:pPr>
                      <a:r>
                        <a:rPr lang="en-US" sz="1100" u="none" cap="none" strike="noStrike">
                          <a:solidFill>
                            <a:srgbClr val="2B2621"/>
                          </a:solidFill>
                          <a:latin typeface="Arial"/>
                          <a:ea typeface="Arial"/>
                          <a:cs typeface="Arial"/>
                          <a:sym typeface="Arial"/>
                        </a:rPr>
                        <a:t>Avg Transaction Value</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2B2621"/>
                        </a:buClr>
                        <a:buSzPts val="950"/>
                        <a:buFont typeface="Courier New"/>
                        <a:buNone/>
                      </a:pPr>
                      <a:r>
                        <a:rPr lang="en-US" sz="950" u="none" cap="none" strike="noStrike">
                          <a:solidFill>
                            <a:srgbClr val="2B2621"/>
                          </a:solidFill>
                          <a:latin typeface="Courier New"/>
                          <a:ea typeface="Courier New"/>
                          <a:cs typeface="Courier New"/>
                          <a:sym typeface="Courier New"/>
                        </a:rPr>
                        <a:t>AVG(trans.amount)</a:t>
                      </a:r>
                      <a:endParaRPr sz="950" u="none" cap="none" strike="noStrike">
                        <a:latin typeface="Courier New"/>
                        <a:ea typeface="Courier New"/>
                        <a:cs typeface="Courier New"/>
                        <a:sym typeface="Courier New"/>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2B2621"/>
                        </a:buClr>
                        <a:buSzPts val="1100"/>
                        <a:buFont typeface="Arial"/>
                        <a:buNone/>
                      </a:pPr>
                      <a:r>
                        <a:rPr lang="en-US" sz="1100" u="none" cap="none" strike="noStrike">
                          <a:solidFill>
                            <a:srgbClr val="2B2621"/>
                          </a:solidFill>
                          <a:latin typeface="Arial"/>
                          <a:ea typeface="Arial"/>
                          <a:cs typeface="Arial"/>
                          <a:sym typeface="Arial"/>
                        </a:rPr>
                        <a:t>Kč 5,925</a:t>
                      </a:r>
                      <a:endParaRPr sz="1400" u="none" cap="none" strike="noStrike"/>
                    </a:p>
                    <a:p>
                      <a:pPr indent="0" lvl="0" marL="0" marR="0" rtl="0" algn="l">
                        <a:lnSpc>
                          <a:spcPct val="100000"/>
                        </a:lnSpc>
                        <a:spcBef>
                          <a:spcPts val="0"/>
                        </a:spcBef>
                        <a:spcAft>
                          <a:spcPts val="0"/>
                        </a:spcAft>
                        <a:buClr>
                          <a:srgbClr val="2B2621"/>
                        </a:buClr>
                        <a:buSzPts val="1100"/>
                        <a:buFont typeface="Arial"/>
                        <a:buNone/>
                      </a:pPr>
                      <a:r>
                        <a:rPr lang="en-US" sz="1100" u="none" cap="none" strike="noStrike">
                          <a:solidFill>
                            <a:srgbClr val="2B2621"/>
                          </a:solidFill>
                          <a:latin typeface="Arial"/>
                          <a:ea typeface="Arial"/>
                          <a:cs typeface="Arial"/>
                          <a:sym typeface="Arial"/>
                        </a:rPr>
                        <a:t>Koruna Ceko</a:t>
                      </a:r>
                      <a:endParaRPr sz="1100" u="none" cap="none" strike="noStrike">
                        <a:latin typeface="Arial"/>
                        <a:ea typeface="Arial"/>
                        <a:cs typeface="Arial"/>
                        <a:sym typeface="Arial"/>
                      </a:endParaRPr>
                    </a:p>
                  </a:txBody>
                  <a:tcPr marT="38100" marB="38100" marR="63500" marL="63500" anchor="ctr">
                    <a:lnL cap="flat" cmpd="sng" w="12700">
                      <a:solidFill>
                        <a:srgbClr val="C9BFA6"/>
                      </a:solidFill>
                      <a:prstDash val="solid"/>
                      <a:round/>
                      <a:headEnd len="sm" w="sm" type="none"/>
                      <a:tailEnd len="sm" w="sm" type="none"/>
                    </a:lnL>
                    <a:lnR cap="flat" cmpd="sng" w="12700">
                      <a:solidFill>
                        <a:srgbClr val="C9BFA6"/>
                      </a:solidFill>
                      <a:prstDash val="solid"/>
                      <a:round/>
                      <a:headEnd len="sm" w="sm" type="none"/>
                      <a:tailEnd len="sm" w="sm" type="none"/>
                    </a:lnR>
                    <a:lnT cap="flat" cmpd="sng" w="12700">
                      <a:solidFill>
                        <a:srgbClr val="C9BFA6"/>
                      </a:solidFill>
                      <a:prstDash val="solid"/>
                      <a:round/>
                      <a:headEnd len="sm" w="sm" type="none"/>
                      <a:tailEnd len="sm" w="sm" type="none"/>
                    </a:lnT>
                    <a:lnB cap="flat" cmpd="sng" w="12700">
                      <a:solidFill>
                        <a:srgbClr val="C9BFA6"/>
                      </a:solidFill>
                      <a:prstDash val="solid"/>
                      <a:round/>
                      <a:headEnd len="sm" w="sm" type="none"/>
                      <a:tailEnd len="sm" w="sm" type="none"/>
                    </a:lnB>
                    <a:solidFill>
                      <a:srgbClr val="FFFFFF"/>
                    </a:solidFill>
                  </a:tcPr>
                </a:tc>
              </a:tr>
            </a:tbl>
          </a:graphicData>
        </a:graphic>
      </p:graphicFrame>
      <p:sp>
        <p:nvSpPr>
          <p:cNvPr id="78" name="Google Shape;78;p2"/>
          <p:cNvSpPr/>
          <p:nvPr/>
        </p:nvSpPr>
        <p:spPr>
          <a:xfrm>
            <a:off x="5989320" y="4315968"/>
            <a:ext cx="5516575"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000"/>
              <a:buFont typeface="Arial"/>
              <a:buNone/>
            </a:pPr>
            <a:r>
              <a:rPr b="0" i="1" lang="en-US" sz="1000" u="none" cap="none" strike="noStrike">
                <a:solidFill>
                  <a:srgbClr val="8A8071"/>
                </a:solidFill>
                <a:latin typeface="Arial"/>
                <a:ea typeface="Arial"/>
                <a:cs typeface="Arial"/>
                <a:sym typeface="Arial"/>
              </a:rPr>
              <a:t>Also available: Card penetration ≈ 20%  ·  Problematic loans = 76 of 682</a:t>
            </a:r>
            <a:endParaRPr b="0" i="0" sz="1000" u="none" cap="none" strike="noStrike">
              <a:solidFill>
                <a:schemeClr val="dk1"/>
              </a:solidFill>
              <a:latin typeface="Calibri"/>
              <a:ea typeface="Calibri"/>
              <a:cs typeface="Calibri"/>
              <a:sym typeface="Calibri"/>
            </a:endParaRPr>
          </a:p>
        </p:txBody>
      </p:sp>
      <p:sp>
        <p:nvSpPr>
          <p:cNvPr id="79" name="Google Shape;79;p2"/>
          <p:cNvSpPr/>
          <p:nvPr/>
        </p:nvSpPr>
        <p:spPr>
          <a:xfrm>
            <a:off x="685800" y="4892040"/>
            <a:ext cx="5623560" cy="1691640"/>
          </a:xfrm>
          <a:prstGeom prst="rect">
            <a:avLst/>
          </a:prstGeom>
          <a:solidFill>
            <a:srgbClr val="FFFFFF"/>
          </a:solidFill>
          <a:ln cap="flat" cmpd="sng" w="12700">
            <a:solidFill>
              <a:srgbClr val="C9BFA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80" name="Google Shape;80;p2"/>
          <p:cNvSpPr/>
          <p:nvPr/>
        </p:nvSpPr>
        <p:spPr>
          <a:xfrm>
            <a:off x="941832" y="5093208"/>
            <a:ext cx="5111496"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OUT OF SCOPE FOR THIS DATA</a:t>
            </a:r>
            <a:endParaRPr b="0" i="0" sz="1100" u="none" cap="none" strike="noStrike">
              <a:solidFill>
                <a:schemeClr val="dk1"/>
              </a:solidFill>
              <a:latin typeface="Calibri"/>
              <a:ea typeface="Calibri"/>
              <a:cs typeface="Calibri"/>
              <a:sym typeface="Calibri"/>
            </a:endParaRPr>
          </a:p>
        </p:txBody>
      </p:sp>
      <p:sp>
        <p:nvSpPr>
          <p:cNvPr id="81" name="Google Shape;81;p2"/>
          <p:cNvSpPr/>
          <p:nvPr/>
        </p:nvSpPr>
        <p:spPr>
          <a:xfrm>
            <a:off x="941832" y="5458968"/>
            <a:ext cx="5111496"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03A2E"/>
              </a:buClr>
              <a:buSzPts val="1150"/>
              <a:buFont typeface="Arial"/>
              <a:buNone/>
            </a:pPr>
            <a:r>
              <a:rPr b="1" i="0" lang="en-US" sz="1150" u="none" cap="none" strike="noStrike">
                <a:solidFill>
                  <a:srgbClr val="B03A2E"/>
                </a:solidFill>
                <a:latin typeface="Arial"/>
                <a:ea typeface="Arial"/>
                <a:cs typeface="Arial"/>
                <a:sym typeface="Arial"/>
              </a:rPr>
              <a:t>✖  </a:t>
            </a:r>
            <a:r>
              <a:rPr b="1" i="0" lang="en-US" sz="1150" u="none" cap="none" strike="noStrike">
                <a:solidFill>
                  <a:srgbClr val="2B2621"/>
                </a:solidFill>
                <a:latin typeface="Arial"/>
                <a:ea typeface="Arial"/>
                <a:cs typeface="Arial"/>
                <a:sym typeface="Arial"/>
              </a:rPr>
              <a:t>How can the bank increase its revenue or profit?</a:t>
            </a:r>
            <a:endParaRPr b="0" i="0" sz="1150" u="none" cap="none" strike="noStrike">
              <a:solidFill>
                <a:schemeClr val="dk1"/>
              </a:solidFill>
              <a:latin typeface="Calibri"/>
              <a:ea typeface="Calibri"/>
              <a:cs typeface="Calibri"/>
              <a:sym typeface="Calibri"/>
            </a:endParaRPr>
          </a:p>
        </p:txBody>
      </p:sp>
      <p:sp>
        <p:nvSpPr>
          <p:cNvPr id="82" name="Google Shape;82;p2"/>
          <p:cNvSpPr/>
          <p:nvPr/>
        </p:nvSpPr>
        <p:spPr>
          <a:xfrm>
            <a:off x="941832" y="5705856"/>
            <a:ext cx="511149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50"/>
              <a:buFont typeface="Arial"/>
              <a:buNone/>
            </a:pPr>
            <a:r>
              <a:rPr b="0" i="1" lang="en-US" sz="950" u="none" cap="none" strike="noStrike">
                <a:solidFill>
                  <a:srgbClr val="8A8071"/>
                </a:solidFill>
                <a:latin typeface="Arial"/>
                <a:ea typeface="Arial"/>
                <a:cs typeface="Arial"/>
                <a:sym typeface="Arial"/>
              </a:rPr>
              <a:t>The data has no revenue, fees, operating costs, or profit figures.</a:t>
            </a:r>
            <a:endParaRPr b="0" i="0" sz="950" u="none" cap="none" strike="noStrike">
              <a:solidFill>
                <a:schemeClr val="dk1"/>
              </a:solidFill>
              <a:latin typeface="Calibri"/>
              <a:ea typeface="Calibri"/>
              <a:cs typeface="Calibri"/>
              <a:sym typeface="Calibri"/>
            </a:endParaRPr>
          </a:p>
        </p:txBody>
      </p:sp>
      <p:sp>
        <p:nvSpPr>
          <p:cNvPr id="83" name="Google Shape;83;p2"/>
          <p:cNvSpPr/>
          <p:nvPr/>
        </p:nvSpPr>
        <p:spPr>
          <a:xfrm>
            <a:off x="941832" y="5961888"/>
            <a:ext cx="5111496"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03A2E"/>
              </a:buClr>
              <a:buSzPts val="1150"/>
              <a:buFont typeface="Arial"/>
              <a:buNone/>
            </a:pPr>
            <a:r>
              <a:rPr b="1" i="0" lang="en-US" sz="1150" u="none" cap="none" strike="noStrike">
                <a:solidFill>
                  <a:srgbClr val="B03A2E"/>
                </a:solidFill>
                <a:latin typeface="Arial"/>
                <a:ea typeface="Arial"/>
                <a:cs typeface="Arial"/>
                <a:sym typeface="Arial"/>
              </a:rPr>
              <a:t>✖  </a:t>
            </a:r>
            <a:r>
              <a:rPr b="1" i="0" lang="en-US" sz="1150" u="none" cap="none" strike="noStrike">
                <a:solidFill>
                  <a:srgbClr val="2B2621"/>
                </a:solidFill>
                <a:latin typeface="Arial"/>
                <a:ea typeface="Arial"/>
                <a:cs typeface="Arial"/>
                <a:sym typeface="Arial"/>
              </a:rPr>
              <a:t>Why are customers dissatisfied with the bank?</a:t>
            </a:r>
            <a:endParaRPr b="0" i="0" sz="1150" u="none" cap="none" strike="noStrike">
              <a:solidFill>
                <a:schemeClr val="dk1"/>
              </a:solidFill>
              <a:latin typeface="Calibri"/>
              <a:ea typeface="Calibri"/>
              <a:cs typeface="Calibri"/>
              <a:sym typeface="Calibri"/>
            </a:endParaRPr>
          </a:p>
        </p:txBody>
      </p:sp>
      <p:sp>
        <p:nvSpPr>
          <p:cNvPr id="84" name="Google Shape;84;p2"/>
          <p:cNvSpPr/>
          <p:nvPr/>
        </p:nvSpPr>
        <p:spPr>
          <a:xfrm>
            <a:off x="941832" y="6208776"/>
            <a:ext cx="5111496"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50"/>
              <a:buFont typeface="Arial"/>
              <a:buNone/>
            </a:pPr>
            <a:r>
              <a:rPr b="0" i="1" lang="en-US" sz="950" u="none" cap="none" strike="noStrike">
                <a:solidFill>
                  <a:srgbClr val="8A8071"/>
                </a:solidFill>
                <a:latin typeface="Arial"/>
                <a:ea typeface="Arial"/>
                <a:cs typeface="Arial"/>
                <a:sym typeface="Arial"/>
              </a:rPr>
              <a:t>No satisfaction scores, complaints, reviews, or feedback exist.</a:t>
            </a:r>
            <a:endParaRPr b="0" i="0" sz="950" u="none" cap="none" strike="noStrike">
              <a:solidFill>
                <a:schemeClr val="dk1"/>
              </a:solidFill>
              <a:latin typeface="Calibri"/>
              <a:ea typeface="Calibri"/>
              <a:cs typeface="Calibri"/>
              <a:sym typeface="Calibri"/>
            </a:endParaRPr>
          </a:p>
        </p:txBody>
      </p:sp>
      <p:sp>
        <p:nvSpPr>
          <p:cNvPr id="85" name="Google Shape;85;p2"/>
          <p:cNvSpPr/>
          <p:nvPr/>
        </p:nvSpPr>
        <p:spPr>
          <a:xfrm>
            <a:off x="6537960" y="4892040"/>
            <a:ext cx="4967935" cy="1691640"/>
          </a:xfrm>
          <a:prstGeom prst="rect">
            <a:avLst/>
          </a:prstGeom>
          <a:solidFill>
            <a:srgbClr val="FDF3D6"/>
          </a:solidFill>
          <a:ln cap="flat" cmpd="sng" w="12700">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SzPts val="1800"/>
              <a:buFont typeface="Arial"/>
              <a:buNone/>
            </a:pPr>
            <a:r>
              <a:t/>
            </a:r>
            <a:endParaRPr b="0" i="0" sz="1800" u="none" cap="none" strike="noStrike">
              <a:solidFill>
                <a:schemeClr val="dk1"/>
              </a:solidFill>
              <a:latin typeface="Arial"/>
              <a:ea typeface="Arial"/>
              <a:cs typeface="Arial"/>
              <a:sym typeface="Arial"/>
            </a:endParaRPr>
          </a:p>
        </p:txBody>
      </p:sp>
      <p:sp>
        <p:nvSpPr>
          <p:cNvPr id="86" name="Google Shape;86;p2"/>
          <p:cNvSpPr/>
          <p:nvPr/>
        </p:nvSpPr>
        <p:spPr>
          <a:xfrm>
            <a:off x="6793992" y="5093208"/>
            <a:ext cx="4455871"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100"/>
              <a:buFont typeface="Arial"/>
              <a:buNone/>
            </a:pPr>
            <a:r>
              <a:rPr b="1" i="0" lang="en-US" sz="1100" u="none" cap="none" strike="noStrike">
                <a:solidFill>
                  <a:srgbClr val="8A6D0B"/>
                </a:solidFill>
                <a:latin typeface="Arial"/>
                <a:ea typeface="Arial"/>
                <a:cs typeface="Arial"/>
                <a:sym typeface="Arial"/>
              </a:rPr>
              <a:t>CORE BUSINESS QUESTION</a:t>
            </a:r>
            <a:endParaRPr b="0" i="0" sz="1100" u="none" cap="none" strike="noStrike">
              <a:solidFill>
                <a:schemeClr val="dk1"/>
              </a:solidFill>
              <a:latin typeface="Calibri"/>
              <a:ea typeface="Calibri"/>
              <a:cs typeface="Calibri"/>
              <a:sym typeface="Calibri"/>
            </a:endParaRPr>
          </a:p>
        </p:txBody>
      </p:sp>
      <p:sp>
        <p:nvSpPr>
          <p:cNvPr id="87" name="Google Shape;87;p2"/>
          <p:cNvSpPr/>
          <p:nvPr/>
        </p:nvSpPr>
        <p:spPr>
          <a:xfrm>
            <a:off x="6793992" y="5422392"/>
            <a:ext cx="4455871" cy="749808"/>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2B2621"/>
              </a:buClr>
              <a:buSzPts val="1300"/>
              <a:buFont typeface="Arial"/>
              <a:buNone/>
            </a:pPr>
            <a:r>
              <a:rPr b="1" i="0" lang="en-US" sz="1300" u="none" cap="none" strike="noStrike">
                <a:solidFill>
                  <a:srgbClr val="2B2621"/>
                </a:solidFill>
                <a:latin typeface="Arial"/>
                <a:ea typeface="Arial"/>
                <a:cs typeface="Arial"/>
                <a:sym typeface="Arial"/>
              </a:rPr>
              <a:t>What customer and transaction characteristics are associated with problematic loan outcomes?</a:t>
            </a:r>
            <a:endParaRPr b="0" i="0" sz="1300" u="none" cap="none" strike="noStrike">
              <a:solidFill>
                <a:schemeClr val="dk1"/>
              </a:solidFill>
              <a:latin typeface="Calibri"/>
              <a:ea typeface="Calibri"/>
              <a:cs typeface="Calibri"/>
              <a:sym typeface="Calibri"/>
            </a:endParaRPr>
          </a:p>
        </p:txBody>
      </p:sp>
      <p:sp>
        <p:nvSpPr>
          <p:cNvPr id="88" name="Google Shape;88;p2"/>
          <p:cNvSpPr/>
          <p:nvPr/>
        </p:nvSpPr>
        <p:spPr>
          <a:xfrm>
            <a:off x="6793992" y="6062472"/>
            <a:ext cx="4455871"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950"/>
              <a:buFont typeface="Arial"/>
              <a:buNone/>
            </a:pPr>
            <a:r>
              <a:rPr b="0" i="1" lang="en-US" sz="950" u="none" cap="none" strike="noStrike">
                <a:solidFill>
                  <a:srgbClr val="8A8071"/>
                </a:solidFill>
                <a:latin typeface="Arial"/>
                <a:ea typeface="Arial"/>
                <a:cs typeface="Arial"/>
                <a:sym typeface="Arial"/>
              </a:rPr>
              <a:t>Specific · relevant to credit risk · answerable by joining client + account + trans + loan on account_id.</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92" name="Shape 92"/>
        <p:cNvGrpSpPr/>
        <p:nvPr/>
      </p:nvGrpSpPr>
      <p:grpSpPr>
        <a:xfrm>
          <a:off x="0" y="0"/>
          <a:ext cx="0" cy="0"/>
          <a:chOff x="0" y="0"/>
          <a:chExt cx="0" cy="0"/>
        </a:xfrm>
      </p:grpSpPr>
      <p:sp>
        <p:nvSpPr>
          <p:cNvPr id="93" name="Google Shape;93;p3"/>
          <p:cNvSpPr txBox="1"/>
          <p:nvPr/>
        </p:nvSpPr>
        <p:spPr>
          <a:xfrm>
            <a:off x="548640" y="163642"/>
            <a:ext cx="8229600" cy="67710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7F703F"/>
                </a:solidFill>
                <a:latin typeface="Arial"/>
                <a:ea typeface="Arial"/>
                <a:cs typeface="Arial"/>
                <a:sym typeface="Arial"/>
              </a:rPr>
              <a:t>DEEPP MILESTONE 1   ·</a:t>
            </a:r>
            <a:endParaRPr b="0" i="0" sz="1100" u="none" cap="none" strike="noStrike">
              <a:solidFill>
                <a:srgbClr val="7F703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7F703F"/>
                </a:solidFill>
                <a:latin typeface="Arial"/>
                <a:ea typeface="Arial"/>
                <a:cs typeface="Arial"/>
                <a:sym typeface="Arial"/>
              </a:rPr>
              <a:t>REINALDY ZULFANANDA ARKAAN · SEOUL · BATCH JUN26</a:t>
            </a:r>
            <a:endParaRPr b="0" i="0" sz="1100" u="none" cap="none" strike="noStrike">
              <a:solidFill>
                <a:srgbClr val="7F703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br>
              <a:rPr b="0" i="0" lang="en-US" sz="1100" u="none" cap="none" strike="noStrike">
                <a:solidFill>
                  <a:srgbClr val="7F703F"/>
                </a:solidFill>
                <a:latin typeface="Arial"/>
                <a:ea typeface="Arial"/>
                <a:cs typeface="Arial"/>
                <a:sym typeface="Arial"/>
              </a:rPr>
            </a:br>
            <a:endParaRPr b="1" i="0" sz="1100" u="none" cap="none" strike="noStrike">
              <a:solidFill>
                <a:srgbClr val="7F703F"/>
              </a:solidFill>
              <a:latin typeface="Arial"/>
              <a:ea typeface="Arial"/>
              <a:cs typeface="Arial"/>
              <a:sym typeface="Arial"/>
            </a:endParaRPr>
          </a:p>
        </p:txBody>
      </p:sp>
      <p:sp>
        <p:nvSpPr>
          <p:cNvPr id="94" name="Google Shape;94;p3"/>
          <p:cNvSpPr txBox="1"/>
          <p:nvPr/>
        </p:nvSpPr>
        <p:spPr>
          <a:xfrm>
            <a:off x="3657600" y="384048"/>
            <a:ext cx="7434072" cy="27432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1100"/>
              <a:buFont typeface="Arial"/>
              <a:buNone/>
            </a:pPr>
            <a:r>
              <a:rPr b="1" i="0" lang="en-US" sz="1100" u="none" cap="none" strike="noStrike">
                <a:solidFill>
                  <a:srgbClr val="8A8071"/>
                </a:solidFill>
                <a:latin typeface="Arial"/>
                <a:ea typeface="Arial"/>
                <a:cs typeface="Arial"/>
                <a:sym typeface="Arial"/>
              </a:rPr>
              <a:t>SLIDE 3 / 21</a:t>
            </a:r>
            <a:endParaRPr b="0" i="0" sz="1400" u="none" cap="none" strike="noStrike">
              <a:solidFill>
                <a:srgbClr val="000000"/>
              </a:solidFill>
              <a:latin typeface="Arial"/>
              <a:ea typeface="Arial"/>
              <a:cs typeface="Arial"/>
              <a:sym typeface="Arial"/>
            </a:endParaRPr>
          </a:p>
        </p:txBody>
      </p:sp>
      <p:sp>
        <p:nvSpPr>
          <p:cNvPr id="95" name="Google Shape;95;p3"/>
          <p:cNvSpPr txBox="1"/>
          <p:nvPr/>
        </p:nvSpPr>
        <p:spPr>
          <a:xfrm>
            <a:off x="521207" y="621792"/>
            <a:ext cx="10972800" cy="49244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200"/>
              <a:buFont typeface="Arial"/>
              <a:buNone/>
            </a:pPr>
            <a:r>
              <a:rPr b="1" i="0" lang="en-US" sz="3200" u="none" cap="none" strike="noStrike">
                <a:solidFill>
                  <a:srgbClr val="2B2621"/>
                </a:solidFill>
                <a:latin typeface="Bookman Old Style"/>
                <a:ea typeface="Bookman Old Style"/>
                <a:cs typeface="Bookman Old Style"/>
                <a:sym typeface="Bookman Old Style"/>
              </a:rPr>
              <a:t>DARCI, Scope &amp; Problem Statement</a:t>
            </a:r>
            <a:endParaRPr b="0" i="0" sz="1400" u="none" cap="none" strike="noStrike">
              <a:solidFill>
                <a:srgbClr val="000000"/>
              </a:solidFill>
              <a:latin typeface="Arial"/>
              <a:ea typeface="Arial"/>
              <a:cs typeface="Arial"/>
              <a:sym typeface="Arial"/>
            </a:endParaRPr>
          </a:p>
        </p:txBody>
      </p:sp>
      <p:sp>
        <p:nvSpPr>
          <p:cNvPr id="96" name="Google Shape;96;p3"/>
          <p:cNvSpPr/>
          <p:nvPr/>
        </p:nvSpPr>
        <p:spPr>
          <a:xfrm>
            <a:off x="6199632" y="1170433"/>
            <a:ext cx="5440680" cy="1618487"/>
          </a:xfrm>
          <a:prstGeom prst="roundRect">
            <a:avLst>
              <a:gd fmla="val 4500" name="adj"/>
            </a:avLst>
          </a:prstGeom>
          <a:solidFill>
            <a:srgbClr val="FDF3D6"/>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7" name="Google Shape;97;p3"/>
          <p:cNvSpPr txBox="1"/>
          <p:nvPr/>
        </p:nvSpPr>
        <p:spPr>
          <a:xfrm>
            <a:off x="6305681" y="1303283"/>
            <a:ext cx="1060704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z="1250" u="none" cap="none" strike="noStrike">
                <a:solidFill>
                  <a:srgbClr val="8A6D0B"/>
                </a:solidFill>
                <a:latin typeface="Arial"/>
                <a:ea typeface="Arial"/>
                <a:cs typeface="Arial"/>
                <a:sym typeface="Arial"/>
              </a:rPr>
              <a:t>PROBLEM STATEMENT (SMART)</a:t>
            </a:r>
            <a:endParaRPr b="0" i="0" sz="1400" u="none" cap="none" strike="noStrike">
              <a:solidFill>
                <a:srgbClr val="000000"/>
              </a:solidFill>
              <a:latin typeface="Arial"/>
              <a:ea typeface="Arial"/>
              <a:cs typeface="Arial"/>
              <a:sym typeface="Arial"/>
            </a:endParaRPr>
          </a:p>
        </p:txBody>
      </p:sp>
      <p:sp>
        <p:nvSpPr>
          <p:cNvPr id="98" name="Google Shape;98;p3"/>
          <p:cNvSpPr txBox="1"/>
          <p:nvPr/>
        </p:nvSpPr>
        <p:spPr>
          <a:xfrm>
            <a:off x="6305681" y="1703192"/>
            <a:ext cx="5188326" cy="55399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dk1"/>
                </a:solidFill>
                <a:latin typeface="Bookman Old Style"/>
                <a:ea typeface="Bookman Old Style"/>
                <a:cs typeface="Bookman Old Style"/>
                <a:sym typeface="Bookman Old Style"/>
              </a:rPr>
              <a:t>How can the credit team reduce Berka's problematic loan rate from 11% to below 5% within the next 12 months by identifying risk patterns in the 1993–1998 transaction and account data?</a:t>
            </a:r>
            <a:endParaRPr b="0" i="0" sz="1200" u="none" cap="none" strike="noStrike">
              <a:solidFill>
                <a:srgbClr val="2B2621"/>
              </a:solidFill>
              <a:latin typeface="Bookman Old Style"/>
              <a:ea typeface="Bookman Old Style"/>
              <a:cs typeface="Bookman Old Style"/>
              <a:sym typeface="Bookman Old Style"/>
            </a:endParaRPr>
          </a:p>
        </p:txBody>
      </p:sp>
      <p:sp>
        <p:nvSpPr>
          <p:cNvPr id="99" name="Google Shape;99;p3"/>
          <p:cNvSpPr/>
          <p:nvPr/>
        </p:nvSpPr>
        <p:spPr>
          <a:xfrm>
            <a:off x="6199632" y="3017519"/>
            <a:ext cx="5440680" cy="1649073"/>
          </a:xfrm>
          <a:prstGeom prst="roundRect">
            <a:avLst>
              <a:gd fmla="val 4500" name="adj"/>
            </a:avLst>
          </a:prstGeom>
          <a:solidFill>
            <a:srgbClr val="FFFFFF"/>
          </a:solidFill>
          <a:ln cap="flat" cmpd="sng" w="9525">
            <a:solidFill>
              <a:srgbClr val="C9BFA6"/>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0" name="Google Shape;100;p3"/>
          <p:cNvSpPr txBox="1"/>
          <p:nvPr/>
        </p:nvSpPr>
        <p:spPr>
          <a:xfrm>
            <a:off x="6400800" y="3154680"/>
            <a:ext cx="502920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z="1250" u="none" cap="none" strike="noStrike">
                <a:solidFill>
                  <a:srgbClr val="8A6D0B"/>
                </a:solidFill>
                <a:latin typeface="Arial"/>
                <a:ea typeface="Arial"/>
                <a:cs typeface="Arial"/>
                <a:sym typeface="Arial"/>
              </a:rPr>
              <a:t>IN SCOPE</a:t>
            </a:r>
            <a:endParaRPr b="0" i="0" sz="1400" u="none" cap="none" strike="noStrike">
              <a:solidFill>
                <a:srgbClr val="000000"/>
              </a:solidFill>
              <a:latin typeface="Arial"/>
              <a:ea typeface="Arial"/>
              <a:cs typeface="Arial"/>
              <a:sym typeface="Arial"/>
            </a:endParaRPr>
          </a:p>
        </p:txBody>
      </p:sp>
      <p:sp>
        <p:nvSpPr>
          <p:cNvPr id="101" name="Google Shape;101;p3"/>
          <p:cNvSpPr txBox="1"/>
          <p:nvPr/>
        </p:nvSpPr>
        <p:spPr>
          <a:xfrm>
            <a:off x="6410574" y="3433424"/>
            <a:ext cx="5074920" cy="1107996"/>
          </a:xfrm>
          <a:prstGeom prst="rect">
            <a:avLst/>
          </a:prstGeom>
          <a:noFill/>
          <a:ln>
            <a:noFill/>
          </a:ln>
        </p:spPr>
        <p:txBody>
          <a:bodyPr anchorCtr="0" anchor="t" bIns="0" lIns="0" spcFirstLastPara="1" rIns="0" wrap="square" tIns="0">
            <a:spAutoFit/>
          </a:bodyPr>
          <a:lstStyle/>
          <a:p>
            <a:pPr indent="-285750" lvl="0" marL="285750" marR="0" rtl="0" algn="l">
              <a:lnSpc>
                <a:spcPct val="100000"/>
              </a:lnSpc>
              <a:spcBef>
                <a:spcPts val="0"/>
              </a:spcBef>
              <a:spcAft>
                <a:spcPts val="0"/>
              </a:spcAft>
              <a:buClr>
                <a:schemeClr val="dk1"/>
              </a:buClr>
              <a:buSzPts val="1200"/>
              <a:buFont typeface="Arial"/>
              <a:buChar char="•"/>
            </a:pPr>
            <a:r>
              <a:rPr b="1" i="0" lang="en-US" sz="1200" u="none" cap="none" strike="noStrike">
                <a:solidFill>
                  <a:schemeClr val="dk1"/>
                </a:solidFill>
                <a:latin typeface="Bookman Old Style"/>
                <a:ea typeface="Bookman Old Style"/>
                <a:cs typeface="Bookman Old Style"/>
                <a:sym typeface="Bookman Old Style"/>
              </a:rPr>
              <a:t>Transaction behavior from trans:</a:t>
            </a:r>
            <a:r>
              <a:rPr b="0" i="0" lang="en-US" sz="1200" u="none" cap="none" strike="noStrike">
                <a:solidFill>
                  <a:schemeClr val="dk1"/>
                </a:solidFill>
                <a:latin typeface="Bookman Old Style"/>
                <a:ea typeface="Bookman Old Style"/>
                <a:cs typeface="Bookman Old Style"/>
                <a:sym typeface="Bookman Old Style"/>
              </a:rPr>
              <a:t> balance, money in vs. money out, and transaction volume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1200"/>
              <a:buFont typeface="Arial"/>
              <a:buChar char="•"/>
            </a:pPr>
            <a:r>
              <a:rPr b="1" i="0" lang="en-US" sz="1200" u="none" cap="none" strike="noStrike">
                <a:solidFill>
                  <a:schemeClr val="dk1"/>
                </a:solidFill>
                <a:latin typeface="Bookman Old Style"/>
                <a:ea typeface="Bookman Old Style"/>
                <a:cs typeface="Bookman Old Style"/>
                <a:sym typeface="Bookman Old Style"/>
              </a:rPr>
              <a:t>Account and loan activity:</a:t>
            </a:r>
            <a:r>
              <a:rPr b="0" i="0" lang="en-US" sz="1200" u="none" cap="none" strike="noStrike">
                <a:solidFill>
                  <a:schemeClr val="dk1"/>
                </a:solidFill>
                <a:latin typeface="Bookman Old Style"/>
                <a:ea typeface="Bookman Old Style"/>
                <a:cs typeface="Bookman Old Style"/>
                <a:sym typeface="Bookman Old Style"/>
              </a:rPr>
              <a:t> account activity and loan terms from account and loan tables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1200"/>
              <a:buFont typeface="Arial"/>
              <a:buChar char="•"/>
            </a:pPr>
            <a:r>
              <a:rPr b="1" i="0" lang="en-US" sz="1200" u="none" cap="none" strike="noStrike">
                <a:solidFill>
                  <a:schemeClr val="dk1"/>
                </a:solidFill>
                <a:latin typeface="Bookman Old Style"/>
                <a:ea typeface="Bookman Old Style"/>
                <a:cs typeface="Bookman Old Style"/>
                <a:sym typeface="Bookman Old Style"/>
              </a:rPr>
              <a:t>Relationship between financial behavior and loan status:</a:t>
            </a:r>
            <a:r>
              <a:rPr b="0" i="0" lang="en-US" sz="1200" u="none" cap="none" strike="noStrike">
                <a:solidFill>
                  <a:schemeClr val="dk1"/>
                </a:solidFill>
                <a:latin typeface="Bookman Old Style"/>
                <a:ea typeface="Bookman Old Style"/>
                <a:cs typeface="Bookman Old Style"/>
                <a:sym typeface="Bookman Old Style"/>
              </a:rPr>
              <a:t> good loans (A, C) vs. problematic loans (B, D)</a:t>
            </a:r>
            <a:endParaRPr b="0" i="0" sz="1400" u="none" cap="none" strike="noStrike">
              <a:solidFill>
                <a:srgbClr val="000000"/>
              </a:solidFill>
              <a:latin typeface="Arial"/>
              <a:ea typeface="Arial"/>
              <a:cs typeface="Arial"/>
              <a:sym typeface="Arial"/>
            </a:endParaRPr>
          </a:p>
        </p:txBody>
      </p:sp>
      <p:sp>
        <p:nvSpPr>
          <p:cNvPr id="102" name="Google Shape;102;p3"/>
          <p:cNvSpPr/>
          <p:nvPr/>
        </p:nvSpPr>
        <p:spPr>
          <a:xfrm>
            <a:off x="6199632" y="4914637"/>
            <a:ext cx="5440680" cy="1649073"/>
          </a:xfrm>
          <a:prstGeom prst="roundRect">
            <a:avLst>
              <a:gd fmla="val 4500" name="adj"/>
            </a:avLst>
          </a:prstGeom>
          <a:solidFill>
            <a:srgbClr val="FFFFFF"/>
          </a:solidFill>
          <a:ln cap="flat" cmpd="sng" w="9525">
            <a:solidFill>
              <a:srgbClr val="C9BFA6"/>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3" name="Google Shape;103;p3"/>
          <p:cNvSpPr txBox="1"/>
          <p:nvPr/>
        </p:nvSpPr>
        <p:spPr>
          <a:xfrm>
            <a:off x="6400800" y="5051797"/>
            <a:ext cx="502920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250"/>
              <a:buFont typeface="Arial"/>
              <a:buNone/>
            </a:pPr>
            <a:r>
              <a:rPr b="1" i="0" lang="en-US" sz="1250" u="none" cap="none" strike="noStrike">
                <a:solidFill>
                  <a:srgbClr val="8A6D0B"/>
                </a:solidFill>
                <a:latin typeface="Arial"/>
                <a:ea typeface="Arial"/>
                <a:cs typeface="Arial"/>
                <a:sym typeface="Arial"/>
              </a:rPr>
              <a:t>OUT OF SCOPE</a:t>
            </a:r>
            <a:endParaRPr b="0" i="0" sz="1400" u="none" cap="none" strike="noStrike">
              <a:solidFill>
                <a:srgbClr val="000000"/>
              </a:solidFill>
              <a:latin typeface="Arial"/>
              <a:ea typeface="Arial"/>
              <a:cs typeface="Arial"/>
              <a:sym typeface="Arial"/>
            </a:endParaRPr>
          </a:p>
        </p:txBody>
      </p:sp>
      <p:sp>
        <p:nvSpPr>
          <p:cNvPr id="104" name="Google Shape;104;p3"/>
          <p:cNvSpPr txBox="1"/>
          <p:nvPr/>
        </p:nvSpPr>
        <p:spPr>
          <a:xfrm>
            <a:off x="6400800" y="5321808"/>
            <a:ext cx="5074920" cy="769441"/>
          </a:xfrm>
          <a:prstGeom prst="rect">
            <a:avLst/>
          </a:prstGeom>
          <a:noFill/>
          <a:ln>
            <a:noFill/>
          </a:ln>
        </p:spPr>
        <p:txBody>
          <a:bodyPr anchorCtr="0" anchor="t" bIns="0" lIns="0" spcFirstLastPara="1" rIns="0" wrap="square" tIns="0">
            <a:spAutoFit/>
          </a:bodyPr>
          <a:lstStyle/>
          <a:p>
            <a:pPr indent="-285750" lvl="0" marL="285750" marR="0" rtl="0" algn="l">
              <a:lnSpc>
                <a:spcPct val="100000"/>
              </a:lnSpc>
              <a:spcBef>
                <a:spcPts val="0"/>
              </a:spcBef>
              <a:spcAft>
                <a:spcPts val="0"/>
              </a:spcAft>
              <a:buClr>
                <a:schemeClr val="dk1"/>
              </a:buClr>
              <a:buSzPts val="1250"/>
              <a:buFont typeface="Arial"/>
              <a:buChar char="•"/>
            </a:pPr>
            <a:r>
              <a:rPr b="1" i="0" lang="en-US" sz="1250" u="none" cap="none" strike="noStrike">
                <a:solidFill>
                  <a:schemeClr val="dk1"/>
                </a:solidFill>
                <a:latin typeface="Bookman Old Style"/>
                <a:ea typeface="Bookman Old Style"/>
                <a:cs typeface="Bookman Old Style"/>
                <a:sym typeface="Bookman Old Style"/>
              </a:rPr>
              <a:t>Bank revenue, fees, and profit:</a:t>
            </a:r>
            <a:r>
              <a:rPr b="0" i="0" lang="en-US" sz="1250" u="none" cap="none" strike="noStrike">
                <a:solidFill>
                  <a:schemeClr val="dk1"/>
                </a:solidFill>
                <a:latin typeface="Bookman Old Style"/>
                <a:ea typeface="Bookman Old Style"/>
                <a:cs typeface="Bookman Old Style"/>
                <a:sym typeface="Bookman Old Style"/>
              </a:rPr>
              <a:t> no such columns exist </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1250"/>
              <a:buFont typeface="Arial"/>
              <a:buChar char="•"/>
            </a:pPr>
            <a:r>
              <a:rPr b="1" i="0" lang="en-US" sz="1250" u="none" cap="none" strike="noStrike">
                <a:solidFill>
                  <a:schemeClr val="dk1"/>
                </a:solidFill>
                <a:latin typeface="Bookman Old Style"/>
                <a:ea typeface="Bookman Old Style"/>
                <a:cs typeface="Bookman Old Style"/>
                <a:sym typeface="Bookman Old Style"/>
              </a:rPr>
              <a:t>Customer satisfaction and complaints:</a:t>
            </a:r>
            <a:r>
              <a:rPr b="0" i="0" lang="en-US" sz="1250" u="none" cap="none" strike="noStrike">
                <a:solidFill>
                  <a:schemeClr val="dk1"/>
                </a:solidFill>
                <a:latin typeface="Bookman Old Style"/>
                <a:ea typeface="Bookman Old Style"/>
                <a:cs typeface="Bookman Old Style"/>
                <a:sym typeface="Bookman Old Style"/>
              </a:rPr>
              <a:t> not recorded </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1250"/>
              <a:buFont typeface="Arial"/>
              <a:buChar char="•"/>
            </a:pPr>
            <a:r>
              <a:rPr b="1" i="0" lang="en-US" sz="1250" u="none" cap="none" strike="noStrike">
                <a:solidFill>
                  <a:schemeClr val="dk1"/>
                </a:solidFill>
                <a:latin typeface="Bookman Old Style"/>
                <a:ea typeface="Bookman Old Style"/>
                <a:cs typeface="Bookman Old Style"/>
                <a:sym typeface="Bookman Old Style"/>
              </a:rPr>
              <a:t>Marketing and acquisition channels:</a:t>
            </a:r>
            <a:r>
              <a:rPr b="0" i="0" lang="en-US" sz="1250" u="none" cap="none" strike="noStrike">
                <a:solidFill>
                  <a:schemeClr val="dk1"/>
                </a:solidFill>
                <a:latin typeface="Bookman Old Style"/>
                <a:ea typeface="Bookman Old Style"/>
                <a:cs typeface="Bookman Old Style"/>
                <a:sym typeface="Bookman Old Style"/>
              </a:rPr>
              <a:t> not in the data </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chemeClr val="dk1"/>
              </a:buClr>
              <a:buSzPts val="1250"/>
              <a:buFont typeface="Arial"/>
              <a:buChar char="•"/>
            </a:pPr>
            <a:r>
              <a:rPr b="1" i="0" lang="en-US" sz="1250" u="none" cap="none" strike="noStrike">
                <a:solidFill>
                  <a:schemeClr val="dk1"/>
                </a:solidFill>
                <a:latin typeface="Bookman Old Style"/>
                <a:ea typeface="Bookman Old Style"/>
                <a:cs typeface="Bookman Old Style"/>
                <a:sym typeface="Bookman Old Style"/>
              </a:rPr>
              <a:t>Age or gender profiling:</a:t>
            </a:r>
            <a:r>
              <a:rPr b="0" i="0" lang="en-US" sz="1250" u="none" cap="none" strike="noStrike">
                <a:solidFill>
                  <a:schemeClr val="dk1"/>
                </a:solidFill>
                <a:latin typeface="Bookman Old Style"/>
                <a:ea typeface="Bookman Old Style"/>
                <a:cs typeface="Bookman Old Style"/>
                <a:sym typeface="Bookman Old Style"/>
              </a:rPr>
              <a:t> only district is available</a:t>
            </a:r>
            <a:endParaRPr b="0" i="0" sz="1400" u="none" cap="none" strike="noStrike">
              <a:solidFill>
                <a:srgbClr val="000000"/>
              </a:solidFill>
              <a:latin typeface="Arial"/>
              <a:ea typeface="Arial"/>
              <a:cs typeface="Arial"/>
              <a:sym typeface="Arial"/>
            </a:endParaRPr>
          </a:p>
        </p:txBody>
      </p:sp>
      <p:sp>
        <p:nvSpPr>
          <p:cNvPr id="105" name="Google Shape;105;p3"/>
          <p:cNvSpPr txBox="1"/>
          <p:nvPr/>
        </p:nvSpPr>
        <p:spPr>
          <a:xfrm>
            <a:off x="521207" y="6266320"/>
            <a:ext cx="5176706" cy="20005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300"/>
              <a:buFont typeface="Arial"/>
              <a:buNone/>
            </a:pPr>
            <a:r>
              <a:rPr b="0" i="1" lang="en-US" sz="1300" u="none" cap="none" strike="noStrike">
                <a:solidFill>
                  <a:srgbClr val="8A8071"/>
                </a:solidFill>
                <a:latin typeface="Arial"/>
                <a:ea typeface="Arial"/>
                <a:cs typeface="Arial"/>
                <a:sym typeface="Arial"/>
              </a:rPr>
              <a:t>Who decides, who owns it, and who needs to hear about it.</a:t>
            </a:r>
            <a:endParaRPr b="0" i="0" sz="1400" u="none" cap="none" strike="noStrike">
              <a:solidFill>
                <a:srgbClr val="000000"/>
              </a:solidFill>
              <a:latin typeface="Arial"/>
              <a:ea typeface="Arial"/>
              <a:cs typeface="Arial"/>
              <a:sym typeface="Arial"/>
            </a:endParaRPr>
          </a:p>
        </p:txBody>
      </p:sp>
      <p:graphicFrame>
        <p:nvGraphicFramePr>
          <p:cNvPr id="106" name="Google Shape;106;p3"/>
          <p:cNvGraphicFramePr/>
          <p:nvPr/>
        </p:nvGraphicFramePr>
        <p:xfrm>
          <a:off x="548640" y="1184149"/>
          <a:ext cx="3000000" cy="3000000"/>
        </p:xfrm>
        <a:graphic>
          <a:graphicData uri="http://schemas.openxmlformats.org/drawingml/2006/table">
            <a:tbl>
              <a:tblPr>
                <a:noFill/>
                <a:tableStyleId>{DB324BE7-9142-4693-9B00-A251BD5E6397}</a:tableStyleId>
              </a:tblPr>
              <a:tblGrid>
                <a:gridCol w="560800"/>
                <a:gridCol w="1725575"/>
                <a:gridCol w="2946400"/>
              </a:tblGrid>
              <a:tr h="696150">
                <a:tc>
                  <a:txBody>
                    <a:bodyPr/>
                    <a:lstStyle/>
                    <a:p>
                      <a:pPr indent="0" lvl="0" marL="0" marR="0" rtl="0" algn="ctr">
                        <a:lnSpc>
                          <a:spcPct val="103000"/>
                        </a:lnSpc>
                        <a:spcBef>
                          <a:spcPts val="0"/>
                        </a:spcBef>
                        <a:spcAft>
                          <a:spcPts val="0"/>
                        </a:spcAft>
                        <a:buClr>
                          <a:srgbClr val="000000"/>
                        </a:buClr>
                        <a:buSzPts val="1800"/>
                        <a:buFont typeface="Arial"/>
                        <a:buNone/>
                      </a:pPr>
                      <a:r>
                        <a:t/>
                      </a:r>
                      <a:endParaRPr sz="1800" u="none" cap="none" strike="noStrike"/>
                    </a:p>
                  </a:txBody>
                  <a:tcPr marT="45725" marB="45725" marR="73150" marL="100575" anchor="ctr">
                    <a:solidFill>
                      <a:srgbClr val="F5B301"/>
                    </a:solidFill>
                  </a:tcPr>
                </a:tc>
                <a:tc>
                  <a:txBody>
                    <a:bodyPr/>
                    <a:lstStyle/>
                    <a:p>
                      <a:pPr indent="0" lvl="0" marL="0" marR="0" rtl="0" algn="ctr">
                        <a:lnSpc>
                          <a:spcPct val="103000"/>
                        </a:lnSpc>
                        <a:spcBef>
                          <a:spcPts val="0"/>
                        </a:spcBef>
                        <a:spcAft>
                          <a:spcPts val="0"/>
                        </a:spcAft>
                        <a:buClr>
                          <a:srgbClr val="000000"/>
                        </a:buClr>
                        <a:buSzPts val="1250"/>
                        <a:buFont typeface="Arial"/>
                        <a:buNone/>
                      </a:pPr>
                      <a:r>
                        <a:rPr b="1" i="0" lang="en-US" sz="1250" u="none" cap="none" strike="noStrike">
                          <a:solidFill>
                            <a:srgbClr val="2B2621"/>
                          </a:solidFill>
                          <a:latin typeface="Bookman Old Style"/>
                          <a:ea typeface="Bookman Old Style"/>
                          <a:cs typeface="Bookman Old Style"/>
                          <a:sym typeface="Bookman Old Style"/>
                        </a:rPr>
                        <a:t>Role</a:t>
                      </a:r>
                      <a:endParaRPr sz="1400" u="none" cap="none" strike="noStrike"/>
                    </a:p>
                  </a:txBody>
                  <a:tcPr marT="45725" marB="45725" marR="73150" marL="100575" anchor="ctr">
                    <a:solidFill>
                      <a:srgbClr val="F5B301"/>
                    </a:solidFill>
                  </a:tcPr>
                </a:tc>
                <a:tc>
                  <a:txBody>
                    <a:bodyPr/>
                    <a:lstStyle/>
                    <a:p>
                      <a:pPr indent="0" lvl="0" marL="0" marR="0" rtl="0" algn="ctr">
                        <a:lnSpc>
                          <a:spcPct val="103000"/>
                        </a:lnSpc>
                        <a:spcBef>
                          <a:spcPts val="0"/>
                        </a:spcBef>
                        <a:spcAft>
                          <a:spcPts val="0"/>
                        </a:spcAft>
                        <a:buClr>
                          <a:srgbClr val="000000"/>
                        </a:buClr>
                        <a:buSzPts val="1250"/>
                        <a:buFont typeface="Arial"/>
                        <a:buNone/>
                      </a:pPr>
                      <a:r>
                        <a:rPr b="1" i="0" lang="en-US" sz="1250" u="none" cap="none" strike="noStrike">
                          <a:solidFill>
                            <a:srgbClr val="2B2621"/>
                          </a:solidFill>
                          <a:latin typeface="Bookman Old Style"/>
                          <a:ea typeface="Bookman Old Style"/>
                          <a:cs typeface="Bookman Old Style"/>
                          <a:sym typeface="Bookman Old Style"/>
                        </a:rPr>
                        <a:t>Who</a:t>
                      </a:r>
                      <a:endParaRPr sz="1400" u="none" cap="none" strike="noStrike"/>
                    </a:p>
                  </a:txBody>
                  <a:tcPr marT="45725" marB="45725" marR="73150" marL="100575" anchor="ctr">
                    <a:solidFill>
                      <a:srgbClr val="F5B301"/>
                    </a:solidFill>
                  </a:tcPr>
                </a:tc>
              </a:tr>
              <a:tr h="863225">
                <a:tc>
                  <a:txBody>
                    <a:bodyPr/>
                    <a:lstStyle/>
                    <a:p>
                      <a:pPr indent="0" lvl="0" marL="0" marR="0" rtl="0" algn="ctr">
                        <a:lnSpc>
                          <a:spcPct val="103000"/>
                        </a:lnSpc>
                        <a:spcBef>
                          <a:spcPts val="0"/>
                        </a:spcBef>
                        <a:spcAft>
                          <a:spcPts val="0"/>
                        </a:spcAft>
                        <a:buClr>
                          <a:srgbClr val="000000"/>
                        </a:buClr>
                        <a:buSzPts val="1500"/>
                        <a:buFont typeface="Arial"/>
                        <a:buNone/>
                      </a:pPr>
                      <a:r>
                        <a:rPr b="1" i="0" lang="en-US" sz="1500" u="none" cap="none" strike="noStrike">
                          <a:solidFill>
                            <a:srgbClr val="8A6D0B"/>
                          </a:solidFill>
                          <a:latin typeface="Bookman Old Style"/>
                          <a:ea typeface="Bookman Old Style"/>
                          <a:cs typeface="Bookman Old Style"/>
                          <a:sym typeface="Bookman Old Style"/>
                        </a:rPr>
                        <a:t>D</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Decider</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0" i="0" lang="en-US" sz="1250" u="none" cap="none" strike="noStrike">
                          <a:solidFill>
                            <a:srgbClr val="8A8071"/>
                          </a:solidFill>
                          <a:latin typeface="Arial"/>
                          <a:ea typeface="Arial"/>
                          <a:cs typeface="Arial"/>
                          <a:sym typeface="Arial"/>
                        </a:rPr>
                        <a:t>Head of Credit Risk</a:t>
                      </a:r>
                      <a:endParaRPr sz="1400" u="none" cap="none" strike="noStrike"/>
                    </a:p>
                  </a:txBody>
                  <a:tcPr marT="45725" marB="45725" marR="73150" marL="100575" anchor="ctr">
                    <a:solidFill>
                      <a:srgbClr val="FFFFFF"/>
                    </a:solidFill>
                  </a:tcPr>
                </a:tc>
              </a:tr>
              <a:tr h="863225">
                <a:tc>
                  <a:txBody>
                    <a:bodyPr/>
                    <a:lstStyle/>
                    <a:p>
                      <a:pPr indent="0" lvl="0" marL="0" marR="0" rtl="0" algn="ctr">
                        <a:lnSpc>
                          <a:spcPct val="103000"/>
                        </a:lnSpc>
                        <a:spcBef>
                          <a:spcPts val="0"/>
                        </a:spcBef>
                        <a:spcAft>
                          <a:spcPts val="0"/>
                        </a:spcAft>
                        <a:buClr>
                          <a:srgbClr val="000000"/>
                        </a:buClr>
                        <a:buSzPts val="1500"/>
                        <a:buFont typeface="Arial"/>
                        <a:buNone/>
                      </a:pPr>
                      <a:r>
                        <a:rPr b="1" i="0" lang="en-US" sz="1500" u="none" cap="none" strike="noStrike">
                          <a:solidFill>
                            <a:srgbClr val="8A6D0B"/>
                          </a:solidFill>
                          <a:latin typeface="Bookman Old Style"/>
                          <a:ea typeface="Bookman Old Style"/>
                          <a:cs typeface="Bookman Old Style"/>
                          <a:sym typeface="Bookman Old Style"/>
                        </a:rPr>
                        <a:t>A</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Accountable</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0" i="0" lang="en-US" sz="1250" u="none" cap="none" strike="noStrike">
                          <a:solidFill>
                            <a:srgbClr val="8A8071"/>
                          </a:solidFill>
                          <a:latin typeface="Arial"/>
                          <a:ea typeface="Arial"/>
                          <a:cs typeface="Arial"/>
                          <a:sym typeface="Arial"/>
                        </a:rPr>
                        <a:t>Credit Risk Manager</a:t>
                      </a:r>
                      <a:endParaRPr sz="1400" u="none" cap="none" strike="noStrike"/>
                    </a:p>
                  </a:txBody>
                  <a:tcPr marT="45725" marB="45725" marR="73150" marL="100575" anchor="ctr">
                    <a:solidFill>
                      <a:srgbClr val="FDF3D6"/>
                    </a:solidFill>
                  </a:tcPr>
                </a:tc>
              </a:tr>
              <a:tr h="863225">
                <a:tc>
                  <a:txBody>
                    <a:bodyPr/>
                    <a:lstStyle/>
                    <a:p>
                      <a:pPr indent="0" lvl="0" marL="0" marR="0" rtl="0" algn="ctr">
                        <a:lnSpc>
                          <a:spcPct val="103000"/>
                        </a:lnSpc>
                        <a:spcBef>
                          <a:spcPts val="0"/>
                        </a:spcBef>
                        <a:spcAft>
                          <a:spcPts val="0"/>
                        </a:spcAft>
                        <a:buClr>
                          <a:srgbClr val="000000"/>
                        </a:buClr>
                        <a:buSzPts val="1500"/>
                        <a:buFont typeface="Arial"/>
                        <a:buNone/>
                      </a:pPr>
                      <a:r>
                        <a:rPr b="1" i="0" lang="en-US" sz="1500" u="none" cap="none" strike="noStrike">
                          <a:solidFill>
                            <a:srgbClr val="8A6D0B"/>
                          </a:solidFill>
                          <a:latin typeface="Bookman Old Style"/>
                          <a:ea typeface="Bookman Old Style"/>
                          <a:cs typeface="Bookman Old Style"/>
                          <a:sym typeface="Bookman Old Style"/>
                        </a:rPr>
                        <a:t>R</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Responsible</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0" i="0" lang="en-US" sz="1250" u="none" cap="none" strike="noStrike">
                          <a:solidFill>
                            <a:srgbClr val="8A8071"/>
                          </a:solidFill>
                          <a:latin typeface="Arial"/>
                          <a:ea typeface="Arial"/>
                          <a:cs typeface="Arial"/>
                          <a:sym typeface="Arial"/>
                        </a:rPr>
                        <a:t>Data Analyst (me)</a:t>
                      </a:r>
                      <a:endParaRPr sz="1400" u="none" cap="none" strike="noStrike"/>
                    </a:p>
                  </a:txBody>
                  <a:tcPr marT="45725" marB="45725" marR="73150" marL="100575" anchor="ctr">
                    <a:solidFill>
                      <a:srgbClr val="FFFFFF"/>
                    </a:solidFill>
                  </a:tcPr>
                </a:tc>
              </a:tr>
              <a:tr h="863225">
                <a:tc>
                  <a:txBody>
                    <a:bodyPr/>
                    <a:lstStyle/>
                    <a:p>
                      <a:pPr indent="0" lvl="0" marL="0" marR="0" rtl="0" algn="ctr">
                        <a:lnSpc>
                          <a:spcPct val="103000"/>
                        </a:lnSpc>
                        <a:spcBef>
                          <a:spcPts val="0"/>
                        </a:spcBef>
                        <a:spcAft>
                          <a:spcPts val="0"/>
                        </a:spcAft>
                        <a:buClr>
                          <a:srgbClr val="000000"/>
                        </a:buClr>
                        <a:buSzPts val="1500"/>
                        <a:buFont typeface="Arial"/>
                        <a:buNone/>
                      </a:pPr>
                      <a:r>
                        <a:rPr b="1" i="0" lang="en-US" sz="1500" u="none" cap="none" strike="noStrike">
                          <a:solidFill>
                            <a:srgbClr val="8A6D0B"/>
                          </a:solidFill>
                          <a:latin typeface="Bookman Old Style"/>
                          <a:ea typeface="Bookman Old Style"/>
                          <a:cs typeface="Bookman Old Style"/>
                          <a:sym typeface="Bookman Old Style"/>
                        </a:rPr>
                        <a:t>C</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Consulted</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0" i="0" lang="en-US" sz="1250" u="none" cap="none" strike="noStrike">
                          <a:solidFill>
                            <a:srgbClr val="8A8071"/>
                          </a:solidFill>
                          <a:latin typeface="Arial"/>
                          <a:ea typeface="Arial"/>
                          <a:cs typeface="Arial"/>
                          <a:sym typeface="Arial"/>
                        </a:rPr>
                        <a:t>Loan Officers, Collections Team</a:t>
                      </a:r>
                      <a:endParaRPr sz="1400" u="none" cap="none" strike="noStrike"/>
                    </a:p>
                  </a:txBody>
                  <a:tcPr marT="45725" marB="45725" marR="73150" marL="100575" anchor="ctr">
                    <a:solidFill>
                      <a:srgbClr val="FDF3D6"/>
                    </a:solidFill>
                  </a:tcPr>
                </a:tc>
              </a:tr>
              <a:tr h="863225">
                <a:tc>
                  <a:txBody>
                    <a:bodyPr/>
                    <a:lstStyle/>
                    <a:p>
                      <a:pPr indent="0" lvl="0" marL="0" marR="0" rtl="0" algn="ctr">
                        <a:lnSpc>
                          <a:spcPct val="103000"/>
                        </a:lnSpc>
                        <a:spcBef>
                          <a:spcPts val="0"/>
                        </a:spcBef>
                        <a:spcAft>
                          <a:spcPts val="0"/>
                        </a:spcAft>
                        <a:buClr>
                          <a:srgbClr val="000000"/>
                        </a:buClr>
                        <a:buSzPts val="1500"/>
                        <a:buFont typeface="Arial"/>
                        <a:buNone/>
                      </a:pPr>
                      <a:r>
                        <a:rPr b="1" i="0" lang="en-US" sz="1500" u="none" cap="none" strike="noStrike">
                          <a:solidFill>
                            <a:srgbClr val="8A6D0B"/>
                          </a:solidFill>
                          <a:latin typeface="Bookman Old Style"/>
                          <a:ea typeface="Bookman Old Style"/>
                          <a:cs typeface="Bookman Old Style"/>
                          <a:sym typeface="Bookman Old Style"/>
                        </a:rPr>
                        <a:t>I</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Informed</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1250"/>
                        <a:buFont typeface="Arial"/>
                        <a:buNone/>
                      </a:pPr>
                      <a:r>
                        <a:rPr b="0" i="0" lang="en-US" sz="1250" u="none" cap="none" strike="noStrike">
                          <a:solidFill>
                            <a:srgbClr val="8A8071"/>
                          </a:solidFill>
                          <a:latin typeface="Arial"/>
                          <a:ea typeface="Arial"/>
                          <a:cs typeface="Arial"/>
                          <a:sym typeface="Arial"/>
                        </a:rPr>
                        <a:t>Senior Management, Branch Heads</a:t>
                      </a:r>
                      <a:endParaRPr sz="1400" u="none" cap="none" strike="noStrike"/>
                    </a:p>
                  </a:txBody>
                  <a:tcPr marT="45725" marB="45725" marR="73150" marL="100575" anchor="ctr">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110" name="Shape 110"/>
        <p:cNvGrpSpPr/>
        <p:nvPr/>
      </p:nvGrpSpPr>
      <p:grpSpPr>
        <a:xfrm>
          <a:off x="0" y="0"/>
          <a:ext cx="0" cy="0"/>
          <a:chOff x="0" y="0"/>
          <a:chExt cx="0" cy="0"/>
        </a:xfrm>
      </p:grpSpPr>
      <p:sp>
        <p:nvSpPr>
          <p:cNvPr id="111" name="Google Shape;111;p4"/>
          <p:cNvSpPr txBox="1"/>
          <p:nvPr/>
        </p:nvSpPr>
        <p:spPr>
          <a:xfrm>
            <a:off x="548640" y="384048"/>
            <a:ext cx="822960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8A6D0B"/>
                </a:solidFill>
                <a:latin typeface="Arial"/>
                <a:ea typeface="Arial"/>
                <a:cs typeface="Arial"/>
                <a:sym typeface="Arial"/>
              </a:rPr>
              <a:t>DEEPP MILESTONE 1  ·  ROOT CAUSE</a:t>
            </a:r>
            <a:endParaRPr b="0" i="0" sz="1400" u="none" cap="none" strike="noStrike">
              <a:solidFill>
                <a:srgbClr val="000000"/>
              </a:solidFill>
              <a:latin typeface="Arial"/>
              <a:ea typeface="Arial"/>
              <a:cs typeface="Arial"/>
              <a:sym typeface="Arial"/>
            </a:endParaRPr>
          </a:p>
        </p:txBody>
      </p:sp>
      <p:sp>
        <p:nvSpPr>
          <p:cNvPr id="112" name="Google Shape;112;p4"/>
          <p:cNvSpPr txBox="1"/>
          <p:nvPr/>
        </p:nvSpPr>
        <p:spPr>
          <a:xfrm>
            <a:off x="3657600" y="384048"/>
            <a:ext cx="7434072" cy="27432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1100"/>
              <a:buFont typeface="Arial"/>
              <a:buNone/>
            </a:pPr>
            <a:r>
              <a:rPr b="1" i="0" lang="en-US" sz="1100" u="none" cap="none" strike="noStrike">
                <a:solidFill>
                  <a:srgbClr val="8A8071"/>
                </a:solidFill>
                <a:latin typeface="Arial"/>
                <a:ea typeface="Arial"/>
                <a:cs typeface="Arial"/>
                <a:sym typeface="Arial"/>
              </a:rPr>
              <a:t>SLIDE 4 / 21</a:t>
            </a:r>
            <a:endParaRPr b="0" i="0" sz="1400" u="none" cap="none" strike="noStrike">
              <a:solidFill>
                <a:srgbClr val="000000"/>
              </a:solidFill>
              <a:latin typeface="Arial"/>
              <a:ea typeface="Arial"/>
              <a:cs typeface="Arial"/>
              <a:sym typeface="Arial"/>
            </a:endParaRPr>
          </a:p>
        </p:txBody>
      </p:sp>
      <p:sp>
        <p:nvSpPr>
          <p:cNvPr id="113" name="Google Shape;113;p4"/>
          <p:cNvSpPr txBox="1"/>
          <p:nvPr/>
        </p:nvSpPr>
        <p:spPr>
          <a:xfrm>
            <a:off x="521207" y="621792"/>
            <a:ext cx="109728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200"/>
              <a:buFont typeface="Arial"/>
              <a:buNone/>
            </a:pPr>
            <a:r>
              <a:rPr b="1" i="0" lang="en-US" sz="3200" u="none" cap="none" strike="noStrike">
                <a:solidFill>
                  <a:srgbClr val="2B2621"/>
                </a:solidFill>
                <a:latin typeface="Bookman Old Style"/>
                <a:ea typeface="Bookman Old Style"/>
                <a:cs typeface="Bookman Old Style"/>
                <a:sym typeface="Bookman Old Style"/>
              </a:rPr>
              <a:t>Root Cause Analysis (Issue Tree)</a:t>
            </a:r>
            <a:endParaRPr b="0" i="0" sz="1400" u="none" cap="none" strike="noStrike">
              <a:solidFill>
                <a:srgbClr val="000000"/>
              </a:solidFill>
              <a:latin typeface="Arial"/>
              <a:ea typeface="Arial"/>
              <a:cs typeface="Arial"/>
              <a:sym typeface="Arial"/>
            </a:endParaRPr>
          </a:p>
        </p:txBody>
      </p:sp>
      <p:sp>
        <p:nvSpPr>
          <p:cNvPr id="114" name="Google Shape;114;p4"/>
          <p:cNvSpPr/>
          <p:nvPr/>
        </p:nvSpPr>
        <p:spPr>
          <a:xfrm>
            <a:off x="548640" y="3246120"/>
            <a:ext cx="2286000" cy="1143000"/>
          </a:xfrm>
          <a:prstGeom prst="roundRect">
            <a:avLst>
              <a:gd fmla="val 8000" name="adj"/>
            </a:avLst>
          </a:prstGeom>
          <a:solidFill>
            <a:srgbClr val="2B262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5" name="Google Shape;115;p4"/>
          <p:cNvSpPr txBox="1"/>
          <p:nvPr/>
        </p:nvSpPr>
        <p:spPr>
          <a:xfrm>
            <a:off x="594360" y="3401568"/>
            <a:ext cx="2194560" cy="4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300"/>
              <a:buFont typeface="Arial"/>
              <a:buNone/>
            </a:pPr>
            <a:r>
              <a:rPr b="1" i="0" lang="en-US" sz="1300" u="none" cap="none" strike="noStrike">
                <a:solidFill>
                  <a:srgbClr val="FFFFFF"/>
                </a:solidFill>
                <a:latin typeface="Arial"/>
                <a:ea typeface="Arial"/>
                <a:cs typeface="Arial"/>
                <a:sym typeface="Arial"/>
              </a:rPr>
              <a:t>Problematic Loans</a:t>
            </a:r>
            <a:endParaRPr b="0" i="0" sz="1400" u="none" cap="none" strike="noStrike">
              <a:solidFill>
                <a:srgbClr val="000000"/>
              </a:solidFill>
              <a:latin typeface="Arial"/>
              <a:ea typeface="Arial"/>
              <a:cs typeface="Arial"/>
              <a:sym typeface="Arial"/>
            </a:endParaRPr>
          </a:p>
        </p:txBody>
      </p:sp>
      <p:sp>
        <p:nvSpPr>
          <p:cNvPr id="116" name="Google Shape;116;p4"/>
          <p:cNvSpPr txBox="1"/>
          <p:nvPr/>
        </p:nvSpPr>
        <p:spPr>
          <a:xfrm>
            <a:off x="594360" y="3767328"/>
            <a:ext cx="2194560" cy="50292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700"/>
              <a:buFont typeface="Arial"/>
              <a:buNone/>
            </a:pPr>
            <a:r>
              <a:rPr b="1" i="0" lang="en-US" sz="1700" u="none" cap="none" strike="noStrike">
                <a:solidFill>
                  <a:srgbClr val="F5B301"/>
                </a:solidFill>
                <a:latin typeface="Arial"/>
                <a:ea typeface="Arial"/>
                <a:cs typeface="Arial"/>
                <a:sym typeface="Arial"/>
              </a:rPr>
              <a:t>11% of 682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000"/>
              <a:buFont typeface="Arial"/>
              <a:buNone/>
            </a:pPr>
            <a:r>
              <a:rPr b="0" i="0" lang="en-US" sz="1000" u="none" cap="none" strike="noStrike">
                <a:solidFill>
                  <a:srgbClr val="C9BFA6"/>
                </a:solidFill>
                <a:latin typeface="Arial"/>
                <a:ea typeface="Arial"/>
                <a:cs typeface="Arial"/>
                <a:sym typeface="Arial"/>
              </a:rPr>
              <a:t>statuses B and D</a:t>
            </a:r>
            <a:endParaRPr b="0" i="0" sz="1400" u="none" cap="none" strike="noStrike">
              <a:solidFill>
                <a:srgbClr val="000000"/>
              </a:solidFill>
              <a:latin typeface="Arial"/>
              <a:ea typeface="Arial"/>
              <a:cs typeface="Arial"/>
              <a:sym typeface="Arial"/>
            </a:endParaRPr>
          </a:p>
        </p:txBody>
      </p:sp>
      <p:sp>
        <p:nvSpPr>
          <p:cNvPr id="117" name="Google Shape;117;p4"/>
          <p:cNvSpPr/>
          <p:nvPr/>
        </p:nvSpPr>
        <p:spPr>
          <a:xfrm>
            <a:off x="2916936" y="2203704"/>
            <a:ext cx="27432" cy="3566160"/>
          </a:xfrm>
          <a:prstGeom prst="rect">
            <a:avLst/>
          </a:prstGeom>
          <a:solidFill>
            <a:srgbClr val="8A807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8" name="Google Shape;118;p4"/>
          <p:cNvSpPr/>
          <p:nvPr/>
        </p:nvSpPr>
        <p:spPr>
          <a:xfrm>
            <a:off x="2761488" y="3817620"/>
            <a:ext cx="182880" cy="27432"/>
          </a:xfrm>
          <a:prstGeom prst="rect">
            <a:avLst/>
          </a:prstGeom>
          <a:solidFill>
            <a:srgbClr val="8A807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 name="Google Shape;119;p4"/>
          <p:cNvSpPr/>
          <p:nvPr/>
        </p:nvSpPr>
        <p:spPr>
          <a:xfrm>
            <a:off x="2944368" y="2189988"/>
            <a:ext cx="301752" cy="27432"/>
          </a:xfrm>
          <a:prstGeom prst="rect">
            <a:avLst/>
          </a:prstGeom>
          <a:solidFill>
            <a:srgbClr val="8A807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0" name="Google Shape;120;p4"/>
          <p:cNvSpPr/>
          <p:nvPr/>
        </p:nvSpPr>
        <p:spPr>
          <a:xfrm>
            <a:off x="2944368" y="3378708"/>
            <a:ext cx="301752" cy="27432"/>
          </a:xfrm>
          <a:prstGeom prst="rect">
            <a:avLst/>
          </a:prstGeom>
          <a:solidFill>
            <a:srgbClr val="8A807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1" name="Google Shape;121;p4"/>
          <p:cNvSpPr/>
          <p:nvPr/>
        </p:nvSpPr>
        <p:spPr>
          <a:xfrm>
            <a:off x="2944368" y="4567428"/>
            <a:ext cx="301752" cy="27432"/>
          </a:xfrm>
          <a:prstGeom prst="rect">
            <a:avLst/>
          </a:prstGeom>
          <a:solidFill>
            <a:srgbClr val="8A807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2" name="Google Shape;122;p4"/>
          <p:cNvSpPr/>
          <p:nvPr/>
        </p:nvSpPr>
        <p:spPr>
          <a:xfrm>
            <a:off x="2944368" y="5756148"/>
            <a:ext cx="301752" cy="27432"/>
          </a:xfrm>
          <a:prstGeom prst="rect">
            <a:avLst/>
          </a:prstGeom>
          <a:solidFill>
            <a:srgbClr val="8A807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3" name="Google Shape;123;p4"/>
          <p:cNvSpPr/>
          <p:nvPr/>
        </p:nvSpPr>
        <p:spPr>
          <a:xfrm>
            <a:off x="3246120" y="1691640"/>
            <a:ext cx="2697480" cy="1024128"/>
          </a:xfrm>
          <a:prstGeom prst="roundRect">
            <a:avLst>
              <a:gd fmla="val 6000" name="adj"/>
            </a:avLst>
          </a:prstGeom>
          <a:solidFill>
            <a:srgbClr val="F5B301"/>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4" name="Google Shape;124;p4"/>
          <p:cNvSpPr txBox="1"/>
          <p:nvPr/>
        </p:nvSpPr>
        <p:spPr>
          <a:xfrm>
            <a:off x="3337560" y="1911095"/>
            <a:ext cx="2542032" cy="32004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Weak Account Liquidity</a:t>
            </a:r>
            <a:endParaRPr b="0" i="0" sz="1400" u="none" cap="none" strike="noStrike">
              <a:solidFill>
                <a:srgbClr val="000000"/>
              </a:solidFill>
              <a:latin typeface="Arial"/>
              <a:ea typeface="Arial"/>
              <a:cs typeface="Arial"/>
              <a:sym typeface="Arial"/>
            </a:endParaRPr>
          </a:p>
        </p:txBody>
      </p:sp>
      <p:sp>
        <p:nvSpPr>
          <p:cNvPr id="125" name="Google Shape;125;p4"/>
          <p:cNvSpPr txBox="1"/>
          <p:nvPr/>
        </p:nvSpPr>
        <p:spPr>
          <a:xfrm>
            <a:off x="3337560" y="2240280"/>
            <a:ext cx="2542032" cy="27432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000"/>
              <a:buFont typeface="Arial"/>
              <a:buNone/>
            </a:pPr>
            <a:r>
              <a:rPr b="0" i="1" lang="en-US" sz="1000" u="none" cap="none" strike="noStrike">
                <a:solidFill>
                  <a:srgbClr val="6B5A12"/>
                </a:solidFill>
                <a:latin typeface="Arial"/>
                <a:ea typeface="Arial"/>
                <a:cs typeface="Arial"/>
                <a:sym typeface="Arial"/>
              </a:rPr>
              <a:t>How much cushion the account has</a:t>
            </a:r>
            <a:endParaRPr b="0" i="0" sz="1400" u="none" cap="none" strike="noStrike">
              <a:solidFill>
                <a:srgbClr val="000000"/>
              </a:solidFill>
              <a:latin typeface="Arial"/>
              <a:ea typeface="Arial"/>
              <a:cs typeface="Arial"/>
              <a:sym typeface="Arial"/>
            </a:endParaRPr>
          </a:p>
        </p:txBody>
      </p:sp>
      <p:sp>
        <p:nvSpPr>
          <p:cNvPr id="126" name="Google Shape;126;p4"/>
          <p:cNvSpPr/>
          <p:nvPr/>
        </p:nvSpPr>
        <p:spPr>
          <a:xfrm>
            <a:off x="6126480" y="1691640"/>
            <a:ext cx="5513832" cy="1024128"/>
          </a:xfrm>
          <a:prstGeom prst="roundRect">
            <a:avLst>
              <a:gd fmla="val 5000" name="adj"/>
            </a:avLst>
          </a:prstGeom>
          <a:solidFill>
            <a:srgbClr val="FDF3D6"/>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7" name="Google Shape;127;p4"/>
          <p:cNvSpPr txBox="1"/>
          <p:nvPr/>
        </p:nvSpPr>
        <p:spPr>
          <a:xfrm>
            <a:off x="6309360" y="1957849"/>
            <a:ext cx="5212080" cy="528286"/>
          </a:xfrm>
          <a:prstGeom prst="rect">
            <a:avLst/>
          </a:prstGeom>
          <a:noFill/>
          <a:ln>
            <a:noFill/>
          </a:ln>
        </p:spPr>
        <p:txBody>
          <a:bodyPr anchorCtr="0" anchor="ctr" bIns="0" lIns="0" spcFirstLastPara="1" rIns="0" wrap="square" tIns="0">
            <a:spAutoFit/>
          </a:bodyPr>
          <a:lstStyle/>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Low average balance before the loan</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Frequent near zero balances</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Little savings buffer</a:t>
            </a:r>
            <a:endParaRPr b="0" i="0" sz="1400" u="none" cap="none" strike="noStrike">
              <a:solidFill>
                <a:srgbClr val="000000"/>
              </a:solidFill>
              <a:latin typeface="Arial"/>
              <a:ea typeface="Arial"/>
              <a:cs typeface="Arial"/>
              <a:sym typeface="Arial"/>
            </a:endParaRPr>
          </a:p>
        </p:txBody>
      </p:sp>
      <p:sp>
        <p:nvSpPr>
          <p:cNvPr id="128" name="Google Shape;128;p4"/>
          <p:cNvSpPr/>
          <p:nvPr/>
        </p:nvSpPr>
        <p:spPr>
          <a:xfrm>
            <a:off x="3246120" y="2880360"/>
            <a:ext cx="2697480" cy="1024128"/>
          </a:xfrm>
          <a:prstGeom prst="roundRect">
            <a:avLst>
              <a:gd fmla="val 6000" name="adj"/>
            </a:avLst>
          </a:prstGeom>
          <a:solidFill>
            <a:srgbClr val="F5B301"/>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29" name="Google Shape;129;p4"/>
          <p:cNvSpPr txBox="1"/>
          <p:nvPr/>
        </p:nvSpPr>
        <p:spPr>
          <a:xfrm>
            <a:off x="3337560" y="3099816"/>
            <a:ext cx="2542032" cy="32004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Cash Flow Strain</a:t>
            </a:r>
            <a:endParaRPr b="0" i="0" sz="1400" u="none" cap="none" strike="noStrike">
              <a:solidFill>
                <a:srgbClr val="000000"/>
              </a:solidFill>
              <a:latin typeface="Arial"/>
              <a:ea typeface="Arial"/>
              <a:cs typeface="Arial"/>
              <a:sym typeface="Arial"/>
            </a:endParaRPr>
          </a:p>
        </p:txBody>
      </p:sp>
      <p:sp>
        <p:nvSpPr>
          <p:cNvPr id="130" name="Google Shape;130;p4"/>
          <p:cNvSpPr txBox="1"/>
          <p:nvPr/>
        </p:nvSpPr>
        <p:spPr>
          <a:xfrm>
            <a:off x="3337560" y="3429000"/>
            <a:ext cx="2542032" cy="27432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000"/>
              <a:buFont typeface="Arial"/>
              <a:buNone/>
            </a:pPr>
            <a:r>
              <a:rPr b="0" i="1" lang="en-US" sz="1000" u="none" cap="none" strike="noStrike">
                <a:solidFill>
                  <a:srgbClr val="6B5A12"/>
                </a:solidFill>
                <a:latin typeface="Arial"/>
                <a:ea typeface="Arial"/>
                <a:cs typeface="Arial"/>
                <a:sym typeface="Arial"/>
              </a:rPr>
              <a:t>Money coming in versus going out</a:t>
            </a:r>
            <a:endParaRPr b="0" i="0" sz="1400" u="none" cap="none" strike="noStrike">
              <a:solidFill>
                <a:srgbClr val="000000"/>
              </a:solidFill>
              <a:latin typeface="Arial"/>
              <a:ea typeface="Arial"/>
              <a:cs typeface="Arial"/>
              <a:sym typeface="Arial"/>
            </a:endParaRPr>
          </a:p>
        </p:txBody>
      </p:sp>
      <p:sp>
        <p:nvSpPr>
          <p:cNvPr id="131" name="Google Shape;131;p4"/>
          <p:cNvSpPr/>
          <p:nvPr/>
        </p:nvSpPr>
        <p:spPr>
          <a:xfrm>
            <a:off x="6126480" y="2880360"/>
            <a:ext cx="5513832" cy="1024128"/>
          </a:xfrm>
          <a:prstGeom prst="roundRect">
            <a:avLst>
              <a:gd fmla="val 5000" name="adj"/>
            </a:avLst>
          </a:prstGeom>
          <a:solidFill>
            <a:srgbClr val="FDF3D6"/>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2" name="Google Shape;132;p4"/>
          <p:cNvSpPr txBox="1"/>
          <p:nvPr/>
        </p:nvSpPr>
        <p:spPr>
          <a:xfrm>
            <a:off x="6309360" y="3146569"/>
            <a:ext cx="5212080" cy="528286"/>
          </a:xfrm>
          <a:prstGeom prst="rect">
            <a:avLst/>
          </a:prstGeom>
          <a:noFill/>
          <a:ln>
            <a:noFill/>
          </a:ln>
        </p:spPr>
        <p:txBody>
          <a:bodyPr anchorCtr="0" anchor="ctr" bIns="0" lIns="0" spcFirstLastPara="1" rIns="0" wrap="square" tIns="0">
            <a:spAutoFit/>
          </a:bodyPr>
          <a:lstStyle/>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Outflow often exceeds inflow</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Thin monthly surplus</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Spending grows faster than income</a:t>
            </a:r>
            <a:endParaRPr b="0" i="0" sz="1400" u="none" cap="none" strike="noStrike">
              <a:solidFill>
                <a:srgbClr val="000000"/>
              </a:solidFill>
              <a:latin typeface="Arial"/>
              <a:ea typeface="Arial"/>
              <a:cs typeface="Arial"/>
              <a:sym typeface="Arial"/>
            </a:endParaRPr>
          </a:p>
        </p:txBody>
      </p:sp>
      <p:sp>
        <p:nvSpPr>
          <p:cNvPr id="133" name="Google Shape;133;p4"/>
          <p:cNvSpPr/>
          <p:nvPr/>
        </p:nvSpPr>
        <p:spPr>
          <a:xfrm>
            <a:off x="3246120" y="4069080"/>
            <a:ext cx="2697480" cy="1024128"/>
          </a:xfrm>
          <a:prstGeom prst="roundRect">
            <a:avLst>
              <a:gd fmla="val 6000" name="adj"/>
            </a:avLst>
          </a:prstGeom>
          <a:solidFill>
            <a:srgbClr val="F5B301"/>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4" name="Google Shape;134;p4"/>
          <p:cNvSpPr txBox="1"/>
          <p:nvPr/>
        </p:nvSpPr>
        <p:spPr>
          <a:xfrm>
            <a:off x="3337560" y="4288536"/>
            <a:ext cx="2542032" cy="32004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Loan Burden</a:t>
            </a:r>
            <a:endParaRPr b="0" i="0" sz="1400" u="none" cap="none" strike="noStrike">
              <a:solidFill>
                <a:srgbClr val="000000"/>
              </a:solidFill>
              <a:latin typeface="Arial"/>
              <a:ea typeface="Arial"/>
              <a:cs typeface="Arial"/>
              <a:sym typeface="Arial"/>
            </a:endParaRPr>
          </a:p>
        </p:txBody>
      </p:sp>
      <p:sp>
        <p:nvSpPr>
          <p:cNvPr id="135" name="Google Shape;135;p4"/>
          <p:cNvSpPr txBox="1"/>
          <p:nvPr/>
        </p:nvSpPr>
        <p:spPr>
          <a:xfrm>
            <a:off x="3337560" y="4617720"/>
            <a:ext cx="2542032" cy="27432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000"/>
              <a:buFont typeface="Arial"/>
              <a:buNone/>
            </a:pPr>
            <a:r>
              <a:rPr b="0" i="1" lang="en-US" sz="1000" u="none" cap="none" strike="noStrike">
                <a:solidFill>
                  <a:srgbClr val="6B5A12"/>
                </a:solidFill>
                <a:latin typeface="Arial"/>
                <a:ea typeface="Arial"/>
                <a:cs typeface="Arial"/>
                <a:sym typeface="Arial"/>
              </a:rPr>
              <a:t>Loan size versus capacity to pay</a:t>
            </a:r>
            <a:endParaRPr b="0" i="0" sz="1400" u="none" cap="none" strike="noStrike">
              <a:solidFill>
                <a:srgbClr val="000000"/>
              </a:solidFill>
              <a:latin typeface="Arial"/>
              <a:ea typeface="Arial"/>
              <a:cs typeface="Arial"/>
              <a:sym typeface="Arial"/>
            </a:endParaRPr>
          </a:p>
        </p:txBody>
      </p:sp>
      <p:sp>
        <p:nvSpPr>
          <p:cNvPr id="136" name="Google Shape;136;p4"/>
          <p:cNvSpPr/>
          <p:nvPr/>
        </p:nvSpPr>
        <p:spPr>
          <a:xfrm>
            <a:off x="6126480" y="4069080"/>
            <a:ext cx="5513832" cy="1024128"/>
          </a:xfrm>
          <a:prstGeom prst="roundRect">
            <a:avLst>
              <a:gd fmla="val 5000" name="adj"/>
            </a:avLst>
          </a:prstGeom>
          <a:solidFill>
            <a:srgbClr val="FDF3D6"/>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7" name="Google Shape;137;p4"/>
          <p:cNvSpPr txBox="1"/>
          <p:nvPr/>
        </p:nvSpPr>
        <p:spPr>
          <a:xfrm>
            <a:off x="6309360" y="4335289"/>
            <a:ext cx="5212080" cy="528286"/>
          </a:xfrm>
          <a:prstGeom prst="rect">
            <a:avLst/>
          </a:prstGeom>
          <a:noFill/>
          <a:ln>
            <a:noFill/>
          </a:ln>
        </p:spPr>
        <p:txBody>
          <a:bodyPr anchorCtr="0" anchor="ctr" bIns="0" lIns="0" spcFirstLastPara="1" rIns="0" wrap="square" tIns="0">
            <a:spAutoFit/>
          </a:bodyPr>
          <a:lstStyle/>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Large payment versus monthly inflow</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High payment to balance ratio</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Longer loan durations</a:t>
            </a:r>
            <a:endParaRPr b="0" i="0" sz="1400" u="none" cap="none" strike="noStrike">
              <a:solidFill>
                <a:srgbClr val="000000"/>
              </a:solidFill>
              <a:latin typeface="Arial"/>
              <a:ea typeface="Arial"/>
              <a:cs typeface="Arial"/>
              <a:sym typeface="Arial"/>
            </a:endParaRPr>
          </a:p>
        </p:txBody>
      </p:sp>
      <p:sp>
        <p:nvSpPr>
          <p:cNvPr id="138" name="Google Shape;138;p4"/>
          <p:cNvSpPr/>
          <p:nvPr/>
        </p:nvSpPr>
        <p:spPr>
          <a:xfrm>
            <a:off x="3246120" y="5257800"/>
            <a:ext cx="2697480" cy="1024128"/>
          </a:xfrm>
          <a:prstGeom prst="roundRect">
            <a:avLst>
              <a:gd fmla="val 6000" name="adj"/>
            </a:avLst>
          </a:prstGeom>
          <a:solidFill>
            <a:srgbClr val="F5B301"/>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9" name="Google Shape;139;p4"/>
          <p:cNvSpPr txBox="1"/>
          <p:nvPr/>
        </p:nvSpPr>
        <p:spPr>
          <a:xfrm>
            <a:off x="3337560" y="5477256"/>
            <a:ext cx="2542032" cy="32004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2B2621"/>
                </a:solidFill>
                <a:latin typeface="Arial"/>
                <a:ea typeface="Arial"/>
                <a:cs typeface="Arial"/>
                <a:sym typeface="Arial"/>
              </a:rPr>
              <a:t>Thin Banking History</a:t>
            </a:r>
            <a:endParaRPr b="0" i="0" sz="1400" u="none" cap="none" strike="noStrike">
              <a:solidFill>
                <a:srgbClr val="000000"/>
              </a:solidFill>
              <a:latin typeface="Arial"/>
              <a:ea typeface="Arial"/>
              <a:cs typeface="Arial"/>
              <a:sym typeface="Arial"/>
            </a:endParaRPr>
          </a:p>
        </p:txBody>
      </p:sp>
      <p:sp>
        <p:nvSpPr>
          <p:cNvPr id="140" name="Google Shape;140;p4"/>
          <p:cNvSpPr txBox="1"/>
          <p:nvPr/>
        </p:nvSpPr>
        <p:spPr>
          <a:xfrm>
            <a:off x="3337560" y="5806440"/>
            <a:ext cx="2542032" cy="27432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1000"/>
              <a:buFont typeface="Arial"/>
              <a:buNone/>
            </a:pPr>
            <a:r>
              <a:rPr b="0" i="1" lang="en-US" sz="1000" u="none" cap="none" strike="noStrike">
                <a:solidFill>
                  <a:srgbClr val="6B5A12"/>
                </a:solidFill>
                <a:latin typeface="Arial"/>
                <a:ea typeface="Arial"/>
                <a:cs typeface="Arial"/>
                <a:sym typeface="Arial"/>
              </a:rPr>
              <a:t>Depth of the banking relationship</a:t>
            </a:r>
            <a:endParaRPr b="0" i="0" sz="1400" u="none" cap="none" strike="noStrike">
              <a:solidFill>
                <a:srgbClr val="000000"/>
              </a:solidFill>
              <a:latin typeface="Arial"/>
              <a:ea typeface="Arial"/>
              <a:cs typeface="Arial"/>
              <a:sym typeface="Arial"/>
            </a:endParaRPr>
          </a:p>
        </p:txBody>
      </p:sp>
      <p:sp>
        <p:nvSpPr>
          <p:cNvPr id="141" name="Google Shape;141;p4"/>
          <p:cNvSpPr/>
          <p:nvPr/>
        </p:nvSpPr>
        <p:spPr>
          <a:xfrm>
            <a:off x="6126480" y="5257800"/>
            <a:ext cx="5513832" cy="1024128"/>
          </a:xfrm>
          <a:prstGeom prst="roundRect">
            <a:avLst>
              <a:gd fmla="val 5000" name="adj"/>
            </a:avLst>
          </a:prstGeom>
          <a:solidFill>
            <a:srgbClr val="FDF3D6"/>
          </a:solidFill>
          <a:ln cap="flat" cmpd="sng" w="9525">
            <a:solidFill>
              <a:srgbClr val="D8CDB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2" name="Google Shape;142;p4"/>
          <p:cNvSpPr txBox="1"/>
          <p:nvPr/>
        </p:nvSpPr>
        <p:spPr>
          <a:xfrm>
            <a:off x="6309360" y="5524009"/>
            <a:ext cx="5212080" cy="528286"/>
          </a:xfrm>
          <a:prstGeom prst="rect">
            <a:avLst/>
          </a:prstGeom>
          <a:noFill/>
          <a:ln>
            <a:noFill/>
          </a:ln>
        </p:spPr>
        <p:txBody>
          <a:bodyPr anchorCtr="0" anchor="ctr" bIns="0" lIns="0" spcFirstLastPara="1" rIns="0" wrap="square" tIns="0">
            <a:spAutoFit/>
          </a:bodyPr>
          <a:lstStyle/>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Few transactions before the loan</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Short account age</a:t>
            </a:r>
            <a:endParaRPr b="0" i="0" sz="1400" u="none" cap="none" strike="noStrike">
              <a:solidFill>
                <a:srgbClr val="000000"/>
              </a:solidFill>
              <a:latin typeface="Arial"/>
              <a:ea typeface="Arial"/>
              <a:cs typeface="Arial"/>
              <a:sym typeface="Arial"/>
            </a:endParaRPr>
          </a:p>
          <a:p>
            <a:pPr indent="-171450" lvl="0" marL="171450" marR="0" rtl="0" algn="l">
              <a:lnSpc>
                <a:spcPct val="112000"/>
              </a:lnSpc>
              <a:spcBef>
                <a:spcPts val="0"/>
              </a:spcBef>
              <a:spcAft>
                <a:spcPts val="0"/>
              </a:spcAft>
              <a:buClr>
                <a:srgbClr val="2B2621"/>
              </a:buClr>
              <a:buSzPts val="1050"/>
              <a:buFont typeface="Arial"/>
              <a:buChar char="•"/>
            </a:pPr>
            <a:r>
              <a:rPr b="0" i="0" lang="en-US" sz="1050" u="none" cap="none" strike="noStrike">
                <a:solidFill>
                  <a:srgbClr val="2B2621"/>
                </a:solidFill>
                <a:latin typeface="Arial"/>
                <a:ea typeface="Arial"/>
                <a:cs typeface="Arial"/>
                <a:sym typeface="Arial"/>
              </a:rPr>
              <a:t>Limited product usage</a:t>
            </a:r>
            <a:endParaRPr b="0" i="0" sz="1400" u="none" cap="none" strike="noStrike">
              <a:solidFill>
                <a:srgbClr val="000000"/>
              </a:solidFill>
              <a:latin typeface="Arial"/>
              <a:ea typeface="Arial"/>
              <a:cs typeface="Arial"/>
              <a:sym typeface="Arial"/>
            </a:endParaRPr>
          </a:p>
        </p:txBody>
      </p:sp>
      <p:sp>
        <p:nvSpPr>
          <p:cNvPr id="143" name="Google Shape;143;p4"/>
          <p:cNvSpPr txBox="1"/>
          <p:nvPr/>
        </p:nvSpPr>
        <p:spPr>
          <a:xfrm>
            <a:off x="3246120" y="6355080"/>
            <a:ext cx="8229600" cy="32316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8A6D0B"/>
                </a:solidFill>
                <a:latin typeface="Arial"/>
                <a:ea typeface="Arial"/>
                <a:cs typeface="Arial"/>
                <a:sym typeface="Arial"/>
              </a:rPr>
              <a:t>These four root-cause categories are mutually exclusive and collectively exhaustive for the risk factors observable in the available dataset. Each category is measurable, while problematic loan status is treated as the outcome, not a cause.</a:t>
            </a:r>
            <a:endParaRPr b="0" i="1" sz="1050" u="none" cap="none" strike="noStrike">
              <a:solidFill>
                <a:srgbClr val="8A6D0B"/>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147" name="Shape 147"/>
        <p:cNvGrpSpPr/>
        <p:nvPr/>
      </p:nvGrpSpPr>
      <p:grpSpPr>
        <a:xfrm>
          <a:off x="0" y="0"/>
          <a:ext cx="0" cy="0"/>
          <a:chOff x="0" y="0"/>
          <a:chExt cx="0" cy="0"/>
        </a:xfrm>
      </p:grpSpPr>
      <p:sp>
        <p:nvSpPr>
          <p:cNvPr id="148" name="Google Shape;148;p5"/>
          <p:cNvSpPr txBox="1"/>
          <p:nvPr/>
        </p:nvSpPr>
        <p:spPr>
          <a:xfrm>
            <a:off x="548640" y="384048"/>
            <a:ext cx="8229600" cy="27432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1" i="0" lang="en-US" sz="1100" u="none" cap="none" strike="noStrike">
                <a:solidFill>
                  <a:srgbClr val="8A6D0B"/>
                </a:solidFill>
                <a:latin typeface="Arial"/>
                <a:ea typeface="Arial"/>
                <a:cs typeface="Arial"/>
                <a:sym typeface="Arial"/>
              </a:rPr>
              <a:t>DEEPP MILESTONE 1  ·  HYPOTHESES, METRICS, ALIGNMENT</a:t>
            </a:r>
            <a:endParaRPr b="0" i="0" sz="1400" u="none" cap="none" strike="noStrike">
              <a:solidFill>
                <a:srgbClr val="000000"/>
              </a:solidFill>
              <a:latin typeface="Arial"/>
              <a:ea typeface="Arial"/>
              <a:cs typeface="Arial"/>
              <a:sym typeface="Arial"/>
            </a:endParaRPr>
          </a:p>
        </p:txBody>
      </p:sp>
      <p:sp>
        <p:nvSpPr>
          <p:cNvPr id="149" name="Google Shape;149;p5"/>
          <p:cNvSpPr txBox="1"/>
          <p:nvPr/>
        </p:nvSpPr>
        <p:spPr>
          <a:xfrm>
            <a:off x="3657600" y="384048"/>
            <a:ext cx="7434072" cy="274320"/>
          </a:xfrm>
          <a:prstGeom prst="rect">
            <a:avLst/>
          </a:prstGeom>
          <a:noFill/>
          <a:ln>
            <a:noFill/>
          </a:ln>
        </p:spPr>
        <p:txBody>
          <a:bodyPr anchorCtr="0" anchor="t" bIns="0" lIns="0" spcFirstLastPara="1" rIns="0" wrap="square" tIns="0">
            <a:spAutoFit/>
          </a:bodyPr>
          <a:lstStyle/>
          <a:p>
            <a:pPr indent="0" lvl="0" marL="0" marR="0" rtl="0" algn="r">
              <a:lnSpc>
                <a:spcPct val="100000"/>
              </a:lnSpc>
              <a:spcBef>
                <a:spcPts val="0"/>
              </a:spcBef>
              <a:spcAft>
                <a:spcPts val="0"/>
              </a:spcAft>
              <a:buClr>
                <a:srgbClr val="000000"/>
              </a:buClr>
              <a:buSzPts val="1100"/>
              <a:buFont typeface="Arial"/>
              <a:buNone/>
            </a:pPr>
            <a:r>
              <a:rPr b="1" i="0" lang="en-US" sz="1100" u="none" cap="none" strike="noStrike">
                <a:solidFill>
                  <a:srgbClr val="8A8071"/>
                </a:solidFill>
                <a:latin typeface="Arial"/>
                <a:ea typeface="Arial"/>
                <a:cs typeface="Arial"/>
                <a:sym typeface="Arial"/>
              </a:rPr>
              <a:t>SLIDE 5 / 21</a:t>
            </a:r>
            <a:endParaRPr b="0" i="0" sz="1400" u="none" cap="none" strike="noStrike">
              <a:solidFill>
                <a:srgbClr val="000000"/>
              </a:solidFill>
              <a:latin typeface="Arial"/>
              <a:ea typeface="Arial"/>
              <a:cs typeface="Arial"/>
              <a:sym typeface="Arial"/>
            </a:endParaRPr>
          </a:p>
        </p:txBody>
      </p:sp>
      <p:sp>
        <p:nvSpPr>
          <p:cNvPr id="150" name="Google Shape;150;p5"/>
          <p:cNvSpPr txBox="1"/>
          <p:nvPr/>
        </p:nvSpPr>
        <p:spPr>
          <a:xfrm>
            <a:off x="521207" y="621792"/>
            <a:ext cx="109728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200"/>
              <a:buFont typeface="Arial"/>
              <a:buNone/>
            </a:pPr>
            <a:r>
              <a:rPr b="1" i="0" lang="en-US" sz="3200" u="none" cap="none" strike="noStrike">
                <a:solidFill>
                  <a:srgbClr val="2B2621"/>
                </a:solidFill>
                <a:latin typeface="Bookman Old Style"/>
                <a:ea typeface="Bookman Old Style"/>
                <a:cs typeface="Bookman Old Style"/>
                <a:sym typeface="Bookman Old Style"/>
              </a:rPr>
              <a:t>Hypotheses, Metrics &amp; Alignment</a:t>
            </a:r>
            <a:endParaRPr b="0" i="0" sz="1400" u="none" cap="none" strike="noStrike">
              <a:solidFill>
                <a:srgbClr val="000000"/>
              </a:solidFill>
              <a:latin typeface="Arial"/>
              <a:ea typeface="Arial"/>
              <a:cs typeface="Arial"/>
              <a:sym typeface="Arial"/>
            </a:endParaRPr>
          </a:p>
        </p:txBody>
      </p:sp>
      <p:sp>
        <p:nvSpPr>
          <p:cNvPr id="151" name="Google Shape;151;p5"/>
          <p:cNvSpPr txBox="1"/>
          <p:nvPr/>
        </p:nvSpPr>
        <p:spPr>
          <a:xfrm>
            <a:off x="548640" y="1280160"/>
            <a:ext cx="11064240" cy="32004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150"/>
              <a:buFont typeface="Arial"/>
              <a:buNone/>
            </a:pPr>
            <a:r>
              <a:rPr b="0" i="1" lang="en-US" sz="1150" u="none" cap="none" strike="noStrike">
                <a:solidFill>
                  <a:srgbClr val="8A8071"/>
                </a:solidFill>
                <a:latin typeface="Arial"/>
                <a:ea typeface="Arial"/>
                <a:cs typeface="Arial"/>
                <a:sym typeface="Arial"/>
              </a:rPr>
              <a:t>Overall KPI: Problematic Loan Rate = (B + D) ÷ total loans ≈ 11%. Each root cause maps to a testable hypothesis and a metric from the Berka tables.</a:t>
            </a:r>
            <a:endParaRPr b="0" i="0" sz="1400" u="none" cap="none" strike="noStrike">
              <a:solidFill>
                <a:srgbClr val="000000"/>
              </a:solidFill>
              <a:latin typeface="Arial"/>
              <a:ea typeface="Arial"/>
              <a:cs typeface="Arial"/>
              <a:sym typeface="Arial"/>
            </a:endParaRPr>
          </a:p>
        </p:txBody>
      </p:sp>
      <p:graphicFrame>
        <p:nvGraphicFramePr>
          <p:cNvPr id="152" name="Google Shape;152;p5"/>
          <p:cNvGraphicFramePr/>
          <p:nvPr/>
        </p:nvGraphicFramePr>
        <p:xfrm>
          <a:off x="548640" y="1737360"/>
          <a:ext cx="3000000" cy="3000000"/>
        </p:xfrm>
        <a:graphic>
          <a:graphicData uri="http://schemas.openxmlformats.org/drawingml/2006/table">
            <a:tbl>
              <a:tblPr>
                <a:noFill/>
                <a:tableStyleId>{DB324BE7-9142-4693-9B00-A251BD5E6397}</a:tableStyleId>
              </a:tblPr>
              <a:tblGrid>
                <a:gridCol w="2011675"/>
                <a:gridCol w="3657600"/>
                <a:gridCol w="2834650"/>
                <a:gridCol w="2587750"/>
              </a:tblGrid>
              <a:tr h="457200">
                <a:tc>
                  <a:txBody>
                    <a:bodyPr/>
                    <a:lstStyle/>
                    <a:p>
                      <a:pPr indent="0" lvl="0" marL="0" marR="0" rtl="0" algn="ctr">
                        <a:lnSpc>
                          <a:spcPct val="103000"/>
                        </a:lnSpc>
                        <a:spcBef>
                          <a:spcPts val="0"/>
                        </a:spcBef>
                        <a:spcAft>
                          <a:spcPts val="0"/>
                        </a:spcAft>
                        <a:buClr>
                          <a:srgbClr val="000000"/>
                        </a:buClr>
                        <a:buSzPts val="1200"/>
                        <a:buFont typeface="Arial"/>
                        <a:buNone/>
                      </a:pPr>
                      <a:r>
                        <a:rPr b="1" i="0" lang="en-US" sz="1200" u="none" cap="none" strike="noStrike">
                          <a:solidFill>
                            <a:srgbClr val="2B2621"/>
                          </a:solidFill>
                          <a:latin typeface="Bookman Old Style"/>
                          <a:ea typeface="Bookman Old Style"/>
                          <a:cs typeface="Bookman Old Style"/>
                          <a:sym typeface="Bookman Old Style"/>
                        </a:rPr>
                        <a:t>Root Cause</a:t>
                      </a:r>
                      <a:endParaRPr sz="1400" u="none" cap="none" strike="noStrike"/>
                    </a:p>
                  </a:txBody>
                  <a:tcPr marT="45725" marB="45725" marR="73150" marL="100575" anchor="ctr">
                    <a:solidFill>
                      <a:srgbClr val="F5B301"/>
                    </a:solidFill>
                  </a:tcPr>
                </a:tc>
                <a:tc>
                  <a:txBody>
                    <a:bodyPr/>
                    <a:lstStyle/>
                    <a:p>
                      <a:pPr indent="0" lvl="0" marL="0" marR="0" rtl="0" algn="ctr">
                        <a:lnSpc>
                          <a:spcPct val="103000"/>
                        </a:lnSpc>
                        <a:spcBef>
                          <a:spcPts val="0"/>
                        </a:spcBef>
                        <a:spcAft>
                          <a:spcPts val="0"/>
                        </a:spcAft>
                        <a:buClr>
                          <a:srgbClr val="000000"/>
                        </a:buClr>
                        <a:buSzPts val="1200"/>
                        <a:buFont typeface="Arial"/>
                        <a:buNone/>
                      </a:pPr>
                      <a:r>
                        <a:rPr b="1" i="0" lang="en-US" sz="1200" u="none" cap="none" strike="noStrike">
                          <a:solidFill>
                            <a:srgbClr val="2B2621"/>
                          </a:solidFill>
                          <a:latin typeface="Bookman Old Style"/>
                          <a:ea typeface="Bookman Old Style"/>
                          <a:cs typeface="Bookman Old Style"/>
                          <a:sym typeface="Bookman Old Style"/>
                        </a:rPr>
                        <a:t>Hypothesis (if, then)</a:t>
                      </a:r>
                      <a:endParaRPr sz="1400" u="none" cap="none" strike="noStrike"/>
                    </a:p>
                  </a:txBody>
                  <a:tcPr marT="45725" marB="45725" marR="73150" marL="100575" anchor="ctr">
                    <a:solidFill>
                      <a:srgbClr val="F5B301"/>
                    </a:solidFill>
                  </a:tcPr>
                </a:tc>
                <a:tc>
                  <a:txBody>
                    <a:bodyPr/>
                    <a:lstStyle/>
                    <a:p>
                      <a:pPr indent="0" lvl="0" marL="0" marR="0" rtl="0" algn="ctr">
                        <a:lnSpc>
                          <a:spcPct val="103000"/>
                        </a:lnSpc>
                        <a:spcBef>
                          <a:spcPts val="0"/>
                        </a:spcBef>
                        <a:spcAft>
                          <a:spcPts val="0"/>
                        </a:spcAft>
                        <a:buClr>
                          <a:srgbClr val="000000"/>
                        </a:buClr>
                        <a:buSzPts val="1200"/>
                        <a:buFont typeface="Arial"/>
                        <a:buNone/>
                      </a:pPr>
                      <a:r>
                        <a:rPr b="1" i="0" lang="en-US" sz="1200" u="none" cap="none" strike="noStrike">
                          <a:solidFill>
                            <a:srgbClr val="2B2621"/>
                          </a:solidFill>
                          <a:latin typeface="Bookman Old Style"/>
                          <a:ea typeface="Bookman Old Style"/>
                          <a:cs typeface="Bookman Old Style"/>
                          <a:sym typeface="Bookman Old Style"/>
                        </a:rPr>
                        <a:t>Key Metric</a:t>
                      </a:r>
                      <a:endParaRPr sz="1400" u="none" cap="none" strike="noStrike"/>
                    </a:p>
                  </a:txBody>
                  <a:tcPr marT="45725" marB="45725" marR="73150" marL="100575" anchor="ctr">
                    <a:solidFill>
                      <a:srgbClr val="F5B301"/>
                    </a:solidFill>
                  </a:tcPr>
                </a:tc>
                <a:tc>
                  <a:txBody>
                    <a:bodyPr/>
                    <a:lstStyle/>
                    <a:p>
                      <a:pPr indent="0" lvl="0" marL="0" marR="0" rtl="0" algn="ctr">
                        <a:lnSpc>
                          <a:spcPct val="103000"/>
                        </a:lnSpc>
                        <a:spcBef>
                          <a:spcPts val="0"/>
                        </a:spcBef>
                        <a:spcAft>
                          <a:spcPts val="0"/>
                        </a:spcAft>
                        <a:buClr>
                          <a:srgbClr val="000000"/>
                        </a:buClr>
                        <a:buSzPts val="1200"/>
                        <a:buFont typeface="Arial"/>
                        <a:buNone/>
                      </a:pPr>
                      <a:r>
                        <a:rPr b="1" i="0" lang="en-US" sz="1200" u="none" cap="none" strike="noStrike">
                          <a:solidFill>
                            <a:srgbClr val="2B2621"/>
                          </a:solidFill>
                          <a:latin typeface="Bookman Old Style"/>
                          <a:ea typeface="Bookman Old Style"/>
                          <a:cs typeface="Bookman Old Style"/>
                          <a:sym typeface="Bookman Old Style"/>
                        </a:rPr>
                        <a:t>Why it matters</a:t>
                      </a:r>
                      <a:endParaRPr sz="1400" u="none" cap="none" strike="noStrike"/>
                    </a:p>
                  </a:txBody>
                  <a:tcPr marT="45725" marB="45725" marR="73150" marL="100575" anchor="ctr">
                    <a:solidFill>
                      <a:srgbClr val="F5B301"/>
                    </a:solidFill>
                  </a:tcPr>
                </a:tc>
              </a:tr>
              <a:tr h="932700">
                <a:tc>
                  <a:txBody>
                    <a:bodyPr/>
                    <a:lstStyle/>
                    <a:p>
                      <a:pPr indent="0" lvl="0" marL="0" marR="0" rtl="0" algn="l">
                        <a:lnSpc>
                          <a:spcPct val="103000"/>
                        </a:lnSpc>
                        <a:spcBef>
                          <a:spcPts val="0"/>
                        </a:spcBef>
                        <a:spcAft>
                          <a:spcPts val="0"/>
                        </a:spcAft>
                        <a:buClr>
                          <a:srgbClr val="000000"/>
                        </a:buClr>
                        <a:buSzPts val="1100"/>
                        <a:buFont typeface="Arial"/>
                        <a:buNone/>
                      </a:pPr>
                      <a:r>
                        <a:rPr b="1" i="0" lang="en-US" sz="1100" u="none" cap="none" strike="noStrike">
                          <a:solidFill>
                            <a:schemeClr val="dk1"/>
                          </a:solidFill>
                          <a:latin typeface="Arial"/>
                          <a:ea typeface="Arial"/>
                          <a:cs typeface="Arial"/>
                          <a:sym typeface="Arial"/>
                        </a:rPr>
                        <a:t>Weak Account Liquidity</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If average balance before the loan is low, then the loan is more likely to become problematic.</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950"/>
                        <a:buFont typeface="Arial"/>
                        <a:buNone/>
                      </a:pPr>
                      <a:r>
                        <a:rPr b="0" i="0" lang="en-US" sz="950" u="none" cap="none" strike="noStrike">
                          <a:solidFill>
                            <a:schemeClr val="dk1"/>
                          </a:solidFill>
                          <a:latin typeface="Courier New"/>
                          <a:ea typeface="Courier New"/>
                          <a:cs typeface="Courier New"/>
                          <a:sym typeface="Courier New"/>
                        </a:rPr>
                        <a:t>Avg pre-loan balance = AVG(trans.balance before loan date)</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A small cushion means less room to absorb repayments.</a:t>
                      </a:r>
                      <a:endParaRPr sz="1400" u="none" cap="none" strike="noStrike"/>
                    </a:p>
                  </a:txBody>
                  <a:tcPr marT="45725" marB="45725" marR="73150" marL="100575" anchor="ctr">
                    <a:solidFill>
                      <a:srgbClr val="FFFFFF"/>
                    </a:solidFill>
                  </a:tcPr>
                </a:tc>
              </a:tr>
              <a:tr h="932700">
                <a:tc>
                  <a:txBody>
                    <a:bodyPr/>
                    <a:lstStyle/>
                    <a:p>
                      <a:pPr indent="0" lvl="0" marL="0" marR="0" rtl="0" algn="l">
                        <a:lnSpc>
                          <a:spcPct val="103000"/>
                        </a:lnSpc>
                        <a:spcBef>
                          <a:spcPts val="0"/>
                        </a:spcBef>
                        <a:spcAft>
                          <a:spcPts val="0"/>
                        </a:spcAft>
                        <a:buClr>
                          <a:srgbClr val="000000"/>
                        </a:buClr>
                        <a:buSzPts val="1100"/>
                        <a:buFont typeface="Arial"/>
                        <a:buNone/>
                      </a:pPr>
                      <a:r>
                        <a:rPr b="1" i="0" lang="en-US" sz="1100" u="none" cap="none" strike="noStrike">
                          <a:solidFill>
                            <a:schemeClr val="dk1"/>
                          </a:solidFill>
                          <a:latin typeface="Arial"/>
                          <a:ea typeface="Arial"/>
                          <a:cs typeface="Arial"/>
                          <a:sym typeface="Arial"/>
                        </a:rPr>
                        <a:t>Cash Flow Strain</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If the outflow to inflow ratio is high, then default risk rises.</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950"/>
                        <a:buFont typeface="Arial"/>
                        <a:buNone/>
                      </a:pPr>
                      <a:r>
                        <a:rPr b="0" i="0" lang="en-US" sz="950" u="none" cap="none" strike="noStrike">
                          <a:solidFill>
                            <a:schemeClr val="dk1"/>
                          </a:solidFill>
                          <a:latin typeface="Courier New"/>
                          <a:ea typeface="Courier New"/>
                          <a:cs typeface="Courier New"/>
                          <a:sym typeface="Courier New"/>
                        </a:rPr>
                        <a:t>Outflow to inflow = money out ÷ money in (trans)</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Spending above income signals repayment stress.</a:t>
                      </a:r>
                      <a:endParaRPr sz="1400" u="none" cap="none" strike="noStrike"/>
                    </a:p>
                  </a:txBody>
                  <a:tcPr marT="45725" marB="45725" marR="73150" marL="100575" anchor="ctr">
                    <a:solidFill>
                      <a:srgbClr val="FDF3D6"/>
                    </a:solidFill>
                  </a:tcPr>
                </a:tc>
              </a:tr>
              <a:tr h="932700">
                <a:tc>
                  <a:txBody>
                    <a:bodyPr/>
                    <a:lstStyle/>
                    <a:p>
                      <a:pPr indent="0" lvl="0" marL="0" marR="0" rtl="0" algn="l">
                        <a:lnSpc>
                          <a:spcPct val="103000"/>
                        </a:lnSpc>
                        <a:spcBef>
                          <a:spcPts val="0"/>
                        </a:spcBef>
                        <a:spcAft>
                          <a:spcPts val="0"/>
                        </a:spcAft>
                        <a:buClr>
                          <a:srgbClr val="000000"/>
                        </a:buClr>
                        <a:buSzPts val="1100"/>
                        <a:buFont typeface="Arial"/>
                        <a:buNone/>
                      </a:pPr>
                      <a:r>
                        <a:rPr b="1" i="0" lang="en-US" sz="1100" u="none" cap="none" strike="noStrike">
                          <a:solidFill>
                            <a:schemeClr val="dk1"/>
                          </a:solidFill>
                          <a:latin typeface="Arial"/>
                          <a:ea typeface="Arial"/>
                          <a:cs typeface="Arial"/>
                          <a:sym typeface="Arial"/>
                        </a:rPr>
                        <a:t>Loan Burden</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If the monthly payment is large versus inflow, then the loan is more likely to fail.</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950"/>
                        <a:buFont typeface="Arial"/>
                        <a:buNone/>
                      </a:pPr>
                      <a:r>
                        <a:rPr b="0" i="0" lang="en-US" sz="950" u="none" cap="none" strike="noStrike">
                          <a:solidFill>
                            <a:schemeClr val="dk1"/>
                          </a:solidFill>
                          <a:latin typeface="Courier New"/>
                          <a:ea typeface="Courier New"/>
                          <a:cs typeface="Courier New"/>
                          <a:sym typeface="Courier New"/>
                        </a:rPr>
                        <a:t>Loan to inflow = loan.payments ÷ avg monthly inflow</a:t>
                      </a:r>
                      <a:endParaRPr sz="1400" u="none" cap="none" strike="noStrike"/>
                    </a:p>
                  </a:txBody>
                  <a:tcPr marT="45725" marB="45725" marR="73150" marL="100575" anchor="ctr">
                    <a:solidFill>
                      <a:srgbClr val="FFFFFF"/>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Oversized installments strain the account.</a:t>
                      </a:r>
                      <a:endParaRPr sz="1400" u="none" cap="none" strike="noStrike"/>
                    </a:p>
                  </a:txBody>
                  <a:tcPr marT="45725" marB="45725" marR="73150" marL="100575" anchor="ctr">
                    <a:solidFill>
                      <a:srgbClr val="FFFFFF"/>
                    </a:solidFill>
                  </a:tcPr>
                </a:tc>
              </a:tr>
              <a:tr h="932700">
                <a:tc>
                  <a:txBody>
                    <a:bodyPr/>
                    <a:lstStyle/>
                    <a:p>
                      <a:pPr indent="0" lvl="0" marL="0" marR="0" rtl="0" algn="l">
                        <a:lnSpc>
                          <a:spcPct val="103000"/>
                        </a:lnSpc>
                        <a:spcBef>
                          <a:spcPts val="0"/>
                        </a:spcBef>
                        <a:spcAft>
                          <a:spcPts val="0"/>
                        </a:spcAft>
                        <a:buClr>
                          <a:srgbClr val="000000"/>
                        </a:buClr>
                        <a:buSzPts val="1100"/>
                        <a:buFont typeface="Arial"/>
                        <a:buNone/>
                      </a:pPr>
                      <a:r>
                        <a:rPr b="1" i="0" lang="en-US" sz="1100" u="none" cap="none" strike="noStrike">
                          <a:solidFill>
                            <a:schemeClr val="dk1"/>
                          </a:solidFill>
                          <a:latin typeface="Arial"/>
                          <a:ea typeface="Arial"/>
                          <a:cs typeface="Arial"/>
                          <a:sym typeface="Arial"/>
                        </a:rPr>
                        <a:t>Thin Banking History</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If there are few transactions before the loan, then risk is higher.</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950"/>
                        <a:buFont typeface="Arial"/>
                        <a:buNone/>
                      </a:pPr>
                      <a:r>
                        <a:rPr b="0" i="0" lang="en-US" sz="950" u="none" cap="none" strike="noStrike">
                          <a:solidFill>
                            <a:schemeClr val="dk1"/>
                          </a:solidFill>
                          <a:latin typeface="Courier New"/>
                          <a:ea typeface="Courier New"/>
                          <a:cs typeface="Courier New"/>
                          <a:sym typeface="Courier New"/>
                        </a:rPr>
                        <a:t>Pre-loan activity = COUNT(trans before loan date)</a:t>
                      </a:r>
                      <a:endParaRPr sz="1400" u="none" cap="none" strike="noStrike"/>
                    </a:p>
                  </a:txBody>
                  <a:tcPr marT="45725" marB="45725" marR="73150" marL="100575" anchor="ctr">
                    <a:solidFill>
                      <a:srgbClr val="FDF3D6"/>
                    </a:solidFill>
                  </a:tcPr>
                </a:tc>
                <a:tc>
                  <a:txBody>
                    <a:bodyPr/>
                    <a:lstStyle/>
                    <a:p>
                      <a:pPr indent="0" lvl="0" marL="0" marR="0" rtl="0" algn="l">
                        <a:lnSpc>
                          <a:spcPct val="103000"/>
                        </a:lnSpc>
                        <a:spcBef>
                          <a:spcPts val="0"/>
                        </a:spcBef>
                        <a:spcAft>
                          <a:spcPts val="0"/>
                        </a:spcAft>
                        <a:buClr>
                          <a:srgbClr val="000000"/>
                        </a:buClr>
                        <a:buSzPts val="1050"/>
                        <a:buFont typeface="Arial"/>
                        <a:buNone/>
                      </a:pPr>
                      <a:r>
                        <a:rPr b="0" i="0" lang="en-US" sz="1050" u="none" cap="none" strike="noStrike">
                          <a:solidFill>
                            <a:schemeClr val="dk1"/>
                          </a:solidFill>
                          <a:latin typeface="Arial"/>
                          <a:ea typeface="Arial"/>
                          <a:cs typeface="Arial"/>
                          <a:sym typeface="Arial"/>
                        </a:rPr>
                        <a:t>A short history gives the bank less signal to judge risk.</a:t>
                      </a:r>
                      <a:endParaRPr sz="1400" u="none" cap="none" strike="noStrike"/>
                    </a:p>
                  </a:txBody>
                  <a:tcPr marT="45725" marB="45725" marR="73150" marL="100575" anchor="ctr">
                    <a:solidFill>
                      <a:srgbClr val="FDF3D6"/>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157" name="Shape 157"/>
        <p:cNvGrpSpPr/>
        <p:nvPr/>
      </p:nvGrpSpPr>
      <p:grpSpPr>
        <a:xfrm>
          <a:off x="0" y="0"/>
          <a:ext cx="0" cy="0"/>
          <a:chOff x="0" y="0"/>
          <a:chExt cx="0" cy="0"/>
        </a:xfrm>
      </p:grpSpPr>
      <p:sp>
        <p:nvSpPr>
          <p:cNvPr id="158" name="Google Shape;158;p6"/>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DATASET UNDERSTANDING</a:t>
            </a:r>
            <a:endParaRPr b="0" i="0" sz="1000" u="none" cap="none" strike="noStrike">
              <a:solidFill>
                <a:schemeClr val="dk1"/>
              </a:solidFill>
              <a:latin typeface="Calibri"/>
              <a:ea typeface="Calibri"/>
              <a:cs typeface="Calibri"/>
              <a:sym typeface="Calibri"/>
            </a:endParaRPr>
          </a:p>
        </p:txBody>
      </p:sp>
      <p:sp>
        <p:nvSpPr>
          <p:cNvPr id="159" name="Google Shape;159;p6"/>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6 / 21</a:t>
            </a:r>
            <a:endParaRPr b="0" i="0" sz="1000" u="none" cap="none" strike="noStrike">
              <a:solidFill>
                <a:schemeClr val="dk1"/>
              </a:solidFill>
              <a:latin typeface="Calibri"/>
              <a:ea typeface="Calibri"/>
              <a:cs typeface="Calibri"/>
              <a:sym typeface="Calibri"/>
            </a:endParaRPr>
          </a:p>
        </p:txBody>
      </p:sp>
      <p:sp>
        <p:nvSpPr>
          <p:cNvPr id="160" name="Google Shape;160;p6"/>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Eight tables, one spine: every loan hangs off account_id</a:t>
            </a:r>
            <a:endParaRPr b="0" i="0" sz="2600" u="none" cap="none" strike="noStrike">
              <a:solidFill>
                <a:schemeClr val="dk1"/>
              </a:solidFill>
              <a:latin typeface="Calibri"/>
              <a:ea typeface="Calibri"/>
              <a:cs typeface="Calibri"/>
              <a:sym typeface="Calibri"/>
            </a:endParaRPr>
          </a:p>
        </p:txBody>
      </p:sp>
      <p:sp>
        <p:nvSpPr>
          <p:cNvPr id="161" name="Google Shape;161;p6"/>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1,056,320 transactions and 682 loans across six years, 1993 to 1998, with zero orphan rows in all eight foreign keys.</a:t>
            </a:r>
            <a:endParaRPr b="0" i="0" sz="1100" u="none" cap="none" strike="noStrike">
              <a:solidFill>
                <a:schemeClr val="dk1"/>
              </a:solidFill>
              <a:latin typeface="Calibri"/>
              <a:ea typeface="Calibri"/>
              <a:cs typeface="Calibri"/>
              <a:sym typeface="Calibri"/>
            </a:endParaRPr>
          </a:p>
        </p:txBody>
      </p:sp>
      <p:sp>
        <p:nvSpPr>
          <p:cNvPr id="162" name="Google Shape;162;p6"/>
          <p:cNvSpPr/>
          <p:nvPr/>
        </p:nvSpPr>
        <p:spPr>
          <a:xfrm>
            <a:off x="365760" y="1572768"/>
            <a:ext cx="2697480" cy="932688"/>
          </a:xfrm>
          <a:prstGeom prst="roundRect">
            <a:avLst>
              <a:gd fmla="val 5882"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6"/>
          <p:cNvSpPr txBox="1"/>
          <p:nvPr/>
        </p:nvSpPr>
        <p:spPr>
          <a:xfrm>
            <a:off x="365760" y="1645920"/>
            <a:ext cx="269748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1400"/>
              <a:buFont typeface="Bookman Old Style"/>
              <a:buNone/>
            </a:pPr>
            <a:r>
              <a:rPr b="1" i="0" lang="en-US" sz="1400" u="none" cap="none" strike="noStrike">
                <a:solidFill>
                  <a:srgbClr val="2B2621"/>
                </a:solidFill>
                <a:latin typeface="Bookman Old Style"/>
                <a:ea typeface="Bookman Old Style"/>
                <a:cs typeface="Bookman Old Style"/>
                <a:sym typeface="Bookman Old Style"/>
              </a:rPr>
              <a:t>client</a:t>
            </a:r>
            <a:endParaRPr b="0" i="0" sz="1400" u="none" cap="none" strike="noStrike">
              <a:solidFill>
                <a:schemeClr val="dk1"/>
              </a:solidFill>
              <a:latin typeface="Calibri"/>
              <a:ea typeface="Calibri"/>
              <a:cs typeface="Calibri"/>
              <a:sym typeface="Calibri"/>
            </a:endParaRPr>
          </a:p>
        </p:txBody>
      </p:sp>
      <p:sp>
        <p:nvSpPr>
          <p:cNvPr id="164" name="Google Shape;164;p6"/>
          <p:cNvSpPr txBox="1"/>
          <p:nvPr/>
        </p:nvSpPr>
        <p:spPr>
          <a:xfrm>
            <a:off x="365760" y="1901952"/>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5,369 rows · one customer</a:t>
            </a:r>
            <a:endParaRPr b="0" i="0" sz="850" u="none" cap="none" strike="noStrike">
              <a:solidFill>
                <a:schemeClr val="dk1"/>
              </a:solidFill>
              <a:latin typeface="Calibri"/>
              <a:ea typeface="Calibri"/>
              <a:cs typeface="Calibri"/>
              <a:sym typeface="Calibri"/>
            </a:endParaRPr>
          </a:p>
        </p:txBody>
      </p:sp>
      <p:sp>
        <p:nvSpPr>
          <p:cNvPr id="165" name="Google Shape;165;p6"/>
          <p:cNvSpPr txBox="1"/>
          <p:nvPr/>
        </p:nvSpPr>
        <p:spPr>
          <a:xfrm>
            <a:off x="365760" y="2121408"/>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6D0B"/>
              </a:buClr>
              <a:buSzPts val="850"/>
              <a:buFont typeface="Courier New"/>
              <a:buNone/>
            </a:pPr>
            <a:r>
              <a:rPr b="0" i="0" lang="en-US" sz="850" u="none" cap="none" strike="noStrike">
                <a:solidFill>
                  <a:srgbClr val="8A6D0B"/>
                </a:solidFill>
                <a:latin typeface="Courier New"/>
                <a:ea typeface="Courier New"/>
                <a:cs typeface="Courier New"/>
                <a:sym typeface="Courier New"/>
              </a:rPr>
              <a:t>PK client_id</a:t>
            </a:r>
            <a:endParaRPr b="0" i="0" sz="850" u="none" cap="none" strike="noStrike">
              <a:solidFill>
                <a:schemeClr val="dk1"/>
              </a:solidFill>
              <a:latin typeface="Calibri"/>
              <a:ea typeface="Calibri"/>
              <a:cs typeface="Calibri"/>
              <a:sym typeface="Calibri"/>
            </a:endParaRPr>
          </a:p>
        </p:txBody>
      </p:sp>
      <p:sp>
        <p:nvSpPr>
          <p:cNvPr id="166" name="Google Shape;166;p6"/>
          <p:cNvSpPr txBox="1"/>
          <p:nvPr/>
        </p:nvSpPr>
        <p:spPr>
          <a:xfrm>
            <a:off x="3063240" y="1847088"/>
            <a:ext cx="21031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1200"/>
              <a:buFont typeface="Arial"/>
              <a:buNone/>
            </a:pPr>
            <a:r>
              <a:rPr b="0" i="0" lang="en-US" sz="1200" u="none" cap="none" strike="noStrike">
                <a:solidFill>
                  <a:srgbClr val="8A8071"/>
                </a:solidFill>
                <a:latin typeface="Arial"/>
                <a:ea typeface="Arial"/>
                <a:cs typeface="Arial"/>
                <a:sym typeface="Arial"/>
              </a:rPr>
              <a:t>→</a:t>
            </a:r>
            <a:endParaRPr b="0" i="0" sz="1200" u="none" cap="none" strike="noStrike">
              <a:solidFill>
                <a:schemeClr val="dk1"/>
              </a:solidFill>
              <a:latin typeface="Calibri"/>
              <a:ea typeface="Calibri"/>
              <a:cs typeface="Calibri"/>
              <a:sym typeface="Calibri"/>
            </a:endParaRPr>
          </a:p>
        </p:txBody>
      </p:sp>
      <p:sp>
        <p:nvSpPr>
          <p:cNvPr id="167" name="Google Shape;167;p6"/>
          <p:cNvSpPr/>
          <p:nvPr/>
        </p:nvSpPr>
        <p:spPr>
          <a:xfrm>
            <a:off x="3273552" y="1572768"/>
            <a:ext cx="2697480" cy="932688"/>
          </a:xfrm>
          <a:prstGeom prst="roundRect">
            <a:avLst>
              <a:gd fmla="val 5882"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6"/>
          <p:cNvSpPr txBox="1"/>
          <p:nvPr/>
        </p:nvSpPr>
        <p:spPr>
          <a:xfrm>
            <a:off x="3273552" y="1645920"/>
            <a:ext cx="269748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1400"/>
              <a:buFont typeface="Bookman Old Style"/>
              <a:buNone/>
            </a:pPr>
            <a:r>
              <a:rPr b="1" i="0" lang="en-US" sz="1400" u="none" cap="none" strike="noStrike">
                <a:solidFill>
                  <a:srgbClr val="2B2621"/>
                </a:solidFill>
                <a:latin typeface="Bookman Old Style"/>
                <a:ea typeface="Bookman Old Style"/>
                <a:cs typeface="Bookman Old Style"/>
                <a:sym typeface="Bookman Old Style"/>
              </a:rPr>
              <a:t>disp</a:t>
            </a:r>
            <a:endParaRPr b="0" i="0" sz="1400" u="none" cap="none" strike="noStrike">
              <a:solidFill>
                <a:schemeClr val="dk1"/>
              </a:solidFill>
              <a:latin typeface="Calibri"/>
              <a:ea typeface="Calibri"/>
              <a:cs typeface="Calibri"/>
              <a:sym typeface="Calibri"/>
            </a:endParaRPr>
          </a:p>
        </p:txBody>
      </p:sp>
      <p:sp>
        <p:nvSpPr>
          <p:cNvPr id="169" name="Google Shape;169;p6"/>
          <p:cNvSpPr txBox="1"/>
          <p:nvPr/>
        </p:nvSpPr>
        <p:spPr>
          <a:xfrm>
            <a:off x="3273552" y="1901952"/>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5,369 rows · bridge client to account</a:t>
            </a:r>
            <a:endParaRPr b="0" i="0" sz="850" u="none" cap="none" strike="noStrike">
              <a:solidFill>
                <a:schemeClr val="dk1"/>
              </a:solidFill>
              <a:latin typeface="Calibri"/>
              <a:ea typeface="Calibri"/>
              <a:cs typeface="Calibri"/>
              <a:sym typeface="Calibri"/>
            </a:endParaRPr>
          </a:p>
        </p:txBody>
      </p:sp>
      <p:sp>
        <p:nvSpPr>
          <p:cNvPr id="170" name="Google Shape;170;p6"/>
          <p:cNvSpPr txBox="1"/>
          <p:nvPr/>
        </p:nvSpPr>
        <p:spPr>
          <a:xfrm>
            <a:off x="3273552" y="2121408"/>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6D0B"/>
              </a:buClr>
              <a:buSzPts val="850"/>
              <a:buFont typeface="Courier New"/>
              <a:buNone/>
            </a:pPr>
            <a:r>
              <a:rPr b="0" i="0" lang="en-US" sz="850" u="none" cap="none" strike="noStrike">
                <a:solidFill>
                  <a:srgbClr val="8A6D0B"/>
                </a:solidFill>
                <a:latin typeface="Courier New"/>
                <a:ea typeface="Courier New"/>
                <a:cs typeface="Courier New"/>
                <a:sym typeface="Courier New"/>
              </a:rPr>
              <a:t>PK disp_id</a:t>
            </a:r>
            <a:endParaRPr b="0" i="0" sz="850" u="none" cap="none" strike="noStrike">
              <a:solidFill>
                <a:schemeClr val="dk1"/>
              </a:solidFill>
              <a:latin typeface="Calibri"/>
              <a:ea typeface="Calibri"/>
              <a:cs typeface="Calibri"/>
              <a:sym typeface="Calibri"/>
            </a:endParaRPr>
          </a:p>
        </p:txBody>
      </p:sp>
      <p:sp>
        <p:nvSpPr>
          <p:cNvPr id="171" name="Google Shape;171;p6"/>
          <p:cNvSpPr txBox="1"/>
          <p:nvPr/>
        </p:nvSpPr>
        <p:spPr>
          <a:xfrm>
            <a:off x="5971032" y="1847088"/>
            <a:ext cx="21031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1200"/>
              <a:buFont typeface="Arial"/>
              <a:buNone/>
            </a:pPr>
            <a:r>
              <a:rPr b="0" i="0" lang="en-US" sz="1200" u="none" cap="none" strike="noStrike">
                <a:solidFill>
                  <a:srgbClr val="8A8071"/>
                </a:solidFill>
                <a:latin typeface="Arial"/>
                <a:ea typeface="Arial"/>
                <a:cs typeface="Arial"/>
                <a:sym typeface="Arial"/>
              </a:rPr>
              <a:t>→</a:t>
            </a:r>
            <a:endParaRPr b="0" i="0" sz="1200" u="none" cap="none" strike="noStrike">
              <a:solidFill>
                <a:schemeClr val="dk1"/>
              </a:solidFill>
              <a:latin typeface="Calibri"/>
              <a:ea typeface="Calibri"/>
              <a:cs typeface="Calibri"/>
              <a:sym typeface="Calibri"/>
            </a:endParaRPr>
          </a:p>
        </p:txBody>
      </p:sp>
      <p:sp>
        <p:nvSpPr>
          <p:cNvPr id="172" name="Google Shape;172;p6"/>
          <p:cNvSpPr/>
          <p:nvPr/>
        </p:nvSpPr>
        <p:spPr>
          <a:xfrm>
            <a:off x="6181344" y="1572768"/>
            <a:ext cx="2697480" cy="932688"/>
          </a:xfrm>
          <a:prstGeom prst="roundRect">
            <a:avLst>
              <a:gd fmla="val 5882"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6"/>
          <p:cNvSpPr txBox="1"/>
          <p:nvPr/>
        </p:nvSpPr>
        <p:spPr>
          <a:xfrm>
            <a:off x="6181344" y="1645920"/>
            <a:ext cx="269748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1400"/>
              <a:buFont typeface="Bookman Old Style"/>
              <a:buNone/>
            </a:pPr>
            <a:r>
              <a:rPr b="1" i="0" lang="en-US" sz="1400" u="none" cap="none" strike="noStrike">
                <a:solidFill>
                  <a:srgbClr val="2B2621"/>
                </a:solidFill>
                <a:latin typeface="Bookman Old Style"/>
                <a:ea typeface="Bookman Old Style"/>
                <a:cs typeface="Bookman Old Style"/>
                <a:sym typeface="Bookman Old Style"/>
              </a:rPr>
              <a:t>account</a:t>
            </a:r>
            <a:endParaRPr b="0" i="0" sz="1400" u="none" cap="none" strike="noStrike">
              <a:solidFill>
                <a:schemeClr val="dk1"/>
              </a:solidFill>
              <a:latin typeface="Calibri"/>
              <a:ea typeface="Calibri"/>
              <a:cs typeface="Calibri"/>
              <a:sym typeface="Calibri"/>
            </a:endParaRPr>
          </a:p>
        </p:txBody>
      </p:sp>
      <p:sp>
        <p:nvSpPr>
          <p:cNvPr id="174" name="Google Shape;174;p6"/>
          <p:cNvSpPr txBox="1"/>
          <p:nvPr/>
        </p:nvSpPr>
        <p:spPr>
          <a:xfrm>
            <a:off x="6181344" y="1901952"/>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4,500 rows · one account</a:t>
            </a:r>
            <a:endParaRPr b="0" i="0" sz="850" u="none" cap="none" strike="noStrike">
              <a:solidFill>
                <a:schemeClr val="dk1"/>
              </a:solidFill>
              <a:latin typeface="Calibri"/>
              <a:ea typeface="Calibri"/>
              <a:cs typeface="Calibri"/>
              <a:sym typeface="Calibri"/>
            </a:endParaRPr>
          </a:p>
        </p:txBody>
      </p:sp>
      <p:sp>
        <p:nvSpPr>
          <p:cNvPr id="175" name="Google Shape;175;p6"/>
          <p:cNvSpPr txBox="1"/>
          <p:nvPr/>
        </p:nvSpPr>
        <p:spPr>
          <a:xfrm>
            <a:off x="6181344" y="2121408"/>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6D0B"/>
              </a:buClr>
              <a:buSzPts val="850"/>
              <a:buFont typeface="Courier New"/>
              <a:buNone/>
            </a:pPr>
            <a:r>
              <a:rPr b="0" i="0" lang="en-US" sz="850" u="none" cap="none" strike="noStrike">
                <a:solidFill>
                  <a:srgbClr val="8A6D0B"/>
                </a:solidFill>
                <a:latin typeface="Courier New"/>
                <a:ea typeface="Courier New"/>
                <a:cs typeface="Courier New"/>
                <a:sym typeface="Courier New"/>
              </a:rPr>
              <a:t>PK account_id</a:t>
            </a:r>
            <a:endParaRPr b="0" i="0" sz="850" u="none" cap="none" strike="noStrike">
              <a:solidFill>
                <a:schemeClr val="dk1"/>
              </a:solidFill>
              <a:latin typeface="Calibri"/>
              <a:ea typeface="Calibri"/>
              <a:cs typeface="Calibri"/>
              <a:sym typeface="Calibri"/>
            </a:endParaRPr>
          </a:p>
        </p:txBody>
      </p:sp>
      <p:sp>
        <p:nvSpPr>
          <p:cNvPr id="176" name="Google Shape;176;p6"/>
          <p:cNvSpPr txBox="1"/>
          <p:nvPr/>
        </p:nvSpPr>
        <p:spPr>
          <a:xfrm>
            <a:off x="8878824" y="1847088"/>
            <a:ext cx="210312"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1200"/>
              <a:buFont typeface="Arial"/>
              <a:buNone/>
            </a:pPr>
            <a:r>
              <a:rPr b="0" i="0" lang="en-US" sz="1200" u="none" cap="none" strike="noStrike">
                <a:solidFill>
                  <a:srgbClr val="8A8071"/>
                </a:solidFill>
                <a:latin typeface="Arial"/>
                <a:ea typeface="Arial"/>
                <a:cs typeface="Arial"/>
                <a:sym typeface="Arial"/>
              </a:rPr>
              <a:t>→</a:t>
            </a:r>
            <a:endParaRPr b="0" i="0" sz="1200" u="none" cap="none" strike="noStrike">
              <a:solidFill>
                <a:schemeClr val="dk1"/>
              </a:solidFill>
              <a:latin typeface="Calibri"/>
              <a:ea typeface="Calibri"/>
              <a:cs typeface="Calibri"/>
              <a:sym typeface="Calibri"/>
            </a:endParaRPr>
          </a:p>
        </p:txBody>
      </p:sp>
      <p:sp>
        <p:nvSpPr>
          <p:cNvPr id="177" name="Google Shape;177;p6"/>
          <p:cNvSpPr/>
          <p:nvPr/>
        </p:nvSpPr>
        <p:spPr>
          <a:xfrm>
            <a:off x="9089136" y="1572768"/>
            <a:ext cx="2697480" cy="932688"/>
          </a:xfrm>
          <a:prstGeom prst="roundRect">
            <a:avLst>
              <a:gd fmla="val 5882" name="adj"/>
            </a:avLst>
          </a:prstGeom>
          <a:solidFill>
            <a:srgbClr val="F5B301"/>
          </a:solidFill>
          <a:ln cap="flat" cmpd="sng" w="9525">
            <a:solidFill>
              <a:srgbClr val="F5B30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6"/>
          <p:cNvSpPr txBox="1"/>
          <p:nvPr/>
        </p:nvSpPr>
        <p:spPr>
          <a:xfrm>
            <a:off x="9089136" y="1645920"/>
            <a:ext cx="2697480" cy="25603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1400"/>
              <a:buFont typeface="Bookman Old Style"/>
              <a:buNone/>
            </a:pPr>
            <a:r>
              <a:rPr b="1" i="0" lang="en-US" sz="1400" u="none" cap="none" strike="noStrike">
                <a:solidFill>
                  <a:srgbClr val="2B2621"/>
                </a:solidFill>
                <a:latin typeface="Bookman Old Style"/>
                <a:ea typeface="Bookman Old Style"/>
                <a:cs typeface="Bookman Old Style"/>
                <a:sym typeface="Bookman Old Style"/>
              </a:rPr>
              <a:t>loan</a:t>
            </a:r>
            <a:endParaRPr b="0" i="0" sz="1400" u="none" cap="none" strike="noStrike">
              <a:solidFill>
                <a:schemeClr val="dk1"/>
              </a:solidFill>
              <a:latin typeface="Calibri"/>
              <a:ea typeface="Calibri"/>
              <a:cs typeface="Calibri"/>
              <a:sym typeface="Calibri"/>
            </a:endParaRPr>
          </a:p>
        </p:txBody>
      </p:sp>
      <p:sp>
        <p:nvSpPr>
          <p:cNvPr id="179" name="Google Shape;179;p6"/>
          <p:cNvSpPr txBox="1"/>
          <p:nvPr/>
        </p:nvSpPr>
        <p:spPr>
          <a:xfrm>
            <a:off x="9089136" y="1901952"/>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850"/>
              <a:buFont typeface="Arial"/>
              <a:buNone/>
            </a:pPr>
            <a:r>
              <a:rPr b="0" i="0" lang="en-US" sz="850" u="none" cap="none" strike="noStrike">
                <a:solidFill>
                  <a:srgbClr val="2B2621"/>
                </a:solidFill>
                <a:latin typeface="Arial"/>
                <a:ea typeface="Arial"/>
                <a:cs typeface="Arial"/>
                <a:sym typeface="Arial"/>
              </a:rPr>
              <a:t>682 rows · TARGET table</a:t>
            </a:r>
            <a:endParaRPr b="0" i="0" sz="850" u="none" cap="none" strike="noStrike">
              <a:solidFill>
                <a:schemeClr val="dk1"/>
              </a:solidFill>
              <a:latin typeface="Calibri"/>
              <a:ea typeface="Calibri"/>
              <a:cs typeface="Calibri"/>
              <a:sym typeface="Calibri"/>
            </a:endParaRPr>
          </a:p>
        </p:txBody>
      </p:sp>
      <p:sp>
        <p:nvSpPr>
          <p:cNvPr id="180" name="Google Shape;180;p6"/>
          <p:cNvSpPr txBox="1"/>
          <p:nvPr/>
        </p:nvSpPr>
        <p:spPr>
          <a:xfrm>
            <a:off x="9089136" y="2121408"/>
            <a:ext cx="269748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850"/>
              <a:buFont typeface="Courier New"/>
              <a:buNone/>
            </a:pPr>
            <a:r>
              <a:rPr b="0" i="0" lang="en-US" sz="850" u="none" cap="none" strike="noStrike">
                <a:solidFill>
                  <a:srgbClr val="2B2621"/>
                </a:solidFill>
                <a:latin typeface="Courier New"/>
                <a:ea typeface="Courier New"/>
                <a:cs typeface="Courier New"/>
                <a:sym typeface="Courier New"/>
              </a:rPr>
              <a:t>PK loan_id</a:t>
            </a:r>
            <a:endParaRPr b="0" i="0" sz="850" u="none" cap="none" strike="noStrike">
              <a:solidFill>
                <a:schemeClr val="dk1"/>
              </a:solidFill>
              <a:latin typeface="Calibri"/>
              <a:ea typeface="Calibri"/>
              <a:cs typeface="Calibri"/>
              <a:sym typeface="Calibri"/>
            </a:endParaRPr>
          </a:p>
        </p:txBody>
      </p:sp>
      <p:sp>
        <p:nvSpPr>
          <p:cNvPr id="181" name="Google Shape;181;p6"/>
          <p:cNvSpPr/>
          <p:nvPr/>
        </p:nvSpPr>
        <p:spPr>
          <a:xfrm>
            <a:off x="365760" y="2670048"/>
            <a:ext cx="2697480" cy="1225296"/>
          </a:xfrm>
          <a:prstGeom prst="roundRect">
            <a:avLst>
              <a:gd fmla="val 4478"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p6"/>
          <p:cNvSpPr txBox="1"/>
          <p:nvPr/>
        </p:nvSpPr>
        <p:spPr>
          <a:xfrm>
            <a:off x="493776" y="2743200"/>
            <a:ext cx="24688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Bookman Old Style"/>
              <a:buNone/>
            </a:pPr>
            <a:r>
              <a:rPr b="1" i="0" lang="en-US" sz="1200" u="none" cap="none" strike="noStrike">
                <a:solidFill>
                  <a:srgbClr val="2B2621"/>
                </a:solidFill>
                <a:latin typeface="Bookman Old Style"/>
                <a:ea typeface="Bookman Old Style"/>
                <a:cs typeface="Bookman Old Style"/>
                <a:sym typeface="Bookman Old Style"/>
              </a:rPr>
              <a:t>trans</a:t>
            </a:r>
            <a:endParaRPr b="0" i="0" sz="1200" u="none" cap="none" strike="noStrike">
              <a:solidFill>
                <a:schemeClr val="dk1"/>
              </a:solidFill>
              <a:latin typeface="Calibri"/>
              <a:ea typeface="Calibri"/>
              <a:cs typeface="Calibri"/>
              <a:sym typeface="Calibri"/>
            </a:endParaRPr>
          </a:p>
        </p:txBody>
      </p:sp>
      <p:sp>
        <p:nvSpPr>
          <p:cNvPr id="183" name="Google Shape;183;p6"/>
          <p:cNvSpPr txBox="1"/>
          <p:nvPr/>
        </p:nvSpPr>
        <p:spPr>
          <a:xfrm>
            <a:off x="493776" y="2980944"/>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00"/>
              <a:buFont typeface="Arial"/>
              <a:buNone/>
            </a:pPr>
            <a:r>
              <a:rPr b="0" i="0" lang="en-US" sz="800" u="none" cap="none" strike="noStrike">
                <a:solidFill>
                  <a:srgbClr val="8A8071"/>
                </a:solidFill>
                <a:latin typeface="Arial"/>
                <a:ea typeface="Arial"/>
                <a:cs typeface="Arial"/>
                <a:sym typeface="Arial"/>
              </a:rPr>
              <a:t>1,056,320 rows · one transaction</a:t>
            </a:r>
            <a:endParaRPr b="0" i="0" sz="800" u="none" cap="none" strike="noStrike">
              <a:solidFill>
                <a:schemeClr val="dk1"/>
              </a:solidFill>
              <a:latin typeface="Calibri"/>
              <a:ea typeface="Calibri"/>
              <a:cs typeface="Calibri"/>
              <a:sym typeface="Calibri"/>
            </a:endParaRPr>
          </a:p>
        </p:txBody>
      </p:sp>
      <p:sp>
        <p:nvSpPr>
          <p:cNvPr id="184" name="Google Shape;184;p6"/>
          <p:cNvSpPr txBox="1"/>
          <p:nvPr/>
        </p:nvSpPr>
        <p:spPr>
          <a:xfrm>
            <a:off x="493776" y="3182112"/>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Courier New"/>
              <a:buNone/>
            </a:pPr>
            <a:r>
              <a:rPr b="0" i="0" lang="en-US" sz="800" u="none" cap="none" strike="noStrike">
                <a:solidFill>
                  <a:srgbClr val="8A6D0B"/>
                </a:solidFill>
                <a:latin typeface="Courier New"/>
                <a:ea typeface="Courier New"/>
                <a:cs typeface="Courier New"/>
                <a:sym typeface="Courier New"/>
              </a:rPr>
              <a:t>FK account_id</a:t>
            </a:r>
            <a:endParaRPr b="0" i="0" sz="800" u="none" cap="none" strike="noStrike">
              <a:solidFill>
                <a:schemeClr val="dk1"/>
              </a:solidFill>
              <a:latin typeface="Calibri"/>
              <a:ea typeface="Calibri"/>
              <a:cs typeface="Calibri"/>
              <a:sym typeface="Calibri"/>
            </a:endParaRPr>
          </a:p>
        </p:txBody>
      </p:sp>
      <p:sp>
        <p:nvSpPr>
          <p:cNvPr id="185" name="Google Shape;185;p6"/>
          <p:cNvSpPr txBox="1"/>
          <p:nvPr/>
        </p:nvSpPr>
        <p:spPr>
          <a:xfrm>
            <a:off x="493776" y="3401568"/>
            <a:ext cx="2468880" cy="420624"/>
          </a:xfrm>
          <a:prstGeom prst="rect">
            <a:avLst/>
          </a:prstGeom>
          <a:noFill/>
          <a:ln>
            <a:noFill/>
          </a:ln>
        </p:spPr>
        <p:txBody>
          <a:bodyPr anchorCtr="0" anchor="ctr" bIns="0" lIns="0" spcFirstLastPara="1" rIns="0" wrap="square" tIns="0">
            <a:noAutofit/>
          </a:bodyPr>
          <a:lstStyle/>
          <a:p>
            <a:pPr indent="0" lvl="0" marL="0" marR="0" rtl="0" algn="l">
              <a:lnSpc>
                <a:spcPct val="129410"/>
              </a:lnSpc>
              <a:spcBef>
                <a:spcPts val="0"/>
              </a:spcBef>
              <a:spcAft>
                <a:spcPts val="0"/>
              </a:spcAft>
              <a:buClr>
                <a:srgbClr val="2B2621"/>
              </a:buClr>
              <a:buSzPts val="850"/>
              <a:buFont typeface="Arial"/>
              <a:buNone/>
            </a:pPr>
            <a:r>
              <a:rPr b="0" i="0" lang="en-US" sz="850" u="none" cap="none" strike="noStrike">
                <a:solidFill>
                  <a:srgbClr val="2B2621"/>
                </a:solidFill>
                <a:latin typeface="Arial"/>
                <a:ea typeface="Arial"/>
                <a:cs typeface="Arial"/>
                <a:sym typeface="Arial"/>
              </a:rPr>
              <a:t>Behavioural core: balance, cash in and out</a:t>
            </a:r>
            <a:endParaRPr b="0" i="0" sz="850" u="none" cap="none" strike="noStrike">
              <a:solidFill>
                <a:schemeClr val="dk1"/>
              </a:solidFill>
              <a:latin typeface="Calibri"/>
              <a:ea typeface="Calibri"/>
              <a:cs typeface="Calibri"/>
              <a:sym typeface="Calibri"/>
            </a:endParaRPr>
          </a:p>
        </p:txBody>
      </p:sp>
      <p:sp>
        <p:nvSpPr>
          <p:cNvPr id="186" name="Google Shape;186;p6"/>
          <p:cNvSpPr/>
          <p:nvPr/>
        </p:nvSpPr>
        <p:spPr>
          <a:xfrm>
            <a:off x="3273552" y="2670048"/>
            <a:ext cx="2697480" cy="1225296"/>
          </a:xfrm>
          <a:prstGeom prst="roundRect">
            <a:avLst>
              <a:gd fmla="val 4478"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6"/>
          <p:cNvSpPr txBox="1"/>
          <p:nvPr/>
        </p:nvSpPr>
        <p:spPr>
          <a:xfrm>
            <a:off x="3401568" y="2743200"/>
            <a:ext cx="24688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Bookman Old Style"/>
              <a:buNone/>
            </a:pPr>
            <a:r>
              <a:rPr b="1" i="0" lang="en-US" sz="1200" u="none" cap="none" strike="noStrike">
                <a:solidFill>
                  <a:srgbClr val="2B2621"/>
                </a:solidFill>
                <a:latin typeface="Bookman Old Style"/>
                <a:ea typeface="Bookman Old Style"/>
                <a:cs typeface="Bookman Old Style"/>
                <a:sym typeface="Bookman Old Style"/>
              </a:rPr>
              <a:t>order</a:t>
            </a:r>
            <a:endParaRPr b="0" i="0" sz="1200" u="none" cap="none" strike="noStrike">
              <a:solidFill>
                <a:schemeClr val="dk1"/>
              </a:solidFill>
              <a:latin typeface="Calibri"/>
              <a:ea typeface="Calibri"/>
              <a:cs typeface="Calibri"/>
              <a:sym typeface="Calibri"/>
            </a:endParaRPr>
          </a:p>
        </p:txBody>
      </p:sp>
      <p:sp>
        <p:nvSpPr>
          <p:cNvPr id="188" name="Google Shape;188;p6"/>
          <p:cNvSpPr txBox="1"/>
          <p:nvPr/>
        </p:nvSpPr>
        <p:spPr>
          <a:xfrm>
            <a:off x="3401568" y="2980944"/>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00"/>
              <a:buFont typeface="Arial"/>
              <a:buNone/>
            </a:pPr>
            <a:r>
              <a:rPr b="0" i="0" lang="en-US" sz="800" u="none" cap="none" strike="noStrike">
                <a:solidFill>
                  <a:srgbClr val="8A8071"/>
                </a:solidFill>
                <a:latin typeface="Arial"/>
                <a:ea typeface="Arial"/>
                <a:cs typeface="Arial"/>
                <a:sym typeface="Arial"/>
              </a:rPr>
              <a:t>6,471 rows · one standing order</a:t>
            </a:r>
            <a:endParaRPr b="0" i="0" sz="800" u="none" cap="none" strike="noStrike">
              <a:solidFill>
                <a:schemeClr val="dk1"/>
              </a:solidFill>
              <a:latin typeface="Calibri"/>
              <a:ea typeface="Calibri"/>
              <a:cs typeface="Calibri"/>
              <a:sym typeface="Calibri"/>
            </a:endParaRPr>
          </a:p>
        </p:txBody>
      </p:sp>
      <p:sp>
        <p:nvSpPr>
          <p:cNvPr id="189" name="Google Shape;189;p6"/>
          <p:cNvSpPr txBox="1"/>
          <p:nvPr/>
        </p:nvSpPr>
        <p:spPr>
          <a:xfrm>
            <a:off x="3401568" y="3182112"/>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Courier New"/>
              <a:buNone/>
            </a:pPr>
            <a:r>
              <a:rPr b="0" i="0" lang="en-US" sz="800" u="none" cap="none" strike="noStrike">
                <a:solidFill>
                  <a:srgbClr val="8A6D0B"/>
                </a:solidFill>
                <a:latin typeface="Courier New"/>
                <a:ea typeface="Courier New"/>
                <a:cs typeface="Courier New"/>
                <a:sym typeface="Courier New"/>
              </a:rPr>
              <a:t>FK account_id</a:t>
            </a:r>
            <a:endParaRPr b="0" i="0" sz="800" u="none" cap="none" strike="noStrike">
              <a:solidFill>
                <a:schemeClr val="dk1"/>
              </a:solidFill>
              <a:latin typeface="Calibri"/>
              <a:ea typeface="Calibri"/>
              <a:cs typeface="Calibri"/>
              <a:sym typeface="Calibri"/>
            </a:endParaRPr>
          </a:p>
        </p:txBody>
      </p:sp>
      <p:sp>
        <p:nvSpPr>
          <p:cNvPr id="190" name="Google Shape;190;p6"/>
          <p:cNvSpPr txBox="1"/>
          <p:nvPr/>
        </p:nvSpPr>
        <p:spPr>
          <a:xfrm>
            <a:off x="3401568" y="3401568"/>
            <a:ext cx="2468880" cy="420624"/>
          </a:xfrm>
          <a:prstGeom prst="rect">
            <a:avLst/>
          </a:prstGeom>
          <a:noFill/>
          <a:ln>
            <a:noFill/>
          </a:ln>
        </p:spPr>
        <p:txBody>
          <a:bodyPr anchorCtr="0" anchor="ctr" bIns="0" lIns="0" spcFirstLastPara="1" rIns="0" wrap="square" tIns="0">
            <a:noAutofit/>
          </a:bodyPr>
          <a:lstStyle/>
          <a:p>
            <a:pPr indent="0" lvl="0" marL="0" marR="0" rtl="0" algn="l">
              <a:lnSpc>
                <a:spcPct val="129410"/>
              </a:lnSpc>
              <a:spcBef>
                <a:spcPts val="0"/>
              </a:spcBef>
              <a:spcAft>
                <a:spcPts val="0"/>
              </a:spcAft>
              <a:buClr>
                <a:srgbClr val="2B2621"/>
              </a:buClr>
              <a:buSzPts val="850"/>
              <a:buFont typeface="Arial"/>
              <a:buNone/>
            </a:pPr>
            <a:r>
              <a:rPr b="0" i="0" lang="en-US" sz="850" u="none" cap="none" strike="noStrike">
                <a:solidFill>
                  <a:srgbClr val="2B2621"/>
                </a:solidFill>
                <a:latin typeface="Arial"/>
                <a:ea typeface="Arial"/>
                <a:cs typeface="Arial"/>
                <a:sym typeface="Arial"/>
              </a:rPr>
              <a:t>Committed recurring outflow</a:t>
            </a:r>
            <a:endParaRPr b="0" i="0" sz="850" u="none" cap="none" strike="noStrike">
              <a:solidFill>
                <a:schemeClr val="dk1"/>
              </a:solidFill>
              <a:latin typeface="Calibri"/>
              <a:ea typeface="Calibri"/>
              <a:cs typeface="Calibri"/>
              <a:sym typeface="Calibri"/>
            </a:endParaRPr>
          </a:p>
        </p:txBody>
      </p:sp>
      <p:sp>
        <p:nvSpPr>
          <p:cNvPr id="191" name="Google Shape;191;p6"/>
          <p:cNvSpPr/>
          <p:nvPr/>
        </p:nvSpPr>
        <p:spPr>
          <a:xfrm>
            <a:off x="6181344" y="2670048"/>
            <a:ext cx="2697480" cy="1225296"/>
          </a:xfrm>
          <a:prstGeom prst="roundRect">
            <a:avLst>
              <a:gd fmla="val 4478"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2" name="Google Shape;192;p6"/>
          <p:cNvSpPr txBox="1"/>
          <p:nvPr/>
        </p:nvSpPr>
        <p:spPr>
          <a:xfrm>
            <a:off x="6309360" y="2743200"/>
            <a:ext cx="24688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Bookman Old Style"/>
              <a:buNone/>
            </a:pPr>
            <a:r>
              <a:rPr b="1" i="0" lang="en-US" sz="1200" u="none" cap="none" strike="noStrike">
                <a:solidFill>
                  <a:srgbClr val="2B2621"/>
                </a:solidFill>
                <a:latin typeface="Bookman Old Style"/>
                <a:ea typeface="Bookman Old Style"/>
                <a:cs typeface="Bookman Old Style"/>
                <a:sym typeface="Bookman Old Style"/>
              </a:rPr>
              <a:t>card</a:t>
            </a:r>
            <a:endParaRPr b="0" i="0" sz="1200" u="none" cap="none" strike="noStrike">
              <a:solidFill>
                <a:schemeClr val="dk1"/>
              </a:solidFill>
              <a:latin typeface="Calibri"/>
              <a:ea typeface="Calibri"/>
              <a:cs typeface="Calibri"/>
              <a:sym typeface="Calibri"/>
            </a:endParaRPr>
          </a:p>
        </p:txBody>
      </p:sp>
      <p:sp>
        <p:nvSpPr>
          <p:cNvPr id="193" name="Google Shape;193;p6"/>
          <p:cNvSpPr txBox="1"/>
          <p:nvPr/>
        </p:nvSpPr>
        <p:spPr>
          <a:xfrm>
            <a:off x="6309360" y="2980944"/>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00"/>
              <a:buFont typeface="Arial"/>
              <a:buNone/>
            </a:pPr>
            <a:r>
              <a:rPr b="0" i="0" lang="en-US" sz="800" u="none" cap="none" strike="noStrike">
                <a:solidFill>
                  <a:srgbClr val="8A8071"/>
                </a:solidFill>
                <a:latin typeface="Arial"/>
                <a:ea typeface="Arial"/>
                <a:cs typeface="Arial"/>
                <a:sym typeface="Arial"/>
              </a:rPr>
              <a:t>892 rows · one issued card</a:t>
            </a:r>
            <a:endParaRPr b="0" i="0" sz="800" u="none" cap="none" strike="noStrike">
              <a:solidFill>
                <a:schemeClr val="dk1"/>
              </a:solidFill>
              <a:latin typeface="Calibri"/>
              <a:ea typeface="Calibri"/>
              <a:cs typeface="Calibri"/>
              <a:sym typeface="Calibri"/>
            </a:endParaRPr>
          </a:p>
        </p:txBody>
      </p:sp>
      <p:sp>
        <p:nvSpPr>
          <p:cNvPr id="194" name="Google Shape;194;p6"/>
          <p:cNvSpPr txBox="1"/>
          <p:nvPr/>
        </p:nvSpPr>
        <p:spPr>
          <a:xfrm>
            <a:off x="6309360" y="3182112"/>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Courier New"/>
              <a:buNone/>
            </a:pPr>
            <a:r>
              <a:rPr b="0" i="0" lang="en-US" sz="800" u="none" cap="none" strike="noStrike">
                <a:solidFill>
                  <a:srgbClr val="8A6D0B"/>
                </a:solidFill>
                <a:latin typeface="Courier New"/>
                <a:ea typeface="Courier New"/>
                <a:cs typeface="Courier New"/>
                <a:sym typeface="Courier New"/>
              </a:rPr>
              <a:t>FK disp_id</a:t>
            </a:r>
            <a:endParaRPr b="0" i="0" sz="800" u="none" cap="none" strike="noStrike">
              <a:solidFill>
                <a:schemeClr val="dk1"/>
              </a:solidFill>
              <a:latin typeface="Calibri"/>
              <a:ea typeface="Calibri"/>
              <a:cs typeface="Calibri"/>
              <a:sym typeface="Calibri"/>
            </a:endParaRPr>
          </a:p>
        </p:txBody>
      </p:sp>
      <p:sp>
        <p:nvSpPr>
          <p:cNvPr id="195" name="Google Shape;195;p6"/>
          <p:cNvSpPr txBox="1"/>
          <p:nvPr/>
        </p:nvSpPr>
        <p:spPr>
          <a:xfrm>
            <a:off x="6309360" y="3401568"/>
            <a:ext cx="2468880" cy="420624"/>
          </a:xfrm>
          <a:prstGeom prst="rect">
            <a:avLst/>
          </a:prstGeom>
          <a:noFill/>
          <a:ln>
            <a:noFill/>
          </a:ln>
        </p:spPr>
        <p:txBody>
          <a:bodyPr anchorCtr="0" anchor="ctr" bIns="0" lIns="0" spcFirstLastPara="1" rIns="0" wrap="square" tIns="0">
            <a:noAutofit/>
          </a:bodyPr>
          <a:lstStyle/>
          <a:p>
            <a:pPr indent="0" lvl="0" marL="0" marR="0" rtl="0" algn="l">
              <a:lnSpc>
                <a:spcPct val="129410"/>
              </a:lnSpc>
              <a:spcBef>
                <a:spcPts val="0"/>
              </a:spcBef>
              <a:spcAft>
                <a:spcPts val="0"/>
              </a:spcAft>
              <a:buClr>
                <a:srgbClr val="2B2621"/>
              </a:buClr>
              <a:buSzPts val="850"/>
              <a:buFont typeface="Arial"/>
              <a:buNone/>
            </a:pPr>
            <a:r>
              <a:rPr b="0" i="0" lang="en-US" sz="850" u="none" cap="none" strike="noStrike">
                <a:solidFill>
                  <a:srgbClr val="2B2621"/>
                </a:solidFill>
                <a:latin typeface="Arial"/>
                <a:ea typeface="Arial"/>
                <a:cs typeface="Arial"/>
                <a:sym typeface="Arial"/>
              </a:rPr>
              <a:t>Card ownership and tier</a:t>
            </a:r>
            <a:endParaRPr b="0" i="0" sz="850" u="none" cap="none" strike="noStrike">
              <a:solidFill>
                <a:schemeClr val="dk1"/>
              </a:solidFill>
              <a:latin typeface="Calibri"/>
              <a:ea typeface="Calibri"/>
              <a:cs typeface="Calibri"/>
              <a:sym typeface="Calibri"/>
            </a:endParaRPr>
          </a:p>
        </p:txBody>
      </p:sp>
      <p:sp>
        <p:nvSpPr>
          <p:cNvPr id="196" name="Google Shape;196;p6"/>
          <p:cNvSpPr/>
          <p:nvPr/>
        </p:nvSpPr>
        <p:spPr>
          <a:xfrm>
            <a:off x="9089136" y="2670048"/>
            <a:ext cx="2697480" cy="1225296"/>
          </a:xfrm>
          <a:prstGeom prst="roundRect">
            <a:avLst>
              <a:gd fmla="val 4478"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p6"/>
          <p:cNvSpPr txBox="1"/>
          <p:nvPr/>
        </p:nvSpPr>
        <p:spPr>
          <a:xfrm>
            <a:off x="9217152" y="2743200"/>
            <a:ext cx="24688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1200"/>
              <a:buFont typeface="Bookman Old Style"/>
              <a:buNone/>
            </a:pPr>
            <a:r>
              <a:rPr b="1" i="0" lang="en-US" sz="1200" u="none" cap="none" strike="noStrike">
                <a:solidFill>
                  <a:srgbClr val="2B2621"/>
                </a:solidFill>
                <a:latin typeface="Bookman Old Style"/>
                <a:ea typeface="Bookman Old Style"/>
                <a:cs typeface="Bookman Old Style"/>
                <a:sym typeface="Bookman Old Style"/>
              </a:rPr>
              <a:t>district</a:t>
            </a:r>
            <a:endParaRPr b="0" i="0" sz="1200" u="none" cap="none" strike="noStrike">
              <a:solidFill>
                <a:schemeClr val="dk1"/>
              </a:solidFill>
              <a:latin typeface="Calibri"/>
              <a:ea typeface="Calibri"/>
              <a:cs typeface="Calibri"/>
              <a:sym typeface="Calibri"/>
            </a:endParaRPr>
          </a:p>
        </p:txBody>
      </p:sp>
      <p:sp>
        <p:nvSpPr>
          <p:cNvPr id="198" name="Google Shape;198;p6"/>
          <p:cNvSpPr txBox="1"/>
          <p:nvPr/>
        </p:nvSpPr>
        <p:spPr>
          <a:xfrm>
            <a:off x="9217152" y="2980944"/>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800"/>
              <a:buFont typeface="Arial"/>
              <a:buNone/>
            </a:pPr>
            <a:r>
              <a:rPr b="0" i="0" lang="en-US" sz="800" u="none" cap="none" strike="noStrike">
                <a:solidFill>
                  <a:srgbClr val="8A8071"/>
                </a:solidFill>
                <a:latin typeface="Arial"/>
                <a:ea typeface="Arial"/>
                <a:cs typeface="Arial"/>
                <a:sym typeface="Arial"/>
              </a:rPr>
              <a:t>77 rows · one district</a:t>
            </a:r>
            <a:endParaRPr b="0" i="0" sz="800" u="none" cap="none" strike="noStrike">
              <a:solidFill>
                <a:schemeClr val="dk1"/>
              </a:solidFill>
              <a:latin typeface="Calibri"/>
              <a:ea typeface="Calibri"/>
              <a:cs typeface="Calibri"/>
              <a:sym typeface="Calibri"/>
            </a:endParaRPr>
          </a:p>
        </p:txBody>
      </p:sp>
      <p:sp>
        <p:nvSpPr>
          <p:cNvPr id="199" name="Google Shape;199;p6"/>
          <p:cNvSpPr txBox="1"/>
          <p:nvPr/>
        </p:nvSpPr>
        <p:spPr>
          <a:xfrm>
            <a:off x="9217152" y="3182112"/>
            <a:ext cx="24688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Courier New"/>
              <a:buNone/>
            </a:pPr>
            <a:r>
              <a:rPr b="0" i="0" lang="en-US" sz="800" u="none" cap="none" strike="noStrike">
                <a:solidFill>
                  <a:srgbClr val="8A6D0B"/>
                </a:solidFill>
                <a:latin typeface="Courier New"/>
                <a:ea typeface="Courier New"/>
                <a:cs typeface="Courier New"/>
                <a:sym typeface="Courier New"/>
              </a:rPr>
              <a:t>FK district_id</a:t>
            </a:r>
            <a:endParaRPr b="0" i="0" sz="800" u="none" cap="none" strike="noStrike">
              <a:solidFill>
                <a:schemeClr val="dk1"/>
              </a:solidFill>
              <a:latin typeface="Calibri"/>
              <a:ea typeface="Calibri"/>
              <a:cs typeface="Calibri"/>
              <a:sym typeface="Calibri"/>
            </a:endParaRPr>
          </a:p>
        </p:txBody>
      </p:sp>
      <p:sp>
        <p:nvSpPr>
          <p:cNvPr id="200" name="Google Shape;200;p6"/>
          <p:cNvSpPr txBox="1"/>
          <p:nvPr/>
        </p:nvSpPr>
        <p:spPr>
          <a:xfrm>
            <a:off x="9217152" y="3401568"/>
            <a:ext cx="2468880" cy="420624"/>
          </a:xfrm>
          <a:prstGeom prst="rect">
            <a:avLst/>
          </a:prstGeom>
          <a:noFill/>
          <a:ln>
            <a:noFill/>
          </a:ln>
        </p:spPr>
        <p:txBody>
          <a:bodyPr anchorCtr="0" anchor="ctr" bIns="0" lIns="0" spcFirstLastPara="1" rIns="0" wrap="square" tIns="0">
            <a:noAutofit/>
          </a:bodyPr>
          <a:lstStyle/>
          <a:p>
            <a:pPr indent="0" lvl="0" marL="0" marR="0" rtl="0" algn="l">
              <a:lnSpc>
                <a:spcPct val="129410"/>
              </a:lnSpc>
              <a:spcBef>
                <a:spcPts val="0"/>
              </a:spcBef>
              <a:spcAft>
                <a:spcPts val="0"/>
              </a:spcAft>
              <a:buClr>
                <a:srgbClr val="2B2621"/>
              </a:buClr>
              <a:buSzPts val="850"/>
              <a:buFont typeface="Arial"/>
              <a:buNone/>
            </a:pPr>
            <a:r>
              <a:rPr b="0" i="0" lang="en-US" sz="850" u="none" cap="none" strike="noStrike">
                <a:solidFill>
                  <a:srgbClr val="2B2621"/>
                </a:solidFill>
                <a:latin typeface="Arial"/>
                <a:ea typeface="Arial"/>
                <a:cs typeface="Arial"/>
                <a:sym typeface="Arial"/>
              </a:rPr>
              <a:t>Macro context: salary, unemployment</a:t>
            </a:r>
            <a:endParaRPr b="0" i="0" sz="850" u="none" cap="none" strike="noStrike">
              <a:solidFill>
                <a:schemeClr val="dk1"/>
              </a:solidFill>
              <a:latin typeface="Calibri"/>
              <a:ea typeface="Calibri"/>
              <a:cs typeface="Calibri"/>
              <a:sym typeface="Calibri"/>
            </a:endParaRPr>
          </a:p>
        </p:txBody>
      </p:sp>
      <p:sp>
        <p:nvSpPr>
          <p:cNvPr id="201" name="Google Shape;201;p6"/>
          <p:cNvSpPr/>
          <p:nvPr/>
        </p:nvSpPr>
        <p:spPr>
          <a:xfrm>
            <a:off x="365760" y="4059936"/>
            <a:ext cx="11457432" cy="18288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6"/>
          <p:cNvSpPr txBox="1"/>
          <p:nvPr/>
        </p:nvSpPr>
        <p:spPr>
          <a:xfrm>
            <a:off x="548640" y="4206240"/>
            <a:ext cx="54864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WHAT THE STRUCTURE FORCES US TO DO</a:t>
            </a:r>
            <a:endParaRPr b="0" i="0" sz="950" u="none" cap="none" strike="noStrike">
              <a:solidFill>
                <a:schemeClr val="dk1"/>
              </a:solidFill>
              <a:latin typeface="Calibri"/>
              <a:ea typeface="Calibri"/>
              <a:cs typeface="Calibri"/>
              <a:sym typeface="Calibri"/>
            </a:endParaRPr>
          </a:p>
        </p:txBody>
      </p:sp>
      <p:sp>
        <p:nvSpPr>
          <p:cNvPr id="203" name="Google Shape;203;p6"/>
          <p:cNvSpPr txBox="1"/>
          <p:nvPr/>
        </p:nvSpPr>
        <p:spPr>
          <a:xfrm>
            <a:off x="548640" y="4480560"/>
            <a:ext cx="11064240" cy="1280160"/>
          </a:xfrm>
          <a:prstGeom prst="rect">
            <a:avLst/>
          </a:prstGeom>
          <a:noFill/>
          <a:ln>
            <a:noFill/>
          </a:ln>
        </p:spPr>
        <p:txBody>
          <a:bodyPr anchorCtr="0" anchor="ctr" bIns="0" lIns="0" spcFirstLastPara="1" rIns="0" wrap="square" tIns="0">
            <a:noAutofit/>
          </a:bodyPr>
          <a:lstStyle/>
          <a:p>
            <a:pPr indent="0" lvl="0" marL="0" marR="0" rtl="0" algn="l">
              <a:lnSpc>
                <a:spcPct val="136842"/>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Clients never touch accounts directly. </a:t>
            </a:r>
            <a:r>
              <a:rPr b="0" i="0" lang="en-US" sz="950" u="none" cap="none" strike="noStrike">
                <a:solidFill>
                  <a:srgbClr val="2B2621"/>
                </a:solidFill>
                <a:latin typeface="Arial"/>
                <a:ea typeface="Arial"/>
                <a:cs typeface="Arial"/>
                <a:sym typeface="Arial"/>
              </a:rPr>
              <a:t>The link runs through disp, which holds 5,369 rows for 4,500 accounts because 869 accounts carry a second user (DISPONENT). Joining loans to clients without filtering disp to OWNER would multiply the 682 loans and double-count risky customers, so the join is constrained and the row count asserted at 682 afterwards.</a:t>
            </a:r>
            <a:endParaRPr b="0" i="0" sz="950" u="none" cap="none" strike="noStrike">
              <a:solidFill>
                <a:schemeClr val="dk1"/>
              </a:solidFill>
              <a:latin typeface="Calibri"/>
              <a:ea typeface="Calibri"/>
              <a:cs typeface="Calibri"/>
              <a:sym typeface="Calibri"/>
            </a:endParaRPr>
          </a:p>
          <a:p>
            <a:pPr indent="0" lvl="0" marL="0" marR="0" rtl="0" algn="l">
              <a:lnSpc>
                <a:spcPct val="136842"/>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Granularity decides the analysis unit. </a:t>
            </a:r>
            <a:r>
              <a:rPr b="0" i="0" lang="en-US" sz="950" u="none" cap="none" strike="noStrike">
                <a:solidFill>
                  <a:srgbClr val="2B2621"/>
                </a:solidFill>
                <a:latin typeface="Arial"/>
                <a:ea typeface="Arial"/>
                <a:cs typeface="Arial"/>
                <a:sym typeface="Arial"/>
              </a:rPr>
              <a:t>Only 682 of 4,500 accounts ever borrowed, so every table is collapsed to one row per loan. Loan status mixes two dimensions, finished (A, B) versus running (C, D) and healthy (A, C) versus problematic (B, D), which is why the KPI is defined as (B + D) ÷ total rather than a default rate.</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208" name="Shape 208"/>
        <p:cNvGrpSpPr/>
        <p:nvPr/>
      </p:nvGrpSpPr>
      <p:grpSpPr>
        <a:xfrm>
          <a:off x="0" y="0"/>
          <a:ext cx="0" cy="0"/>
          <a:chOff x="0" y="0"/>
          <a:chExt cx="0" cy="0"/>
        </a:xfrm>
      </p:grpSpPr>
      <p:sp>
        <p:nvSpPr>
          <p:cNvPr id="209" name="Google Shape;209;p7"/>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DATA CLEANING</a:t>
            </a:r>
            <a:endParaRPr b="0" i="0" sz="1000" u="none" cap="none" strike="noStrike">
              <a:solidFill>
                <a:schemeClr val="dk1"/>
              </a:solidFill>
              <a:latin typeface="Calibri"/>
              <a:ea typeface="Calibri"/>
              <a:cs typeface="Calibri"/>
              <a:sym typeface="Calibri"/>
            </a:endParaRPr>
          </a:p>
        </p:txBody>
      </p:sp>
      <p:sp>
        <p:nvSpPr>
          <p:cNvPr id="210" name="Google Shape;210;p7"/>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7 / 21</a:t>
            </a:r>
            <a:endParaRPr b="0" i="0" sz="1000" u="none" cap="none" strike="noStrike">
              <a:solidFill>
                <a:schemeClr val="dk1"/>
              </a:solidFill>
              <a:latin typeface="Calibri"/>
              <a:ea typeface="Calibri"/>
              <a:cs typeface="Calibri"/>
              <a:sym typeface="Calibri"/>
            </a:endParaRPr>
          </a:p>
        </p:txBody>
      </p:sp>
      <p:sp>
        <p:nvSpPr>
          <p:cNvPr id="211" name="Google Shape;211;p7"/>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Cleaning was driven by the analysis, not by a checklist</a:t>
            </a:r>
            <a:endParaRPr b="0" i="0" sz="2600" u="none" cap="none" strike="noStrike">
              <a:solidFill>
                <a:schemeClr val="dk1"/>
              </a:solidFill>
              <a:latin typeface="Calibri"/>
              <a:ea typeface="Calibri"/>
              <a:cs typeface="Calibri"/>
              <a:sym typeface="Calibri"/>
            </a:endParaRPr>
          </a:p>
        </p:txBody>
      </p:sp>
      <p:sp>
        <p:nvSpPr>
          <p:cNvPr id="212" name="Google Shape;212;p7"/>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Every action answers three questions: what is the issue, why does it matter, what decision was taken.</a:t>
            </a:r>
            <a:endParaRPr b="0" i="0" sz="1100" u="none" cap="none" strike="noStrike">
              <a:solidFill>
                <a:schemeClr val="dk1"/>
              </a:solidFill>
              <a:latin typeface="Calibri"/>
              <a:ea typeface="Calibri"/>
              <a:cs typeface="Calibri"/>
              <a:sym typeface="Calibri"/>
            </a:endParaRPr>
          </a:p>
        </p:txBody>
      </p:sp>
      <p:sp>
        <p:nvSpPr>
          <p:cNvPr id="213" name="Google Shape;213;p7"/>
          <p:cNvSpPr/>
          <p:nvPr/>
        </p:nvSpPr>
        <p:spPr>
          <a:xfrm>
            <a:off x="365760" y="1536192"/>
            <a:ext cx="5650992" cy="1463040"/>
          </a:xfrm>
          <a:prstGeom prst="roundRect">
            <a:avLst>
              <a:gd fmla="val 3750"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4" name="Google Shape;214;p7"/>
          <p:cNvSpPr/>
          <p:nvPr/>
        </p:nvSpPr>
        <p:spPr>
          <a:xfrm>
            <a:off x="512064" y="1655064"/>
            <a:ext cx="1481328" cy="237744"/>
          </a:xfrm>
          <a:prstGeom prst="roundRect">
            <a:avLst>
              <a:gd fmla="val 38462" name="adj"/>
            </a:avLst>
          </a:prstGeom>
          <a:solidFill>
            <a:srgbClr val="F5B301"/>
          </a:solidFill>
          <a:ln cap="flat" cmpd="sng" w="9525">
            <a:solidFill>
              <a:srgbClr val="F5B30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5" name="Google Shape;215;p7"/>
          <p:cNvSpPr txBox="1"/>
          <p:nvPr/>
        </p:nvSpPr>
        <p:spPr>
          <a:xfrm>
            <a:off x="512064" y="1664208"/>
            <a:ext cx="1481328"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800"/>
              <a:buFont typeface="Arial"/>
              <a:buNone/>
            </a:pPr>
            <a:r>
              <a:rPr b="1" i="0" lang="en-US" sz="800" u="none" cap="none" strike="noStrike">
                <a:solidFill>
                  <a:srgbClr val="2B2621"/>
                </a:solidFill>
                <a:latin typeface="Arial"/>
                <a:ea typeface="Arial"/>
                <a:cs typeface="Arial"/>
                <a:sym typeface="Arial"/>
              </a:rPr>
              <a:t>DATA TYPES</a:t>
            </a:r>
            <a:endParaRPr b="0" i="0" sz="800" u="none" cap="none" strike="noStrike">
              <a:solidFill>
                <a:schemeClr val="dk1"/>
              </a:solidFill>
              <a:latin typeface="Calibri"/>
              <a:ea typeface="Calibri"/>
              <a:cs typeface="Calibri"/>
              <a:sym typeface="Calibri"/>
            </a:endParaRPr>
          </a:p>
        </p:txBody>
      </p:sp>
      <p:sp>
        <p:nvSpPr>
          <p:cNvPr id="216" name="Google Shape;216;p7"/>
          <p:cNvSpPr txBox="1"/>
          <p:nvPr/>
        </p:nvSpPr>
        <p:spPr>
          <a:xfrm>
            <a:off x="512064" y="1956816"/>
            <a:ext cx="5358384" cy="969264"/>
          </a:xfrm>
          <a:prstGeom prst="rect">
            <a:avLst/>
          </a:prstGeom>
          <a:noFill/>
          <a:ln>
            <a:noFill/>
          </a:ln>
        </p:spPr>
        <p:txBody>
          <a:bodyPr anchorCtr="0" anchor="ctr" bIns="0" lIns="0" spcFirstLastPara="1" rIns="0" wrap="square" tIns="0">
            <a:noAutofit/>
          </a:bodyPr>
          <a:lstStyle/>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Issue  : </a:t>
            </a:r>
            <a:r>
              <a:rPr b="0" i="0" lang="en-US" sz="850" u="none" cap="none" strike="noStrike">
                <a:solidFill>
                  <a:srgbClr val="2B2621"/>
                </a:solidFill>
                <a:latin typeface="Arial"/>
                <a:ea typeface="Arial"/>
                <a:cs typeface="Arial"/>
                <a:sym typeface="Arial"/>
              </a:rPr>
              <a:t>Dates stored as YYMMDD integers (930705); birth_number hides gender and date of birth.</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Why it matters :  </a:t>
            </a:r>
            <a:r>
              <a:rPr b="0" i="0" lang="en-US" sz="850" u="none" cap="none" strike="noStrike">
                <a:solidFill>
                  <a:srgbClr val="2B2621"/>
                </a:solidFill>
                <a:latin typeface="Arial"/>
                <a:ea typeface="Arial"/>
                <a:cs typeface="Arial"/>
                <a:sym typeface="Arial"/>
              </a:rPr>
              <a:t>Time ordering is the backbone of the analysis, and age and gender are standard risk covariates.</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Decision  : </a:t>
            </a:r>
            <a:r>
              <a:rPr b="0" i="0" lang="en-US" sz="850" u="none" cap="none" strike="noStrike">
                <a:solidFill>
                  <a:srgbClr val="2B2621"/>
                </a:solidFill>
                <a:latin typeface="Arial"/>
                <a:ea typeface="Arial"/>
                <a:cs typeface="Arial"/>
                <a:sym typeface="Arial"/>
              </a:rPr>
              <a:t>Converted to datetime with the century forced to 19, decoded birth_number into gender and birth_date. Without the explicit century pandas reads 11 as 2011 and ages go negative.</a:t>
            </a:r>
            <a:endParaRPr b="0" i="0" sz="850" u="none" cap="none" strike="noStrike">
              <a:solidFill>
                <a:schemeClr val="dk1"/>
              </a:solidFill>
              <a:latin typeface="Calibri"/>
              <a:ea typeface="Calibri"/>
              <a:cs typeface="Calibri"/>
              <a:sym typeface="Calibri"/>
            </a:endParaRPr>
          </a:p>
        </p:txBody>
      </p:sp>
      <p:sp>
        <p:nvSpPr>
          <p:cNvPr id="217" name="Google Shape;217;p7"/>
          <p:cNvSpPr/>
          <p:nvPr/>
        </p:nvSpPr>
        <p:spPr>
          <a:xfrm>
            <a:off x="6172200" y="1536192"/>
            <a:ext cx="5650992" cy="1463040"/>
          </a:xfrm>
          <a:prstGeom prst="roundRect">
            <a:avLst>
              <a:gd fmla="val 3750"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7"/>
          <p:cNvSpPr/>
          <p:nvPr/>
        </p:nvSpPr>
        <p:spPr>
          <a:xfrm>
            <a:off x="6318504" y="1655064"/>
            <a:ext cx="1481328" cy="237744"/>
          </a:xfrm>
          <a:prstGeom prst="roundRect">
            <a:avLst>
              <a:gd fmla="val 38462" name="adj"/>
            </a:avLst>
          </a:prstGeom>
          <a:solidFill>
            <a:srgbClr val="F5B301"/>
          </a:solidFill>
          <a:ln cap="flat" cmpd="sng" w="9525">
            <a:solidFill>
              <a:srgbClr val="F5B30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7"/>
          <p:cNvSpPr txBox="1"/>
          <p:nvPr/>
        </p:nvSpPr>
        <p:spPr>
          <a:xfrm>
            <a:off x="6318504" y="1664208"/>
            <a:ext cx="1481328"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800"/>
              <a:buFont typeface="Arial"/>
              <a:buNone/>
            </a:pPr>
            <a:r>
              <a:rPr b="1" i="0" lang="en-US" sz="800" u="none" cap="none" strike="noStrike">
                <a:solidFill>
                  <a:srgbClr val="2B2621"/>
                </a:solidFill>
                <a:latin typeface="Arial"/>
                <a:ea typeface="Arial"/>
                <a:cs typeface="Arial"/>
                <a:sym typeface="Arial"/>
              </a:rPr>
              <a:t>MISSING VALUES</a:t>
            </a:r>
            <a:endParaRPr b="0" i="0" sz="800" u="none" cap="none" strike="noStrike">
              <a:solidFill>
                <a:schemeClr val="dk1"/>
              </a:solidFill>
              <a:latin typeface="Calibri"/>
              <a:ea typeface="Calibri"/>
              <a:cs typeface="Calibri"/>
              <a:sym typeface="Calibri"/>
            </a:endParaRPr>
          </a:p>
        </p:txBody>
      </p:sp>
      <p:sp>
        <p:nvSpPr>
          <p:cNvPr id="220" name="Google Shape;220;p7"/>
          <p:cNvSpPr txBox="1"/>
          <p:nvPr/>
        </p:nvSpPr>
        <p:spPr>
          <a:xfrm>
            <a:off x="6318504" y="1956816"/>
            <a:ext cx="5358300" cy="969300"/>
          </a:xfrm>
          <a:prstGeom prst="rect">
            <a:avLst/>
          </a:prstGeom>
          <a:noFill/>
          <a:ln>
            <a:noFill/>
          </a:ln>
        </p:spPr>
        <p:txBody>
          <a:bodyPr anchorCtr="0" anchor="ctr" bIns="0" lIns="0" spcFirstLastPara="1" rIns="0" wrap="square" tIns="0">
            <a:noAutofit/>
          </a:bodyPr>
          <a:lstStyle/>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Issue  : </a:t>
            </a:r>
            <a:r>
              <a:rPr b="0" i="0" lang="en-US" sz="850" u="none" cap="none" strike="noStrike">
                <a:solidFill>
                  <a:srgbClr val="2B2621"/>
                </a:solidFill>
                <a:latin typeface="Arial"/>
                <a:ea typeface="Arial"/>
                <a:cs typeface="Arial"/>
                <a:sym typeface="Arial"/>
              </a:rPr>
              <a:t>Four trans columns incomplete: bank 74.1%, account 72.0%, k_symbol 50.7%, operation 17.3%. k_symbol also hid 53,433 blank strings.</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Why it matters : </a:t>
            </a:r>
            <a:r>
              <a:rPr b="0" i="0" lang="en-US" sz="850" u="none" cap="none" strike="noStrike">
                <a:solidFill>
                  <a:srgbClr val="2B2621"/>
                </a:solidFill>
                <a:latin typeface="Arial"/>
                <a:ea typeface="Arial"/>
                <a:cs typeface="Arial"/>
                <a:sym typeface="Arial"/>
              </a:rPr>
              <a:t>Imputing them would be fabrication, and dropping the rows would destroy three quarters of the behavioural data.</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Decision  : </a:t>
            </a:r>
            <a:r>
              <a:rPr b="0" i="0" lang="en-US" sz="850" u="none" cap="none" strike="noStrike">
                <a:solidFill>
                  <a:srgbClr val="2B2621"/>
                </a:solidFill>
                <a:latin typeface="Arial"/>
                <a:ea typeface="Arial"/>
                <a:cs typeface="Arial"/>
                <a:sym typeface="Arial"/>
              </a:rPr>
              <a:t>Kept every row, imputed nothing. The blanks are structural: a cash deposit has no counterparty bank. Analysis relies on amount, balance, date and type, all fully populated.</a:t>
            </a:r>
            <a:endParaRPr b="0" i="0" sz="850" u="none" cap="none" strike="noStrike">
              <a:solidFill>
                <a:schemeClr val="dk1"/>
              </a:solidFill>
              <a:latin typeface="Calibri"/>
              <a:ea typeface="Calibri"/>
              <a:cs typeface="Calibri"/>
              <a:sym typeface="Calibri"/>
            </a:endParaRPr>
          </a:p>
        </p:txBody>
      </p:sp>
      <p:sp>
        <p:nvSpPr>
          <p:cNvPr id="221" name="Google Shape;221;p7"/>
          <p:cNvSpPr/>
          <p:nvPr/>
        </p:nvSpPr>
        <p:spPr>
          <a:xfrm>
            <a:off x="365760" y="3108960"/>
            <a:ext cx="5650992" cy="1463040"/>
          </a:xfrm>
          <a:prstGeom prst="roundRect">
            <a:avLst>
              <a:gd fmla="val 3750"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p7"/>
          <p:cNvSpPr/>
          <p:nvPr/>
        </p:nvSpPr>
        <p:spPr>
          <a:xfrm>
            <a:off x="512064" y="3227832"/>
            <a:ext cx="1481328" cy="237744"/>
          </a:xfrm>
          <a:prstGeom prst="roundRect">
            <a:avLst>
              <a:gd fmla="val 38462" name="adj"/>
            </a:avLst>
          </a:prstGeom>
          <a:solidFill>
            <a:srgbClr val="F5B301"/>
          </a:solidFill>
          <a:ln cap="flat" cmpd="sng" w="9525">
            <a:solidFill>
              <a:srgbClr val="F5B30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7"/>
          <p:cNvSpPr txBox="1"/>
          <p:nvPr/>
        </p:nvSpPr>
        <p:spPr>
          <a:xfrm>
            <a:off x="512064" y="3236976"/>
            <a:ext cx="1481328"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800"/>
              <a:buFont typeface="Arial"/>
              <a:buNone/>
            </a:pPr>
            <a:r>
              <a:rPr b="1" i="0" lang="en-US" sz="800" u="none" cap="none" strike="noStrike">
                <a:solidFill>
                  <a:srgbClr val="2B2621"/>
                </a:solidFill>
                <a:latin typeface="Arial"/>
                <a:ea typeface="Arial"/>
                <a:cs typeface="Arial"/>
                <a:sym typeface="Arial"/>
              </a:rPr>
              <a:t>DUPLICATES</a:t>
            </a:r>
            <a:endParaRPr b="0" i="0" sz="800" u="none" cap="none" strike="noStrike">
              <a:solidFill>
                <a:schemeClr val="dk1"/>
              </a:solidFill>
              <a:latin typeface="Calibri"/>
              <a:ea typeface="Calibri"/>
              <a:cs typeface="Calibri"/>
              <a:sym typeface="Calibri"/>
            </a:endParaRPr>
          </a:p>
        </p:txBody>
      </p:sp>
      <p:sp>
        <p:nvSpPr>
          <p:cNvPr id="224" name="Google Shape;224;p7"/>
          <p:cNvSpPr txBox="1"/>
          <p:nvPr/>
        </p:nvSpPr>
        <p:spPr>
          <a:xfrm>
            <a:off x="512064" y="3529584"/>
            <a:ext cx="5358384" cy="969264"/>
          </a:xfrm>
          <a:prstGeom prst="rect">
            <a:avLst/>
          </a:prstGeom>
          <a:noFill/>
          <a:ln>
            <a:noFill/>
          </a:ln>
        </p:spPr>
        <p:txBody>
          <a:bodyPr anchorCtr="0" anchor="ctr" bIns="0" lIns="0" spcFirstLastPara="1" rIns="0" wrap="square" tIns="0">
            <a:noAutofit/>
          </a:bodyPr>
          <a:lstStyle/>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Issue :  </a:t>
            </a:r>
            <a:r>
              <a:rPr b="0" i="0" lang="en-US" sz="850" u="none" cap="none" strike="noStrike">
                <a:solidFill>
                  <a:srgbClr val="2B2621"/>
                </a:solidFill>
                <a:latin typeface="Arial"/>
                <a:ea typeface="Arial"/>
                <a:cs typeface="Arial"/>
                <a:sym typeface="Arial"/>
              </a:rPr>
              <a:t>No full-row duplicates and no repeated primary key in any of the eight tables.</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Why it matters :  </a:t>
            </a:r>
            <a:r>
              <a:rPr b="0" i="0" lang="en-US" sz="850" u="none" cap="none" strike="noStrike">
                <a:solidFill>
                  <a:srgbClr val="2B2621"/>
                </a:solidFill>
                <a:latin typeface="Arial"/>
                <a:ea typeface="Arial"/>
                <a:cs typeface="Arial"/>
                <a:sym typeface="Arial"/>
              </a:rPr>
              <a:t>The real duplication risk is created by the joins, not by the source files.</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Decision  </a:t>
            </a:r>
            <a:r>
              <a:rPr b="0" i="0" lang="en-US" sz="850" u="none" cap="none" strike="noStrike">
                <a:solidFill>
                  <a:srgbClr val="2B2621"/>
                </a:solidFill>
                <a:latin typeface="Arial"/>
                <a:ea typeface="Arial"/>
                <a:cs typeface="Arial"/>
                <a:sym typeface="Arial"/>
              </a:rPr>
              <a:t>No rows removed. The disp join is filtered to OWNER and the loan count asserted at 682 after the merge, proving no multiplication occurred.</a:t>
            </a:r>
            <a:endParaRPr b="0" i="0" sz="850" u="none" cap="none" strike="noStrike">
              <a:solidFill>
                <a:schemeClr val="dk1"/>
              </a:solidFill>
              <a:latin typeface="Calibri"/>
              <a:ea typeface="Calibri"/>
              <a:cs typeface="Calibri"/>
              <a:sym typeface="Calibri"/>
            </a:endParaRPr>
          </a:p>
        </p:txBody>
      </p:sp>
      <p:sp>
        <p:nvSpPr>
          <p:cNvPr id="225" name="Google Shape;225;p7"/>
          <p:cNvSpPr/>
          <p:nvPr/>
        </p:nvSpPr>
        <p:spPr>
          <a:xfrm>
            <a:off x="6172200" y="3108960"/>
            <a:ext cx="5650992" cy="1463040"/>
          </a:xfrm>
          <a:prstGeom prst="roundRect">
            <a:avLst>
              <a:gd fmla="val 3750"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7"/>
          <p:cNvSpPr/>
          <p:nvPr/>
        </p:nvSpPr>
        <p:spPr>
          <a:xfrm>
            <a:off x="6318504" y="3227832"/>
            <a:ext cx="1481328" cy="237744"/>
          </a:xfrm>
          <a:prstGeom prst="roundRect">
            <a:avLst>
              <a:gd fmla="val 38462" name="adj"/>
            </a:avLst>
          </a:prstGeom>
          <a:solidFill>
            <a:srgbClr val="F5B301"/>
          </a:solidFill>
          <a:ln cap="flat" cmpd="sng" w="9525">
            <a:solidFill>
              <a:srgbClr val="F5B30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7"/>
          <p:cNvSpPr txBox="1"/>
          <p:nvPr/>
        </p:nvSpPr>
        <p:spPr>
          <a:xfrm>
            <a:off x="6318504" y="3236976"/>
            <a:ext cx="1481328"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2621"/>
              </a:buClr>
              <a:buSzPts val="800"/>
              <a:buFont typeface="Arial"/>
              <a:buNone/>
            </a:pPr>
            <a:r>
              <a:rPr b="1" i="0" lang="en-US" sz="800" u="none" cap="none" strike="noStrike">
                <a:solidFill>
                  <a:srgbClr val="2B2621"/>
                </a:solidFill>
                <a:latin typeface="Arial"/>
                <a:ea typeface="Arial"/>
                <a:cs typeface="Arial"/>
                <a:sym typeface="Arial"/>
              </a:rPr>
              <a:t>OUTLIERS</a:t>
            </a:r>
            <a:endParaRPr b="0" i="0" sz="800" u="none" cap="none" strike="noStrike">
              <a:solidFill>
                <a:schemeClr val="dk1"/>
              </a:solidFill>
              <a:latin typeface="Calibri"/>
              <a:ea typeface="Calibri"/>
              <a:cs typeface="Calibri"/>
              <a:sym typeface="Calibri"/>
            </a:endParaRPr>
          </a:p>
        </p:txBody>
      </p:sp>
      <p:sp>
        <p:nvSpPr>
          <p:cNvPr id="228" name="Google Shape;228;p7"/>
          <p:cNvSpPr txBox="1"/>
          <p:nvPr/>
        </p:nvSpPr>
        <p:spPr>
          <a:xfrm>
            <a:off x="6318504" y="3529584"/>
            <a:ext cx="5358384" cy="969264"/>
          </a:xfrm>
          <a:prstGeom prst="rect">
            <a:avLst/>
          </a:prstGeom>
          <a:noFill/>
          <a:ln>
            <a:noFill/>
          </a:ln>
        </p:spPr>
        <p:txBody>
          <a:bodyPr anchorCtr="0" anchor="ctr" bIns="0" lIns="0" spcFirstLastPara="1" rIns="0" wrap="square" tIns="0">
            <a:noAutofit/>
          </a:bodyPr>
          <a:lstStyle/>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Issue  : </a:t>
            </a:r>
            <a:r>
              <a:rPr b="0" i="0" lang="en-US" sz="850" u="none" cap="none" strike="noStrike">
                <a:solidFill>
                  <a:srgbClr val="2B2621"/>
                </a:solidFill>
                <a:latin typeface="Arial"/>
                <a:ea typeface="Arial"/>
                <a:cs typeface="Arial"/>
                <a:sym typeface="Arial"/>
              </a:rPr>
              <a:t>IQR flags 120,215 transaction amounts (11.4%) and 18 loan amounts; 2,999 transactions sit at a negative balance.</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Why it matters :  </a:t>
            </a:r>
            <a:r>
              <a:rPr b="0" i="0" lang="en-US" sz="850" u="none" cap="none" strike="noStrike">
                <a:solidFill>
                  <a:srgbClr val="2B2621"/>
                </a:solidFill>
                <a:latin typeface="Arial"/>
                <a:ea typeface="Arial"/>
                <a:cs typeface="Arial"/>
                <a:sym typeface="Arial"/>
              </a:rPr>
              <a:t>Removing them is the default reflex and would have been the single most damaging decision in this project.</a:t>
            </a:r>
            <a:endParaRPr b="0" i="0" sz="850" u="none" cap="none" strike="noStrike">
              <a:solidFill>
                <a:schemeClr val="dk1"/>
              </a:solidFill>
              <a:latin typeface="Calibri"/>
              <a:ea typeface="Calibri"/>
              <a:cs typeface="Calibri"/>
              <a:sym typeface="Calibri"/>
            </a:endParaRPr>
          </a:p>
          <a:p>
            <a:pPr indent="0" lvl="0" marL="0" marR="0" rtl="0" algn="l">
              <a:lnSpc>
                <a:spcPct val="152941"/>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Decision : </a:t>
            </a:r>
            <a:r>
              <a:rPr b="0" i="0" lang="en-US" sz="850" u="none" cap="none" strike="noStrike">
                <a:solidFill>
                  <a:srgbClr val="2B2621"/>
                </a:solidFill>
                <a:latin typeface="Arial"/>
                <a:ea typeface="Arial"/>
                <a:cs typeface="Arial"/>
                <a:sym typeface="Arial"/>
              </a:rPr>
              <a:t>Retained all of them. Distributions are right skewed by nature and 18 of 682 loans is 2.6% of the target. Negative balances became a feature instead.</a:t>
            </a:r>
            <a:endParaRPr b="0" i="0" sz="850" u="none" cap="none" strike="noStrike">
              <a:solidFill>
                <a:schemeClr val="dk1"/>
              </a:solidFill>
              <a:latin typeface="Calibri"/>
              <a:ea typeface="Calibri"/>
              <a:cs typeface="Calibri"/>
              <a:sym typeface="Calibri"/>
            </a:endParaRPr>
          </a:p>
        </p:txBody>
      </p:sp>
      <p:sp>
        <p:nvSpPr>
          <p:cNvPr id="229" name="Google Shape;229;p7"/>
          <p:cNvSpPr/>
          <p:nvPr/>
        </p:nvSpPr>
        <p:spPr>
          <a:xfrm>
            <a:off x="365760" y="4754880"/>
            <a:ext cx="11457432" cy="1170432"/>
          </a:xfrm>
          <a:prstGeom prst="roundRect">
            <a:avLst>
              <a:gd fmla="val 4688"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7"/>
          <p:cNvSpPr txBox="1"/>
          <p:nvPr/>
        </p:nvSpPr>
        <p:spPr>
          <a:xfrm>
            <a:off x="566928" y="4882896"/>
            <a:ext cx="146304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23A2E"/>
              </a:buClr>
              <a:buSzPts val="1700"/>
              <a:buFont typeface="Bookman Old Style"/>
              <a:buNone/>
            </a:pPr>
            <a:r>
              <a:rPr b="1" i="0" lang="en-US" sz="1700" u="none" cap="none" strike="noStrike">
                <a:solidFill>
                  <a:srgbClr val="B23A2E"/>
                </a:solidFill>
                <a:latin typeface="Bookman Old Style"/>
                <a:ea typeface="Bookman Old Style"/>
                <a:cs typeface="Bookman Old Style"/>
                <a:sym typeface="Bookman Old Style"/>
              </a:rPr>
              <a:t>120,215</a:t>
            </a:r>
            <a:endParaRPr b="0" i="0" sz="1700" u="none" cap="none" strike="noStrike">
              <a:solidFill>
                <a:schemeClr val="dk1"/>
              </a:solidFill>
              <a:latin typeface="Calibri"/>
              <a:ea typeface="Calibri"/>
              <a:cs typeface="Calibri"/>
              <a:sym typeface="Calibri"/>
            </a:endParaRPr>
          </a:p>
        </p:txBody>
      </p:sp>
      <p:sp>
        <p:nvSpPr>
          <p:cNvPr id="231" name="Google Shape;231;p7"/>
          <p:cNvSpPr txBox="1"/>
          <p:nvPr/>
        </p:nvSpPr>
        <p:spPr>
          <a:xfrm>
            <a:off x="566928" y="5193792"/>
            <a:ext cx="1463040" cy="45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transaction amounts flagged by IQR</a:t>
            </a:r>
            <a:endParaRPr b="0" i="0" sz="750" u="none" cap="none" strike="noStrike">
              <a:solidFill>
                <a:schemeClr val="dk1"/>
              </a:solidFill>
              <a:latin typeface="Calibri"/>
              <a:ea typeface="Calibri"/>
              <a:cs typeface="Calibri"/>
              <a:sym typeface="Calibri"/>
            </a:endParaRPr>
          </a:p>
        </p:txBody>
      </p:sp>
      <p:sp>
        <p:nvSpPr>
          <p:cNvPr id="232" name="Google Shape;232;p7"/>
          <p:cNvSpPr txBox="1"/>
          <p:nvPr/>
        </p:nvSpPr>
        <p:spPr>
          <a:xfrm>
            <a:off x="2139696" y="4882896"/>
            <a:ext cx="146304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23A2E"/>
              </a:buClr>
              <a:buSzPts val="1700"/>
              <a:buFont typeface="Bookman Old Style"/>
              <a:buNone/>
            </a:pPr>
            <a:r>
              <a:rPr b="1" i="0" lang="en-US" sz="1700" u="none" cap="none" strike="noStrike">
                <a:solidFill>
                  <a:srgbClr val="B23A2E"/>
                </a:solidFill>
                <a:latin typeface="Bookman Old Style"/>
                <a:ea typeface="Bookman Old Style"/>
                <a:cs typeface="Bookman Old Style"/>
                <a:sym typeface="Bookman Old Style"/>
              </a:rPr>
              <a:t>2,999</a:t>
            </a:r>
            <a:endParaRPr b="0" i="0" sz="1700" u="none" cap="none" strike="noStrike">
              <a:solidFill>
                <a:schemeClr val="dk1"/>
              </a:solidFill>
              <a:latin typeface="Calibri"/>
              <a:ea typeface="Calibri"/>
              <a:cs typeface="Calibri"/>
              <a:sym typeface="Calibri"/>
            </a:endParaRPr>
          </a:p>
        </p:txBody>
      </p:sp>
      <p:sp>
        <p:nvSpPr>
          <p:cNvPr id="233" name="Google Shape;233;p7"/>
          <p:cNvSpPr txBox="1"/>
          <p:nvPr/>
        </p:nvSpPr>
        <p:spPr>
          <a:xfrm>
            <a:off x="2139696" y="5193792"/>
            <a:ext cx="1463040" cy="45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transactions at a negative balance</a:t>
            </a:r>
            <a:endParaRPr b="0" i="0" sz="750" u="none" cap="none" strike="noStrike">
              <a:solidFill>
                <a:schemeClr val="dk1"/>
              </a:solidFill>
              <a:latin typeface="Calibri"/>
              <a:ea typeface="Calibri"/>
              <a:cs typeface="Calibri"/>
              <a:sym typeface="Calibri"/>
            </a:endParaRPr>
          </a:p>
        </p:txBody>
      </p:sp>
      <p:sp>
        <p:nvSpPr>
          <p:cNvPr id="234" name="Google Shape;234;p7"/>
          <p:cNvSpPr txBox="1"/>
          <p:nvPr/>
        </p:nvSpPr>
        <p:spPr>
          <a:xfrm>
            <a:off x="3712464" y="4882896"/>
            <a:ext cx="146304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23A2E"/>
              </a:buClr>
              <a:buSzPts val="1700"/>
              <a:buFont typeface="Bookman Old Style"/>
              <a:buNone/>
            </a:pPr>
            <a:r>
              <a:rPr b="1" i="0" lang="en-US" sz="1700" u="none" cap="none" strike="noStrike">
                <a:solidFill>
                  <a:srgbClr val="B23A2E"/>
                </a:solidFill>
                <a:latin typeface="Bookman Old Style"/>
                <a:ea typeface="Bookman Old Style"/>
                <a:cs typeface="Bookman Old Style"/>
                <a:sym typeface="Bookman Old Style"/>
              </a:rPr>
              <a:t>0</a:t>
            </a:r>
            <a:endParaRPr b="0" i="0" sz="1700" u="none" cap="none" strike="noStrike">
              <a:solidFill>
                <a:schemeClr val="dk1"/>
              </a:solidFill>
              <a:latin typeface="Calibri"/>
              <a:ea typeface="Calibri"/>
              <a:cs typeface="Calibri"/>
              <a:sym typeface="Calibri"/>
            </a:endParaRPr>
          </a:p>
        </p:txBody>
      </p:sp>
      <p:sp>
        <p:nvSpPr>
          <p:cNvPr id="235" name="Google Shape;235;p7"/>
          <p:cNvSpPr txBox="1"/>
          <p:nvPr/>
        </p:nvSpPr>
        <p:spPr>
          <a:xfrm>
            <a:off x="3712464" y="5193792"/>
            <a:ext cx="1463040" cy="45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rows removed or winsorised</a:t>
            </a:r>
            <a:endParaRPr b="0" i="0" sz="750" u="none" cap="none" strike="noStrike">
              <a:solidFill>
                <a:schemeClr val="dk1"/>
              </a:solidFill>
              <a:latin typeface="Calibri"/>
              <a:ea typeface="Calibri"/>
              <a:cs typeface="Calibri"/>
              <a:sym typeface="Calibri"/>
            </a:endParaRPr>
          </a:p>
        </p:txBody>
      </p:sp>
      <p:sp>
        <p:nvSpPr>
          <p:cNvPr id="236" name="Google Shape;236;p7"/>
          <p:cNvSpPr txBox="1"/>
          <p:nvPr/>
        </p:nvSpPr>
        <p:spPr>
          <a:xfrm>
            <a:off x="5285232" y="4882896"/>
            <a:ext cx="146304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23A2E"/>
              </a:buClr>
              <a:buSzPts val="1700"/>
              <a:buFont typeface="Bookman Old Style"/>
              <a:buNone/>
            </a:pPr>
            <a:r>
              <a:rPr b="1" i="0" lang="en-US" sz="1700" u="none" cap="none" strike="noStrike">
                <a:solidFill>
                  <a:srgbClr val="B23A2E"/>
                </a:solidFill>
                <a:latin typeface="Bookman Old Style"/>
                <a:ea typeface="Bookman Old Style"/>
                <a:cs typeface="Bookman Old Style"/>
                <a:sym typeface="Bookman Old Style"/>
              </a:rPr>
              <a:t>35.5%</a:t>
            </a:r>
            <a:endParaRPr b="0" i="0" sz="1700" u="none" cap="none" strike="noStrike">
              <a:solidFill>
                <a:schemeClr val="dk1"/>
              </a:solidFill>
              <a:latin typeface="Calibri"/>
              <a:ea typeface="Calibri"/>
              <a:cs typeface="Calibri"/>
              <a:sym typeface="Calibri"/>
            </a:endParaRPr>
          </a:p>
        </p:txBody>
      </p:sp>
      <p:sp>
        <p:nvSpPr>
          <p:cNvPr id="237" name="Google Shape;237;p7"/>
          <p:cNvSpPr txBox="1"/>
          <p:nvPr/>
        </p:nvSpPr>
        <p:spPr>
          <a:xfrm>
            <a:off x="5285232" y="5193792"/>
            <a:ext cx="1463040" cy="457200"/>
          </a:xfrm>
          <a:prstGeom prst="rect">
            <a:avLst/>
          </a:prstGeom>
          <a:noFill/>
          <a:ln>
            <a:noFill/>
          </a:ln>
        </p:spPr>
        <p:txBody>
          <a:bodyPr anchorCtr="0" anchor="ctr" bIns="0" lIns="0" spcFirstLastPara="1" rIns="0" wrap="square" tIns="0">
            <a:noAutofit/>
          </a:bodyPr>
          <a:lstStyle/>
          <a:p>
            <a:pPr indent="0" lvl="0" marL="0" marR="0" rtl="0" algn="l">
              <a:lnSpc>
                <a:spcPct val="12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of bad loans caught by the feature built from them</a:t>
            </a:r>
            <a:endParaRPr b="0" i="0" sz="750" u="none" cap="none" strike="noStrike">
              <a:solidFill>
                <a:schemeClr val="dk1"/>
              </a:solidFill>
              <a:latin typeface="Calibri"/>
              <a:ea typeface="Calibri"/>
              <a:cs typeface="Calibri"/>
              <a:sym typeface="Calibri"/>
            </a:endParaRPr>
          </a:p>
        </p:txBody>
      </p:sp>
      <p:sp>
        <p:nvSpPr>
          <p:cNvPr id="238" name="Google Shape;238;p7"/>
          <p:cNvSpPr txBox="1"/>
          <p:nvPr/>
        </p:nvSpPr>
        <p:spPr>
          <a:xfrm>
            <a:off x="6949440" y="4882896"/>
            <a:ext cx="4663440" cy="9144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120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No-leakage rule:</a:t>
            </a:r>
            <a:r>
              <a:rPr b="0" i="0" lang="en-US" sz="1100" u="none" cap="none" strike="noStrike">
                <a:solidFill>
                  <a:schemeClr val="dk1"/>
                </a:solidFill>
                <a:latin typeface="Arial"/>
                <a:ea typeface="Arial"/>
                <a:cs typeface="Arial"/>
                <a:sym typeface="Arial"/>
              </a:rPr>
              <a:t> Only transactions before the loan date are used, ensuring predictors reflect information available at the time of the credit decision</a:t>
            </a:r>
            <a:endParaRPr b="0" i="0" sz="1100" u="none" cap="none" strike="noStrike">
              <a:solidFill>
                <a:schemeClr val="dk1"/>
              </a:solidFill>
              <a:latin typeface="Arial"/>
              <a:ea typeface="Arial"/>
              <a:cs typeface="Arial"/>
              <a:sym typeface="Arial"/>
            </a:endParaRPr>
          </a:p>
          <a:p>
            <a:pPr indent="0" lvl="0" marL="0" marR="0" rtl="0" algn="l">
              <a:lnSpc>
                <a:spcPct val="152941"/>
              </a:lnSpc>
              <a:spcBef>
                <a:spcPts val="1200"/>
              </a:spcBef>
              <a:spcAft>
                <a:spcPts val="0"/>
              </a:spcAft>
              <a:buClr>
                <a:srgbClr val="8A6D0B"/>
              </a:buClr>
              <a:buSzPts val="850"/>
              <a:buFont typeface="Arial"/>
              <a:buNone/>
            </a:pPr>
            <a:r>
              <a:t/>
            </a:r>
            <a:endParaRPr b="1" i="0" sz="850" u="none" cap="none" strike="noStrike">
              <a:solidFill>
                <a:srgbClr val="8A6D0B"/>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243" name="Shape 243"/>
        <p:cNvGrpSpPr/>
        <p:nvPr/>
      </p:nvGrpSpPr>
      <p:grpSpPr>
        <a:xfrm>
          <a:off x="0" y="0"/>
          <a:ext cx="0" cy="0"/>
          <a:chOff x="0" y="0"/>
          <a:chExt cx="0" cy="0"/>
        </a:xfrm>
      </p:grpSpPr>
      <p:sp>
        <p:nvSpPr>
          <p:cNvPr id="244" name="Google Shape;244;p8"/>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TREND IDENTIFICATION</a:t>
            </a:r>
            <a:endParaRPr b="0" i="0" sz="1000" u="none" cap="none" strike="noStrike">
              <a:solidFill>
                <a:schemeClr val="dk1"/>
              </a:solidFill>
              <a:latin typeface="Calibri"/>
              <a:ea typeface="Calibri"/>
              <a:cs typeface="Calibri"/>
              <a:sym typeface="Calibri"/>
            </a:endParaRPr>
          </a:p>
        </p:txBody>
      </p:sp>
      <p:sp>
        <p:nvSpPr>
          <p:cNvPr id="245" name="Google Shape;245;p8"/>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8 / 21</a:t>
            </a:r>
            <a:endParaRPr b="0" i="0" sz="1000" u="none" cap="none" strike="noStrike">
              <a:solidFill>
                <a:schemeClr val="dk1"/>
              </a:solidFill>
              <a:latin typeface="Calibri"/>
              <a:ea typeface="Calibri"/>
              <a:cs typeface="Calibri"/>
              <a:sym typeface="Calibri"/>
            </a:endParaRPr>
          </a:p>
        </p:txBody>
      </p:sp>
      <p:sp>
        <p:nvSpPr>
          <p:cNvPr id="246" name="Google Shape;246;p8"/>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The 1998 drop is maturity bias, not better underwriting</a:t>
            </a:r>
            <a:endParaRPr b="0" i="0" sz="2600" u="none" cap="none" strike="noStrike">
              <a:solidFill>
                <a:schemeClr val="dk1"/>
              </a:solidFill>
              <a:latin typeface="Calibri"/>
              <a:ea typeface="Calibri"/>
              <a:cs typeface="Calibri"/>
              <a:sym typeface="Calibri"/>
            </a:endParaRPr>
          </a:p>
        </p:txBody>
      </p:sp>
      <p:sp>
        <p:nvSpPr>
          <p:cNvPr id="247" name="Google Shape;247;p8"/>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Problematic Loan Rate = (status B + D) ÷ total loans. Baseline 11.1%, 76 of 682 loans.</a:t>
            </a:r>
            <a:endParaRPr b="0" i="0" sz="1100" u="none" cap="none" strike="noStrike">
              <a:solidFill>
                <a:schemeClr val="dk1"/>
              </a:solidFill>
              <a:latin typeface="Calibri"/>
              <a:ea typeface="Calibri"/>
              <a:cs typeface="Calibri"/>
              <a:sym typeface="Calibri"/>
            </a:endParaRPr>
          </a:p>
        </p:txBody>
      </p:sp>
      <p:graphicFrame>
        <p:nvGraphicFramePr>
          <p:cNvPr id="248" name="Google Shape;248;p8"/>
          <p:cNvGraphicFramePr/>
          <p:nvPr/>
        </p:nvGraphicFramePr>
        <p:xfrm>
          <a:off x="365760" y="1554480"/>
          <a:ext cx="6400800" cy="3200400"/>
        </p:xfrm>
        <a:graphic>
          <a:graphicData uri="http://schemas.openxmlformats.org/drawingml/2006/chart">
            <c:chart r:id="rId3"/>
          </a:graphicData>
        </a:graphic>
      </p:graphicFrame>
      <p:sp>
        <p:nvSpPr>
          <p:cNvPr id="249" name="Google Shape;249;p8"/>
          <p:cNvSpPr/>
          <p:nvPr/>
        </p:nvSpPr>
        <p:spPr>
          <a:xfrm>
            <a:off x="6967728" y="1554480"/>
            <a:ext cx="4855464" cy="3200400"/>
          </a:xfrm>
          <a:prstGeom prst="roundRect">
            <a:avLst>
              <a:gd fmla="val 1714"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 name="Google Shape;250;p8"/>
          <p:cNvSpPr txBox="1"/>
          <p:nvPr/>
        </p:nvSpPr>
        <p:spPr>
          <a:xfrm>
            <a:off x="7150608" y="1700784"/>
            <a:ext cx="448056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WHAT HAPPENED</a:t>
            </a:r>
            <a:endParaRPr b="0" i="0" sz="950" u="none" cap="none" strike="noStrike">
              <a:solidFill>
                <a:schemeClr val="dk1"/>
              </a:solidFill>
              <a:latin typeface="Calibri"/>
              <a:ea typeface="Calibri"/>
              <a:cs typeface="Calibri"/>
              <a:sym typeface="Calibri"/>
            </a:endParaRPr>
          </a:p>
        </p:txBody>
      </p:sp>
      <p:sp>
        <p:nvSpPr>
          <p:cNvPr id="251" name="Google Shape;251;p8"/>
          <p:cNvSpPr txBox="1"/>
          <p:nvPr/>
        </p:nvSpPr>
        <p:spPr>
          <a:xfrm>
            <a:off x="7150608" y="1938528"/>
            <a:ext cx="4480560" cy="731520"/>
          </a:xfrm>
          <a:prstGeom prst="rect">
            <a:avLst/>
          </a:prstGeom>
          <a:noFill/>
          <a:ln>
            <a:noFill/>
          </a:ln>
        </p:spPr>
        <p:txBody>
          <a:bodyPr anchorCtr="0" anchor="ctr" bIns="0" lIns="0" spcFirstLastPara="1" rIns="0" wrap="square" tIns="0">
            <a:noAutofit/>
          </a:bodyPr>
          <a:lstStyle/>
          <a:p>
            <a:pPr indent="0" lvl="0" marL="0" marR="0" rtl="0" algn="l">
              <a:lnSpc>
                <a:spcPct val="144444"/>
              </a:lnSpc>
              <a:spcBef>
                <a:spcPts val="0"/>
              </a:spcBef>
              <a:spcAft>
                <a:spcPts val="0"/>
              </a:spcAft>
              <a:buClr>
                <a:srgbClr val="2B2621"/>
              </a:buClr>
              <a:buSzPts val="900"/>
              <a:buFont typeface="Arial"/>
              <a:buNone/>
            </a:pPr>
            <a:r>
              <a:rPr b="0" i="0" lang="en-US" sz="1000" u="none" cap="none" strike="noStrike">
                <a:solidFill>
                  <a:srgbClr val="2B2621"/>
                </a:solidFill>
                <a:latin typeface="Arial"/>
                <a:ea typeface="Arial"/>
                <a:cs typeface="Arial"/>
                <a:sym typeface="Arial"/>
              </a:rPr>
              <a:t>The rate holds steady near 13 to 14% from 1994 to 1997, then collapses to 2.5% in 1998.</a:t>
            </a:r>
            <a:endParaRPr b="0" i="0" sz="1000" u="none" cap="none" strike="noStrike">
              <a:solidFill>
                <a:schemeClr val="dk1"/>
              </a:solidFill>
              <a:latin typeface="Calibri"/>
              <a:ea typeface="Calibri"/>
              <a:cs typeface="Calibri"/>
              <a:sym typeface="Calibri"/>
            </a:endParaRPr>
          </a:p>
        </p:txBody>
      </p:sp>
      <p:sp>
        <p:nvSpPr>
          <p:cNvPr id="252" name="Google Shape;252;p8"/>
          <p:cNvSpPr txBox="1"/>
          <p:nvPr/>
        </p:nvSpPr>
        <p:spPr>
          <a:xfrm>
            <a:off x="7150608" y="2724912"/>
            <a:ext cx="448056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WHY IT HAPPENED</a:t>
            </a:r>
            <a:endParaRPr b="0" i="0" sz="950" u="none" cap="none" strike="noStrike">
              <a:solidFill>
                <a:schemeClr val="dk1"/>
              </a:solidFill>
              <a:latin typeface="Calibri"/>
              <a:ea typeface="Calibri"/>
              <a:cs typeface="Calibri"/>
              <a:sym typeface="Calibri"/>
            </a:endParaRPr>
          </a:p>
        </p:txBody>
      </p:sp>
      <p:sp>
        <p:nvSpPr>
          <p:cNvPr id="253" name="Google Shape;253;p8"/>
          <p:cNvSpPr txBox="1"/>
          <p:nvPr/>
        </p:nvSpPr>
        <p:spPr>
          <a:xfrm>
            <a:off x="7150608" y="2962656"/>
            <a:ext cx="4480560" cy="731520"/>
          </a:xfrm>
          <a:prstGeom prst="rect">
            <a:avLst/>
          </a:prstGeom>
          <a:noFill/>
          <a:ln>
            <a:noFill/>
          </a:ln>
        </p:spPr>
        <p:txBody>
          <a:bodyPr anchorCtr="0" anchor="ctr" bIns="0" lIns="0" spcFirstLastPara="1" rIns="0" wrap="square" tIns="0">
            <a:noAutofit/>
          </a:bodyPr>
          <a:lstStyle/>
          <a:p>
            <a:pPr indent="0" lvl="0" marL="0" marR="0" rtl="0" algn="l">
              <a:lnSpc>
                <a:spcPct val="144444"/>
              </a:lnSpc>
              <a:spcBef>
                <a:spcPts val="0"/>
              </a:spcBef>
              <a:spcAft>
                <a:spcPts val="0"/>
              </a:spcAft>
              <a:buClr>
                <a:srgbClr val="2B2621"/>
              </a:buClr>
              <a:buSzPts val="900"/>
              <a:buFont typeface="Arial"/>
              <a:buNone/>
            </a:pPr>
            <a:r>
              <a:rPr b="0" i="0" lang="en-US" sz="1000" u="none" cap="none" strike="noStrike">
                <a:solidFill>
                  <a:srgbClr val="2B2621"/>
                </a:solidFill>
                <a:latin typeface="Arial"/>
                <a:ea typeface="Arial"/>
                <a:cs typeface="Arial"/>
                <a:sym typeface="Arial"/>
              </a:rPr>
              <a:t>Loans issued in 1998 had at most twelve months to deteriorate before the data ends, while a 1994 loan had five years. Many were 60-month contracts still in their first year.</a:t>
            </a:r>
            <a:endParaRPr b="0" i="0" sz="1000" u="none" cap="none" strike="noStrike">
              <a:solidFill>
                <a:schemeClr val="dk1"/>
              </a:solidFill>
              <a:latin typeface="Calibri"/>
              <a:ea typeface="Calibri"/>
              <a:cs typeface="Calibri"/>
              <a:sym typeface="Calibri"/>
            </a:endParaRPr>
          </a:p>
        </p:txBody>
      </p:sp>
      <p:sp>
        <p:nvSpPr>
          <p:cNvPr id="254" name="Google Shape;254;p8"/>
          <p:cNvSpPr txBox="1"/>
          <p:nvPr/>
        </p:nvSpPr>
        <p:spPr>
          <a:xfrm>
            <a:off x="7150608" y="3749040"/>
            <a:ext cx="448056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WHY IT MATTERS</a:t>
            </a:r>
            <a:endParaRPr b="0" i="0" sz="950" u="none" cap="none" strike="noStrike">
              <a:solidFill>
                <a:schemeClr val="dk1"/>
              </a:solidFill>
              <a:latin typeface="Calibri"/>
              <a:ea typeface="Calibri"/>
              <a:cs typeface="Calibri"/>
              <a:sym typeface="Calibri"/>
            </a:endParaRPr>
          </a:p>
        </p:txBody>
      </p:sp>
      <p:sp>
        <p:nvSpPr>
          <p:cNvPr id="255" name="Google Shape;255;p8"/>
          <p:cNvSpPr txBox="1"/>
          <p:nvPr/>
        </p:nvSpPr>
        <p:spPr>
          <a:xfrm>
            <a:off x="7150608" y="3986784"/>
            <a:ext cx="4480560" cy="731520"/>
          </a:xfrm>
          <a:prstGeom prst="rect">
            <a:avLst/>
          </a:prstGeom>
          <a:noFill/>
          <a:ln>
            <a:noFill/>
          </a:ln>
        </p:spPr>
        <p:txBody>
          <a:bodyPr anchorCtr="0" anchor="ctr" bIns="0" lIns="0" spcFirstLastPara="1" rIns="0" wrap="square" tIns="0">
            <a:noAutofit/>
          </a:bodyPr>
          <a:lstStyle/>
          <a:p>
            <a:pPr indent="0" lvl="0" marL="0" marR="0" rtl="0" algn="l">
              <a:lnSpc>
                <a:spcPct val="144444"/>
              </a:lnSpc>
              <a:spcBef>
                <a:spcPts val="0"/>
              </a:spcBef>
              <a:spcAft>
                <a:spcPts val="0"/>
              </a:spcAft>
              <a:buClr>
                <a:srgbClr val="2B2621"/>
              </a:buClr>
              <a:buSzPts val="900"/>
              <a:buFont typeface="Arial"/>
              <a:buNone/>
            </a:pPr>
            <a:r>
              <a:rPr b="0" i="0" lang="en-US" sz="1000" u="none" cap="none" strike="noStrike">
                <a:solidFill>
                  <a:srgbClr val="2B2621"/>
                </a:solidFill>
                <a:latin typeface="Arial"/>
                <a:ea typeface="Arial"/>
                <a:cs typeface="Arial"/>
                <a:sym typeface="Arial"/>
              </a:rPr>
              <a:t>Read as a real improvement, it would tell the bank its underwriting is already fixed. The honest baseline is the 13 to 14% of the mature cohorts.</a:t>
            </a:r>
            <a:endParaRPr b="0" i="0" sz="1000" u="none" cap="none" strike="noStrike">
              <a:solidFill>
                <a:schemeClr val="dk1"/>
              </a:solidFill>
              <a:latin typeface="Calibri"/>
              <a:ea typeface="Calibri"/>
              <a:cs typeface="Calibri"/>
              <a:sym typeface="Calibri"/>
            </a:endParaRPr>
          </a:p>
        </p:txBody>
      </p:sp>
      <p:sp>
        <p:nvSpPr>
          <p:cNvPr id="256" name="Google Shape;256;p8"/>
          <p:cNvSpPr/>
          <p:nvPr/>
        </p:nvSpPr>
        <p:spPr>
          <a:xfrm>
            <a:off x="365760" y="4882896"/>
            <a:ext cx="11457432" cy="1042416"/>
          </a:xfrm>
          <a:prstGeom prst="roundRect">
            <a:avLst>
              <a:gd fmla="val 5263"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8"/>
          <p:cNvSpPr txBox="1"/>
          <p:nvPr/>
        </p:nvSpPr>
        <p:spPr>
          <a:xfrm>
            <a:off x="566928" y="5029200"/>
            <a:ext cx="11064240" cy="786384"/>
          </a:xfrm>
          <a:prstGeom prst="rect">
            <a:avLst/>
          </a:prstGeom>
          <a:noFill/>
          <a:ln>
            <a:noFill/>
          </a:ln>
        </p:spPr>
        <p:txBody>
          <a:bodyPr anchorCtr="0" anchor="ctr" bIns="0" lIns="0" spcFirstLastPara="1" rIns="0" wrap="square" tIns="0">
            <a:noAutofit/>
          </a:bodyPr>
          <a:lstStyle/>
          <a:p>
            <a:pPr indent="0" lvl="0" marL="0" marR="0" rtl="0" algn="l">
              <a:lnSpc>
                <a:spcPct val="136842"/>
              </a:lnSpc>
              <a:spcBef>
                <a:spcPts val="0"/>
              </a:spcBef>
              <a:spcAft>
                <a:spcPts val="0"/>
              </a:spcAft>
              <a:buClr>
                <a:srgbClr val="8A6D0B"/>
              </a:buClr>
              <a:buSzPts val="950"/>
              <a:buFont typeface="Arial"/>
              <a:buNone/>
            </a:pPr>
            <a:r>
              <a:rPr b="1" i="0" lang="en-US" sz="1150" u="none" cap="none" strike="noStrike">
                <a:solidFill>
                  <a:schemeClr val="dk1"/>
                </a:solidFill>
                <a:latin typeface="Arial"/>
                <a:ea typeface="Arial"/>
                <a:cs typeface="Arial"/>
                <a:sym typeface="Arial"/>
              </a:rPr>
              <a:t>Decision implication.  </a:t>
            </a:r>
            <a:r>
              <a:rPr b="0" i="0" lang="en-US" sz="1150" u="none" cap="none" strike="noStrike">
                <a:solidFill>
                  <a:schemeClr val="dk1"/>
                </a:solidFill>
                <a:latin typeface="Arial"/>
                <a:ea typeface="Arial"/>
                <a:cs typeface="Arial"/>
                <a:sym typeface="Arial"/>
              </a:rPr>
              <a:t>The KPI must be reported by loan vintage at equal age, never as a single portfolio number. A dashboard that mixes cohorts will always make the newest lending look safest, which is precisely when standards get loosened by mistake. Loans originated per year: 20, 101, 90, 117, 196, 158.</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262" name="Shape 262"/>
        <p:cNvGrpSpPr/>
        <p:nvPr/>
      </p:nvGrpSpPr>
      <p:grpSpPr>
        <a:xfrm>
          <a:off x="0" y="0"/>
          <a:ext cx="0" cy="0"/>
          <a:chOff x="0" y="0"/>
          <a:chExt cx="0" cy="0"/>
        </a:xfrm>
      </p:grpSpPr>
      <p:sp>
        <p:nvSpPr>
          <p:cNvPr id="263" name="Google Shape;263;p9"/>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HIGH-VALUE INSIGHT 1</a:t>
            </a:r>
            <a:endParaRPr b="0" i="0" sz="1000" u="none" cap="none" strike="noStrike">
              <a:solidFill>
                <a:schemeClr val="dk1"/>
              </a:solidFill>
              <a:latin typeface="Calibri"/>
              <a:ea typeface="Calibri"/>
              <a:cs typeface="Calibri"/>
              <a:sym typeface="Calibri"/>
            </a:endParaRPr>
          </a:p>
        </p:txBody>
      </p:sp>
      <p:sp>
        <p:nvSpPr>
          <p:cNvPr id="264" name="Google Shape;264;p9"/>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9 / 21</a:t>
            </a:r>
            <a:endParaRPr b="0" i="0" sz="1000" u="none" cap="none" strike="noStrike">
              <a:solidFill>
                <a:schemeClr val="dk1"/>
              </a:solidFill>
              <a:latin typeface="Calibri"/>
              <a:ea typeface="Calibri"/>
              <a:cs typeface="Calibri"/>
              <a:sym typeface="Calibri"/>
            </a:endParaRPr>
          </a:p>
        </p:txBody>
      </p:sp>
      <p:sp>
        <p:nvSpPr>
          <p:cNvPr id="265" name="Google Shape;265;p9"/>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Every pre-loan overdraft ended in a problematic loan</a:t>
            </a:r>
            <a:endParaRPr b="0" i="0" sz="2600" u="none" cap="none" strike="noStrike">
              <a:solidFill>
                <a:schemeClr val="dk1"/>
              </a:solidFill>
              <a:latin typeface="Calibri"/>
              <a:ea typeface="Calibri"/>
              <a:cs typeface="Calibri"/>
              <a:sym typeface="Calibri"/>
            </a:endParaRPr>
          </a:p>
        </p:txBody>
      </p:sp>
      <p:sp>
        <p:nvSpPr>
          <p:cNvPr id="266" name="Google Shape;266;p9"/>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Problematic loan rate by pre-loan overdraft history, derived from the negative balances kept during cleaning.</a:t>
            </a:r>
            <a:endParaRPr b="0" i="0" sz="1100" u="none" cap="none" strike="noStrike">
              <a:solidFill>
                <a:schemeClr val="dk1"/>
              </a:solidFill>
              <a:latin typeface="Calibri"/>
              <a:ea typeface="Calibri"/>
              <a:cs typeface="Calibri"/>
              <a:sym typeface="Calibri"/>
            </a:endParaRPr>
          </a:p>
        </p:txBody>
      </p:sp>
      <p:graphicFrame>
        <p:nvGraphicFramePr>
          <p:cNvPr id="267" name="Google Shape;267;p9"/>
          <p:cNvGraphicFramePr/>
          <p:nvPr/>
        </p:nvGraphicFramePr>
        <p:xfrm>
          <a:off x="365760" y="1554480"/>
          <a:ext cx="6400800" cy="3200400"/>
        </p:xfrm>
        <a:graphic>
          <a:graphicData uri="http://schemas.openxmlformats.org/drawingml/2006/chart">
            <c:chart r:id="rId3"/>
          </a:graphicData>
        </a:graphic>
      </p:graphicFrame>
      <p:sp>
        <p:nvSpPr>
          <p:cNvPr id="268" name="Google Shape;268;p9"/>
          <p:cNvSpPr/>
          <p:nvPr/>
        </p:nvSpPr>
        <p:spPr>
          <a:xfrm>
            <a:off x="6967728" y="1554480"/>
            <a:ext cx="4855464" cy="3200400"/>
          </a:xfrm>
          <a:prstGeom prst="roundRect">
            <a:avLst>
              <a:gd fmla="val 1714"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9"/>
          <p:cNvSpPr txBox="1"/>
          <p:nvPr/>
        </p:nvSpPr>
        <p:spPr>
          <a:xfrm>
            <a:off x="7150608" y="1700784"/>
            <a:ext cx="448056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WHAT HAPPENED</a:t>
            </a:r>
            <a:endParaRPr b="0" i="0" sz="950" u="none" cap="none" strike="noStrike">
              <a:solidFill>
                <a:schemeClr val="dk1"/>
              </a:solidFill>
              <a:latin typeface="Calibri"/>
              <a:ea typeface="Calibri"/>
              <a:cs typeface="Calibri"/>
              <a:sym typeface="Calibri"/>
            </a:endParaRPr>
          </a:p>
        </p:txBody>
      </p:sp>
      <p:sp>
        <p:nvSpPr>
          <p:cNvPr id="270" name="Google Shape;270;p9"/>
          <p:cNvSpPr txBox="1"/>
          <p:nvPr/>
        </p:nvSpPr>
        <p:spPr>
          <a:xfrm>
            <a:off x="7150608" y="1938528"/>
            <a:ext cx="4480560" cy="731520"/>
          </a:xfrm>
          <a:prstGeom prst="rect">
            <a:avLst/>
          </a:prstGeom>
          <a:noFill/>
          <a:ln>
            <a:noFill/>
          </a:ln>
        </p:spPr>
        <p:txBody>
          <a:bodyPr anchorCtr="0" anchor="ctr" bIns="0" lIns="0" spcFirstLastPara="1" rIns="0" wrap="square" tIns="0">
            <a:noAutofit/>
          </a:bodyPr>
          <a:lstStyle/>
          <a:p>
            <a:pPr indent="0" lvl="0" marL="0" marR="0" rtl="0" algn="l">
              <a:lnSpc>
                <a:spcPct val="144444"/>
              </a:lnSpc>
              <a:spcBef>
                <a:spcPts val="0"/>
              </a:spcBef>
              <a:spcAft>
                <a:spcPts val="0"/>
              </a:spcAft>
              <a:buClr>
                <a:srgbClr val="2B2621"/>
              </a:buClr>
              <a:buSzPts val="900"/>
              <a:buFont typeface="Arial"/>
              <a:buNone/>
            </a:pPr>
            <a:r>
              <a:rPr b="0" i="0" lang="en-US" sz="1000" u="none" cap="none" strike="noStrike">
                <a:solidFill>
                  <a:srgbClr val="2B2621"/>
                </a:solidFill>
                <a:latin typeface="Arial"/>
                <a:ea typeface="Arial"/>
                <a:cs typeface="Arial"/>
                <a:sym typeface="Arial"/>
              </a:rPr>
              <a:t>All 27 accounts that dipped below zero before applying became problematic, against 7.5% for everyone else. The flag alone accounts for 35.5% of every bad loan.</a:t>
            </a:r>
            <a:endParaRPr b="0" i="0" sz="1000" u="none" cap="none" strike="noStrike">
              <a:solidFill>
                <a:schemeClr val="dk1"/>
              </a:solidFill>
              <a:latin typeface="Calibri"/>
              <a:ea typeface="Calibri"/>
              <a:cs typeface="Calibri"/>
              <a:sym typeface="Calibri"/>
            </a:endParaRPr>
          </a:p>
        </p:txBody>
      </p:sp>
      <p:sp>
        <p:nvSpPr>
          <p:cNvPr id="271" name="Google Shape;271;p9"/>
          <p:cNvSpPr txBox="1"/>
          <p:nvPr/>
        </p:nvSpPr>
        <p:spPr>
          <a:xfrm>
            <a:off x="7150608" y="2724912"/>
            <a:ext cx="448056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WHY IT HAPPENED</a:t>
            </a:r>
            <a:endParaRPr b="0" i="0" sz="950" u="none" cap="none" strike="noStrike">
              <a:solidFill>
                <a:schemeClr val="dk1"/>
              </a:solidFill>
              <a:latin typeface="Calibri"/>
              <a:ea typeface="Calibri"/>
              <a:cs typeface="Calibri"/>
              <a:sym typeface="Calibri"/>
            </a:endParaRPr>
          </a:p>
        </p:txBody>
      </p:sp>
      <p:sp>
        <p:nvSpPr>
          <p:cNvPr id="272" name="Google Shape;272;p9"/>
          <p:cNvSpPr txBox="1"/>
          <p:nvPr/>
        </p:nvSpPr>
        <p:spPr>
          <a:xfrm>
            <a:off x="7150608" y="2962656"/>
            <a:ext cx="4480560" cy="731520"/>
          </a:xfrm>
          <a:prstGeom prst="rect">
            <a:avLst/>
          </a:prstGeom>
          <a:noFill/>
          <a:ln>
            <a:noFill/>
          </a:ln>
        </p:spPr>
        <p:txBody>
          <a:bodyPr anchorCtr="0" anchor="ctr" bIns="0" lIns="0" spcFirstLastPara="1" rIns="0" wrap="square" tIns="0">
            <a:noAutofit/>
          </a:bodyPr>
          <a:lstStyle/>
          <a:p>
            <a:pPr indent="0" lvl="0" marL="0" marR="0" rtl="0" algn="l">
              <a:lnSpc>
                <a:spcPct val="144444"/>
              </a:lnSpc>
              <a:spcBef>
                <a:spcPts val="0"/>
              </a:spcBef>
              <a:spcAft>
                <a:spcPts val="0"/>
              </a:spcAft>
              <a:buClr>
                <a:srgbClr val="2B2621"/>
              </a:buClr>
              <a:buSzPts val="900"/>
              <a:buFont typeface="Arial"/>
              <a:buNone/>
            </a:pPr>
            <a:r>
              <a:rPr b="0" i="0" lang="en-US" sz="1000" u="none" cap="none" strike="noStrike">
                <a:solidFill>
                  <a:srgbClr val="2B2621"/>
                </a:solidFill>
                <a:latin typeface="Arial"/>
                <a:ea typeface="Arial"/>
                <a:cs typeface="Arial"/>
                <a:sym typeface="Arial"/>
              </a:rPr>
              <a:t>An account that cannot absorb its own everyday outflows has no buffer left to absorb a fixed monthly instalment on top of them.</a:t>
            </a:r>
            <a:endParaRPr b="0" i="0" sz="1000" u="none" cap="none" strike="noStrike">
              <a:solidFill>
                <a:schemeClr val="dk1"/>
              </a:solidFill>
              <a:latin typeface="Calibri"/>
              <a:ea typeface="Calibri"/>
              <a:cs typeface="Calibri"/>
              <a:sym typeface="Calibri"/>
            </a:endParaRPr>
          </a:p>
        </p:txBody>
      </p:sp>
      <p:sp>
        <p:nvSpPr>
          <p:cNvPr id="273" name="Google Shape;273;p9"/>
          <p:cNvSpPr txBox="1"/>
          <p:nvPr/>
        </p:nvSpPr>
        <p:spPr>
          <a:xfrm>
            <a:off x="7150608" y="3749040"/>
            <a:ext cx="448056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WHY IT MATTERS</a:t>
            </a:r>
            <a:endParaRPr b="0" i="0" sz="950" u="none" cap="none" strike="noStrike">
              <a:solidFill>
                <a:schemeClr val="dk1"/>
              </a:solidFill>
              <a:latin typeface="Calibri"/>
              <a:ea typeface="Calibri"/>
              <a:cs typeface="Calibri"/>
              <a:sym typeface="Calibri"/>
            </a:endParaRPr>
          </a:p>
        </p:txBody>
      </p:sp>
      <p:sp>
        <p:nvSpPr>
          <p:cNvPr id="274" name="Google Shape;274;p9"/>
          <p:cNvSpPr txBox="1"/>
          <p:nvPr/>
        </p:nvSpPr>
        <p:spPr>
          <a:xfrm>
            <a:off x="7150608" y="3986784"/>
            <a:ext cx="4480560" cy="731520"/>
          </a:xfrm>
          <a:prstGeom prst="rect">
            <a:avLst/>
          </a:prstGeom>
          <a:noFill/>
          <a:ln>
            <a:noFill/>
          </a:ln>
        </p:spPr>
        <p:txBody>
          <a:bodyPr anchorCtr="0" anchor="ctr" bIns="0" lIns="0" spcFirstLastPara="1" rIns="0" wrap="square" tIns="0">
            <a:noAutofit/>
          </a:bodyPr>
          <a:lstStyle/>
          <a:p>
            <a:pPr indent="0" lvl="0" marL="0" marR="0" rtl="0" algn="l">
              <a:lnSpc>
                <a:spcPct val="144444"/>
              </a:lnSpc>
              <a:spcBef>
                <a:spcPts val="0"/>
              </a:spcBef>
              <a:spcAft>
                <a:spcPts val="0"/>
              </a:spcAft>
              <a:buClr>
                <a:srgbClr val="2B2621"/>
              </a:buClr>
              <a:buSzPts val="900"/>
              <a:buFont typeface="Arial"/>
              <a:buNone/>
            </a:pPr>
            <a:r>
              <a:rPr b="0" i="0" lang="en-US" sz="1000" u="none" cap="none" strike="noStrike">
                <a:solidFill>
                  <a:srgbClr val="2B2621"/>
                </a:solidFill>
                <a:latin typeface="Arial"/>
                <a:ea typeface="Arial"/>
                <a:cs typeface="Arial"/>
                <a:sym typeface="Arial"/>
              </a:rPr>
              <a:t>A single binary screen removes 27 of 76 problematic loans while touching only 4% of applicants.</a:t>
            </a:r>
            <a:endParaRPr b="0" i="0" sz="1000" u="none" cap="none" strike="noStrike">
              <a:solidFill>
                <a:schemeClr val="dk1"/>
              </a:solidFill>
              <a:latin typeface="Calibri"/>
              <a:ea typeface="Calibri"/>
              <a:cs typeface="Calibri"/>
              <a:sym typeface="Calibri"/>
            </a:endParaRPr>
          </a:p>
        </p:txBody>
      </p:sp>
      <p:sp>
        <p:nvSpPr>
          <p:cNvPr id="275" name="Google Shape;275;p9"/>
          <p:cNvSpPr/>
          <p:nvPr/>
        </p:nvSpPr>
        <p:spPr>
          <a:xfrm>
            <a:off x="365760" y="4882896"/>
            <a:ext cx="11457432" cy="1042416"/>
          </a:xfrm>
          <a:prstGeom prst="roundRect">
            <a:avLst>
              <a:gd fmla="val 5263"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9"/>
          <p:cNvSpPr txBox="1"/>
          <p:nvPr/>
        </p:nvSpPr>
        <p:spPr>
          <a:xfrm>
            <a:off x="566928" y="5029200"/>
            <a:ext cx="11064240" cy="786384"/>
          </a:xfrm>
          <a:prstGeom prst="rect">
            <a:avLst/>
          </a:prstGeom>
          <a:noFill/>
          <a:ln>
            <a:noFill/>
          </a:ln>
        </p:spPr>
        <p:txBody>
          <a:bodyPr anchorCtr="0" anchor="ctr" bIns="0" lIns="0" spcFirstLastPara="1" rIns="0" wrap="square" tIns="0">
            <a:noAutofit/>
          </a:bodyPr>
          <a:lstStyle/>
          <a:p>
            <a:pPr indent="0" lvl="0" marL="0" marR="0" rtl="0" algn="l">
              <a:lnSpc>
                <a:spcPct val="136842"/>
              </a:lnSpc>
              <a:spcBef>
                <a:spcPts val="0"/>
              </a:spcBef>
              <a:spcAft>
                <a:spcPts val="0"/>
              </a:spcAft>
              <a:buClr>
                <a:srgbClr val="8A6D0B"/>
              </a:buClr>
              <a:buSzPts val="950"/>
              <a:buFont typeface="Arial"/>
              <a:buNone/>
            </a:pPr>
            <a:r>
              <a:rPr b="1" i="0" lang="en-US" sz="1200" u="none" cap="none" strike="noStrike">
                <a:solidFill>
                  <a:schemeClr val="dk1"/>
                </a:solidFill>
                <a:latin typeface="Arial"/>
                <a:ea typeface="Arial"/>
                <a:cs typeface="Arial"/>
                <a:sym typeface="Arial"/>
              </a:rPr>
              <a:t>Honest caveats.  </a:t>
            </a:r>
            <a:r>
              <a:rPr b="0" i="0" lang="en-US" sz="1200" u="none" cap="none" strike="noStrike">
                <a:solidFill>
                  <a:schemeClr val="dk1"/>
                </a:solidFill>
                <a:latin typeface="Arial"/>
                <a:ea typeface="Arial"/>
                <a:cs typeface="Arial"/>
                <a:sym typeface="Arial"/>
              </a:rPr>
              <a:t>The group is small at 27 loans, so 100% will not hold exactly on new data, and the flag is high precision but low recall, catching roughly a third of failures. It is a screen for manual review, not a standalone scorecard.</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281" name="Shape 281"/>
        <p:cNvGrpSpPr/>
        <p:nvPr/>
      </p:nvGrpSpPr>
      <p:grpSpPr>
        <a:xfrm>
          <a:off x="0" y="0"/>
          <a:ext cx="0" cy="0"/>
          <a:chOff x="0" y="0"/>
          <a:chExt cx="0" cy="0"/>
        </a:xfrm>
      </p:grpSpPr>
      <p:sp>
        <p:nvSpPr>
          <p:cNvPr id="282" name="Google Shape;282;p10"/>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HIGH-VALUE INSIGHT 2</a:t>
            </a:r>
            <a:endParaRPr b="0" i="0" sz="1000" u="none" cap="none" strike="noStrike">
              <a:solidFill>
                <a:schemeClr val="dk1"/>
              </a:solidFill>
              <a:latin typeface="Calibri"/>
              <a:ea typeface="Calibri"/>
              <a:cs typeface="Calibri"/>
              <a:sym typeface="Calibri"/>
            </a:endParaRPr>
          </a:p>
        </p:txBody>
      </p:sp>
      <p:sp>
        <p:nvSpPr>
          <p:cNvPr id="283" name="Google Shape;283;p10"/>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10 / 21</a:t>
            </a:r>
            <a:endParaRPr b="0" i="0" sz="1000" u="none" cap="none" strike="noStrike">
              <a:solidFill>
                <a:schemeClr val="dk1"/>
              </a:solidFill>
              <a:latin typeface="Calibri"/>
              <a:ea typeface="Calibri"/>
              <a:cs typeface="Calibri"/>
              <a:sym typeface="Calibri"/>
            </a:endParaRPr>
          </a:p>
        </p:txBody>
      </p:sp>
      <p:sp>
        <p:nvSpPr>
          <p:cNvPr id="284" name="Google Shape;284;p10"/>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Affordability, not loan size, is the cleanest risk gradient</a:t>
            </a:r>
            <a:endParaRPr b="0" i="0" sz="2600" u="none" cap="none" strike="noStrike">
              <a:solidFill>
                <a:schemeClr val="dk1"/>
              </a:solidFill>
              <a:latin typeface="Calibri"/>
              <a:ea typeface="Calibri"/>
              <a:cs typeface="Calibri"/>
              <a:sym typeface="Calibri"/>
            </a:endParaRPr>
          </a:p>
        </p:txBody>
      </p:sp>
      <p:sp>
        <p:nvSpPr>
          <p:cNvPr id="285" name="Google Shape;285;p10"/>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The three Milestone 1 cash-flow metrics, problematic loan rate by quartile, roughly 170 loans per quartile. r = correlation with failure.</a:t>
            </a:r>
            <a:endParaRPr b="0" i="0" sz="1100" u="none" cap="none" strike="noStrike">
              <a:solidFill>
                <a:schemeClr val="dk1"/>
              </a:solidFill>
              <a:latin typeface="Calibri"/>
              <a:ea typeface="Calibri"/>
              <a:cs typeface="Calibri"/>
              <a:sym typeface="Calibri"/>
            </a:endParaRPr>
          </a:p>
        </p:txBody>
      </p:sp>
      <p:sp>
        <p:nvSpPr>
          <p:cNvPr id="286" name="Google Shape;286;p10"/>
          <p:cNvSpPr txBox="1"/>
          <p:nvPr/>
        </p:nvSpPr>
        <p:spPr>
          <a:xfrm>
            <a:off x="365760" y="1572768"/>
            <a:ext cx="374904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6D0B"/>
              </a:buClr>
              <a:buSzPts val="900"/>
              <a:buFont typeface="Arial"/>
              <a:buNone/>
            </a:pPr>
            <a:r>
              <a:rPr b="1" i="0" lang="en-US" sz="900" u="none" cap="none" strike="noStrike">
                <a:solidFill>
                  <a:srgbClr val="8A6D0B"/>
                </a:solidFill>
                <a:latin typeface="Arial"/>
                <a:ea typeface="Arial"/>
                <a:cs typeface="Arial"/>
                <a:sym typeface="Arial"/>
              </a:rPr>
              <a:t>PAYMENT ÷ DISTRICT SALARY</a:t>
            </a:r>
            <a:endParaRPr b="0" i="0" sz="900" u="none" cap="none" strike="noStrike">
              <a:solidFill>
                <a:schemeClr val="dk1"/>
              </a:solidFill>
              <a:latin typeface="Calibri"/>
              <a:ea typeface="Calibri"/>
              <a:cs typeface="Calibri"/>
              <a:sym typeface="Calibri"/>
            </a:endParaRPr>
          </a:p>
        </p:txBody>
      </p:sp>
      <p:sp>
        <p:nvSpPr>
          <p:cNvPr id="287" name="Google Shape;287;p10"/>
          <p:cNvSpPr txBox="1"/>
          <p:nvPr/>
        </p:nvSpPr>
        <p:spPr>
          <a:xfrm>
            <a:off x="365760" y="1792224"/>
            <a:ext cx="3749040"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monotonic 4.7 → 18.1  ·  r = 0.18</a:t>
            </a:r>
            <a:endParaRPr b="0" i="0" sz="850" u="none" cap="none" strike="noStrike">
              <a:solidFill>
                <a:schemeClr val="dk1"/>
              </a:solidFill>
              <a:latin typeface="Calibri"/>
              <a:ea typeface="Calibri"/>
              <a:cs typeface="Calibri"/>
              <a:sym typeface="Calibri"/>
            </a:endParaRPr>
          </a:p>
        </p:txBody>
      </p:sp>
      <p:graphicFrame>
        <p:nvGraphicFramePr>
          <p:cNvPr id="288" name="Google Shape;288;p10"/>
          <p:cNvGraphicFramePr/>
          <p:nvPr/>
        </p:nvGraphicFramePr>
        <p:xfrm>
          <a:off x="365760" y="2029968"/>
          <a:ext cx="3749040" cy="2468880"/>
        </p:xfrm>
        <a:graphic>
          <a:graphicData uri="http://schemas.openxmlformats.org/drawingml/2006/chart">
            <c:chart r:id="rId3"/>
          </a:graphicData>
        </a:graphic>
      </p:graphicFrame>
      <p:sp>
        <p:nvSpPr>
          <p:cNvPr id="289" name="Google Shape;289;p10"/>
          <p:cNvSpPr txBox="1"/>
          <p:nvPr/>
        </p:nvSpPr>
        <p:spPr>
          <a:xfrm>
            <a:off x="4279392" y="1572768"/>
            <a:ext cx="374904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6D0B"/>
              </a:buClr>
              <a:buSzPts val="900"/>
              <a:buFont typeface="Arial"/>
              <a:buNone/>
            </a:pPr>
            <a:r>
              <a:rPr b="1" i="0" lang="en-US" sz="900" u="none" cap="none" strike="noStrike">
                <a:solidFill>
                  <a:srgbClr val="8A6D0B"/>
                </a:solidFill>
                <a:latin typeface="Arial"/>
                <a:ea typeface="Arial"/>
                <a:cs typeface="Arial"/>
                <a:sym typeface="Arial"/>
              </a:rPr>
              <a:t>PAYMENT ÷ OWN MONTHLY INFLOW</a:t>
            </a:r>
            <a:endParaRPr b="0" i="0" sz="900" u="none" cap="none" strike="noStrike">
              <a:solidFill>
                <a:schemeClr val="dk1"/>
              </a:solidFill>
              <a:latin typeface="Calibri"/>
              <a:ea typeface="Calibri"/>
              <a:cs typeface="Calibri"/>
              <a:sym typeface="Calibri"/>
            </a:endParaRPr>
          </a:p>
        </p:txBody>
      </p:sp>
      <p:sp>
        <p:nvSpPr>
          <p:cNvPr id="290" name="Google Shape;290;p10"/>
          <p:cNvSpPr txBox="1"/>
          <p:nvPr/>
        </p:nvSpPr>
        <p:spPr>
          <a:xfrm>
            <a:off x="4279392" y="1792224"/>
            <a:ext cx="3749040"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strongest of the three  ·  r = 0.26</a:t>
            </a:r>
            <a:endParaRPr b="0" i="0" sz="850" u="none" cap="none" strike="noStrike">
              <a:solidFill>
                <a:schemeClr val="dk1"/>
              </a:solidFill>
              <a:latin typeface="Calibri"/>
              <a:ea typeface="Calibri"/>
              <a:cs typeface="Calibri"/>
              <a:sym typeface="Calibri"/>
            </a:endParaRPr>
          </a:p>
        </p:txBody>
      </p:sp>
      <p:graphicFrame>
        <p:nvGraphicFramePr>
          <p:cNvPr id="291" name="Google Shape;291;p10"/>
          <p:cNvGraphicFramePr/>
          <p:nvPr/>
        </p:nvGraphicFramePr>
        <p:xfrm>
          <a:off x="4279392" y="2029968"/>
          <a:ext cx="3749040" cy="2468880"/>
        </p:xfrm>
        <a:graphic>
          <a:graphicData uri="http://schemas.openxmlformats.org/drawingml/2006/chart">
            <c:chart r:id="rId4"/>
          </a:graphicData>
        </a:graphic>
      </p:graphicFrame>
      <p:sp>
        <p:nvSpPr>
          <p:cNvPr id="292" name="Google Shape;292;p10"/>
          <p:cNvSpPr txBox="1"/>
          <p:nvPr/>
        </p:nvSpPr>
        <p:spPr>
          <a:xfrm>
            <a:off x="8193024" y="1572768"/>
            <a:ext cx="3749040"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6D0B"/>
              </a:buClr>
              <a:buSzPts val="900"/>
              <a:buFont typeface="Arial"/>
              <a:buNone/>
            </a:pPr>
            <a:r>
              <a:rPr b="1" i="0" lang="en-US" sz="900" u="none" cap="none" strike="noStrike">
                <a:solidFill>
                  <a:srgbClr val="8A6D0B"/>
                </a:solidFill>
                <a:latin typeface="Arial"/>
                <a:ea typeface="Arial"/>
                <a:cs typeface="Arial"/>
                <a:sym typeface="Arial"/>
              </a:rPr>
              <a:t>OUTFLOW ÷ INFLOW</a:t>
            </a:r>
            <a:endParaRPr b="0" i="0" sz="900" u="none" cap="none" strike="noStrike">
              <a:solidFill>
                <a:schemeClr val="dk1"/>
              </a:solidFill>
              <a:latin typeface="Calibri"/>
              <a:ea typeface="Calibri"/>
              <a:cs typeface="Calibri"/>
              <a:sym typeface="Calibri"/>
            </a:endParaRPr>
          </a:p>
        </p:txBody>
      </p:sp>
      <p:sp>
        <p:nvSpPr>
          <p:cNvPr id="293" name="Google Shape;293;p10"/>
          <p:cNvSpPr txBox="1"/>
          <p:nvPr/>
        </p:nvSpPr>
        <p:spPr>
          <a:xfrm>
            <a:off x="8193024" y="1792224"/>
            <a:ext cx="3749040" cy="20116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separates only at the extreme  ·  r = 0.04</a:t>
            </a:r>
            <a:endParaRPr b="0" i="0" sz="850" u="none" cap="none" strike="noStrike">
              <a:solidFill>
                <a:schemeClr val="dk1"/>
              </a:solidFill>
              <a:latin typeface="Calibri"/>
              <a:ea typeface="Calibri"/>
              <a:cs typeface="Calibri"/>
              <a:sym typeface="Calibri"/>
            </a:endParaRPr>
          </a:p>
        </p:txBody>
      </p:sp>
      <p:graphicFrame>
        <p:nvGraphicFramePr>
          <p:cNvPr id="294" name="Google Shape;294;p10"/>
          <p:cNvGraphicFramePr/>
          <p:nvPr/>
        </p:nvGraphicFramePr>
        <p:xfrm>
          <a:off x="8193024" y="2029968"/>
          <a:ext cx="3749040" cy="2468880"/>
        </p:xfrm>
        <a:graphic>
          <a:graphicData uri="http://schemas.openxmlformats.org/drawingml/2006/chart">
            <c:chart r:id="rId5"/>
          </a:graphicData>
        </a:graphic>
      </p:graphicFrame>
      <p:sp>
        <p:nvSpPr>
          <p:cNvPr id="295" name="Google Shape;295;p10"/>
          <p:cNvSpPr/>
          <p:nvPr/>
        </p:nvSpPr>
        <p:spPr>
          <a:xfrm>
            <a:off x="365760" y="4626864"/>
            <a:ext cx="11457432" cy="1298448"/>
          </a:xfrm>
          <a:prstGeom prst="roundRect">
            <a:avLst>
              <a:gd fmla="val 4225"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10"/>
          <p:cNvSpPr txBox="1"/>
          <p:nvPr/>
        </p:nvSpPr>
        <p:spPr>
          <a:xfrm>
            <a:off x="566928" y="4754880"/>
            <a:ext cx="11064240" cy="1060704"/>
          </a:xfrm>
          <a:prstGeom prst="rect">
            <a:avLst/>
          </a:prstGeom>
          <a:noFill/>
          <a:ln>
            <a:noFill/>
          </a:ln>
        </p:spPr>
        <p:txBody>
          <a:bodyPr anchorCtr="0" anchor="ctr" bIns="0" lIns="0" spcFirstLastPara="1" rIns="0" wrap="square" tIns="0">
            <a:noAutofit/>
          </a:bodyPr>
          <a:lstStyle/>
          <a:p>
            <a:pPr indent="0" lvl="0" marL="0" marR="0" rtl="0" algn="l">
              <a:lnSpc>
                <a:spcPct val="144444"/>
              </a:lnSpc>
              <a:spcBef>
                <a:spcPts val="0"/>
              </a:spcBef>
              <a:spcAft>
                <a:spcPts val="0"/>
              </a:spcAft>
              <a:buClr>
                <a:srgbClr val="8A6D0B"/>
              </a:buClr>
              <a:buSzPts val="900"/>
              <a:buFont typeface="Arial"/>
              <a:buNone/>
            </a:pPr>
            <a:r>
              <a:t/>
            </a:r>
            <a:endParaRPr b="0" i="0" sz="900" u="none" cap="none" strike="noStrike">
              <a:solidFill>
                <a:srgbClr val="2B262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What happened:</a:t>
            </a:r>
            <a:r>
              <a:rPr b="0" i="0" lang="en-US" sz="1100" u="none" cap="none" strike="noStrike">
                <a:solidFill>
                  <a:schemeClr val="dk1"/>
                </a:solidFill>
                <a:latin typeface="Arial"/>
                <a:ea typeface="Arial"/>
                <a:cs typeface="Arial"/>
                <a:sym typeface="Arial"/>
              </a:rPr>
              <a:t> Payment-to-own-inflow shows the strongest risk gradient, rising from </a:t>
            </a:r>
            <a:r>
              <a:rPr b="1" i="0" lang="en-US" sz="1100" u="none" cap="none" strike="noStrike">
                <a:solidFill>
                  <a:schemeClr val="dk1"/>
                </a:solidFill>
                <a:latin typeface="Arial"/>
                <a:ea typeface="Arial"/>
                <a:cs typeface="Arial"/>
                <a:sym typeface="Arial"/>
              </a:rPr>
              <a:t>5.8% to 19.3% (r = 0.26)</a:t>
            </a:r>
            <a:r>
              <a:rPr b="0" i="0" lang="en-US" sz="1100" u="none" cap="none" strike="noStrike">
                <a:solidFill>
                  <a:schemeClr val="dk1"/>
                </a:solidFill>
                <a:latin typeface="Arial"/>
                <a:ea typeface="Arial"/>
                <a:cs typeface="Arial"/>
                <a:sym typeface="Arial"/>
              </a:rPr>
              <a:t>. Loan amount only increases risk in the top quartile (</a:t>
            </a:r>
            <a:r>
              <a:rPr b="1" i="0" lang="en-US" sz="1100" u="none" cap="none" strike="noStrike">
                <a:solidFill>
                  <a:schemeClr val="dk1"/>
                </a:solidFill>
                <a:latin typeface="Arial"/>
                <a:ea typeface="Arial"/>
                <a:cs typeface="Arial"/>
                <a:sym typeface="Arial"/>
              </a:rPr>
              <a:t>7.6% → 19.9%</a:t>
            </a:r>
            <a:r>
              <a:rPr b="0" i="0" lang="en-US" sz="1100" u="none" cap="none" strike="noStrike">
                <a:solidFill>
                  <a:schemeClr val="dk1"/>
                </a:solidFill>
                <a:latin typeface="Arial"/>
                <a:ea typeface="Arial"/>
                <a:cs typeface="Arial"/>
                <a:sym typeface="Arial"/>
              </a:rPr>
              <a:t>).</a:t>
            </a:r>
            <a:endParaRPr b="0" i="0" sz="11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1" i="0" lang="en-US" sz="1100" u="none" cap="none" strike="noStrike">
                <a:solidFill>
                  <a:schemeClr val="dk1"/>
                </a:solidFill>
                <a:latin typeface="Arial"/>
                <a:ea typeface="Arial"/>
                <a:cs typeface="Arial"/>
                <a:sym typeface="Arial"/>
              </a:rPr>
              <a:t>Why it matters:</a:t>
            </a:r>
            <a:r>
              <a:rPr b="0" i="0" lang="en-US" sz="1100" u="none" cap="none" strike="noStrike">
                <a:solidFill>
                  <a:schemeClr val="dk1"/>
                </a:solidFill>
                <a:latin typeface="Arial"/>
                <a:ea typeface="Arial"/>
                <a:cs typeface="Arial"/>
                <a:sym typeface="Arial"/>
              </a:rPr>
              <a:t> Repayment affordability matters more than loan size. Therefore, </a:t>
            </a:r>
            <a:r>
              <a:rPr b="1" i="0" lang="en-US" sz="1100" u="none" cap="none" strike="noStrike">
                <a:solidFill>
                  <a:schemeClr val="dk1"/>
                </a:solidFill>
                <a:latin typeface="Arial"/>
                <a:ea typeface="Arial"/>
                <a:cs typeface="Arial"/>
                <a:sym typeface="Arial"/>
              </a:rPr>
              <a:t>payment-to-inflow should guide underwriting decisions</a:t>
            </a:r>
            <a:r>
              <a:rPr b="0" i="0" lang="en-US" sz="1100" u="none" cap="none" strike="noStrike">
                <a:solidFill>
                  <a:schemeClr val="dk1"/>
                </a:solidFill>
                <a:latin typeface="Arial"/>
                <a:ea typeface="Arial"/>
                <a:cs typeface="Arial"/>
                <a:sym typeface="Arial"/>
              </a:rPr>
              <a:t> using existing application and account data.</a:t>
            </a:r>
            <a:endParaRPr b="0" i="0" sz="1100" u="none" cap="none" strike="noStrike">
              <a:solidFill>
                <a:schemeClr val="dk1"/>
              </a:solidFill>
              <a:latin typeface="Arial"/>
              <a:ea typeface="Arial"/>
              <a:cs typeface="Arial"/>
              <a:sym typeface="Arial"/>
            </a:endParaRPr>
          </a:p>
          <a:p>
            <a:pPr indent="0" lvl="0" marL="0" marR="0" rtl="0" algn="l">
              <a:lnSpc>
                <a:spcPct val="144444"/>
              </a:lnSpc>
              <a:spcBef>
                <a:spcPts val="1200"/>
              </a:spcBef>
              <a:spcAft>
                <a:spcPts val="0"/>
              </a:spcAft>
              <a:buClr>
                <a:srgbClr val="8A6D0B"/>
              </a:buClr>
              <a:buSzPts val="900"/>
              <a:buFont typeface="Arial"/>
              <a:buNone/>
            </a:pPr>
            <a:r>
              <a:t/>
            </a:r>
            <a:endParaRPr b="0" i="0" sz="900" u="none" cap="none" strike="noStrike">
              <a:solidFill>
                <a:srgbClr val="2B2621"/>
              </a:solidFill>
              <a:latin typeface="Arial"/>
              <a:ea typeface="Arial"/>
              <a:cs typeface="Arial"/>
              <a:sym typeface="Arial"/>
            </a:endParaRPr>
          </a:p>
          <a:p>
            <a:pPr indent="0" lvl="0" marL="0" marR="0" rtl="0" algn="l">
              <a:lnSpc>
                <a:spcPct val="144444"/>
              </a:lnSpc>
              <a:spcBef>
                <a:spcPts val="0"/>
              </a:spcBef>
              <a:spcAft>
                <a:spcPts val="0"/>
              </a:spcAft>
              <a:buClr>
                <a:srgbClr val="8A6D0B"/>
              </a:buClr>
              <a:buSzPts val="900"/>
              <a:buFont typeface="Arial"/>
              <a:buNone/>
            </a:pPr>
            <a:r>
              <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301" name="Shape 301"/>
        <p:cNvGrpSpPr/>
        <p:nvPr/>
      </p:nvGrpSpPr>
      <p:grpSpPr>
        <a:xfrm>
          <a:off x="0" y="0"/>
          <a:ext cx="0" cy="0"/>
          <a:chOff x="0" y="0"/>
          <a:chExt cx="0" cy="0"/>
        </a:xfrm>
      </p:grpSpPr>
      <p:sp>
        <p:nvSpPr>
          <p:cNvPr id="302" name="Google Shape;302;p11"/>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HIGH-VALUE INSIGHTS 3 AND 4</a:t>
            </a:r>
            <a:endParaRPr b="0" i="0" sz="1000" u="none" cap="none" strike="noStrike">
              <a:solidFill>
                <a:schemeClr val="dk1"/>
              </a:solidFill>
              <a:latin typeface="Calibri"/>
              <a:ea typeface="Calibri"/>
              <a:cs typeface="Calibri"/>
              <a:sym typeface="Calibri"/>
            </a:endParaRPr>
          </a:p>
        </p:txBody>
      </p:sp>
      <p:sp>
        <p:nvSpPr>
          <p:cNvPr id="303" name="Google Shape;303;p11"/>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11 / 21</a:t>
            </a:r>
            <a:endParaRPr b="0" i="0" sz="1000" u="none" cap="none" strike="noStrike">
              <a:solidFill>
                <a:schemeClr val="dk1"/>
              </a:solidFill>
              <a:latin typeface="Calibri"/>
              <a:ea typeface="Calibri"/>
              <a:cs typeface="Calibri"/>
              <a:sym typeface="Calibri"/>
            </a:endParaRPr>
          </a:p>
        </p:txBody>
      </p:sp>
      <p:sp>
        <p:nvSpPr>
          <p:cNvPr id="304" name="Google Shape;304;p11"/>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The balance trough predicts risk, demographics do not</a:t>
            </a:r>
            <a:endParaRPr b="0" i="0" sz="2600" u="none" cap="none" strike="noStrike">
              <a:solidFill>
                <a:schemeClr val="dk1"/>
              </a:solidFill>
              <a:latin typeface="Calibri"/>
              <a:ea typeface="Calibri"/>
              <a:cs typeface="Calibri"/>
              <a:sym typeface="Calibri"/>
            </a:endParaRPr>
          </a:p>
        </p:txBody>
      </p:sp>
      <p:sp>
        <p:nvSpPr>
          <p:cNvPr id="305" name="Google Shape;305;p11"/>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Left: problematic loan rate by average pre-loan balance quartile. Right: risk lift, the high-risk group rate ÷ the low-risk group rate, for the eight drivers tested.</a:t>
            </a:r>
            <a:endParaRPr b="0" i="0" sz="1100" u="none" cap="none" strike="noStrike">
              <a:solidFill>
                <a:schemeClr val="dk1"/>
              </a:solidFill>
              <a:latin typeface="Calibri"/>
              <a:ea typeface="Calibri"/>
              <a:cs typeface="Calibri"/>
              <a:sym typeface="Calibri"/>
            </a:endParaRPr>
          </a:p>
        </p:txBody>
      </p:sp>
      <p:graphicFrame>
        <p:nvGraphicFramePr>
          <p:cNvPr id="306" name="Google Shape;306;p11"/>
          <p:cNvGraphicFramePr/>
          <p:nvPr/>
        </p:nvGraphicFramePr>
        <p:xfrm>
          <a:off x="365760" y="1627632"/>
          <a:ext cx="4663440" cy="2651760"/>
        </p:xfrm>
        <a:graphic>
          <a:graphicData uri="http://schemas.openxmlformats.org/drawingml/2006/chart">
            <c:chart r:id="rId3"/>
          </a:graphicData>
        </a:graphic>
      </p:graphicFrame>
      <p:graphicFrame>
        <p:nvGraphicFramePr>
          <p:cNvPr id="307" name="Google Shape;307;p11"/>
          <p:cNvGraphicFramePr/>
          <p:nvPr/>
        </p:nvGraphicFramePr>
        <p:xfrm>
          <a:off x="5175504" y="1627632"/>
          <a:ext cx="6647688" cy="2651760"/>
        </p:xfrm>
        <a:graphic>
          <a:graphicData uri="http://schemas.openxmlformats.org/drawingml/2006/chart">
            <c:chart r:id="rId4"/>
          </a:graphicData>
        </a:graphic>
      </p:graphicFrame>
      <p:sp>
        <p:nvSpPr>
          <p:cNvPr id="308" name="Google Shape;308;p11"/>
          <p:cNvSpPr/>
          <p:nvPr/>
        </p:nvSpPr>
        <p:spPr>
          <a:xfrm>
            <a:off x="365760" y="4425696"/>
            <a:ext cx="5669280" cy="1499616"/>
          </a:xfrm>
          <a:prstGeom prst="roundRect">
            <a:avLst>
              <a:gd fmla="val 3659"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11"/>
          <p:cNvSpPr txBox="1"/>
          <p:nvPr/>
        </p:nvSpPr>
        <p:spPr>
          <a:xfrm>
            <a:off x="548640" y="4553712"/>
            <a:ext cx="53035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THE TROUGH BEATS THE AVERAGE</a:t>
            </a:r>
            <a:endParaRPr b="0" i="0" sz="950" u="none" cap="none" strike="noStrike">
              <a:solidFill>
                <a:schemeClr val="dk1"/>
              </a:solidFill>
              <a:latin typeface="Calibri"/>
              <a:ea typeface="Calibri"/>
              <a:cs typeface="Calibri"/>
              <a:sym typeface="Calibri"/>
            </a:endParaRPr>
          </a:p>
        </p:txBody>
      </p:sp>
      <p:sp>
        <p:nvSpPr>
          <p:cNvPr id="310" name="Google Shape;310;p11"/>
          <p:cNvSpPr txBox="1"/>
          <p:nvPr/>
        </p:nvSpPr>
        <p:spPr>
          <a:xfrm>
            <a:off x="548640" y="4791456"/>
            <a:ext cx="5303520" cy="1042416"/>
          </a:xfrm>
          <a:prstGeom prst="rect">
            <a:avLst/>
          </a:prstGeom>
          <a:noFill/>
          <a:ln>
            <a:noFill/>
          </a:ln>
        </p:spPr>
        <p:txBody>
          <a:bodyPr anchorCtr="0" anchor="ctr" bIns="0" lIns="0" spcFirstLastPara="1" rIns="0" wrap="square" tIns="0">
            <a:noAutofit/>
          </a:bodyPr>
          <a:lstStyle/>
          <a:p>
            <a:pPr indent="0" lvl="0" marL="0" marR="0" rtl="0" algn="l">
              <a:lnSpc>
                <a:spcPct val="152941"/>
              </a:lnSpc>
              <a:spcBef>
                <a:spcPts val="0"/>
              </a:spcBef>
              <a:spcAft>
                <a:spcPts val="0"/>
              </a:spcAft>
              <a:buClr>
                <a:srgbClr val="2B2621"/>
              </a:buClr>
              <a:buSzPts val="850"/>
              <a:buFont typeface="Arial"/>
              <a:buNone/>
            </a:pPr>
            <a:r>
              <a:rPr b="0" i="0" lang="en-US" sz="1050" u="none" cap="none" strike="noStrike">
                <a:solidFill>
                  <a:srgbClr val="2B2621"/>
                </a:solidFill>
                <a:latin typeface="Arial"/>
                <a:ea typeface="Arial"/>
                <a:cs typeface="Arial"/>
                <a:sym typeface="Arial"/>
              </a:rPr>
              <a:t>Median average balance is Kč 44,113 for healthy loans against Kč 37,002 for problematic ones, but the minimum balance separates far better: Kč 700 against Kč 390. min_balance correlates with failure at −0.26, avg_balance only at −0.16. A customer can hold a comfortable mean and still hit zero every month before payday.</a:t>
            </a:r>
            <a:endParaRPr b="0" i="0" sz="1050" u="none" cap="none" strike="noStrike">
              <a:solidFill>
                <a:schemeClr val="dk1"/>
              </a:solidFill>
              <a:latin typeface="Calibri"/>
              <a:ea typeface="Calibri"/>
              <a:cs typeface="Calibri"/>
              <a:sym typeface="Calibri"/>
            </a:endParaRPr>
          </a:p>
        </p:txBody>
      </p:sp>
      <p:sp>
        <p:nvSpPr>
          <p:cNvPr id="311" name="Google Shape;311;p11"/>
          <p:cNvSpPr/>
          <p:nvPr/>
        </p:nvSpPr>
        <p:spPr>
          <a:xfrm>
            <a:off x="6153912" y="4425696"/>
            <a:ext cx="5669280" cy="1499616"/>
          </a:xfrm>
          <a:prstGeom prst="roundRect">
            <a:avLst>
              <a:gd fmla="val 3659"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1"/>
          <p:cNvSpPr txBox="1"/>
          <p:nvPr/>
        </p:nvSpPr>
        <p:spPr>
          <a:xfrm>
            <a:off x="6336792" y="4553712"/>
            <a:ext cx="53035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WHAT DOES NOT SEPARATE RISK</a:t>
            </a:r>
            <a:endParaRPr b="0" i="0" sz="950" u="none" cap="none" strike="noStrike">
              <a:solidFill>
                <a:schemeClr val="dk1"/>
              </a:solidFill>
              <a:latin typeface="Calibri"/>
              <a:ea typeface="Calibri"/>
              <a:cs typeface="Calibri"/>
              <a:sym typeface="Calibri"/>
            </a:endParaRPr>
          </a:p>
        </p:txBody>
      </p:sp>
      <p:sp>
        <p:nvSpPr>
          <p:cNvPr id="313" name="Google Shape;313;p11"/>
          <p:cNvSpPr txBox="1"/>
          <p:nvPr/>
        </p:nvSpPr>
        <p:spPr>
          <a:xfrm>
            <a:off x="6336792" y="4791456"/>
            <a:ext cx="5303520" cy="1042416"/>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1200"/>
              </a:spcBef>
              <a:spcAft>
                <a:spcPts val="0"/>
              </a:spcAft>
              <a:buClr>
                <a:schemeClr val="dk1"/>
              </a:buClr>
              <a:buSzPts val="1100"/>
              <a:buFont typeface="Arial"/>
              <a:buNone/>
            </a:pPr>
            <a:r>
              <a:rPr b="0" i="0" lang="en-US" sz="1100" u="none" cap="none" strike="noStrike">
                <a:solidFill>
                  <a:schemeClr val="dk1"/>
                </a:solidFill>
                <a:latin typeface="Arial"/>
                <a:ea typeface="Arial"/>
                <a:cs typeface="Arial"/>
                <a:sym typeface="Arial"/>
              </a:rPr>
              <a:t>Gender shows little difference (11.8% female vs. 10.5% male), while age has no clear pattern. District unemployment is also negligible (r = 0.018). Behavioral indicators provide stronger, more direct risk signals than demographic or regional proxies.</a:t>
            </a:r>
            <a:endParaRPr b="0" i="0" sz="1100" u="none" cap="none" strike="noStrike">
              <a:solidFill>
                <a:schemeClr val="dk1"/>
              </a:solidFill>
              <a:latin typeface="Arial"/>
              <a:ea typeface="Arial"/>
              <a:cs typeface="Arial"/>
              <a:sym typeface="Arial"/>
            </a:endParaRPr>
          </a:p>
          <a:p>
            <a:pPr indent="0" lvl="0" marL="0" marR="0" rtl="0" algn="l">
              <a:lnSpc>
                <a:spcPct val="152941"/>
              </a:lnSpc>
              <a:spcBef>
                <a:spcPts val="1200"/>
              </a:spcBef>
              <a:spcAft>
                <a:spcPts val="0"/>
              </a:spcAft>
              <a:buClr>
                <a:srgbClr val="2B2621"/>
              </a:buClr>
              <a:buSzPts val="850"/>
              <a:buFont typeface="Arial"/>
              <a:buNone/>
            </a:pPr>
            <a:r>
              <a:t/>
            </a:r>
            <a:endParaRPr b="0" i="0" sz="1100" u="none" cap="none" strike="noStrike">
              <a:solidFill>
                <a:srgbClr val="2B262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318" name="Shape 318"/>
        <p:cNvGrpSpPr/>
        <p:nvPr/>
      </p:nvGrpSpPr>
      <p:grpSpPr>
        <a:xfrm>
          <a:off x="0" y="0"/>
          <a:ext cx="0" cy="0"/>
          <a:chOff x="0" y="0"/>
          <a:chExt cx="0" cy="0"/>
        </a:xfrm>
      </p:grpSpPr>
      <p:sp>
        <p:nvSpPr>
          <p:cNvPr id="319" name="Google Shape;319;p12"/>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BUSINESS ALIGNMENT &amp; RECOMMENDATIONS</a:t>
            </a:r>
            <a:endParaRPr b="0" i="0" sz="1000" u="none" cap="none" strike="noStrike">
              <a:solidFill>
                <a:schemeClr val="dk1"/>
              </a:solidFill>
              <a:latin typeface="Calibri"/>
              <a:ea typeface="Calibri"/>
              <a:cs typeface="Calibri"/>
              <a:sym typeface="Calibri"/>
            </a:endParaRPr>
          </a:p>
        </p:txBody>
      </p:sp>
      <p:sp>
        <p:nvSpPr>
          <p:cNvPr id="320" name="Google Shape;320;p12"/>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12 / 21</a:t>
            </a:r>
            <a:endParaRPr b="0" i="0" sz="1000" u="none" cap="none" strike="noStrike">
              <a:solidFill>
                <a:schemeClr val="dk1"/>
              </a:solidFill>
              <a:latin typeface="Calibri"/>
              <a:ea typeface="Calibri"/>
              <a:cs typeface="Calibri"/>
              <a:sym typeface="Calibri"/>
            </a:endParaRPr>
          </a:p>
        </p:txBody>
      </p:sp>
      <p:sp>
        <p:nvSpPr>
          <p:cNvPr id="321" name="Google Shape;321;p12"/>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All four root causes confirmed, four actions to take now</a:t>
            </a:r>
            <a:endParaRPr b="0" i="0" sz="2600" u="none" cap="none" strike="noStrike">
              <a:solidFill>
                <a:schemeClr val="dk1"/>
              </a:solidFill>
              <a:latin typeface="Calibri"/>
              <a:ea typeface="Calibri"/>
              <a:cs typeface="Calibri"/>
              <a:sym typeface="Calibri"/>
            </a:endParaRPr>
          </a:p>
        </p:txBody>
      </p:sp>
      <p:sp>
        <p:nvSpPr>
          <p:cNvPr id="322" name="Google Shape;322;p12"/>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The Milestone 1 problem: the bank cannot tell before approval which applicants will end up in a problematic loan. Target: from 11% to below 5% within twelve months.</a:t>
            </a:r>
            <a:endParaRPr b="0" i="0" sz="1100" u="none" cap="none" strike="noStrike">
              <a:solidFill>
                <a:schemeClr val="dk1"/>
              </a:solidFill>
              <a:latin typeface="Calibri"/>
              <a:ea typeface="Calibri"/>
              <a:cs typeface="Calibri"/>
              <a:sym typeface="Calibri"/>
            </a:endParaRPr>
          </a:p>
        </p:txBody>
      </p:sp>
      <p:sp>
        <p:nvSpPr>
          <p:cNvPr id="323" name="Google Shape;323;p12"/>
          <p:cNvSpPr/>
          <p:nvPr/>
        </p:nvSpPr>
        <p:spPr>
          <a:xfrm>
            <a:off x="365760" y="1627632"/>
            <a:ext cx="5806440" cy="4297680"/>
          </a:xfrm>
          <a:prstGeom prst="roundRect">
            <a:avLst>
              <a:gd fmla="val 1277"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12"/>
          <p:cNvSpPr txBox="1"/>
          <p:nvPr/>
        </p:nvSpPr>
        <p:spPr>
          <a:xfrm>
            <a:off x="548640" y="1773936"/>
            <a:ext cx="54864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ROOT CAUSE  ·  VERDICT  ·  EVIDENCE</a:t>
            </a:r>
            <a:endParaRPr b="0" i="0" sz="950" u="none" cap="none" strike="noStrike">
              <a:solidFill>
                <a:schemeClr val="dk1"/>
              </a:solidFill>
              <a:latin typeface="Calibri"/>
              <a:ea typeface="Calibri"/>
              <a:cs typeface="Calibri"/>
              <a:sym typeface="Calibri"/>
            </a:endParaRPr>
          </a:p>
        </p:txBody>
      </p:sp>
      <p:sp>
        <p:nvSpPr>
          <p:cNvPr id="325" name="Google Shape;325;p12"/>
          <p:cNvSpPr/>
          <p:nvPr/>
        </p:nvSpPr>
        <p:spPr>
          <a:xfrm>
            <a:off x="548640" y="2103120"/>
            <a:ext cx="5440680" cy="822960"/>
          </a:xfrm>
          <a:prstGeom prst="roundRect">
            <a:avLst>
              <a:gd fmla="val 5556"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2"/>
          <p:cNvSpPr txBox="1"/>
          <p:nvPr/>
        </p:nvSpPr>
        <p:spPr>
          <a:xfrm>
            <a:off x="676656" y="2185416"/>
            <a:ext cx="292608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Weak account liquidity</a:t>
            </a:r>
            <a:endParaRPr b="0" i="0" sz="950" u="none" cap="none" strike="noStrike">
              <a:solidFill>
                <a:schemeClr val="dk1"/>
              </a:solidFill>
              <a:latin typeface="Calibri"/>
              <a:ea typeface="Calibri"/>
              <a:cs typeface="Calibri"/>
              <a:sym typeface="Calibri"/>
            </a:endParaRPr>
          </a:p>
        </p:txBody>
      </p:sp>
      <p:sp>
        <p:nvSpPr>
          <p:cNvPr id="327" name="Google Shape;327;p12"/>
          <p:cNvSpPr txBox="1"/>
          <p:nvPr/>
        </p:nvSpPr>
        <p:spPr>
          <a:xfrm>
            <a:off x="3602736" y="2185416"/>
            <a:ext cx="2286000" cy="219456"/>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CONFIRMED, strongest</a:t>
            </a:r>
            <a:endParaRPr b="0" i="0" sz="850" u="none" cap="none" strike="noStrike">
              <a:solidFill>
                <a:schemeClr val="dk1"/>
              </a:solidFill>
              <a:latin typeface="Calibri"/>
              <a:ea typeface="Calibri"/>
              <a:cs typeface="Calibri"/>
              <a:sym typeface="Calibri"/>
            </a:endParaRPr>
          </a:p>
        </p:txBody>
      </p:sp>
      <p:sp>
        <p:nvSpPr>
          <p:cNvPr id="328" name="Google Shape;328;p12"/>
          <p:cNvSpPr txBox="1"/>
          <p:nvPr/>
        </p:nvSpPr>
        <p:spPr>
          <a:xfrm>
            <a:off x="676656" y="2423160"/>
            <a:ext cx="5212080" cy="438912"/>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100% failure rate after a pre-loan overdraft; −0.26 correlation on minimum balance</a:t>
            </a:r>
            <a:endParaRPr b="0" i="0" sz="850" u="none" cap="none" strike="noStrike">
              <a:solidFill>
                <a:schemeClr val="dk1"/>
              </a:solidFill>
              <a:latin typeface="Calibri"/>
              <a:ea typeface="Calibri"/>
              <a:cs typeface="Calibri"/>
              <a:sym typeface="Calibri"/>
            </a:endParaRPr>
          </a:p>
        </p:txBody>
      </p:sp>
      <p:sp>
        <p:nvSpPr>
          <p:cNvPr id="329" name="Google Shape;329;p12"/>
          <p:cNvSpPr/>
          <p:nvPr/>
        </p:nvSpPr>
        <p:spPr>
          <a:xfrm>
            <a:off x="548640" y="3035808"/>
            <a:ext cx="5440680" cy="822960"/>
          </a:xfrm>
          <a:prstGeom prst="roundRect">
            <a:avLst>
              <a:gd fmla="val 5556"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12"/>
          <p:cNvSpPr txBox="1"/>
          <p:nvPr/>
        </p:nvSpPr>
        <p:spPr>
          <a:xfrm>
            <a:off x="676656" y="3118104"/>
            <a:ext cx="292608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Loan burden</a:t>
            </a:r>
            <a:endParaRPr b="0" i="0" sz="950" u="none" cap="none" strike="noStrike">
              <a:solidFill>
                <a:schemeClr val="dk1"/>
              </a:solidFill>
              <a:latin typeface="Calibri"/>
              <a:ea typeface="Calibri"/>
              <a:cs typeface="Calibri"/>
              <a:sym typeface="Calibri"/>
            </a:endParaRPr>
          </a:p>
        </p:txBody>
      </p:sp>
      <p:sp>
        <p:nvSpPr>
          <p:cNvPr id="331" name="Google Shape;331;p12"/>
          <p:cNvSpPr txBox="1"/>
          <p:nvPr/>
        </p:nvSpPr>
        <p:spPr>
          <a:xfrm>
            <a:off x="3602736" y="3118104"/>
            <a:ext cx="2286000" cy="219456"/>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CONFIRMED, strongest positive</a:t>
            </a:r>
            <a:endParaRPr b="0" i="0" sz="850" u="none" cap="none" strike="noStrike">
              <a:solidFill>
                <a:schemeClr val="dk1"/>
              </a:solidFill>
              <a:latin typeface="Calibri"/>
              <a:ea typeface="Calibri"/>
              <a:cs typeface="Calibri"/>
              <a:sym typeface="Calibri"/>
            </a:endParaRPr>
          </a:p>
        </p:txBody>
      </p:sp>
      <p:sp>
        <p:nvSpPr>
          <p:cNvPr id="332" name="Google Shape;332;p12"/>
          <p:cNvSpPr txBox="1"/>
          <p:nvPr/>
        </p:nvSpPr>
        <p:spPr>
          <a:xfrm>
            <a:off x="676656" y="3355848"/>
            <a:ext cx="5212080" cy="438912"/>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5.8% to 19.3% across quartiles, r = 0.26; loan amount only bites in its top quartile</a:t>
            </a:r>
            <a:endParaRPr b="0" i="0" sz="850" u="none" cap="none" strike="noStrike">
              <a:solidFill>
                <a:schemeClr val="dk1"/>
              </a:solidFill>
              <a:latin typeface="Calibri"/>
              <a:ea typeface="Calibri"/>
              <a:cs typeface="Calibri"/>
              <a:sym typeface="Calibri"/>
            </a:endParaRPr>
          </a:p>
        </p:txBody>
      </p:sp>
      <p:sp>
        <p:nvSpPr>
          <p:cNvPr id="333" name="Google Shape;333;p12"/>
          <p:cNvSpPr/>
          <p:nvPr/>
        </p:nvSpPr>
        <p:spPr>
          <a:xfrm>
            <a:off x="548640" y="3968496"/>
            <a:ext cx="5440680" cy="822960"/>
          </a:xfrm>
          <a:prstGeom prst="roundRect">
            <a:avLst>
              <a:gd fmla="val 5556"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12"/>
          <p:cNvSpPr txBox="1"/>
          <p:nvPr/>
        </p:nvSpPr>
        <p:spPr>
          <a:xfrm>
            <a:off x="676656" y="4050792"/>
            <a:ext cx="292608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Cash flow strain</a:t>
            </a:r>
            <a:endParaRPr b="0" i="0" sz="950" u="none" cap="none" strike="noStrike">
              <a:solidFill>
                <a:schemeClr val="dk1"/>
              </a:solidFill>
              <a:latin typeface="Calibri"/>
              <a:ea typeface="Calibri"/>
              <a:cs typeface="Calibri"/>
              <a:sym typeface="Calibri"/>
            </a:endParaRPr>
          </a:p>
        </p:txBody>
      </p:sp>
      <p:sp>
        <p:nvSpPr>
          <p:cNvPr id="335" name="Google Shape;335;p12"/>
          <p:cNvSpPr txBox="1"/>
          <p:nvPr/>
        </p:nvSpPr>
        <p:spPr>
          <a:xfrm>
            <a:off x="3602736" y="4050792"/>
            <a:ext cx="2286000" cy="219456"/>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CONFIRMED at the extreme</a:t>
            </a:r>
            <a:endParaRPr b="0" i="0" sz="850" u="none" cap="none" strike="noStrike">
              <a:solidFill>
                <a:schemeClr val="dk1"/>
              </a:solidFill>
              <a:latin typeface="Calibri"/>
              <a:ea typeface="Calibri"/>
              <a:cs typeface="Calibri"/>
              <a:sym typeface="Calibri"/>
            </a:endParaRPr>
          </a:p>
        </p:txBody>
      </p:sp>
      <p:sp>
        <p:nvSpPr>
          <p:cNvPr id="336" name="Google Shape;336;p12"/>
          <p:cNvSpPr txBox="1"/>
          <p:nvPr/>
        </p:nvSpPr>
        <p:spPr>
          <a:xfrm>
            <a:off x="676656" y="4288536"/>
            <a:ext cx="5212080" cy="438912"/>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8.8% to 18.8%, but weak overall at r = 0.04 because the ratio is skewed</a:t>
            </a:r>
            <a:endParaRPr b="0" i="0" sz="850" u="none" cap="none" strike="noStrike">
              <a:solidFill>
                <a:schemeClr val="dk1"/>
              </a:solidFill>
              <a:latin typeface="Calibri"/>
              <a:ea typeface="Calibri"/>
              <a:cs typeface="Calibri"/>
              <a:sym typeface="Calibri"/>
            </a:endParaRPr>
          </a:p>
        </p:txBody>
      </p:sp>
      <p:sp>
        <p:nvSpPr>
          <p:cNvPr id="337" name="Google Shape;337;p12"/>
          <p:cNvSpPr/>
          <p:nvPr/>
        </p:nvSpPr>
        <p:spPr>
          <a:xfrm>
            <a:off x="548640" y="4901184"/>
            <a:ext cx="5440680" cy="822960"/>
          </a:xfrm>
          <a:prstGeom prst="roundRect">
            <a:avLst>
              <a:gd fmla="val 5556"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12"/>
          <p:cNvSpPr txBox="1"/>
          <p:nvPr/>
        </p:nvSpPr>
        <p:spPr>
          <a:xfrm>
            <a:off x="676656" y="4983480"/>
            <a:ext cx="292608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Thin banking history</a:t>
            </a:r>
            <a:endParaRPr b="0" i="0" sz="950" u="none" cap="none" strike="noStrike">
              <a:solidFill>
                <a:schemeClr val="dk1"/>
              </a:solidFill>
              <a:latin typeface="Calibri"/>
              <a:ea typeface="Calibri"/>
              <a:cs typeface="Calibri"/>
              <a:sym typeface="Calibri"/>
            </a:endParaRPr>
          </a:p>
        </p:txBody>
      </p:sp>
      <p:sp>
        <p:nvSpPr>
          <p:cNvPr id="339" name="Google Shape;339;p12"/>
          <p:cNvSpPr txBox="1"/>
          <p:nvPr/>
        </p:nvSpPr>
        <p:spPr>
          <a:xfrm>
            <a:off x="3602736" y="4983480"/>
            <a:ext cx="2286000" cy="219456"/>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6D0B"/>
              </a:buClr>
              <a:buSzPts val="850"/>
              <a:buFont typeface="Arial"/>
              <a:buNone/>
            </a:pPr>
            <a:r>
              <a:rPr b="1" i="0" lang="en-US" sz="850" u="none" cap="none" strike="noStrike">
                <a:solidFill>
                  <a:srgbClr val="8A6D0B"/>
                </a:solidFill>
                <a:latin typeface="Arial"/>
                <a:ea typeface="Arial"/>
                <a:cs typeface="Arial"/>
                <a:sym typeface="Arial"/>
              </a:rPr>
              <a:t>WEAKLY CONFIRMED</a:t>
            </a:r>
            <a:endParaRPr b="0" i="0" sz="850" u="none" cap="none" strike="noStrike">
              <a:solidFill>
                <a:schemeClr val="dk1"/>
              </a:solidFill>
              <a:latin typeface="Calibri"/>
              <a:ea typeface="Calibri"/>
              <a:cs typeface="Calibri"/>
              <a:sym typeface="Calibri"/>
            </a:endParaRPr>
          </a:p>
        </p:txBody>
      </p:sp>
      <p:sp>
        <p:nvSpPr>
          <p:cNvPr id="340" name="Google Shape;340;p12"/>
          <p:cNvSpPr txBox="1"/>
          <p:nvPr/>
        </p:nvSpPr>
        <p:spPr>
          <a:xfrm>
            <a:off x="676656" y="5221224"/>
            <a:ext cx="5212080" cy="438912"/>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15.2% for the newest tenure quartile against 8.8% for the longest, a secondary effect</a:t>
            </a:r>
            <a:endParaRPr b="0" i="0" sz="850" u="none" cap="none" strike="noStrike">
              <a:solidFill>
                <a:schemeClr val="dk1"/>
              </a:solidFill>
              <a:latin typeface="Calibri"/>
              <a:ea typeface="Calibri"/>
              <a:cs typeface="Calibri"/>
              <a:sym typeface="Calibri"/>
            </a:endParaRPr>
          </a:p>
        </p:txBody>
      </p:sp>
      <p:sp>
        <p:nvSpPr>
          <p:cNvPr id="341" name="Google Shape;341;p12"/>
          <p:cNvSpPr/>
          <p:nvPr/>
        </p:nvSpPr>
        <p:spPr>
          <a:xfrm>
            <a:off x="6382512" y="1627632"/>
            <a:ext cx="5440680" cy="4297680"/>
          </a:xfrm>
          <a:prstGeom prst="roundRect">
            <a:avLst>
              <a:gd fmla="val 1277"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 name="Google Shape;342;p12"/>
          <p:cNvSpPr txBox="1"/>
          <p:nvPr/>
        </p:nvSpPr>
        <p:spPr>
          <a:xfrm>
            <a:off x="6565392" y="1773936"/>
            <a:ext cx="512064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FOUR ACTIONS THE CREDIT TEAM CAN TAKE NOW</a:t>
            </a:r>
            <a:endParaRPr b="0" i="0" sz="950" u="none" cap="none" strike="noStrike">
              <a:solidFill>
                <a:schemeClr val="dk1"/>
              </a:solidFill>
              <a:latin typeface="Calibri"/>
              <a:ea typeface="Calibri"/>
              <a:cs typeface="Calibri"/>
              <a:sym typeface="Calibri"/>
            </a:endParaRPr>
          </a:p>
        </p:txBody>
      </p:sp>
      <p:sp>
        <p:nvSpPr>
          <p:cNvPr id="343" name="Google Shape;343;p12"/>
          <p:cNvSpPr txBox="1"/>
          <p:nvPr/>
        </p:nvSpPr>
        <p:spPr>
          <a:xfrm>
            <a:off x="6565392" y="2139696"/>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B301"/>
              </a:buClr>
              <a:buSzPts val="1300"/>
              <a:buFont typeface="Bookman Old Style"/>
              <a:buNone/>
            </a:pPr>
            <a:r>
              <a:rPr b="1" i="0" lang="en-US" sz="1300" u="none" cap="none" strike="noStrike">
                <a:solidFill>
                  <a:srgbClr val="F5B301"/>
                </a:solidFill>
                <a:latin typeface="Bookman Old Style"/>
                <a:ea typeface="Bookman Old Style"/>
                <a:cs typeface="Bookman Old Style"/>
                <a:sym typeface="Bookman Old Style"/>
              </a:rPr>
              <a:t>01</a:t>
            </a:r>
            <a:endParaRPr b="0" i="0" sz="1300" u="none" cap="none" strike="noStrike">
              <a:solidFill>
                <a:schemeClr val="dk1"/>
              </a:solidFill>
              <a:latin typeface="Calibri"/>
              <a:ea typeface="Calibri"/>
              <a:cs typeface="Calibri"/>
              <a:sym typeface="Calibri"/>
            </a:endParaRPr>
          </a:p>
        </p:txBody>
      </p:sp>
      <p:sp>
        <p:nvSpPr>
          <p:cNvPr id="344" name="Google Shape;344;p12"/>
          <p:cNvSpPr txBox="1"/>
          <p:nvPr/>
        </p:nvSpPr>
        <p:spPr>
          <a:xfrm>
            <a:off x="6986016" y="2157984"/>
            <a:ext cx="466344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Screen for a pre-loan overdraft</a:t>
            </a:r>
            <a:endParaRPr b="0" i="0" sz="950" u="none" cap="none" strike="noStrike">
              <a:solidFill>
                <a:schemeClr val="dk1"/>
              </a:solidFill>
              <a:latin typeface="Calibri"/>
              <a:ea typeface="Calibri"/>
              <a:cs typeface="Calibri"/>
              <a:sym typeface="Calibri"/>
            </a:endParaRPr>
          </a:p>
        </p:txBody>
      </p:sp>
      <p:sp>
        <p:nvSpPr>
          <p:cNvPr id="345" name="Google Shape;345;p12"/>
          <p:cNvSpPr txBox="1"/>
          <p:nvPr/>
        </p:nvSpPr>
        <p:spPr>
          <a:xfrm>
            <a:off x="6986016" y="2395728"/>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950" u="none" cap="none" strike="noStrike">
                <a:solidFill>
                  <a:srgbClr val="8A8071"/>
                </a:solidFill>
                <a:latin typeface="Arial"/>
                <a:ea typeface="Arial"/>
                <a:cs typeface="Arial"/>
                <a:sym typeface="Arial"/>
              </a:rPr>
              <a:t>Route any applicant whose account went below zero in the last twelve months to manual review. Removes 27 of 76 problematic loans while touching 4% of applicants.</a:t>
            </a:r>
            <a:endParaRPr b="0" i="0" sz="950" u="none" cap="none" strike="noStrike">
              <a:solidFill>
                <a:schemeClr val="dk1"/>
              </a:solidFill>
              <a:latin typeface="Calibri"/>
              <a:ea typeface="Calibri"/>
              <a:cs typeface="Calibri"/>
              <a:sym typeface="Calibri"/>
            </a:endParaRPr>
          </a:p>
        </p:txBody>
      </p:sp>
      <p:sp>
        <p:nvSpPr>
          <p:cNvPr id="346" name="Google Shape;346;p12"/>
          <p:cNvSpPr txBox="1"/>
          <p:nvPr/>
        </p:nvSpPr>
        <p:spPr>
          <a:xfrm>
            <a:off x="6565392" y="3072384"/>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B301"/>
              </a:buClr>
              <a:buSzPts val="1300"/>
              <a:buFont typeface="Bookman Old Style"/>
              <a:buNone/>
            </a:pPr>
            <a:r>
              <a:rPr b="1" i="0" lang="en-US" sz="1300" u="none" cap="none" strike="noStrike">
                <a:solidFill>
                  <a:srgbClr val="F5B301"/>
                </a:solidFill>
                <a:latin typeface="Bookman Old Style"/>
                <a:ea typeface="Bookman Old Style"/>
                <a:cs typeface="Bookman Old Style"/>
                <a:sym typeface="Bookman Old Style"/>
              </a:rPr>
              <a:t>02</a:t>
            </a:r>
            <a:endParaRPr b="0" i="0" sz="1300" u="none" cap="none" strike="noStrike">
              <a:solidFill>
                <a:schemeClr val="dk1"/>
              </a:solidFill>
              <a:latin typeface="Calibri"/>
              <a:ea typeface="Calibri"/>
              <a:cs typeface="Calibri"/>
              <a:sym typeface="Calibri"/>
            </a:endParaRPr>
          </a:p>
        </p:txBody>
      </p:sp>
      <p:sp>
        <p:nvSpPr>
          <p:cNvPr id="347" name="Google Shape;347;p12"/>
          <p:cNvSpPr txBox="1"/>
          <p:nvPr/>
        </p:nvSpPr>
        <p:spPr>
          <a:xfrm>
            <a:off x="6986016" y="3090672"/>
            <a:ext cx="466344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Cap payment-to-inflow at underwriting</a:t>
            </a:r>
            <a:endParaRPr b="0" i="0" sz="950" u="none" cap="none" strike="noStrike">
              <a:solidFill>
                <a:schemeClr val="dk1"/>
              </a:solidFill>
              <a:latin typeface="Calibri"/>
              <a:ea typeface="Calibri"/>
              <a:cs typeface="Calibri"/>
              <a:sym typeface="Calibri"/>
            </a:endParaRPr>
          </a:p>
        </p:txBody>
      </p:sp>
      <p:sp>
        <p:nvSpPr>
          <p:cNvPr id="348" name="Google Shape;348;p12"/>
          <p:cNvSpPr txBox="1"/>
          <p:nvPr/>
        </p:nvSpPr>
        <p:spPr>
          <a:xfrm>
            <a:off x="6986016" y="3328416"/>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950" u="none" cap="none" strike="noStrike">
                <a:solidFill>
                  <a:srgbClr val="8A8071"/>
                </a:solidFill>
                <a:latin typeface="Arial"/>
                <a:ea typeface="Arial"/>
                <a:cs typeface="Arial"/>
                <a:sym typeface="Arial"/>
              </a:rPr>
              <a:t>Set a ceiling near the Q3 boundary so the instalment, not the principal, governs the decision. Strongest positive correlate at r = 0.26.</a:t>
            </a:r>
            <a:endParaRPr b="0" i="0" sz="950" u="none" cap="none" strike="noStrike">
              <a:solidFill>
                <a:schemeClr val="dk1"/>
              </a:solidFill>
              <a:latin typeface="Calibri"/>
              <a:ea typeface="Calibri"/>
              <a:cs typeface="Calibri"/>
              <a:sym typeface="Calibri"/>
            </a:endParaRPr>
          </a:p>
        </p:txBody>
      </p:sp>
      <p:sp>
        <p:nvSpPr>
          <p:cNvPr id="349" name="Google Shape;349;p12"/>
          <p:cNvSpPr txBox="1"/>
          <p:nvPr/>
        </p:nvSpPr>
        <p:spPr>
          <a:xfrm>
            <a:off x="6565392" y="4005072"/>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B301"/>
              </a:buClr>
              <a:buSzPts val="1300"/>
              <a:buFont typeface="Bookman Old Style"/>
              <a:buNone/>
            </a:pPr>
            <a:r>
              <a:rPr b="1" i="0" lang="en-US" sz="1300" u="none" cap="none" strike="noStrike">
                <a:solidFill>
                  <a:srgbClr val="F5B301"/>
                </a:solidFill>
                <a:latin typeface="Bookman Old Style"/>
                <a:ea typeface="Bookman Old Style"/>
                <a:cs typeface="Bookman Old Style"/>
                <a:sym typeface="Bookman Old Style"/>
              </a:rPr>
              <a:t>03</a:t>
            </a:r>
            <a:endParaRPr b="0" i="0" sz="1300" u="none" cap="none" strike="noStrike">
              <a:solidFill>
                <a:schemeClr val="dk1"/>
              </a:solidFill>
              <a:latin typeface="Calibri"/>
              <a:ea typeface="Calibri"/>
              <a:cs typeface="Calibri"/>
              <a:sym typeface="Calibri"/>
            </a:endParaRPr>
          </a:p>
        </p:txBody>
      </p:sp>
      <p:sp>
        <p:nvSpPr>
          <p:cNvPr id="350" name="Google Shape;350;p12"/>
          <p:cNvSpPr txBox="1"/>
          <p:nvPr/>
        </p:nvSpPr>
        <p:spPr>
          <a:xfrm>
            <a:off x="6986016" y="4023360"/>
            <a:ext cx="466344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Add behavioural features to the scorecard</a:t>
            </a:r>
            <a:endParaRPr b="0" i="0" sz="950" u="none" cap="none" strike="noStrike">
              <a:solidFill>
                <a:schemeClr val="dk1"/>
              </a:solidFill>
              <a:latin typeface="Calibri"/>
              <a:ea typeface="Calibri"/>
              <a:cs typeface="Calibri"/>
              <a:sym typeface="Calibri"/>
            </a:endParaRPr>
          </a:p>
        </p:txBody>
      </p:sp>
      <p:sp>
        <p:nvSpPr>
          <p:cNvPr id="351" name="Google Shape;351;p12"/>
          <p:cNvSpPr txBox="1"/>
          <p:nvPr/>
        </p:nvSpPr>
        <p:spPr>
          <a:xfrm>
            <a:off x="6986016" y="4261104"/>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950" u="none" cap="none" strike="noStrike">
                <a:solidFill>
                  <a:srgbClr val="8A8071"/>
                </a:solidFill>
                <a:latin typeface="Arial"/>
                <a:ea typeface="Arial"/>
                <a:cs typeface="Arial"/>
                <a:sym typeface="Arial"/>
              </a:rPr>
              <a:t>Feed min_balance, avg_balance and ever_negative into scoring. All three already sit in the warehouse.</a:t>
            </a:r>
            <a:endParaRPr b="0" i="0" sz="950" u="none" cap="none" strike="noStrike">
              <a:solidFill>
                <a:schemeClr val="dk1"/>
              </a:solidFill>
              <a:latin typeface="Calibri"/>
              <a:ea typeface="Calibri"/>
              <a:cs typeface="Calibri"/>
              <a:sym typeface="Calibri"/>
            </a:endParaRPr>
          </a:p>
        </p:txBody>
      </p:sp>
      <p:sp>
        <p:nvSpPr>
          <p:cNvPr id="352" name="Google Shape;352;p12"/>
          <p:cNvSpPr txBox="1"/>
          <p:nvPr/>
        </p:nvSpPr>
        <p:spPr>
          <a:xfrm>
            <a:off x="6565392" y="4937760"/>
            <a:ext cx="384048"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5B301"/>
              </a:buClr>
              <a:buSzPts val="1300"/>
              <a:buFont typeface="Bookman Old Style"/>
              <a:buNone/>
            </a:pPr>
            <a:r>
              <a:rPr b="1" i="0" lang="en-US" sz="1300" u="none" cap="none" strike="noStrike">
                <a:solidFill>
                  <a:srgbClr val="F5B301"/>
                </a:solidFill>
                <a:latin typeface="Bookman Old Style"/>
                <a:ea typeface="Bookman Old Style"/>
                <a:cs typeface="Bookman Old Style"/>
                <a:sym typeface="Bookman Old Style"/>
              </a:rPr>
              <a:t>04</a:t>
            </a:r>
            <a:endParaRPr b="0" i="0" sz="1300" u="none" cap="none" strike="noStrike">
              <a:solidFill>
                <a:schemeClr val="dk1"/>
              </a:solidFill>
              <a:latin typeface="Calibri"/>
              <a:ea typeface="Calibri"/>
              <a:cs typeface="Calibri"/>
              <a:sym typeface="Calibri"/>
            </a:endParaRPr>
          </a:p>
        </p:txBody>
      </p:sp>
      <p:sp>
        <p:nvSpPr>
          <p:cNvPr id="353" name="Google Shape;353;p12"/>
          <p:cNvSpPr txBox="1"/>
          <p:nvPr/>
        </p:nvSpPr>
        <p:spPr>
          <a:xfrm>
            <a:off x="6986016" y="4956048"/>
            <a:ext cx="466344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Report the KPI by vintage, at equal age</a:t>
            </a:r>
            <a:endParaRPr b="0" i="0" sz="950" u="none" cap="none" strike="noStrike">
              <a:solidFill>
                <a:schemeClr val="dk1"/>
              </a:solidFill>
              <a:latin typeface="Calibri"/>
              <a:ea typeface="Calibri"/>
              <a:cs typeface="Calibri"/>
              <a:sym typeface="Calibri"/>
            </a:endParaRPr>
          </a:p>
        </p:txBody>
      </p:sp>
      <p:sp>
        <p:nvSpPr>
          <p:cNvPr id="354" name="Google Shape;354;p12"/>
          <p:cNvSpPr txBox="1"/>
          <p:nvPr/>
        </p:nvSpPr>
        <p:spPr>
          <a:xfrm>
            <a:off x="6986016" y="5193792"/>
            <a:ext cx="4663440" cy="548640"/>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950" u="none" cap="none" strike="noStrike">
                <a:solidFill>
                  <a:srgbClr val="8A8071"/>
                </a:solidFill>
                <a:latin typeface="Arial"/>
                <a:ea typeface="Arial"/>
                <a:cs typeface="Arial"/>
                <a:sym typeface="Arial"/>
              </a:rPr>
              <a:t>Never publish one portfolio number. Compare each origination cohort at the same months-on-book, so the 1998 illusion cannot loosen standards.</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359" name="Shape 359"/>
        <p:cNvGrpSpPr/>
        <p:nvPr/>
      </p:nvGrpSpPr>
      <p:grpSpPr>
        <a:xfrm>
          <a:off x="0" y="0"/>
          <a:ext cx="0" cy="0"/>
          <a:chOff x="0" y="0"/>
          <a:chExt cx="0" cy="0"/>
        </a:xfrm>
      </p:grpSpPr>
      <p:sp>
        <p:nvSpPr>
          <p:cNvPr id="360" name="Google Shape;360;p13"/>
          <p:cNvSpPr txBox="1"/>
          <p:nvPr/>
        </p:nvSpPr>
        <p:spPr>
          <a:xfrm>
            <a:off x="384048" y="237744"/>
            <a:ext cx="777240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1000"/>
              <a:buFont typeface="Arial"/>
              <a:buNone/>
            </a:pPr>
            <a:r>
              <a:rPr b="1" i="0" lang="en-US" sz="1000" u="none" cap="none" strike="noStrike">
                <a:solidFill>
                  <a:srgbClr val="8A6D0B"/>
                </a:solidFill>
                <a:latin typeface="Arial"/>
                <a:ea typeface="Arial"/>
                <a:cs typeface="Arial"/>
                <a:sym typeface="Arial"/>
              </a:rPr>
              <a:t>DEEPP MILESTONE 2  ·  LIMITATIONS, METHOD &amp; NEXT STEPS</a:t>
            </a:r>
            <a:endParaRPr b="0" i="0" sz="1000" u="none" cap="none" strike="noStrike">
              <a:solidFill>
                <a:schemeClr val="dk1"/>
              </a:solidFill>
              <a:latin typeface="Calibri"/>
              <a:ea typeface="Calibri"/>
              <a:cs typeface="Calibri"/>
              <a:sym typeface="Calibri"/>
            </a:endParaRPr>
          </a:p>
        </p:txBody>
      </p:sp>
      <p:sp>
        <p:nvSpPr>
          <p:cNvPr id="361" name="Google Shape;361;p13"/>
          <p:cNvSpPr txBox="1"/>
          <p:nvPr/>
        </p:nvSpPr>
        <p:spPr>
          <a:xfrm>
            <a:off x="8778240" y="237744"/>
            <a:ext cx="3017520" cy="256032"/>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8A8071"/>
              </a:buClr>
              <a:buSzPts val="1000"/>
              <a:buFont typeface="Arial"/>
              <a:buNone/>
            </a:pPr>
            <a:r>
              <a:rPr b="1" i="0" lang="en-US" sz="1000" u="none" cap="none" strike="noStrike">
                <a:solidFill>
                  <a:srgbClr val="8A8071"/>
                </a:solidFill>
                <a:latin typeface="Arial"/>
                <a:ea typeface="Arial"/>
                <a:cs typeface="Arial"/>
                <a:sym typeface="Arial"/>
              </a:rPr>
              <a:t>SLIDE 13 / 21</a:t>
            </a:r>
            <a:endParaRPr b="0" i="0" sz="1000" u="none" cap="none" strike="noStrike">
              <a:solidFill>
                <a:schemeClr val="dk1"/>
              </a:solidFill>
              <a:latin typeface="Calibri"/>
              <a:ea typeface="Calibri"/>
              <a:cs typeface="Calibri"/>
              <a:sym typeface="Calibri"/>
            </a:endParaRPr>
          </a:p>
        </p:txBody>
      </p:sp>
      <p:sp>
        <p:nvSpPr>
          <p:cNvPr id="362" name="Google Shape;362;p13"/>
          <p:cNvSpPr txBox="1"/>
          <p:nvPr/>
        </p:nvSpPr>
        <p:spPr>
          <a:xfrm>
            <a:off x="365760" y="548640"/>
            <a:ext cx="1143000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2600"/>
              <a:buFont typeface="Bookman Old Style"/>
              <a:buNone/>
            </a:pPr>
            <a:r>
              <a:rPr b="1" i="0" lang="en-US" sz="2600" u="none" cap="none" strike="noStrike">
                <a:solidFill>
                  <a:srgbClr val="2B2621"/>
                </a:solidFill>
                <a:latin typeface="Bookman Old Style"/>
                <a:ea typeface="Bookman Old Style"/>
                <a:cs typeface="Bookman Old Style"/>
                <a:sym typeface="Bookman Old Style"/>
              </a:rPr>
              <a:t>What this analysis cannot yet claim, and how it was produced</a:t>
            </a:r>
            <a:endParaRPr b="0" i="0" sz="2600" u="none" cap="none" strike="noStrike">
              <a:solidFill>
                <a:schemeClr val="dk1"/>
              </a:solidFill>
              <a:latin typeface="Calibri"/>
              <a:ea typeface="Calibri"/>
              <a:cs typeface="Calibri"/>
              <a:sym typeface="Calibri"/>
            </a:endParaRPr>
          </a:p>
        </p:txBody>
      </p:sp>
      <p:sp>
        <p:nvSpPr>
          <p:cNvPr id="363" name="Google Shape;363;p13"/>
          <p:cNvSpPr txBox="1"/>
          <p:nvPr/>
        </p:nvSpPr>
        <p:spPr>
          <a:xfrm>
            <a:off x="384048" y="1133856"/>
            <a:ext cx="11430000" cy="31089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1100"/>
              <a:buFont typeface="Arial"/>
              <a:buNone/>
            </a:pPr>
            <a:r>
              <a:rPr b="0" i="1" lang="en-US" sz="1100" u="none" cap="none" strike="noStrike">
                <a:solidFill>
                  <a:srgbClr val="8A8071"/>
                </a:solidFill>
                <a:latin typeface="Arial"/>
                <a:ea typeface="Arial"/>
                <a:cs typeface="Arial"/>
                <a:sym typeface="Arial"/>
              </a:rPr>
              <a:t>Two layers. The consulting frame from Milestone 0 and 1 decides which questions are worth asking, CRISP-DM governs how they were answered.</a:t>
            </a:r>
            <a:endParaRPr b="0" i="0" sz="1100" u="none" cap="none" strike="noStrike">
              <a:solidFill>
                <a:schemeClr val="dk1"/>
              </a:solidFill>
              <a:latin typeface="Calibri"/>
              <a:ea typeface="Calibri"/>
              <a:cs typeface="Calibri"/>
              <a:sym typeface="Calibri"/>
            </a:endParaRPr>
          </a:p>
        </p:txBody>
      </p:sp>
      <p:sp>
        <p:nvSpPr>
          <p:cNvPr id="364" name="Google Shape;364;p13"/>
          <p:cNvSpPr/>
          <p:nvPr/>
        </p:nvSpPr>
        <p:spPr>
          <a:xfrm>
            <a:off x="365760" y="1627632"/>
            <a:ext cx="5806440" cy="3054096"/>
          </a:xfrm>
          <a:prstGeom prst="roundRect">
            <a:avLst>
              <a:gd fmla="val 1796"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13"/>
          <p:cNvSpPr txBox="1"/>
          <p:nvPr/>
        </p:nvSpPr>
        <p:spPr>
          <a:xfrm>
            <a:off x="548640" y="1755648"/>
            <a:ext cx="548640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LIMITATIONS, STATED OPENLY</a:t>
            </a:r>
            <a:endParaRPr b="0" i="0" sz="950" u="none" cap="none" strike="noStrike">
              <a:solidFill>
                <a:schemeClr val="dk1"/>
              </a:solidFill>
              <a:latin typeface="Calibri"/>
              <a:ea typeface="Calibri"/>
              <a:cs typeface="Calibri"/>
              <a:sym typeface="Calibri"/>
            </a:endParaRPr>
          </a:p>
        </p:txBody>
      </p:sp>
      <p:sp>
        <p:nvSpPr>
          <p:cNvPr id="366" name="Google Shape;366;p13"/>
          <p:cNvSpPr txBox="1"/>
          <p:nvPr/>
        </p:nvSpPr>
        <p:spPr>
          <a:xfrm>
            <a:off x="548640" y="2029968"/>
            <a:ext cx="54406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Small event count</a:t>
            </a:r>
            <a:endParaRPr b="0" i="0" sz="950" u="none" cap="none" strike="noStrike">
              <a:solidFill>
                <a:schemeClr val="dk1"/>
              </a:solidFill>
              <a:latin typeface="Calibri"/>
              <a:ea typeface="Calibri"/>
              <a:cs typeface="Calibri"/>
              <a:sym typeface="Calibri"/>
            </a:endParaRPr>
          </a:p>
        </p:txBody>
      </p:sp>
      <p:sp>
        <p:nvSpPr>
          <p:cNvPr id="367" name="Google Shape;367;p13"/>
          <p:cNvSpPr txBox="1"/>
          <p:nvPr/>
        </p:nvSpPr>
        <p:spPr>
          <a:xfrm>
            <a:off x="548640" y="2231136"/>
            <a:ext cx="5440680" cy="420624"/>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682 loans with only 76 problematic outcomes. The 27-account overdraft group is the most fragile finding, so its 100% rate needs revalidation on a larger sample.</a:t>
            </a:r>
            <a:endParaRPr b="0" i="0" sz="850" u="none" cap="none" strike="noStrike">
              <a:solidFill>
                <a:schemeClr val="dk1"/>
              </a:solidFill>
              <a:latin typeface="Calibri"/>
              <a:ea typeface="Calibri"/>
              <a:cs typeface="Calibri"/>
              <a:sym typeface="Calibri"/>
            </a:endParaRPr>
          </a:p>
        </p:txBody>
      </p:sp>
      <p:sp>
        <p:nvSpPr>
          <p:cNvPr id="368" name="Google Shape;368;p13"/>
          <p:cNvSpPr txBox="1"/>
          <p:nvPr/>
        </p:nvSpPr>
        <p:spPr>
          <a:xfrm>
            <a:off x="548640" y="2688336"/>
            <a:ext cx="54406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Income is a proxy</a:t>
            </a:r>
            <a:endParaRPr b="0" i="0" sz="950" u="none" cap="none" strike="noStrike">
              <a:solidFill>
                <a:schemeClr val="dk1"/>
              </a:solidFill>
              <a:latin typeface="Calibri"/>
              <a:ea typeface="Calibri"/>
              <a:cs typeface="Calibri"/>
              <a:sym typeface="Calibri"/>
            </a:endParaRPr>
          </a:p>
        </p:txBody>
      </p:sp>
      <p:sp>
        <p:nvSpPr>
          <p:cNvPr id="369" name="Google Shape;369;p13"/>
          <p:cNvSpPr txBox="1"/>
          <p:nvPr/>
        </p:nvSpPr>
        <p:spPr>
          <a:xfrm>
            <a:off x="548640" y="2889504"/>
            <a:ext cx="5440680" cy="420624"/>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Individual income is not in the dataset, so payment-to-income uses the district average salary. The ratio is directional rather than exact.</a:t>
            </a:r>
            <a:endParaRPr b="0" i="0" sz="850" u="none" cap="none" strike="noStrike">
              <a:solidFill>
                <a:schemeClr val="dk1"/>
              </a:solidFill>
              <a:latin typeface="Calibri"/>
              <a:ea typeface="Calibri"/>
              <a:cs typeface="Calibri"/>
              <a:sym typeface="Calibri"/>
            </a:endParaRPr>
          </a:p>
        </p:txBody>
      </p:sp>
      <p:sp>
        <p:nvSpPr>
          <p:cNvPr id="370" name="Google Shape;370;p13"/>
          <p:cNvSpPr txBox="1"/>
          <p:nvPr/>
        </p:nvSpPr>
        <p:spPr>
          <a:xfrm>
            <a:off x="548640" y="3346704"/>
            <a:ext cx="54406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Association, not causation</a:t>
            </a:r>
            <a:endParaRPr b="0" i="0" sz="950" u="none" cap="none" strike="noStrike">
              <a:solidFill>
                <a:schemeClr val="dk1"/>
              </a:solidFill>
              <a:latin typeface="Calibri"/>
              <a:ea typeface="Calibri"/>
              <a:cs typeface="Calibri"/>
              <a:sym typeface="Calibri"/>
            </a:endParaRPr>
          </a:p>
        </p:txBody>
      </p:sp>
      <p:sp>
        <p:nvSpPr>
          <p:cNvPr id="371" name="Google Shape;371;p13"/>
          <p:cNvSpPr txBox="1"/>
          <p:nvPr/>
        </p:nvSpPr>
        <p:spPr>
          <a:xfrm>
            <a:off x="548640" y="3547872"/>
            <a:ext cx="5440680" cy="420624"/>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Every result is a comparison of group rates. A low balance may be a symptom of the same pressure that causes default rather than its cause.</a:t>
            </a:r>
            <a:endParaRPr b="0" i="0" sz="850" u="none" cap="none" strike="noStrike">
              <a:solidFill>
                <a:schemeClr val="dk1"/>
              </a:solidFill>
              <a:latin typeface="Calibri"/>
              <a:ea typeface="Calibri"/>
              <a:cs typeface="Calibri"/>
              <a:sym typeface="Calibri"/>
            </a:endParaRPr>
          </a:p>
        </p:txBody>
      </p:sp>
      <p:sp>
        <p:nvSpPr>
          <p:cNvPr id="372" name="Google Shape;372;p13"/>
          <p:cNvSpPr txBox="1"/>
          <p:nvPr/>
        </p:nvSpPr>
        <p:spPr>
          <a:xfrm>
            <a:off x="548640" y="4005072"/>
            <a:ext cx="5440680" cy="2011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950"/>
              <a:buFont typeface="Arial"/>
              <a:buNone/>
            </a:pPr>
            <a:r>
              <a:rPr b="1" i="0" lang="en-US" sz="950" u="none" cap="none" strike="noStrike">
                <a:solidFill>
                  <a:srgbClr val="2B2621"/>
                </a:solidFill>
                <a:latin typeface="Arial"/>
                <a:ea typeface="Arial"/>
                <a:cs typeface="Arial"/>
                <a:sym typeface="Arial"/>
              </a:rPr>
              <a:t>Period-bound data</a:t>
            </a:r>
            <a:endParaRPr b="0" i="0" sz="950" u="none" cap="none" strike="noStrike">
              <a:solidFill>
                <a:schemeClr val="dk1"/>
              </a:solidFill>
              <a:latin typeface="Calibri"/>
              <a:ea typeface="Calibri"/>
              <a:cs typeface="Calibri"/>
              <a:sym typeface="Calibri"/>
            </a:endParaRPr>
          </a:p>
        </p:txBody>
      </p:sp>
      <p:sp>
        <p:nvSpPr>
          <p:cNvPr id="373" name="Google Shape;373;p13"/>
          <p:cNvSpPr txBox="1"/>
          <p:nvPr/>
        </p:nvSpPr>
        <p:spPr>
          <a:xfrm>
            <a:off x="548640" y="4206240"/>
            <a:ext cx="5440680" cy="420624"/>
          </a:xfrm>
          <a:prstGeom prst="rect">
            <a:avLst/>
          </a:prstGeom>
          <a:noFill/>
          <a:ln>
            <a:noFill/>
          </a:ln>
        </p:spPr>
        <p:txBody>
          <a:bodyPr anchorCtr="0" anchor="ctr" bIns="0" lIns="0" spcFirstLastPara="1" rIns="0" wrap="square" tIns="0">
            <a:noAutofit/>
          </a:bodyPr>
          <a:lstStyle/>
          <a:p>
            <a:pPr indent="0" lvl="0" marL="0" marR="0" rtl="0" algn="l">
              <a:lnSpc>
                <a:spcPct val="117647"/>
              </a:lnSpc>
              <a:spcBef>
                <a:spcPts val="0"/>
              </a:spcBef>
              <a:spcAft>
                <a:spcPts val="0"/>
              </a:spcAft>
              <a:buClr>
                <a:srgbClr val="8A8071"/>
              </a:buClr>
              <a:buSzPts val="850"/>
              <a:buFont typeface="Arial"/>
              <a:buNone/>
            </a:pPr>
            <a:r>
              <a:rPr b="0" i="0" lang="en-US" sz="850" u="none" cap="none" strike="noStrike">
                <a:solidFill>
                  <a:srgbClr val="8A8071"/>
                </a:solidFill>
                <a:latin typeface="Arial"/>
                <a:ea typeface="Arial"/>
                <a:cs typeface="Arial"/>
                <a:sym typeface="Arial"/>
              </a:rPr>
              <a:t>1993 to 1998 in a transition-era Czech economy. Directions should generalise, exact thresholds should not be transplanted without recalibration.</a:t>
            </a:r>
            <a:endParaRPr b="0" i="0" sz="850" u="none" cap="none" strike="noStrike">
              <a:solidFill>
                <a:schemeClr val="dk1"/>
              </a:solidFill>
              <a:latin typeface="Calibri"/>
              <a:ea typeface="Calibri"/>
              <a:cs typeface="Calibri"/>
              <a:sym typeface="Calibri"/>
            </a:endParaRPr>
          </a:p>
        </p:txBody>
      </p:sp>
      <p:sp>
        <p:nvSpPr>
          <p:cNvPr id="374" name="Google Shape;374;p13"/>
          <p:cNvSpPr/>
          <p:nvPr/>
        </p:nvSpPr>
        <p:spPr>
          <a:xfrm>
            <a:off x="6382512" y="1627632"/>
            <a:ext cx="5440680" cy="3054096"/>
          </a:xfrm>
          <a:prstGeom prst="roundRect">
            <a:avLst>
              <a:gd fmla="val 1796"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13"/>
          <p:cNvSpPr txBox="1"/>
          <p:nvPr/>
        </p:nvSpPr>
        <p:spPr>
          <a:xfrm>
            <a:off x="6565392" y="1755648"/>
            <a:ext cx="512064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950"/>
              <a:buFont typeface="Arial"/>
              <a:buNone/>
            </a:pPr>
            <a:r>
              <a:rPr b="1" i="0" lang="en-US" sz="950" u="none" cap="none" strike="noStrike">
                <a:solidFill>
                  <a:srgbClr val="8A6D0B"/>
                </a:solidFill>
                <a:latin typeface="Arial"/>
                <a:ea typeface="Arial"/>
                <a:cs typeface="Arial"/>
                <a:sym typeface="Arial"/>
              </a:rPr>
              <a:t>WORKFLOW  ·  CRISP-DM MAPPED TO THE MILESTONE STEPS</a:t>
            </a:r>
            <a:endParaRPr b="0" i="0" sz="950" u="none" cap="none" strike="noStrike">
              <a:solidFill>
                <a:schemeClr val="dk1"/>
              </a:solidFill>
              <a:latin typeface="Calibri"/>
              <a:ea typeface="Calibri"/>
              <a:cs typeface="Calibri"/>
              <a:sym typeface="Calibri"/>
            </a:endParaRPr>
          </a:p>
        </p:txBody>
      </p:sp>
      <p:sp>
        <p:nvSpPr>
          <p:cNvPr id="376" name="Google Shape;376;p13"/>
          <p:cNvSpPr/>
          <p:nvPr/>
        </p:nvSpPr>
        <p:spPr>
          <a:xfrm>
            <a:off x="6565392" y="2029968"/>
            <a:ext cx="5074920" cy="475488"/>
          </a:xfrm>
          <a:prstGeom prst="roundRect">
            <a:avLst>
              <a:gd fmla="val 9615"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13"/>
          <p:cNvSpPr txBox="1"/>
          <p:nvPr/>
        </p:nvSpPr>
        <p:spPr>
          <a:xfrm>
            <a:off x="6675120" y="2084832"/>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Business Understanding</a:t>
            </a:r>
            <a:endParaRPr b="0" i="0" sz="850" u="none" cap="none" strike="noStrike">
              <a:solidFill>
                <a:schemeClr val="dk1"/>
              </a:solidFill>
              <a:latin typeface="Calibri"/>
              <a:ea typeface="Calibri"/>
              <a:cs typeface="Calibri"/>
              <a:sym typeface="Calibri"/>
            </a:endParaRPr>
          </a:p>
        </p:txBody>
      </p:sp>
      <p:sp>
        <p:nvSpPr>
          <p:cNvPr id="378" name="Google Shape;378;p13"/>
          <p:cNvSpPr txBox="1"/>
          <p:nvPr/>
        </p:nvSpPr>
        <p:spPr>
          <a:xfrm>
            <a:off x="8503920" y="2084832"/>
            <a:ext cx="105156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Arial"/>
              <a:buNone/>
            </a:pPr>
            <a:r>
              <a:rPr b="1" i="0" lang="en-US" sz="800" u="none" cap="none" strike="noStrike">
                <a:solidFill>
                  <a:srgbClr val="8A6D0B"/>
                </a:solidFill>
                <a:latin typeface="Arial"/>
                <a:ea typeface="Arial"/>
                <a:cs typeface="Arial"/>
                <a:sym typeface="Arial"/>
              </a:rPr>
              <a:t>Milestone 0 &amp; 1</a:t>
            </a:r>
            <a:endParaRPr b="0" i="0" sz="800" u="none" cap="none" strike="noStrike">
              <a:solidFill>
                <a:schemeClr val="dk1"/>
              </a:solidFill>
              <a:latin typeface="Calibri"/>
              <a:ea typeface="Calibri"/>
              <a:cs typeface="Calibri"/>
              <a:sym typeface="Calibri"/>
            </a:endParaRPr>
          </a:p>
        </p:txBody>
      </p:sp>
      <p:sp>
        <p:nvSpPr>
          <p:cNvPr id="379" name="Google Shape;379;p13"/>
          <p:cNvSpPr txBox="1"/>
          <p:nvPr/>
        </p:nvSpPr>
        <p:spPr>
          <a:xfrm>
            <a:off x="6675120" y="2267712"/>
            <a:ext cx="48463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DARCI stakeholders, SMART problem statement, MECE issue tree, hypotheses and KPIs</a:t>
            </a:r>
            <a:endParaRPr b="0" i="0" sz="750" u="none" cap="none" strike="noStrike">
              <a:solidFill>
                <a:schemeClr val="dk1"/>
              </a:solidFill>
              <a:latin typeface="Calibri"/>
              <a:ea typeface="Calibri"/>
              <a:cs typeface="Calibri"/>
              <a:sym typeface="Calibri"/>
            </a:endParaRPr>
          </a:p>
        </p:txBody>
      </p:sp>
      <p:sp>
        <p:nvSpPr>
          <p:cNvPr id="380" name="Google Shape;380;p13"/>
          <p:cNvSpPr/>
          <p:nvPr/>
        </p:nvSpPr>
        <p:spPr>
          <a:xfrm>
            <a:off x="6565392" y="2560320"/>
            <a:ext cx="5074920" cy="475488"/>
          </a:xfrm>
          <a:prstGeom prst="roundRect">
            <a:avLst>
              <a:gd fmla="val 9615"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13"/>
          <p:cNvSpPr txBox="1"/>
          <p:nvPr/>
        </p:nvSpPr>
        <p:spPr>
          <a:xfrm>
            <a:off x="6675120" y="2615184"/>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Data Understanding</a:t>
            </a:r>
            <a:endParaRPr b="0" i="0" sz="850" u="none" cap="none" strike="noStrike">
              <a:solidFill>
                <a:schemeClr val="dk1"/>
              </a:solidFill>
              <a:latin typeface="Calibri"/>
              <a:ea typeface="Calibri"/>
              <a:cs typeface="Calibri"/>
              <a:sym typeface="Calibri"/>
            </a:endParaRPr>
          </a:p>
        </p:txBody>
      </p:sp>
      <p:sp>
        <p:nvSpPr>
          <p:cNvPr id="382" name="Google Shape;382;p13"/>
          <p:cNvSpPr txBox="1"/>
          <p:nvPr/>
        </p:nvSpPr>
        <p:spPr>
          <a:xfrm>
            <a:off x="8503920" y="2615184"/>
            <a:ext cx="105156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Arial"/>
              <a:buNone/>
            </a:pPr>
            <a:r>
              <a:rPr b="1" i="0" lang="en-US" sz="800" u="none" cap="none" strike="noStrike">
                <a:solidFill>
                  <a:srgbClr val="8A6D0B"/>
                </a:solidFill>
                <a:latin typeface="Arial"/>
                <a:ea typeface="Arial"/>
                <a:cs typeface="Arial"/>
                <a:sym typeface="Arial"/>
              </a:rPr>
              <a:t>Step 1</a:t>
            </a:r>
            <a:endParaRPr b="0" i="0" sz="800" u="none" cap="none" strike="noStrike">
              <a:solidFill>
                <a:schemeClr val="dk1"/>
              </a:solidFill>
              <a:latin typeface="Calibri"/>
              <a:ea typeface="Calibri"/>
              <a:cs typeface="Calibri"/>
              <a:sym typeface="Calibri"/>
            </a:endParaRPr>
          </a:p>
        </p:txBody>
      </p:sp>
      <p:sp>
        <p:nvSpPr>
          <p:cNvPr id="383" name="Google Shape;383;p13"/>
          <p:cNvSpPr txBox="1"/>
          <p:nvPr/>
        </p:nvSpPr>
        <p:spPr>
          <a:xfrm>
            <a:off x="6675120" y="2798064"/>
            <a:ext cx="48463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Eight tables, keys, referential integrity at zero orphans, analysis unit 682 loans</a:t>
            </a:r>
            <a:endParaRPr b="0" i="0" sz="750" u="none" cap="none" strike="noStrike">
              <a:solidFill>
                <a:schemeClr val="dk1"/>
              </a:solidFill>
              <a:latin typeface="Calibri"/>
              <a:ea typeface="Calibri"/>
              <a:cs typeface="Calibri"/>
              <a:sym typeface="Calibri"/>
            </a:endParaRPr>
          </a:p>
        </p:txBody>
      </p:sp>
      <p:sp>
        <p:nvSpPr>
          <p:cNvPr id="384" name="Google Shape;384;p13"/>
          <p:cNvSpPr/>
          <p:nvPr/>
        </p:nvSpPr>
        <p:spPr>
          <a:xfrm>
            <a:off x="6565392" y="3090672"/>
            <a:ext cx="5074920" cy="475488"/>
          </a:xfrm>
          <a:prstGeom prst="roundRect">
            <a:avLst>
              <a:gd fmla="val 9615"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13"/>
          <p:cNvSpPr txBox="1"/>
          <p:nvPr/>
        </p:nvSpPr>
        <p:spPr>
          <a:xfrm>
            <a:off x="6675120" y="3145536"/>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Data Preparation</a:t>
            </a:r>
            <a:endParaRPr b="0" i="0" sz="850" u="none" cap="none" strike="noStrike">
              <a:solidFill>
                <a:schemeClr val="dk1"/>
              </a:solidFill>
              <a:latin typeface="Calibri"/>
              <a:ea typeface="Calibri"/>
              <a:cs typeface="Calibri"/>
              <a:sym typeface="Calibri"/>
            </a:endParaRPr>
          </a:p>
        </p:txBody>
      </p:sp>
      <p:sp>
        <p:nvSpPr>
          <p:cNvPr id="386" name="Google Shape;386;p13"/>
          <p:cNvSpPr txBox="1"/>
          <p:nvPr/>
        </p:nvSpPr>
        <p:spPr>
          <a:xfrm>
            <a:off x="8503920" y="3145536"/>
            <a:ext cx="105156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Arial"/>
              <a:buNone/>
            </a:pPr>
            <a:r>
              <a:rPr b="1" i="0" lang="en-US" sz="800" u="none" cap="none" strike="noStrike">
                <a:solidFill>
                  <a:srgbClr val="8A6D0B"/>
                </a:solidFill>
                <a:latin typeface="Arial"/>
                <a:ea typeface="Arial"/>
                <a:cs typeface="Arial"/>
                <a:sym typeface="Arial"/>
              </a:rPr>
              <a:t>Step 2</a:t>
            </a:r>
            <a:endParaRPr b="0" i="0" sz="800" u="none" cap="none" strike="noStrike">
              <a:solidFill>
                <a:schemeClr val="dk1"/>
              </a:solidFill>
              <a:latin typeface="Calibri"/>
              <a:ea typeface="Calibri"/>
              <a:cs typeface="Calibri"/>
              <a:sym typeface="Calibri"/>
            </a:endParaRPr>
          </a:p>
        </p:txBody>
      </p:sp>
      <p:sp>
        <p:nvSpPr>
          <p:cNvPr id="387" name="Google Shape;387;p13"/>
          <p:cNvSpPr txBox="1"/>
          <p:nvPr/>
        </p:nvSpPr>
        <p:spPr>
          <a:xfrm>
            <a:off x="6675120" y="3328416"/>
            <a:ext cx="48463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Type conversion, missing values, duplicates, outliers, one row per loan under the pre-loan cut-off</a:t>
            </a:r>
            <a:endParaRPr b="0" i="0" sz="750" u="none" cap="none" strike="noStrike">
              <a:solidFill>
                <a:schemeClr val="dk1"/>
              </a:solidFill>
              <a:latin typeface="Calibri"/>
              <a:ea typeface="Calibri"/>
              <a:cs typeface="Calibri"/>
              <a:sym typeface="Calibri"/>
            </a:endParaRPr>
          </a:p>
        </p:txBody>
      </p:sp>
      <p:sp>
        <p:nvSpPr>
          <p:cNvPr id="388" name="Google Shape;388;p13"/>
          <p:cNvSpPr/>
          <p:nvPr/>
        </p:nvSpPr>
        <p:spPr>
          <a:xfrm>
            <a:off x="6565392" y="3621024"/>
            <a:ext cx="5074920" cy="475488"/>
          </a:xfrm>
          <a:prstGeom prst="roundRect">
            <a:avLst>
              <a:gd fmla="val 9615" name="adj"/>
            </a:avLst>
          </a:prstGeom>
          <a:solidFill>
            <a:srgbClr val="FFFFFF"/>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9" name="Google Shape;389;p13"/>
          <p:cNvSpPr txBox="1"/>
          <p:nvPr/>
        </p:nvSpPr>
        <p:spPr>
          <a:xfrm>
            <a:off x="6675120" y="3675888"/>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Evaluation</a:t>
            </a:r>
            <a:endParaRPr b="0" i="0" sz="850" u="none" cap="none" strike="noStrike">
              <a:solidFill>
                <a:schemeClr val="dk1"/>
              </a:solidFill>
              <a:latin typeface="Calibri"/>
              <a:ea typeface="Calibri"/>
              <a:cs typeface="Calibri"/>
              <a:sym typeface="Calibri"/>
            </a:endParaRPr>
          </a:p>
        </p:txBody>
      </p:sp>
      <p:sp>
        <p:nvSpPr>
          <p:cNvPr id="390" name="Google Shape;390;p13"/>
          <p:cNvSpPr txBox="1"/>
          <p:nvPr/>
        </p:nvSpPr>
        <p:spPr>
          <a:xfrm>
            <a:off x="8503920" y="3675888"/>
            <a:ext cx="105156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Arial"/>
              <a:buNone/>
            </a:pPr>
            <a:r>
              <a:rPr b="1" i="0" lang="en-US" sz="800" u="none" cap="none" strike="noStrike">
                <a:solidFill>
                  <a:srgbClr val="8A6D0B"/>
                </a:solidFill>
                <a:latin typeface="Arial"/>
                <a:ea typeface="Arial"/>
                <a:cs typeface="Arial"/>
                <a:sym typeface="Arial"/>
              </a:rPr>
              <a:t>Steps 3 to 5</a:t>
            </a:r>
            <a:endParaRPr b="0" i="0" sz="800" u="none" cap="none" strike="noStrike">
              <a:solidFill>
                <a:schemeClr val="dk1"/>
              </a:solidFill>
              <a:latin typeface="Calibri"/>
              <a:ea typeface="Calibri"/>
              <a:cs typeface="Calibri"/>
              <a:sym typeface="Calibri"/>
            </a:endParaRPr>
          </a:p>
        </p:txBody>
      </p:sp>
      <p:sp>
        <p:nvSpPr>
          <p:cNvPr id="391" name="Google Shape;391;p13"/>
          <p:cNvSpPr txBox="1"/>
          <p:nvPr/>
        </p:nvSpPr>
        <p:spPr>
          <a:xfrm>
            <a:off x="6675120" y="3858768"/>
            <a:ext cx="48463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Each Milestone 1 hypothesis tested, findings mapped back to the four root causes</a:t>
            </a:r>
            <a:endParaRPr b="0" i="0" sz="750" u="none" cap="none" strike="noStrike">
              <a:solidFill>
                <a:schemeClr val="dk1"/>
              </a:solidFill>
              <a:latin typeface="Calibri"/>
              <a:ea typeface="Calibri"/>
              <a:cs typeface="Calibri"/>
              <a:sym typeface="Calibri"/>
            </a:endParaRPr>
          </a:p>
        </p:txBody>
      </p:sp>
      <p:sp>
        <p:nvSpPr>
          <p:cNvPr id="392" name="Google Shape;392;p13"/>
          <p:cNvSpPr/>
          <p:nvPr/>
        </p:nvSpPr>
        <p:spPr>
          <a:xfrm>
            <a:off x="6565392" y="4151376"/>
            <a:ext cx="5074920" cy="475488"/>
          </a:xfrm>
          <a:prstGeom prst="roundRect">
            <a:avLst>
              <a:gd fmla="val 9615" name="adj"/>
            </a:avLst>
          </a:prstGeom>
          <a:solidFill>
            <a:srgbClr val="FDF3D6"/>
          </a:solidFill>
          <a:ln cap="flat" cmpd="sng" w="9525">
            <a:solidFill>
              <a:srgbClr val="D8CDB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13"/>
          <p:cNvSpPr txBox="1"/>
          <p:nvPr/>
        </p:nvSpPr>
        <p:spPr>
          <a:xfrm>
            <a:off x="6675120" y="4206240"/>
            <a:ext cx="18288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2621"/>
              </a:buClr>
              <a:buSzPts val="850"/>
              <a:buFont typeface="Arial"/>
              <a:buNone/>
            </a:pPr>
            <a:r>
              <a:rPr b="1" i="0" lang="en-US" sz="850" u="none" cap="none" strike="noStrike">
                <a:solidFill>
                  <a:srgbClr val="2B2621"/>
                </a:solidFill>
                <a:latin typeface="Arial"/>
                <a:ea typeface="Arial"/>
                <a:cs typeface="Arial"/>
                <a:sym typeface="Arial"/>
              </a:rPr>
              <a:t>Modeling &amp; Deployment</a:t>
            </a:r>
            <a:endParaRPr b="0" i="0" sz="850" u="none" cap="none" strike="noStrike">
              <a:solidFill>
                <a:schemeClr val="dk1"/>
              </a:solidFill>
              <a:latin typeface="Calibri"/>
              <a:ea typeface="Calibri"/>
              <a:cs typeface="Calibri"/>
              <a:sym typeface="Calibri"/>
            </a:endParaRPr>
          </a:p>
        </p:txBody>
      </p:sp>
      <p:sp>
        <p:nvSpPr>
          <p:cNvPr id="394" name="Google Shape;394;p13"/>
          <p:cNvSpPr txBox="1"/>
          <p:nvPr/>
        </p:nvSpPr>
        <p:spPr>
          <a:xfrm>
            <a:off x="8503920" y="4206240"/>
            <a:ext cx="105156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6D0B"/>
              </a:buClr>
              <a:buSzPts val="800"/>
              <a:buFont typeface="Arial"/>
              <a:buNone/>
            </a:pPr>
            <a:r>
              <a:rPr b="1" i="0" lang="en-US" sz="800" u="none" cap="none" strike="noStrike">
                <a:solidFill>
                  <a:srgbClr val="8A6D0B"/>
                </a:solidFill>
                <a:latin typeface="Arial"/>
                <a:ea typeface="Arial"/>
                <a:cs typeface="Arial"/>
                <a:sym typeface="Arial"/>
              </a:rPr>
              <a:t>Milestone 3</a:t>
            </a:r>
            <a:endParaRPr b="0" i="0" sz="800" u="none" cap="none" strike="noStrike">
              <a:solidFill>
                <a:schemeClr val="dk1"/>
              </a:solidFill>
              <a:latin typeface="Calibri"/>
              <a:ea typeface="Calibri"/>
              <a:cs typeface="Calibri"/>
              <a:sym typeface="Calibri"/>
            </a:endParaRPr>
          </a:p>
        </p:txBody>
      </p:sp>
      <p:sp>
        <p:nvSpPr>
          <p:cNvPr id="395" name="Google Shape;395;p13"/>
          <p:cNvSpPr txBox="1"/>
          <p:nvPr/>
        </p:nvSpPr>
        <p:spPr>
          <a:xfrm>
            <a:off x="6675120" y="4389120"/>
            <a:ext cx="4846320" cy="21945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8A8071"/>
              </a:buClr>
              <a:buSzPts val="750"/>
              <a:buFont typeface="Arial"/>
              <a:buNone/>
            </a:pPr>
            <a:r>
              <a:rPr b="0" i="0" lang="en-US" sz="750" u="none" cap="none" strike="noStrike">
                <a:solidFill>
                  <a:srgbClr val="8A8071"/>
                </a:solidFill>
                <a:latin typeface="Arial"/>
                <a:ea typeface="Arial"/>
                <a:cs typeface="Arial"/>
                <a:sym typeface="Arial"/>
              </a:rPr>
              <a:t>Scoped out on purpose: this milestone stops at association, the scoring layer and dashboard follow next</a:t>
            </a:r>
            <a:endParaRPr b="0" i="0" sz="750" u="none" cap="none" strike="noStrike">
              <a:solidFill>
                <a:schemeClr val="dk1"/>
              </a:solidFill>
              <a:latin typeface="Calibri"/>
              <a:ea typeface="Calibri"/>
              <a:cs typeface="Calibri"/>
              <a:sym typeface="Calibri"/>
            </a:endParaRPr>
          </a:p>
        </p:txBody>
      </p:sp>
      <p:sp>
        <p:nvSpPr>
          <p:cNvPr id="396" name="Google Shape;396;p13"/>
          <p:cNvSpPr txBox="1"/>
          <p:nvPr/>
        </p:nvSpPr>
        <p:spPr>
          <a:xfrm>
            <a:off x="548650" y="5523000"/>
            <a:ext cx="8276700" cy="914400"/>
          </a:xfrm>
          <a:prstGeom prst="rect">
            <a:avLst/>
          </a:prstGeom>
          <a:noFill/>
          <a:ln>
            <a:noFill/>
          </a:ln>
        </p:spPr>
        <p:txBody>
          <a:bodyPr anchorCtr="0" anchor="ctr" bIns="0" lIns="0" spcFirstLastPara="1" rIns="0" wrap="square" tIns="0">
            <a:noAutofit/>
          </a:bodyPr>
          <a:lstStyle/>
          <a:p>
            <a:pPr indent="0" lvl="0" marL="0" marR="0" rtl="0" algn="l">
              <a:lnSpc>
                <a:spcPct val="137500"/>
              </a:lnSpc>
              <a:spcBef>
                <a:spcPts val="0"/>
              </a:spcBef>
              <a:spcAft>
                <a:spcPts val="0"/>
              </a:spcAft>
              <a:buClr>
                <a:srgbClr val="8A6D0B"/>
              </a:buClr>
              <a:buSzPts val="800"/>
              <a:buFont typeface="Arial"/>
              <a:buNone/>
            </a:pPr>
            <a:r>
              <a:rPr b="1" i="0" lang="en-US" sz="1100" u="none" cap="none" strike="noStrike">
                <a:solidFill>
                  <a:srgbClr val="8A6D0B"/>
                </a:solidFill>
                <a:latin typeface="Arial"/>
                <a:ea typeface="Arial"/>
                <a:cs typeface="Arial"/>
                <a:sym typeface="Arial"/>
              </a:rPr>
              <a:t>NOTEBOOK</a:t>
            </a:r>
            <a:endParaRPr b="0" i="0" sz="1100" u="none" cap="none" strike="noStrike">
              <a:solidFill>
                <a:schemeClr val="dk1"/>
              </a:solidFill>
              <a:latin typeface="Calibri"/>
              <a:ea typeface="Calibri"/>
              <a:cs typeface="Calibri"/>
              <a:sym typeface="Calibri"/>
            </a:endParaRPr>
          </a:p>
          <a:p>
            <a:pPr indent="0" lvl="0" marL="0" marR="0" rtl="0" algn="l">
              <a:lnSpc>
                <a:spcPct val="137500"/>
              </a:lnSpc>
              <a:spcBef>
                <a:spcPts val="0"/>
              </a:spcBef>
              <a:spcAft>
                <a:spcPts val="0"/>
              </a:spcAft>
              <a:buClr>
                <a:srgbClr val="8A8071"/>
              </a:buClr>
              <a:buSzPts val="800"/>
              <a:buFont typeface="Arial"/>
              <a:buNone/>
            </a:pPr>
            <a:r>
              <a:rPr b="0" i="0" lang="en-US" sz="1100" u="none" cap="none" strike="noStrike">
                <a:solidFill>
                  <a:srgbClr val="8A8071"/>
                </a:solidFill>
                <a:latin typeface="Arial"/>
                <a:ea typeface="Arial"/>
                <a:cs typeface="Arial"/>
                <a:sym typeface="Arial"/>
              </a:rPr>
              <a:t>Full cleaning and analysis code, Python with DuckDB for the eight-table join, reproducible from the Kaggle source in one run.</a:t>
            </a:r>
            <a:endParaRPr b="0" i="0" sz="1100" u="none" cap="none" strike="noStrike">
              <a:solidFill>
                <a:srgbClr val="8A8071"/>
              </a:solidFill>
              <a:latin typeface="Arial"/>
              <a:ea typeface="Arial"/>
              <a:cs typeface="Arial"/>
              <a:sym typeface="Arial"/>
            </a:endParaRPr>
          </a:p>
          <a:p>
            <a:pPr indent="0" lvl="0" marL="0" marR="0" rtl="0" algn="l">
              <a:lnSpc>
                <a:spcPct val="137500"/>
              </a:lnSpc>
              <a:spcBef>
                <a:spcPts val="0"/>
              </a:spcBef>
              <a:spcAft>
                <a:spcPts val="0"/>
              </a:spcAft>
              <a:buClr>
                <a:srgbClr val="8A8071"/>
              </a:buClr>
              <a:buSzPts val="800"/>
              <a:buFont typeface="Arial"/>
              <a:buNone/>
            </a:pPr>
            <a:r>
              <a:t/>
            </a:r>
            <a:endParaRPr b="0" i="0" sz="1100" u="none" cap="none" strike="noStrike">
              <a:solidFill>
                <a:srgbClr val="8A8071"/>
              </a:solidFill>
              <a:latin typeface="Arial"/>
              <a:ea typeface="Arial"/>
              <a:cs typeface="Arial"/>
              <a:sym typeface="Arial"/>
            </a:endParaRPr>
          </a:p>
          <a:p>
            <a:pPr indent="0" lvl="0" marL="0" marR="0" rtl="0" algn="l">
              <a:lnSpc>
                <a:spcPct val="137500"/>
              </a:lnSpc>
              <a:spcBef>
                <a:spcPts val="0"/>
              </a:spcBef>
              <a:spcAft>
                <a:spcPts val="0"/>
              </a:spcAft>
              <a:buClr>
                <a:srgbClr val="8A6D0B"/>
              </a:buClr>
              <a:buSzPts val="800"/>
              <a:buFont typeface="Arial"/>
              <a:buNone/>
            </a:pPr>
            <a:r>
              <a:rPr b="1" i="0" lang="en-US" sz="1100" u="none" cap="none" strike="noStrike">
                <a:solidFill>
                  <a:srgbClr val="8A6D0B"/>
                </a:solidFill>
                <a:latin typeface="Arial"/>
                <a:ea typeface="Arial"/>
                <a:cs typeface="Arial"/>
                <a:sym typeface="Arial"/>
              </a:rPr>
              <a:t>Google Colab : </a:t>
            </a:r>
            <a:endParaRPr b="1" i="0" sz="1100" u="none" cap="none" strike="noStrike">
              <a:solidFill>
                <a:srgbClr val="8A6D0B"/>
              </a:solidFill>
              <a:latin typeface="Arial"/>
              <a:ea typeface="Arial"/>
              <a:cs typeface="Arial"/>
              <a:sym typeface="Arial"/>
            </a:endParaRPr>
          </a:p>
          <a:p>
            <a:pPr indent="0" lvl="0" marL="0" marR="0" rtl="0" algn="l">
              <a:lnSpc>
                <a:spcPct val="137500"/>
              </a:lnSpc>
              <a:spcBef>
                <a:spcPts val="0"/>
              </a:spcBef>
              <a:spcAft>
                <a:spcPts val="0"/>
              </a:spcAft>
              <a:buClr>
                <a:srgbClr val="8A6D0B"/>
              </a:buClr>
              <a:buSzPts val="800"/>
              <a:buFont typeface="Arial"/>
              <a:buNone/>
            </a:pPr>
            <a:r>
              <a:rPr b="1" i="0" lang="en-US" sz="1100" u="none" cap="none" strike="noStrike">
                <a:solidFill>
                  <a:srgbClr val="8A6D0B"/>
                </a:solidFill>
                <a:latin typeface="Arial"/>
                <a:ea typeface="Arial"/>
                <a:cs typeface="Arial"/>
                <a:sym typeface="Arial"/>
              </a:rPr>
              <a:t>https://colab.research.google.com/drive/1JrZ3ZMpgqfUzcoVN8JqiJjYGCVPZRgF2?usp=sharing</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401" name="Shape 401"/>
        <p:cNvGrpSpPr/>
        <p:nvPr/>
      </p:nvGrpSpPr>
      <p:grpSpPr>
        <a:xfrm>
          <a:off x="0" y="0"/>
          <a:ext cx="0" cy="0"/>
          <a:chOff x="0" y="0"/>
          <a:chExt cx="0" cy="0"/>
        </a:xfrm>
      </p:grpSpPr>
      <p:sp>
        <p:nvSpPr>
          <p:cNvPr id="402" name="Google Shape;402;p20"/>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DASHBOARD &amp; TOOLS</a:t>
            </a:r>
            <a:endParaRPr/>
          </a:p>
        </p:txBody>
      </p:sp>
      <p:sp>
        <p:nvSpPr>
          <p:cNvPr id="403" name="Google Shape;403;p20"/>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14 / 21</a:t>
            </a:r>
            <a:endParaRPr/>
          </a:p>
        </p:txBody>
      </p:sp>
      <p:sp>
        <p:nvSpPr>
          <p:cNvPr id="404" name="Google Shape;404;p20"/>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One dashboard shows where the risk sits and what fixes it</a:t>
            </a:r>
            <a:endParaRPr/>
          </a:p>
        </p:txBody>
      </p:sp>
      <p:sp>
        <p:nvSpPr>
          <p:cNvPr id="405" name="Google Shape;405;p20"/>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Red marks the risk group only. Every bar starts at zero and is read against the dashed 11.1% portfolio average.</a:t>
            </a:r>
            <a:endParaRPr/>
          </a:p>
        </p:txBody>
      </p:sp>
      <p:sp>
        <p:nvSpPr>
          <p:cNvPr id="406" name="Google Shape;406;p20"/>
          <p:cNvSpPr/>
          <p:nvPr/>
        </p:nvSpPr>
        <p:spPr>
          <a:xfrm>
            <a:off x="365760" y="1554480"/>
            <a:ext cx="6720840" cy="338328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descr="dash.png" id="407" name="Google Shape;407;p20"/>
          <p:cNvPicPr preferRelativeResize="0"/>
          <p:nvPr/>
        </p:nvPicPr>
        <p:blipFill rotWithShape="1">
          <a:blip r:embed="rId3">
            <a:alphaModFix/>
          </a:blip>
          <a:srcRect b="0" l="0" r="0" t="0"/>
          <a:stretch/>
        </p:blipFill>
        <p:spPr>
          <a:xfrm>
            <a:off x="1097280" y="1645920"/>
            <a:ext cx="5598421" cy="3200400"/>
          </a:xfrm>
          <a:prstGeom prst="rect">
            <a:avLst/>
          </a:prstGeom>
          <a:noFill/>
          <a:ln>
            <a:noFill/>
          </a:ln>
        </p:spPr>
      </p:pic>
      <p:sp>
        <p:nvSpPr>
          <p:cNvPr id="408" name="Google Shape;408;p20"/>
          <p:cNvSpPr/>
          <p:nvPr/>
        </p:nvSpPr>
        <p:spPr>
          <a:xfrm>
            <a:off x="7269480" y="1554480"/>
            <a:ext cx="4553712" cy="338328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9" name="Google Shape;409;p20"/>
          <p:cNvSpPr txBox="1"/>
          <p:nvPr/>
        </p:nvSpPr>
        <p:spPr>
          <a:xfrm>
            <a:off x="7452360" y="1682496"/>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WHY EACH CHART TYPE WAS CHOSEN</a:t>
            </a:r>
            <a:endParaRPr/>
          </a:p>
        </p:txBody>
      </p:sp>
      <p:sp>
        <p:nvSpPr>
          <p:cNvPr id="410" name="Google Shape;410;p20"/>
          <p:cNvSpPr/>
          <p:nvPr/>
        </p:nvSpPr>
        <p:spPr>
          <a:xfrm>
            <a:off x="7406640" y="1938528"/>
            <a:ext cx="4279392" cy="530352"/>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1" name="Google Shape;411;p20"/>
          <p:cNvSpPr txBox="1"/>
          <p:nvPr/>
        </p:nvSpPr>
        <p:spPr>
          <a:xfrm>
            <a:off x="7543800" y="1975104"/>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KPI scorecard</a:t>
            </a:r>
            <a:endParaRPr/>
          </a:p>
        </p:txBody>
      </p:sp>
      <p:sp>
        <p:nvSpPr>
          <p:cNvPr id="412" name="Google Shape;412;p20"/>
          <p:cNvSpPr txBox="1"/>
          <p:nvPr/>
        </p:nvSpPr>
        <p:spPr>
          <a:xfrm>
            <a:off x="7543800" y="2203704"/>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8A8071"/>
                </a:solidFill>
                <a:latin typeface="Arial"/>
                <a:ea typeface="Arial"/>
                <a:cs typeface="Arial"/>
                <a:sym typeface="Arial"/>
              </a:rPr>
              <a:t>four numbers at a glance</a:t>
            </a:r>
            <a:endParaRPr/>
          </a:p>
        </p:txBody>
      </p:sp>
      <p:sp>
        <p:nvSpPr>
          <p:cNvPr id="413" name="Google Shape;413;p20"/>
          <p:cNvSpPr txBox="1"/>
          <p:nvPr/>
        </p:nvSpPr>
        <p:spPr>
          <a:xfrm>
            <a:off x="7543800" y="2542032"/>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Line with average and target</a:t>
            </a:r>
            <a:endParaRPr/>
          </a:p>
        </p:txBody>
      </p:sp>
      <p:sp>
        <p:nvSpPr>
          <p:cNvPr id="414" name="Google Shape;414;p20"/>
          <p:cNvSpPr txBox="1"/>
          <p:nvPr/>
        </p:nvSpPr>
        <p:spPr>
          <a:xfrm>
            <a:off x="7543800" y="2770632"/>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8A8071"/>
                </a:solidFill>
                <a:latin typeface="Arial"/>
                <a:ea typeface="Arial"/>
                <a:cs typeface="Arial"/>
                <a:sym typeface="Arial"/>
              </a:rPr>
              <a:t>direction over time, gap to 5%</a:t>
            </a:r>
            <a:endParaRPr/>
          </a:p>
        </p:txBody>
      </p:sp>
      <p:sp>
        <p:nvSpPr>
          <p:cNvPr id="415" name="Google Shape;415;p20"/>
          <p:cNvSpPr/>
          <p:nvPr/>
        </p:nvSpPr>
        <p:spPr>
          <a:xfrm>
            <a:off x="7406640" y="3072384"/>
            <a:ext cx="4279392" cy="530352"/>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6" name="Google Shape;416;p20"/>
          <p:cNvSpPr txBox="1"/>
          <p:nvPr/>
        </p:nvSpPr>
        <p:spPr>
          <a:xfrm>
            <a:off x="7543800" y="3108960"/>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Column, risk group in red</a:t>
            </a:r>
            <a:endParaRPr/>
          </a:p>
        </p:txBody>
      </p:sp>
      <p:sp>
        <p:nvSpPr>
          <p:cNvPr id="417" name="Google Shape;417;p20"/>
          <p:cNvSpPr txBox="1"/>
          <p:nvPr/>
        </p:nvSpPr>
        <p:spPr>
          <a:xfrm>
            <a:off x="7543800" y="3337560"/>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8A8071"/>
                </a:solidFill>
                <a:latin typeface="Arial"/>
                <a:ea typeface="Arial"/>
                <a:cs typeface="Arial"/>
                <a:sym typeface="Arial"/>
              </a:rPr>
              <a:t>compares quartiles of each driver</a:t>
            </a:r>
            <a:endParaRPr/>
          </a:p>
        </p:txBody>
      </p:sp>
      <p:sp>
        <p:nvSpPr>
          <p:cNvPr id="418" name="Google Shape;418;p20"/>
          <p:cNvSpPr txBox="1"/>
          <p:nvPr/>
        </p:nvSpPr>
        <p:spPr>
          <a:xfrm>
            <a:off x="7543800" y="3675888"/>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Column by risk band</a:t>
            </a:r>
            <a:endParaRPr/>
          </a:p>
        </p:txBody>
      </p:sp>
      <p:sp>
        <p:nvSpPr>
          <p:cNvPr id="419" name="Google Shape;419;p20"/>
          <p:cNvSpPr txBox="1"/>
          <p:nvPr/>
        </p:nvSpPr>
        <p:spPr>
          <a:xfrm>
            <a:off x="7543800" y="3904488"/>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8A8071"/>
                </a:solidFill>
                <a:latin typeface="Arial"/>
                <a:ea typeface="Arial"/>
                <a:cs typeface="Arial"/>
                <a:sym typeface="Arial"/>
              </a:rPr>
              <a:t>checks the model score ranks risk</a:t>
            </a:r>
            <a:endParaRPr/>
          </a:p>
        </p:txBody>
      </p:sp>
      <p:sp>
        <p:nvSpPr>
          <p:cNvPr id="420" name="Google Shape;420;p20"/>
          <p:cNvSpPr/>
          <p:nvPr/>
        </p:nvSpPr>
        <p:spPr>
          <a:xfrm>
            <a:off x="7406640" y="4206240"/>
            <a:ext cx="4279392" cy="530352"/>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1" name="Google Shape;421;p20"/>
          <p:cNvSpPr txBox="1"/>
          <p:nvPr/>
        </p:nvSpPr>
        <p:spPr>
          <a:xfrm>
            <a:off x="7543800" y="4242816"/>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Horizontal bar vs target</a:t>
            </a:r>
            <a:endParaRPr/>
          </a:p>
        </p:txBody>
      </p:sp>
      <p:sp>
        <p:nvSpPr>
          <p:cNvPr id="422" name="Google Shape;422;p20"/>
          <p:cNvSpPr txBox="1"/>
          <p:nvPr/>
        </p:nvSpPr>
        <p:spPr>
          <a:xfrm>
            <a:off x="7543800" y="4471416"/>
            <a:ext cx="40233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8A8071"/>
                </a:solidFill>
                <a:latin typeface="Arial"/>
                <a:ea typeface="Arial"/>
                <a:cs typeface="Arial"/>
                <a:sym typeface="Arial"/>
              </a:rPr>
              <a:t>ranks each action by the rate left</a:t>
            </a:r>
            <a:endParaRPr/>
          </a:p>
        </p:txBody>
      </p:sp>
      <p:sp>
        <p:nvSpPr>
          <p:cNvPr id="423" name="Google Shape;423;p20"/>
          <p:cNvSpPr/>
          <p:nvPr/>
        </p:nvSpPr>
        <p:spPr>
          <a:xfrm>
            <a:off x="365760" y="5102352"/>
            <a:ext cx="11457432" cy="1143000"/>
          </a:xfrm>
          <a:prstGeom prst="roundRect">
            <a:avLst>
              <a:gd fmla="val 3000" name="adj"/>
            </a:avLst>
          </a:prstGeom>
          <a:solidFill>
            <a:srgbClr val="FDF3D6"/>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4" name="Google Shape;424;p20"/>
          <p:cNvSpPr txBox="1"/>
          <p:nvPr/>
        </p:nvSpPr>
        <p:spPr>
          <a:xfrm>
            <a:off x="566928" y="5212080"/>
            <a:ext cx="11064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TOOLS  ·  WHY PYTHON AND TABLEAU</a:t>
            </a:r>
            <a:endParaRPr/>
          </a:p>
        </p:txBody>
      </p:sp>
      <p:sp>
        <p:nvSpPr>
          <p:cNvPr id="425" name="Google Shape;425;p20"/>
          <p:cNvSpPr txBox="1"/>
          <p:nvPr/>
        </p:nvSpPr>
        <p:spPr>
          <a:xfrm>
            <a:off x="566928" y="5486400"/>
            <a:ext cx="4343400" cy="914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950" u="none" cap="none" strike="noStrike">
                <a:solidFill>
                  <a:srgbClr val="2B2621"/>
                </a:solidFill>
                <a:latin typeface="Arial"/>
                <a:ea typeface="Arial"/>
                <a:cs typeface="Arial"/>
                <a:sym typeface="Arial"/>
              </a:rPr>
              <a:t>Python  ·  Colab + DuckDB</a:t>
            </a:r>
            <a:endParaRPr/>
          </a:p>
          <a:p>
            <a:pPr indent="0" lvl="0" marL="0" marR="0" rtl="0" algn="l">
              <a:lnSpc>
                <a:spcPct val="100000"/>
              </a:lnSpc>
              <a:spcBef>
                <a:spcPts val="400"/>
              </a:spcBef>
              <a:spcAft>
                <a:spcPts val="0"/>
              </a:spcAft>
              <a:buNone/>
            </a:pPr>
            <a:r>
              <a:rPr b="0" i="0" lang="en-US" sz="950" u="none" cap="none" strike="noStrike">
                <a:solidFill>
                  <a:srgbClr val="2B2621"/>
                </a:solidFill>
                <a:latin typeface="Arial"/>
                <a:ea typeface="Arial"/>
                <a:cs typeface="Arial"/>
                <a:sym typeface="Arial"/>
              </a:rPr>
              <a:t>Joins eight tables and 1.05M transactions, builds pre-loan features without leakage, runs the logistic regression and the impact simulation. Too heavy for a spreadsheet or Tableau.</a:t>
            </a:r>
            <a:endParaRPr/>
          </a:p>
        </p:txBody>
      </p:sp>
      <p:sp>
        <p:nvSpPr>
          <p:cNvPr id="426" name="Google Shape;426;p20"/>
          <p:cNvSpPr txBox="1"/>
          <p:nvPr/>
        </p:nvSpPr>
        <p:spPr>
          <a:xfrm>
            <a:off x="4983480" y="5486400"/>
            <a:ext cx="365760" cy="4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2000" u="none" cap="none" strike="noStrike">
                <a:solidFill>
                  <a:srgbClr val="F5B301"/>
                </a:solidFill>
                <a:latin typeface="Arial"/>
                <a:ea typeface="Arial"/>
                <a:cs typeface="Arial"/>
                <a:sym typeface="Arial"/>
              </a:rPr>
              <a:t>→</a:t>
            </a:r>
            <a:endParaRPr/>
          </a:p>
        </p:txBody>
      </p:sp>
      <p:sp>
        <p:nvSpPr>
          <p:cNvPr id="427" name="Google Shape;427;p20"/>
          <p:cNvSpPr txBox="1"/>
          <p:nvPr/>
        </p:nvSpPr>
        <p:spPr>
          <a:xfrm>
            <a:off x="5394960" y="5486400"/>
            <a:ext cx="2011680" cy="914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950" u="none" cap="none" strike="noStrike">
                <a:solidFill>
                  <a:srgbClr val="2B2621"/>
                </a:solidFill>
                <a:latin typeface="Arial"/>
                <a:ea typeface="Arial"/>
                <a:cs typeface="Arial"/>
                <a:sym typeface="Arial"/>
              </a:rPr>
              <a:t>loan_master_tableau.csv</a:t>
            </a:r>
            <a:endParaRPr/>
          </a:p>
          <a:p>
            <a:pPr indent="0" lvl="0" marL="0" marR="0" rtl="0" algn="l">
              <a:lnSpc>
                <a:spcPct val="100000"/>
              </a:lnSpc>
              <a:spcBef>
                <a:spcPts val="400"/>
              </a:spcBef>
              <a:spcAft>
                <a:spcPts val="0"/>
              </a:spcAft>
              <a:buNone/>
            </a:pPr>
            <a:r>
              <a:rPr b="0" i="0" lang="en-US" sz="950" u="none" cap="none" strike="noStrike">
                <a:solidFill>
                  <a:srgbClr val="2B2621"/>
                </a:solidFill>
                <a:latin typeface="Arial"/>
                <a:ea typeface="Arial"/>
                <a:cs typeface="Arial"/>
                <a:sym typeface="Arial"/>
              </a:rPr>
              <a:t>One row per loan with the risk score and rule flags, the hand-off file.</a:t>
            </a:r>
            <a:endParaRPr/>
          </a:p>
        </p:txBody>
      </p:sp>
      <p:sp>
        <p:nvSpPr>
          <p:cNvPr id="428" name="Google Shape;428;p20"/>
          <p:cNvSpPr txBox="1"/>
          <p:nvPr/>
        </p:nvSpPr>
        <p:spPr>
          <a:xfrm>
            <a:off x="7452360" y="5486400"/>
            <a:ext cx="365760" cy="4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None/>
            </a:pPr>
            <a:r>
              <a:rPr b="1" i="0" lang="en-US" sz="2000" u="none" cap="none" strike="noStrike">
                <a:solidFill>
                  <a:srgbClr val="F5B301"/>
                </a:solidFill>
                <a:latin typeface="Arial"/>
                <a:ea typeface="Arial"/>
                <a:cs typeface="Arial"/>
                <a:sym typeface="Arial"/>
              </a:rPr>
              <a:t>→</a:t>
            </a:r>
            <a:endParaRPr/>
          </a:p>
        </p:txBody>
      </p:sp>
      <p:sp>
        <p:nvSpPr>
          <p:cNvPr id="429" name="Google Shape;429;p20"/>
          <p:cNvSpPr txBox="1"/>
          <p:nvPr/>
        </p:nvSpPr>
        <p:spPr>
          <a:xfrm>
            <a:off x="7863840" y="5486400"/>
            <a:ext cx="3840600" cy="489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950" u="none" cap="none" strike="noStrike">
                <a:solidFill>
                  <a:srgbClr val="2B2621"/>
                </a:solidFill>
                <a:latin typeface="Arial"/>
                <a:ea typeface="Arial"/>
                <a:cs typeface="Arial"/>
                <a:sym typeface="Arial"/>
              </a:rPr>
              <a:t>Tableau Public</a:t>
            </a:r>
            <a:endParaRPr/>
          </a:p>
          <a:p>
            <a:pPr indent="0" lvl="0" marL="0" marR="0" rtl="0" algn="l">
              <a:lnSpc>
                <a:spcPct val="100000"/>
              </a:lnSpc>
              <a:spcBef>
                <a:spcPts val="400"/>
              </a:spcBef>
              <a:spcAft>
                <a:spcPts val="0"/>
              </a:spcAft>
              <a:buNone/>
            </a:pPr>
            <a:r>
              <a:rPr b="0" i="0" lang="en-US" sz="950" u="none" cap="none" strike="noStrike">
                <a:solidFill>
                  <a:srgbClr val="2B2621"/>
                </a:solidFill>
                <a:latin typeface="Arial"/>
                <a:ea typeface="Arial"/>
                <a:cs typeface="Arial"/>
                <a:sym typeface="Arial"/>
              </a:rPr>
              <a:t>Interactive view for the credit team, filtered by year, gender, age band and district without opening any code</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434" name="Shape 434"/>
        <p:cNvGrpSpPr/>
        <p:nvPr/>
      </p:nvGrpSpPr>
      <p:grpSpPr>
        <a:xfrm>
          <a:off x="0" y="0"/>
          <a:ext cx="0" cy="0"/>
          <a:chOff x="0" y="0"/>
          <a:chExt cx="0" cy="0"/>
        </a:xfrm>
      </p:grpSpPr>
      <p:sp>
        <p:nvSpPr>
          <p:cNvPr id="435" name="Google Shape;435;p21"/>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DASHBOARD READING GUIDE</a:t>
            </a:r>
            <a:endParaRPr/>
          </a:p>
        </p:txBody>
      </p:sp>
      <p:sp>
        <p:nvSpPr>
          <p:cNvPr id="436" name="Google Shape;436;p21"/>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15 / 21</a:t>
            </a:r>
            <a:endParaRPr/>
          </a:p>
        </p:txBody>
      </p:sp>
      <p:sp>
        <p:nvSpPr>
          <p:cNvPr id="437" name="Google Shape;437;p21"/>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How to read each panel of the dashboard</a:t>
            </a:r>
            <a:endParaRPr/>
          </a:p>
        </p:txBody>
      </p:sp>
      <p:sp>
        <p:nvSpPr>
          <p:cNvPr id="438" name="Google Shape;438;p21"/>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Panel titles in Tableau are kept short. This guide gives the definition, the quartile order and the key insight behind each one.</a:t>
            </a:r>
            <a:endParaRPr/>
          </a:p>
        </p:txBody>
      </p:sp>
      <p:sp>
        <p:nvSpPr>
          <p:cNvPr id="439" name="Google Shape;439;p21"/>
          <p:cNvSpPr/>
          <p:nvPr/>
        </p:nvSpPr>
        <p:spPr>
          <a:xfrm>
            <a:off x="365760" y="1554480"/>
            <a:ext cx="7955279" cy="443484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0" name="Google Shape;440;p21"/>
          <p:cNvSpPr txBox="1"/>
          <p:nvPr/>
        </p:nvSpPr>
        <p:spPr>
          <a:xfrm>
            <a:off x="548640" y="1682496"/>
            <a:ext cx="132588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PANEL</a:t>
            </a:r>
            <a:endParaRPr/>
          </a:p>
        </p:txBody>
      </p:sp>
      <p:sp>
        <p:nvSpPr>
          <p:cNvPr id="441" name="Google Shape;441;p21"/>
          <p:cNvSpPr txBox="1"/>
          <p:nvPr/>
        </p:nvSpPr>
        <p:spPr>
          <a:xfrm>
            <a:off x="1920240" y="1682496"/>
            <a:ext cx="3063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WHAT IT SHOWS</a:t>
            </a:r>
            <a:endParaRPr/>
          </a:p>
        </p:txBody>
      </p:sp>
      <p:sp>
        <p:nvSpPr>
          <p:cNvPr id="442" name="Google Shape;442;p21"/>
          <p:cNvSpPr txBox="1"/>
          <p:nvPr/>
        </p:nvSpPr>
        <p:spPr>
          <a:xfrm>
            <a:off x="5074920" y="1682496"/>
            <a:ext cx="269748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KEY INSIGHT</a:t>
            </a:r>
            <a:endParaRPr/>
          </a:p>
        </p:txBody>
      </p:sp>
      <p:sp>
        <p:nvSpPr>
          <p:cNvPr id="443" name="Google Shape;443;p21"/>
          <p:cNvSpPr txBox="1"/>
          <p:nvPr/>
        </p:nvSpPr>
        <p:spPr>
          <a:xfrm>
            <a:off x="7772400" y="1682496"/>
            <a:ext cx="45720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SLIDE</a:t>
            </a:r>
            <a:endParaRPr/>
          </a:p>
        </p:txBody>
      </p:sp>
      <p:sp>
        <p:nvSpPr>
          <p:cNvPr id="444" name="Google Shape;444;p21"/>
          <p:cNvSpPr/>
          <p:nvPr/>
        </p:nvSpPr>
        <p:spPr>
          <a:xfrm>
            <a:off x="475488" y="1975104"/>
            <a:ext cx="7735824" cy="54864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5" name="Google Shape;445;p21"/>
          <p:cNvSpPr txBox="1"/>
          <p:nvPr/>
        </p:nvSpPr>
        <p:spPr>
          <a:xfrm>
            <a:off x="548640" y="1975104"/>
            <a:ext cx="132588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Trend Per Year</a:t>
            </a:r>
            <a:endParaRPr/>
          </a:p>
        </p:txBody>
      </p:sp>
      <p:sp>
        <p:nvSpPr>
          <p:cNvPr id="446" name="Google Shape;446;p21"/>
          <p:cNvSpPr txBox="1"/>
          <p:nvPr/>
        </p:nvSpPr>
        <p:spPr>
          <a:xfrm>
            <a:off x="1920240" y="1975104"/>
            <a:ext cx="301752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Rate by origination year. Dashed lines: 11.1% average, 5% target.</a:t>
            </a:r>
            <a:endParaRPr/>
          </a:p>
        </p:txBody>
      </p:sp>
      <p:sp>
        <p:nvSpPr>
          <p:cNvPr id="447" name="Google Shape;447;p21"/>
          <p:cNvSpPr txBox="1"/>
          <p:nvPr/>
        </p:nvSpPr>
        <p:spPr>
          <a:xfrm>
            <a:off x="5074920" y="1975104"/>
            <a:ext cx="265176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1998 at 2.5% is maturity bias, mature years sit at 13 to 14%.</a:t>
            </a:r>
            <a:endParaRPr/>
          </a:p>
        </p:txBody>
      </p:sp>
      <p:sp>
        <p:nvSpPr>
          <p:cNvPr id="448" name="Google Shape;448;p21"/>
          <p:cNvSpPr txBox="1"/>
          <p:nvPr/>
        </p:nvSpPr>
        <p:spPr>
          <a:xfrm>
            <a:off x="7772400" y="1975104"/>
            <a:ext cx="411480" cy="54864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000" u="none" cap="none" strike="noStrike">
                <a:solidFill>
                  <a:srgbClr val="F5B301"/>
                </a:solidFill>
                <a:latin typeface="Arial"/>
                <a:ea typeface="Arial"/>
                <a:cs typeface="Arial"/>
                <a:sym typeface="Arial"/>
              </a:rPr>
              <a:t>16</a:t>
            </a:r>
            <a:endParaRPr/>
          </a:p>
        </p:txBody>
      </p:sp>
      <p:sp>
        <p:nvSpPr>
          <p:cNvPr id="449" name="Google Shape;449;p21"/>
          <p:cNvSpPr txBox="1"/>
          <p:nvPr/>
        </p:nvSpPr>
        <p:spPr>
          <a:xfrm>
            <a:off x="548640" y="2542032"/>
            <a:ext cx="132588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Overdraft</a:t>
            </a:r>
            <a:endParaRPr/>
          </a:p>
        </p:txBody>
      </p:sp>
      <p:sp>
        <p:nvSpPr>
          <p:cNvPr id="450" name="Google Shape;450;p21"/>
          <p:cNvSpPr txBox="1"/>
          <p:nvPr/>
        </p:nvSpPr>
        <p:spPr>
          <a:xfrm>
            <a:off x="1920240" y="2542032"/>
            <a:ext cx="301752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Accounts that went below zero before the loan vs those that never did.</a:t>
            </a:r>
            <a:endParaRPr/>
          </a:p>
        </p:txBody>
      </p:sp>
      <p:sp>
        <p:nvSpPr>
          <p:cNvPr id="451" name="Google Shape;451;p21"/>
          <p:cNvSpPr txBox="1"/>
          <p:nvPr/>
        </p:nvSpPr>
        <p:spPr>
          <a:xfrm>
            <a:off x="5074920" y="2542032"/>
            <a:ext cx="265176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All 27 overdrawn accounts went bad, against 7.5% for the rest.</a:t>
            </a:r>
            <a:endParaRPr/>
          </a:p>
        </p:txBody>
      </p:sp>
      <p:sp>
        <p:nvSpPr>
          <p:cNvPr id="452" name="Google Shape;452;p21"/>
          <p:cNvSpPr txBox="1"/>
          <p:nvPr/>
        </p:nvSpPr>
        <p:spPr>
          <a:xfrm>
            <a:off x="7772400" y="2542032"/>
            <a:ext cx="411480" cy="54864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000" u="none" cap="none" strike="noStrike">
                <a:solidFill>
                  <a:srgbClr val="F5B301"/>
                </a:solidFill>
                <a:latin typeface="Arial"/>
                <a:ea typeface="Arial"/>
                <a:cs typeface="Arial"/>
                <a:sym typeface="Arial"/>
              </a:rPr>
              <a:t>17</a:t>
            </a:r>
            <a:endParaRPr/>
          </a:p>
        </p:txBody>
      </p:sp>
      <p:sp>
        <p:nvSpPr>
          <p:cNvPr id="453" name="Google Shape;453;p21"/>
          <p:cNvSpPr/>
          <p:nvPr/>
        </p:nvSpPr>
        <p:spPr>
          <a:xfrm>
            <a:off x="475488" y="3108960"/>
            <a:ext cx="7735824" cy="54864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4" name="Google Shape;454;p21"/>
          <p:cNvSpPr txBox="1"/>
          <p:nvPr/>
        </p:nvSpPr>
        <p:spPr>
          <a:xfrm>
            <a:off x="548640" y="3108960"/>
            <a:ext cx="132588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Affordability</a:t>
            </a:r>
            <a:endParaRPr/>
          </a:p>
        </p:txBody>
      </p:sp>
      <p:sp>
        <p:nvSpPr>
          <p:cNvPr id="455" name="Google Shape;455;p21"/>
          <p:cNvSpPr txBox="1"/>
          <p:nvPr/>
        </p:nvSpPr>
        <p:spPr>
          <a:xfrm>
            <a:off x="1920240" y="3108960"/>
            <a:ext cx="301752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Payment ÷ own monthly inflow. Q1 lowest burden, Q4 highest.</a:t>
            </a:r>
            <a:endParaRPr/>
          </a:p>
        </p:txBody>
      </p:sp>
      <p:sp>
        <p:nvSpPr>
          <p:cNvPr id="456" name="Google Shape;456;p21"/>
          <p:cNvSpPr txBox="1"/>
          <p:nvPr/>
        </p:nvSpPr>
        <p:spPr>
          <a:xfrm>
            <a:off x="5074920" y="3108960"/>
            <a:ext cx="265176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Q4 fails at 19.3%, Q1 only at 5.8%.</a:t>
            </a:r>
            <a:endParaRPr/>
          </a:p>
        </p:txBody>
      </p:sp>
      <p:sp>
        <p:nvSpPr>
          <p:cNvPr id="457" name="Google Shape;457;p21"/>
          <p:cNvSpPr txBox="1"/>
          <p:nvPr/>
        </p:nvSpPr>
        <p:spPr>
          <a:xfrm>
            <a:off x="7772400" y="3108960"/>
            <a:ext cx="411480" cy="54864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000" u="none" cap="none" strike="noStrike">
                <a:solidFill>
                  <a:srgbClr val="F5B301"/>
                </a:solidFill>
                <a:latin typeface="Arial"/>
                <a:ea typeface="Arial"/>
                <a:cs typeface="Arial"/>
                <a:sym typeface="Arial"/>
              </a:rPr>
              <a:t>18</a:t>
            </a:r>
            <a:endParaRPr/>
          </a:p>
        </p:txBody>
      </p:sp>
      <p:sp>
        <p:nvSpPr>
          <p:cNvPr id="458" name="Google Shape;458;p21"/>
          <p:cNvSpPr txBox="1"/>
          <p:nvPr/>
        </p:nvSpPr>
        <p:spPr>
          <a:xfrm>
            <a:off x="548640" y="3675888"/>
            <a:ext cx="132588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Liquidity</a:t>
            </a:r>
            <a:endParaRPr/>
          </a:p>
        </p:txBody>
      </p:sp>
      <p:sp>
        <p:nvSpPr>
          <p:cNvPr id="459" name="Google Shape;459;p21"/>
          <p:cNvSpPr txBox="1"/>
          <p:nvPr/>
        </p:nvSpPr>
        <p:spPr>
          <a:xfrm>
            <a:off x="1920240" y="3675888"/>
            <a:ext cx="301752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Average pre-loan balance. Q1 lowest balance, Q4 highest.</a:t>
            </a:r>
            <a:endParaRPr/>
          </a:p>
        </p:txBody>
      </p:sp>
      <p:sp>
        <p:nvSpPr>
          <p:cNvPr id="460" name="Google Shape;460;p21"/>
          <p:cNvSpPr txBox="1"/>
          <p:nvPr/>
        </p:nvSpPr>
        <p:spPr>
          <a:xfrm>
            <a:off x="5074920" y="3675888"/>
            <a:ext cx="265176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Q1 fails at 19.3%, Q4 only at 5.3%.</a:t>
            </a:r>
            <a:endParaRPr/>
          </a:p>
        </p:txBody>
      </p:sp>
      <p:sp>
        <p:nvSpPr>
          <p:cNvPr id="461" name="Google Shape;461;p21"/>
          <p:cNvSpPr txBox="1"/>
          <p:nvPr/>
        </p:nvSpPr>
        <p:spPr>
          <a:xfrm>
            <a:off x="7772400" y="3675888"/>
            <a:ext cx="411480" cy="54864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000" u="none" cap="none" strike="noStrike">
                <a:solidFill>
                  <a:srgbClr val="F5B301"/>
                </a:solidFill>
                <a:latin typeface="Arial"/>
                <a:ea typeface="Arial"/>
                <a:cs typeface="Arial"/>
                <a:sym typeface="Arial"/>
              </a:rPr>
              <a:t>18</a:t>
            </a:r>
            <a:endParaRPr/>
          </a:p>
        </p:txBody>
      </p:sp>
      <p:sp>
        <p:nvSpPr>
          <p:cNvPr id="462" name="Google Shape;462;p21"/>
          <p:cNvSpPr/>
          <p:nvPr/>
        </p:nvSpPr>
        <p:spPr>
          <a:xfrm>
            <a:off x="475488" y="4242816"/>
            <a:ext cx="7735824" cy="54864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3" name="Google Shape;463;p21"/>
          <p:cNvSpPr txBox="1"/>
          <p:nvPr/>
        </p:nvSpPr>
        <p:spPr>
          <a:xfrm>
            <a:off x="548640" y="4242816"/>
            <a:ext cx="132588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Loan Size</a:t>
            </a:r>
            <a:endParaRPr/>
          </a:p>
        </p:txBody>
      </p:sp>
      <p:sp>
        <p:nvSpPr>
          <p:cNvPr id="464" name="Google Shape;464;p21"/>
          <p:cNvSpPr txBox="1"/>
          <p:nvPr/>
        </p:nvSpPr>
        <p:spPr>
          <a:xfrm>
            <a:off x="1920240" y="4242816"/>
            <a:ext cx="301752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Loan amount. Q1 smallest loans, Q4 largest.</a:t>
            </a:r>
            <a:endParaRPr/>
          </a:p>
        </p:txBody>
      </p:sp>
      <p:sp>
        <p:nvSpPr>
          <p:cNvPr id="465" name="Google Shape;465;p21"/>
          <p:cNvSpPr txBox="1"/>
          <p:nvPr/>
        </p:nvSpPr>
        <p:spPr>
          <a:xfrm>
            <a:off x="5074920" y="4242816"/>
            <a:ext cx="265176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Flat at 7.6 to 9.4% until Q4 jumps to 19.9%.</a:t>
            </a:r>
            <a:endParaRPr/>
          </a:p>
        </p:txBody>
      </p:sp>
      <p:sp>
        <p:nvSpPr>
          <p:cNvPr id="466" name="Google Shape;466;p21"/>
          <p:cNvSpPr txBox="1"/>
          <p:nvPr/>
        </p:nvSpPr>
        <p:spPr>
          <a:xfrm>
            <a:off x="7772400" y="4242816"/>
            <a:ext cx="411480" cy="54864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000" u="none" cap="none" strike="noStrike">
                <a:solidFill>
                  <a:srgbClr val="F5B301"/>
                </a:solidFill>
                <a:latin typeface="Arial"/>
                <a:ea typeface="Arial"/>
                <a:cs typeface="Arial"/>
                <a:sym typeface="Arial"/>
              </a:rPr>
              <a:t>18</a:t>
            </a:r>
            <a:endParaRPr/>
          </a:p>
        </p:txBody>
      </p:sp>
      <p:sp>
        <p:nvSpPr>
          <p:cNvPr id="467" name="Google Shape;467;p21"/>
          <p:cNvSpPr txBox="1"/>
          <p:nvPr/>
        </p:nvSpPr>
        <p:spPr>
          <a:xfrm>
            <a:off x="548640" y="4809744"/>
            <a:ext cx="132588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Risk Band</a:t>
            </a:r>
            <a:endParaRPr/>
          </a:p>
        </p:txBody>
      </p:sp>
      <p:sp>
        <p:nvSpPr>
          <p:cNvPr id="468" name="Google Shape;468;p21"/>
          <p:cNvSpPr txBox="1"/>
          <p:nvPr/>
        </p:nvSpPr>
        <p:spPr>
          <a:xfrm>
            <a:off x="1920240" y="4809744"/>
            <a:ext cx="301752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Model score split into five equal groups, Very low to Very high.</a:t>
            </a:r>
            <a:endParaRPr/>
          </a:p>
        </p:txBody>
      </p:sp>
      <p:sp>
        <p:nvSpPr>
          <p:cNvPr id="469" name="Google Shape;469;p21"/>
          <p:cNvSpPr txBox="1"/>
          <p:nvPr/>
        </p:nvSpPr>
        <p:spPr>
          <a:xfrm>
            <a:off x="5074920" y="4809744"/>
            <a:ext cx="265176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Very high fails at 35.0% and holds 48 of 76 bad loans.</a:t>
            </a:r>
            <a:endParaRPr/>
          </a:p>
        </p:txBody>
      </p:sp>
      <p:sp>
        <p:nvSpPr>
          <p:cNvPr id="470" name="Google Shape;470;p21"/>
          <p:cNvSpPr txBox="1"/>
          <p:nvPr/>
        </p:nvSpPr>
        <p:spPr>
          <a:xfrm>
            <a:off x="7772400" y="4809744"/>
            <a:ext cx="411480" cy="54864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000" u="none" cap="none" strike="noStrike">
                <a:solidFill>
                  <a:srgbClr val="F5B301"/>
                </a:solidFill>
                <a:latin typeface="Arial"/>
                <a:ea typeface="Arial"/>
                <a:cs typeface="Arial"/>
                <a:sym typeface="Arial"/>
              </a:rPr>
              <a:t>19</a:t>
            </a:r>
            <a:endParaRPr/>
          </a:p>
        </p:txBody>
      </p:sp>
      <p:sp>
        <p:nvSpPr>
          <p:cNvPr id="471" name="Google Shape;471;p21"/>
          <p:cNvSpPr/>
          <p:nvPr/>
        </p:nvSpPr>
        <p:spPr>
          <a:xfrm>
            <a:off x="475488" y="5376672"/>
            <a:ext cx="7735824" cy="54864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21"/>
          <p:cNvSpPr txBox="1"/>
          <p:nvPr/>
        </p:nvSpPr>
        <p:spPr>
          <a:xfrm>
            <a:off x="548640" y="5376672"/>
            <a:ext cx="132588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Simulation</a:t>
            </a:r>
            <a:endParaRPr/>
          </a:p>
        </p:txBody>
      </p:sp>
      <p:sp>
        <p:nvSpPr>
          <p:cNvPr id="473" name="Google Shape;473;p21"/>
          <p:cNvSpPr txBox="1"/>
          <p:nvPr/>
        </p:nvSpPr>
        <p:spPr>
          <a:xfrm>
            <a:off x="1920240" y="5376672"/>
            <a:ext cx="301752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Rate left after each screen. Grey vertical line marks the 5% target.</a:t>
            </a:r>
            <a:endParaRPr/>
          </a:p>
        </p:txBody>
      </p:sp>
      <p:sp>
        <p:nvSpPr>
          <p:cNvPr id="474" name="Google Shape;474;p21"/>
          <p:cNvSpPr txBox="1"/>
          <p:nvPr/>
        </p:nvSpPr>
        <p:spPr>
          <a:xfrm>
            <a:off x="5074920" y="5376672"/>
            <a:ext cx="2651760" cy="54864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R1 + R3 is the only screen that reaches 5.0%.</a:t>
            </a:r>
            <a:endParaRPr/>
          </a:p>
        </p:txBody>
      </p:sp>
      <p:sp>
        <p:nvSpPr>
          <p:cNvPr id="475" name="Google Shape;475;p21"/>
          <p:cNvSpPr txBox="1"/>
          <p:nvPr/>
        </p:nvSpPr>
        <p:spPr>
          <a:xfrm>
            <a:off x="7772400" y="5376672"/>
            <a:ext cx="411480" cy="54864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000" u="none" cap="none" strike="noStrike">
                <a:solidFill>
                  <a:srgbClr val="F5B301"/>
                </a:solidFill>
                <a:latin typeface="Arial"/>
                <a:ea typeface="Arial"/>
                <a:cs typeface="Arial"/>
                <a:sym typeface="Arial"/>
              </a:rPr>
              <a:t>20</a:t>
            </a:r>
            <a:endParaRPr/>
          </a:p>
        </p:txBody>
      </p:sp>
      <p:sp>
        <p:nvSpPr>
          <p:cNvPr id="476" name="Google Shape;476;p21"/>
          <p:cNvSpPr/>
          <p:nvPr/>
        </p:nvSpPr>
        <p:spPr>
          <a:xfrm>
            <a:off x="8503920" y="1554480"/>
            <a:ext cx="3319272" cy="443484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7" name="Google Shape;477;p21"/>
          <p:cNvSpPr txBox="1"/>
          <p:nvPr/>
        </p:nvSpPr>
        <p:spPr>
          <a:xfrm>
            <a:off x="8686800" y="1682496"/>
            <a:ext cx="301752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SIMULATION VALUES</a:t>
            </a:r>
            <a:endParaRPr/>
          </a:p>
        </p:txBody>
      </p:sp>
      <p:sp>
        <p:nvSpPr>
          <p:cNvPr id="478" name="Google Shape;478;p21"/>
          <p:cNvSpPr/>
          <p:nvPr/>
        </p:nvSpPr>
        <p:spPr>
          <a:xfrm>
            <a:off x="8613648" y="1975104"/>
            <a:ext cx="3099816" cy="36576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9" name="Google Shape;479;p21"/>
          <p:cNvSpPr txBox="1"/>
          <p:nvPr/>
        </p:nvSpPr>
        <p:spPr>
          <a:xfrm>
            <a:off x="8705088" y="1975104"/>
            <a:ext cx="219456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Current portfolio</a:t>
            </a:r>
            <a:endParaRPr/>
          </a:p>
        </p:txBody>
      </p:sp>
      <p:sp>
        <p:nvSpPr>
          <p:cNvPr id="480" name="Google Shape;480;p21"/>
          <p:cNvSpPr txBox="1"/>
          <p:nvPr/>
        </p:nvSpPr>
        <p:spPr>
          <a:xfrm>
            <a:off x="10881360" y="1975104"/>
            <a:ext cx="731520" cy="36576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B23A2E"/>
                </a:solidFill>
                <a:latin typeface="Arial"/>
                <a:ea typeface="Arial"/>
                <a:cs typeface="Arial"/>
                <a:sym typeface="Arial"/>
              </a:rPr>
              <a:t>11.1%</a:t>
            </a:r>
            <a:endParaRPr/>
          </a:p>
        </p:txBody>
      </p:sp>
      <p:sp>
        <p:nvSpPr>
          <p:cNvPr id="481" name="Google Shape;481;p21"/>
          <p:cNvSpPr txBox="1"/>
          <p:nvPr/>
        </p:nvSpPr>
        <p:spPr>
          <a:xfrm>
            <a:off x="8705088" y="2377440"/>
            <a:ext cx="219456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R2  Payment ÷ inflow &gt; 0.17</a:t>
            </a:r>
            <a:endParaRPr/>
          </a:p>
        </p:txBody>
      </p:sp>
      <p:sp>
        <p:nvSpPr>
          <p:cNvPr id="482" name="Google Shape;482;p21"/>
          <p:cNvSpPr txBox="1"/>
          <p:nvPr/>
        </p:nvSpPr>
        <p:spPr>
          <a:xfrm>
            <a:off x="10881360" y="2377440"/>
            <a:ext cx="731520" cy="36576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8.4%</a:t>
            </a:r>
            <a:endParaRPr/>
          </a:p>
        </p:txBody>
      </p:sp>
      <p:sp>
        <p:nvSpPr>
          <p:cNvPr id="483" name="Google Shape;483;p21"/>
          <p:cNvSpPr/>
          <p:nvPr/>
        </p:nvSpPr>
        <p:spPr>
          <a:xfrm>
            <a:off x="8613648" y="2779776"/>
            <a:ext cx="3099816" cy="36576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21"/>
          <p:cNvSpPr txBox="1"/>
          <p:nvPr/>
        </p:nvSpPr>
        <p:spPr>
          <a:xfrm>
            <a:off x="8705088" y="2779776"/>
            <a:ext cx="219456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R1  Overdraft review</a:t>
            </a:r>
            <a:endParaRPr/>
          </a:p>
        </p:txBody>
      </p:sp>
      <p:sp>
        <p:nvSpPr>
          <p:cNvPr id="485" name="Google Shape;485;p21"/>
          <p:cNvSpPr txBox="1"/>
          <p:nvPr/>
        </p:nvSpPr>
        <p:spPr>
          <a:xfrm>
            <a:off x="10881360" y="2779776"/>
            <a:ext cx="731520" cy="36576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7.5%</a:t>
            </a:r>
            <a:endParaRPr/>
          </a:p>
        </p:txBody>
      </p:sp>
      <p:sp>
        <p:nvSpPr>
          <p:cNvPr id="486" name="Google Shape;486;p21"/>
          <p:cNvSpPr txBox="1"/>
          <p:nvPr/>
        </p:nvSpPr>
        <p:spPr>
          <a:xfrm>
            <a:off x="8705088" y="3182112"/>
            <a:ext cx="219456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R1 + R2</a:t>
            </a:r>
            <a:endParaRPr/>
          </a:p>
        </p:txBody>
      </p:sp>
      <p:sp>
        <p:nvSpPr>
          <p:cNvPr id="487" name="Google Shape;487;p21"/>
          <p:cNvSpPr txBox="1"/>
          <p:nvPr/>
        </p:nvSpPr>
        <p:spPr>
          <a:xfrm>
            <a:off x="10881360" y="3182112"/>
            <a:ext cx="731520" cy="36576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5.8%</a:t>
            </a:r>
            <a:endParaRPr/>
          </a:p>
        </p:txBody>
      </p:sp>
      <p:sp>
        <p:nvSpPr>
          <p:cNvPr id="488" name="Google Shape;488;p21"/>
          <p:cNvSpPr/>
          <p:nvPr/>
        </p:nvSpPr>
        <p:spPr>
          <a:xfrm>
            <a:off x="8613648" y="3584448"/>
            <a:ext cx="3099816" cy="36576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9" name="Google Shape;489;p21"/>
          <p:cNvSpPr txBox="1"/>
          <p:nvPr/>
        </p:nvSpPr>
        <p:spPr>
          <a:xfrm>
            <a:off x="8705088" y="3584448"/>
            <a:ext cx="219456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R3  Risk score top 20%</a:t>
            </a:r>
            <a:endParaRPr/>
          </a:p>
        </p:txBody>
      </p:sp>
      <p:sp>
        <p:nvSpPr>
          <p:cNvPr id="490" name="Google Shape;490;p21"/>
          <p:cNvSpPr txBox="1"/>
          <p:nvPr/>
        </p:nvSpPr>
        <p:spPr>
          <a:xfrm>
            <a:off x="10881360" y="3584448"/>
            <a:ext cx="731520" cy="36576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5.1%</a:t>
            </a:r>
            <a:endParaRPr/>
          </a:p>
        </p:txBody>
      </p:sp>
      <p:sp>
        <p:nvSpPr>
          <p:cNvPr id="491" name="Google Shape;491;p21"/>
          <p:cNvSpPr txBox="1"/>
          <p:nvPr/>
        </p:nvSpPr>
        <p:spPr>
          <a:xfrm>
            <a:off x="8705088" y="3986784"/>
            <a:ext cx="2194560" cy="3657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950" u="none" cap="none" strike="noStrike">
                <a:solidFill>
                  <a:srgbClr val="2B2621"/>
                </a:solidFill>
                <a:latin typeface="Arial"/>
                <a:ea typeface="Arial"/>
                <a:cs typeface="Arial"/>
                <a:sym typeface="Arial"/>
              </a:rPr>
              <a:t>R1 + R3</a:t>
            </a:r>
            <a:endParaRPr/>
          </a:p>
        </p:txBody>
      </p:sp>
      <p:sp>
        <p:nvSpPr>
          <p:cNvPr id="492" name="Google Shape;492;p21"/>
          <p:cNvSpPr txBox="1"/>
          <p:nvPr/>
        </p:nvSpPr>
        <p:spPr>
          <a:xfrm>
            <a:off x="10881360" y="3986784"/>
            <a:ext cx="731520" cy="36576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4E7D3A"/>
                </a:solidFill>
                <a:latin typeface="Arial"/>
                <a:ea typeface="Arial"/>
                <a:cs typeface="Arial"/>
                <a:sym typeface="Arial"/>
              </a:rPr>
              <a:t>5.0%</a:t>
            </a:r>
            <a:endParaRPr/>
          </a:p>
        </p:txBody>
      </p:sp>
      <p:sp>
        <p:nvSpPr>
          <p:cNvPr id="493" name="Google Shape;493;p21"/>
          <p:cNvSpPr txBox="1"/>
          <p:nvPr/>
        </p:nvSpPr>
        <p:spPr>
          <a:xfrm>
            <a:off x="8686800" y="4480560"/>
            <a:ext cx="3017520" cy="137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950" u="none" cap="none" strike="noStrike">
                <a:solidFill>
                  <a:srgbClr val="2B2621"/>
                </a:solidFill>
                <a:latin typeface="Arial"/>
                <a:ea typeface="Arial"/>
                <a:cs typeface="Arial"/>
                <a:sym typeface="Arial"/>
              </a:rPr>
              <a:t>Colour scale.  </a:t>
            </a:r>
            <a:r>
              <a:rPr b="0" i="0" lang="en-US" sz="950" u="none" cap="none" strike="noStrike">
                <a:solidFill>
                  <a:srgbClr val="2B2621"/>
                </a:solidFill>
                <a:latin typeface="Arial"/>
                <a:ea typeface="Arial"/>
                <a:cs typeface="Arial"/>
                <a:sym typeface="Arial"/>
              </a:rPr>
              <a:t>The Rate After % legend runs from green at 5.1% to red at 11.1%. The greener the bar, the closer the screen gets to the 5% target.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498" name="Shape 498"/>
        <p:cNvGrpSpPr/>
        <p:nvPr/>
      </p:nvGrpSpPr>
      <p:grpSpPr>
        <a:xfrm>
          <a:off x="0" y="0"/>
          <a:ext cx="0" cy="0"/>
          <a:chOff x="0" y="0"/>
          <a:chExt cx="0" cy="0"/>
        </a:xfrm>
      </p:grpSpPr>
      <p:sp>
        <p:nvSpPr>
          <p:cNvPr id="499" name="Google Shape;499;p22"/>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KPI &amp; TREND</a:t>
            </a:r>
            <a:endParaRPr/>
          </a:p>
        </p:txBody>
      </p:sp>
      <p:sp>
        <p:nvSpPr>
          <p:cNvPr id="500" name="Google Shape;500;p22"/>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16 / 21</a:t>
            </a:r>
            <a:endParaRPr/>
          </a:p>
        </p:txBody>
      </p:sp>
      <p:sp>
        <p:nvSpPr>
          <p:cNvPr id="501" name="Google Shape;501;p22"/>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1 in 9 loans goes bad, more than twice the 5% target</a:t>
            </a:r>
            <a:endParaRPr/>
          </a:p>
        </p:txBody>
      </p:sp>
      <p:sp>
        <p:nvSpPr>
          <p:cNvPr id="502" name="Google Shape;502;p22"/>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Problematic Loan Rate = (B + D) ÷ total loans, by origination year, against the portfolio average and the Milestone 1 target.</a:t>
            </a:r>
            <a:endParaRPr/>
          </a:p>
        </p:txBody>
      </p:sp>
      <p:sp>
        <p:nvSpPr>
          <p:cNvPr id="503" name="Google Shape;503;p22"/>
          <p:cNvSpPr/>
          <p:nvPr/>
        </p:nvSpPr>
        <p:spPr>
          <a:xfrm>
            <a:off x="365760" y="1554480"/>
            <a:ext cx="2697480" cy="914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4" name="Google Shape;504;p22"/>
          <p:cNvSpPr txBox="1"/>
          <p:nvPr/>
        </p:nvSpPr>
        <p:spPr>
          <a:xfrm>
            <a:off x="548640" y="1627632"/>
            <a:ext cx="2377440" cy="5029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682</a:t>
            </a:r>
            <a:endParaRPr/>
          </a:p>
        </p:txBody>
      </p:sp>
      <p:sp>
        <p:nvSpPr>
          <p:cNvPr id="505" name="Google Shape;505;p22"/>
          <p:cNvSpPr txBox="1"/>
          <p:nvPr/>
        </p:nvSpPr>
        <p:spPr>
          <a:xfrm>
            <a:off x="548640" y="2130552"/>
            <a:ext cx="2377440" cy="2377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000" u="none" cap="none" strike="noStrike">
                <a:solidFill>
                  <a:srgbClr val="8A8071"/>
                </a:solidFill>
                <a:latin typeface="Arial"/>
                <a:ea typeface="Arial"/>
                <a:cs typeface="Arial"/>
                <a:sym typeface="Arial"/>
              </a:rPr>
              <a:t>loans analysed</a:t>
            </a:r>
            <a:endParaRPr/>
          </a:p>
        </p:txBody>
      </p:sp>
      <p:sp>
        <p:nvSpPr>
          <p:cNvPr id="506" name="Google Shape;506;p22"/>
          <p:cNvSpPr/>
          <p:nvPr/>
        </p:nvSpPr>
        <p:spPr>
          <a:xfrm>
            <a:off x="3282696" y="1554480"/>
            <a:ext cx="2697480" cy="914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7" name="Google Shape;507;p22"/>
          <p:cNvSpPr txBox="1"/>
          <p:nvPr/>
        </p:nvSpPr>
        <p:spPr>
          <a:xfrm>
            <a:off x="3465576" y="1627632"/>
            <a:ext cx="2377440" cy="5029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76</a:t>
            </a:r>
            <a:endParaRPr/>
          </a:p>
        </p:txBody>
      </p:sp>
      <p:sp>
        <p:nvSpPr>
          <p:cNvPr id="508" name="Google Shape;508;p22"/>
          <p:cNvSpPr txBox="1"/>
          <p:nvPr/>
        </p:nvSpPr>
        <p:spPr>
          <a:xfrm>
            <a:off x="3465576" y="2130552"/>
            <a:ext cx="2377440" cy="2377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000" u="none" cap="none" strike="noStrike">
                <a:solidFill>
                  <a:srgbClr val="8A8071"/>
                </a:solidFill>
                <a:latin typeface="Arial"/>
                <a:ea typeface="Arial"/>
                <a:cs typeface="Arial"/>
                <a:sym typeface="Arial"/>
              </a:rPr>
              <a:t>problematic loans (B + D)</a:t>
            </a:r>
            <a:endParaRPr/>
          </a:p>
        </p:txBody>
      </p:sp>
      <p:sp>
        <p:nvSpPr>
          <p:cNvPr id="509" name="Google Shape;509;p22"/>
          <p:cNvSpPr/>
          <p:nvPr/>
        </p:nvSpPr>
        <p:spPr>
          <a:xfrm>
            <a:off x="6199631" y="1554480"/>
            <a:ext cx="2697480" cy="914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0" name="Google Shape;510;p22"/>
          <p:cNvSpPr txBox="1"/>
          <p:nvPr/>
        </p:nvSpPr>
        <p:spPr>
          <a:xfrm>
            <a:off x="6382512" y="1627632"/>
            <a:ext cx="2377440" cy="5029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B23A2E"/>
                </a:solidFill>
                <a:latin typeface="Bookman Old Style"/>
                <a:ea typeface="Bookman Old Style"/>
                <a:cs typeface="Bookman Old Style"/>
                <a:sym typeface="Bookman Old Style"/>
              </a:rPr>
              <a:t>11.1%</a:t>
            </a:r>
            <a:endParaRPr/>
          </a:p>
        </p:txBody>
      </p:sp>
      <p:sp>
        <p:nvSpPr>
          <p:cNvPr id="511" name="Google Shape;511;p22"/>
          <p:cNvSpPr txBox="1"/>
          <p:nvPr/>
        </p:nvSpPr>
        <p:spPr>
          <a:xfrm>
            <a:off x="6382512" y="2130552"/>
            <a:ext cx="2377440" cy="2377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000" u="none" cap="none" strike="noStrike">
                <a:solidFill>
                  <a:srgbClr val="8A8071"/>
                </a:solidFill>
                <a:latin typeface="Arial"/>
                <a:ea typeface="Arial"/>
                <a:cs typeface="Arial"/>
                <a:sym typeface="Arial"/>
              </a:rPr>
              <a:t>problematic rate</a:t>
            </a:r>
            <a:endParaRPr/>
          </a:p>
        </p:txBody>
      </p:sp>
      <p:sp>
        <p:nvSpPr>
          <p:cNvPr id="512" name="Google Shape;512;p22"/>
          <p:cNvSpPr/>
          <p:nvPr/>
        </p:nvSpPr>
        <p:spPr>
          <a:xfrm>
            <a:off x="9116567" y="1554480"/>
            <a:ext cx="2697480" cy="914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3" name="Google Shape;513;p22"/>
          <p:cNvSpPr txBox="1"/>
          <p:nvPr/>
        </p:nvSpPr>
        <p:spPr>
          <a:xfrm>
            <a:off x="9299447" y="1627632"/>
            <a:ext cx="2377440" cy="5029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B23A2E"/>
                </a:solidFill>
                <a:latin typeface="Bookman Old Style"/>
                <a:ea typeface="Bookman Old Style"/>
                <a:cs typeface="Bookman Old Style"/>
                <a:sym typeface="Bookman Old Style"/>
              </a:rPr>
              <a:t>15.6M Kč</a:t>
            </a:r>
            <a:endParaRPr/>
          </a:p>
        </p:txBody>
      </p:sp>
      <p:sp>
        <p:nvSpPr>
          <p:cNvPr id="514" name="Google Shape;514;p22"/>
          <p:cNvSpPr txBox="1"/>
          <p:nvPr/>
        </p:nvSpPr>
        <p:spPr>
          <a:xfrm>
            <a:off x="9299447" y="2130552"/>
            <a:ext cx="2377440" cy="23774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000" u="none" cap="none" strike="noStrike">
                <a:solidFill>
                  <a:srgbClr val="8A8071"/>
                </a:solidFill>
                <a:latin typeface="Arial"/>
                <a:ea typeface="Arial"/>
                <a:cs typeface="Arial"/>
                <a:sym typeface="Arial"/>
              </a:rPr>
              <a:t>principal at risk</a:t>
            </a:r>
            <a:endParaRPr/>
          </a:p>
        </p:txBody>
      </p:sp>
      <p:sp>
        <p:nvSpPr>
          <p:cNvPr id="515" name="Google Shape;515;p22"/>
          <p:cNvSpPr/>
          <p:nvPr/>
        </p:nvSpPr>
        <p:spPr>
          <a:xfrm>
            <a:off x="365760" y="2651760"/>
            <a:ext cx="6720840" cy="324612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aphicFrame>
        <p:nvGraphicFramePr>
          <p:cNvPr id="516" name="Google Shape;516;p22"/>
          <p:cNvGraphicFramePr/>
          <p:nvPr/>
        </p:nvGraphicFramePr>
        <p:xfrm>
          <a:off x="502920" y="2743200"/>
          <a:ext cx="6446520" cy="3063240"/>
        </p:xfrm>
        <a:graphic>
          <a:graphicData uri="http://schemas.openxmlformats.org/drawingml/2006/chart">
            <c:chart r:id="rId3"/>
          </a:graphicData>
        </a:graphic>
      </p:graphicFrame>
      <p:sp>
        <p:nvSpPr>
          <p:cNvPr id="517" name="Google Shape;517;p22"/>
          <p:cNvSpPr/>
          <p:nvPr/>
        </p:nvSpPr>
        <p:spPr>
          <a:xfrm>
            <a:off x="7269480" y="2651760"/>
            <a:ext cx="4553712" cy="324612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8" name="Google Shape;518;p22"/>
          <p:cNvSpPr txBox="1"/>
          <p:nvPr/>
        </p:nvSpPr>
        <p:spPr>
          <a:xfrm>
            <a:off x="7452360" y="278892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INSIGHT</a:t>
            </a:r>
            <a:endParaRPr/>
          </a:p>
        </p:txBody>
      </p:sp>
      <p:sp>
        <p:nvSpPr>
          <p:cNvPr id="519" name="Google Shape;519;p22"/>
          <p:cNvSpPr txBox="1"/>
          <p:nvPr/>
        </p:nvSpPr>
        <p:spPr>
          <a:xfrm>
            <a:off x="7452360" y="3044952"/>
            <a:ext cx="4206240" cy="566928"/>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Mature cohorts from 1994 to 1997 fail at 13 to 14%. The honest gap to the 5% target is 8 to 9 points, not 6.</a:t>
            </a:r>
            <a:endParaRPr/>
          </a:p>
        </p:txBody>
      </p:sp>
      <p:sp>
        <p:nvSpPr>
          <p:cNvPr id="520" name="Google Shape;520;p22"/>
          <p:cNvSpPr txBox="1"/>
          <p:nvPr/>
        </p:nvSpPr>
        <p:spPr>
          <a:xfrm>
            <a:off x="7452360" y="365760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BUSINESS INTERPRETATION</a:t>
            </a:r>
            <a:endParaRPr/>
          </a:p>
        </p:txBody>
      </p:sp>
      <p:sp>
        <p:nvSpPr>
          <p:cNvPr id="521" name="Google Shape;521;p22"/>
          <p:cNvSpPr txBox="1"/>
          <p:nvPr/>
        </p:nvSpPr>
        <p:spPr>
          <a:xfrm>
            <a:off x="7452360" y="3913632"/>
            <a:ext cx="4206240" cy="7315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The 1998 value of 2.5% is maturity bias: those loans had under twelve months to go bad. Read as progress, it would loosen standards.</a:t>
            </a:r>
            <a:endParaRPr/>
          </a:p>
        </p:txBody>
      </p:sp>
      <p:sp>
        <p:nvSpPr>
          <p:cNvPr id="522" name="Google Shape;522;p22"/>
          <p:cNvSpPr txBox="1"/>
          <p:nvPr/>
        </p:nvSpPr>
        <p:spPr>
          <a:xfrm>
            <a:off x="7452360" y="470916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RECOMMENDATION</a:t>
            </a:r>
            <a:endParaRPr/>
          </a:p>
        </p:txBody>
      </p:sp>
      <p:sp>
        <p:nvSpPr>
          <p:cNvPr id="523" name="Google Shape;523;p22"/>
          <p:cNvSpPr txBox="1"/>
          <p:nvPr/>
        </p:nvSpPr>
        <p:spPr>
          <a:xfrm>
            <a:off x="7452360" y="4965192"/>
            <a:ext cx="4206240" cy="566928"/>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Track the KPI by vintage at equal months on book, and re-read the 1998 cohort after 24 months.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528" name="Shape 528"/>
        <p:cNvGrpSpPr/>
        <p:nvPr/>
      </p:nvGrpSpPr>
      <p:grpSpPr>
        <a:xfrm>
          <a:off x="0" y="0"/>
          <a:ext cx="0" cy="0"/>
          <a:chOff x="0" y="0"/>
          <a:chExt cx="0" cy="0"/>
        </a:xfrm>
      </p:grpSpPr>
      <p:sp>
        <p:nvSpPr>
          <p:cNvPr id="529" name="Google Shape;529;p23"/>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DRIVER RANKING</a:t>
            </a:r>
            <a:endParaRPr/>
          </a:p>
        </p:txBody>
      </p:sp>
      <p:sp>
        <p:nvSpPr>
          <p:cNvPr id="530" name="Google Shape;530;p23"/>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17 / 21</a:t>
            </a:r>
            <a:endParaRPr/>
          </a:p>
        </p:txBody>
      </p:sp>
      <p:sp>
        <p:nvSpPr>
          <p:cNvPr id="531" name="Google Shape;531;p23"/>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Account behaviour ranks far above who the customer is</a:t>
            </a:r>
            <a:endParaRPr/>
          </a:p>
        </p:txBody>
      </p:sp>
      <p:sp>
        <p:nvSpPr>
          <p:cNvPr id="532" name="Google Shape;532;p23"/>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Risk lift = problematic rate in the high-risk group ÷ rate in the low-risk group. 1.0x means no difference.</a:t>
            </a:r>
            <a:endParaRPr/>
          </a:p>
        </p:txBody>
      </p:sp>
      <p:sp>
        <p:nvSpPr>
          <p:cNvPr id="533" name="Google Shape;533;p23"/>
          <p:cNvSpPr/>
          <p:nvPr/>
        </p:nvSpPr>
        <p:spPr>
          <a:xfrm>
            <a:off x="365760" y="1554480"/>
            <a:ext cx="6720840" cy="4343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graphicFrame>
        <p:nvGraphicFramePr>
          <p:cNvPr id="534" name="Google Shape;534;p23"/>
          <p:cNvGraphicFramePr/>
          <p:nvPr/>
        </p:nvGraphicFramePr>
        <p:xfrm>
          <a:off x="502920" y="1691640"/>
          <a:ext cx="6446520" cy="4069080"/>
        </p:xfrm>
        <a:graphic>
          <a:graphicData uri="http://schemas.openxmlformats.org/drawingml/2006/chart">
            <c:chart r:id="rId3"/>
          </a:graphicData>
        </a:graphic>
      </p:graphicFrame>
      <p:sp>
        <p:nvSpPr>
          <p:cNvPr id="535" name="Google Shape;535;p23"/>
          <p:cNvSpPr/>
          <p:nvPr/>
        </p:nvSpPr>
        <p:spPr>
          <a:xfrm>
            <a:off x="7269480" y="1554480"/>
            <a:ext cx="4553712" cy="4343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36" name="Google Shape;536;p23"/>
          <p:cNvSpPr txBox="1"/>
          <p:nvPr/>
        </p:nvSpPr>
        <p:spPr>
          <a:xfrm>
            <a:off x="7452360" y="1700784"/>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INSIGHT</a:t>
            </a:r>
            <a:endParaRPr/>
          </a:p>
        </p:txBody>
      </p:sp>
      <p:sp>
        <p:nvSpPr>
          <p:cNvPr id="537" name="Google Shape;537;p23"/>
          <p:cNvSpPr txBox="1"/>
          <p:nvPr/>
        </p:nvSpPr>
        <p:spPr>
          <a:xfrm>
            <a:off x="7452360" y="1956816"/>
            <a:ext cx="4206240" cy="7315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A pre-loan overdraft multiplies risk 13.3 times. Affordability and a low balance follow at 3.6x to 3.9x. Gender sits at 1.1x.</a:t>
            </a:r>
            <a:endParaRPr/>
          </a:p>
        </p:txBody>
      </p:sp>
      <p:sp>
        <p:nvSpPr>
          <p:cNvPr id="538" name="Google Shape;538;p23"/>
          <p:cNvSpPr txBox="1"/>
          <p:nvPr/>
        </p:nvSpPr>
        <p:spPr>
          <a:xfrm>
            <a:off x="7452360" y="278892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BUSINESS INTERPRETATION</a:t>
            </a:r>
            <a:endParaRPr/>
          </a:p>
        </p:txBody>
      </p:sp>
      <p:sp>
        <p:nvSpPr>
          <p:cNvPr id="539" name="Google Shape;539;p23"/>
          <p:cNvSpPr txBox="1"/>
          <p:nvPr/>
        </p:nvSpPr>
        <p:spPr>
          <a:xfrm>
            <a:off x="7452360" y="3044952"/>
            <a:ext cx="4206240" cy="914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Risk shows up in how the account behaves, and the bank already records that behaviour before it approves the loan. Demographic screens would be both unfair and ineffective.</a:t>
            </a:r>
            <a:endParaRPr/>
          </a:p>
        </p:txBody>
      </p:sp>
      <p:sp>
        <p:nvSpPr>
          <p:cNvPr id="540" name="Google Shape;540;p23"/>
          <p:cNvSpPr txBox="1"/>
          <p:nvPr/>
        </p:nvSpPr>
        <p:spPr>
          <a:xfrm>
            <a:off x="7452360" y="406908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RECOMMENDATION</a:t>
            </a:r>
            <a:endParaRPr/>
          </a:p>
        </p:txBody>
      </p:sp>
      <p:sp>
        <p:nvSpPr>
          <p:cNvPr id="541" name="Google Shape;541;p23"/>
          <p:cNvSpPr txBox="1"/>
          <p:nvPr/>
        </p:nvSpPr>
        <p:spPr>
          <a:xfrm>
            <a:off x="7452360" y="4325112"/>
            <a:ext cx="4206240" cy="566928"/>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Build approval rules on the three red signals and keep gender and age out of the decision.</a:t>
            </a:r>
            <a:endParaRPr/>
          </a:p>
        </p:txBody>
      </p:sp>
      <p:sp>
        <p:nvSpPr>
          <p:cNvPr id="542" name="Google Shape;542;p23"/>
          <p:cNvSpPr txBox="1"/>
          <p:nvPr/>
        </p:nvSpPr>
        <p:spPr>
          <a:xfrm>
            <a:off x="7452360" y="5257800"/>
            <a:ext cx="4206240" cy="457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1" lang="en-US" sz="900" u="none" cap="none" strike="noStrike">
                <a:solidFill>
                  <a:srgbClr val="8A8071"/>
                </a:solidFill>
                <a:latin typeface="Arial"/>
                <a:ea typeface="Arial"/>
                <a:cs typeface="Arial"/>
                <a:sym typeface="Arial"/>
              </a:rPr>
              <a:t>Top three drivers in red. Lift compares extreme quartiles, or the two groups for binary drivers.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547" name="Shape 547"/>
        <p:cNvGrpSpPr/>
        <p:nvPr/>
      </p:nvGrpSpPr>
      <p:grpSpPr>
        <a:xfrm>
          <a:off x="0" y="0"/>
          <a:ext cx="0" cy="0"/>
          <a:chOff x="0" y="0"/>
          <a:chExt cx="0" cy="0"/>
        </a:xfrm>
      </p:grpSpPr>
      <p:sp>
        <p:nvSpPr>
          <p:cNvPr id="548" name="Google Shape;548;p24"/>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AFFORDABILITY, LIQUIDITY, LOAN SIZE</a:t>
            </a:r>
            <a:endParaRPr/>
          </a:p>
        </p:txBody>
      </p:sp>
      <p:sp>
        <p:nvSpPr>
          <p:cNvPr id="549" name="Google Shape;549;p24"/>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18 / 21</a:t>
            </a:r>
            <a:endParaRPr/>
          </a:p>
        </p:txBody>
      </p:sp>
      <p:sp>
        <p:nvSpPr>
          <p:cNvPr id="550" name="Google Shape;550;p24"/>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Every driver's worst quartile fails at about 19%</a:t>
            </a:r>
            <a:endParaRPr/>
          </a:p>
        </p:txBody>
      </p:sp>
      <p:sp>
        <p:nvSpPr>
          <p:cNvPr id="551" name="Google Shape;551;p24"/>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Problematic loan rate by quartile, about 170 loans each. Portfolio average 11.1%. Risk quartile in red.</a:t>
            </a:r>
            <a:endParaRPr/>
          </a:p>
        </p:txBody>
      </p:sp>
      <p:sp>
        <p:nvSpPr>
          <p:cNvPr id="552" name="Google Shape;552;p24"/>
          <p:cNvSpPr/>
          <p:nvPr/>
        </p:nvSpPr>
        <p:spPr>
          <a:xfrm>
            <a:off x="365760" y="1554480"/>
            <a:ext cx="3685032" cy="269748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3" name="Google Shape;553;p24"/>
          <p:cNvSpPr txBox="1"/>
          <p:nvPr/>
        </p:nvSpPr>
        <p:spPr>
          <a:xfrm>
            <a:off x="530352" y="1664208"/>
            <a:ext cx="338328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PAYMENT ÷ OWN MONTHLY INFLOW</a:t>
            </a:r>
            <a:endParaRPr/>
          </a:p>
        </p:txBody>
      </p:sp>
      <p:sp>
        <p:nvSpPr>
          <p:cNvPr id="554" name="Google Shape;554;p24"/>
          <p:cNvSpPr txBox="1"/>
          <p:nvPr/>
        </p:nvSpPr>
        <p:spPr>
          <a:xfrm>
            <a:off x="530352" y="1883664"/>
            <a:ext cx="3383280" cy="2011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00" u="none" cap="none" strike="noStrike">
                <a:solidFill>
                  <a:srgbClr val="8A8071"/>
                </a:solidFill>
                <a:latin typeface="Arial"/>
                <a:ea typeface="Arial"/>
                <a:cs typeface="Arial"/>
                <a:sym typeface="Arial"/>
              </a:rPr>
              <a:t>Q1 lowest burden, Q4 highest</a:t>
            </a:r>
            <a:endParaRPr/>
          </a:p>
        </p:txBody>
      </p:sp>
      <p:graphicFrame>
        <p:nvGraphicFramePr>
          <p:cNvPr id="555" name="Google Shape;555;p24"/>
          <p:cNvGraphicFramePr/>
          <p:nvPr/>
        </p:nvGraphicFramePr>
        <p:xfrm>
          <a:off x="457200" y="2103120"/>
          <a:ext cx="3502152" cy="2084831"/>
        </p:xfrm>
        <a:graphic>
          <a:graphicData uri="http://schemas.openxmlformats.org/drawingml/2006/chart">
            <c:chart r:id="rId3"/>
          </a:graphicData>
        </a:graphic>
      </p:graphicFrame>
      <p:sp>
        <p:nvSpPr>
          <p:cNvPr id="556" name="Google Shape;556;p24"/>
          <p:cNvSpPr/>
          <p:nvPr/>
        </p:nvSpPr>
        <p:spPr>
          <a:xfrm>
            <a:off x="4251960" y="1554480"/>
            <a:ext cx="3685032" cy="269748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7" name="Google Shape;557;p24"/>
          <p:cNvSpPr txBox="1"/>
          <p:nvPr/>
        </p:nvSpPr>
        <p:spPr>
          <a:xfrm>
            <a:off x="4416552" y="1664208"/>
            <a:ext cx="338328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AVERAGE PRE-LOAN BALANCE</a:t>
            </a:r>
            <a:endParaRPr/>
          </a:p>
        </p:txBody>
      </p:sp>
      <p:sp>
        <p:nvSpPr>
          <p:cNvPr id="558" name="Google Shape;558;p24"/>
          <p:cNvSpPr txBox="1"/>
          <p:nvPr/>
        </p:nvSpPr>
        <p:spPr>
          <a:xfrm>
            <a:off x="4416552" y="1883664"/>
            <a:ext cx="3383280" cy="2011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00" u="none" cap="none" strike="noStrike">
                <a:solidFill>
                  <a:srgbClr val="8A8071"/>
                </a:solidFill>
                <a:latin typeface="Arial"/>
                <a:ea typeface="Arial"/>
                <a:cs typeface="Arial"/>
                <a:sym typeface="Arial"/>
              </a:rPr>
              <a:t>Q1 lowest balance, Q4 highest</a:t>
            </a:r>
            <a:endParaRPr/>
          </a:p>
        </p:txBody>
      </p:sp>
      <p:graphicFrame>
        <p:nvGraphicFramePr>
          <p:cNvPr id="559" name="Google Shape;559;p24"/>
          <p:cNvGraphicFramePr/>
          <p:nvPr/>
        </p:nvGraphicFramePr>
        <p:xfrm>
          <a:off x="4343400" y="2103120"/>
          <a:ext cx="3502152" cy="2084831"/>
        </p:xfrm>
        <a:graphic>
          <a:graphicData uri="http://schemas.openxmlformats.org/drawingml/2006/chart">
            <c:chart r:id="rId4"/>
          </a:graphicData>
        </a:graphic>
      </p:graphicFrame>
      <p:sp>
        <p:nvSpPr>
          <p:cNvPr id="560" name="Google Shape;560;p24"/>
          <p:cNvSpPr/>
          <p:nvPr/>
        </p:nvSpPr>
        <p:spPr>
          <a:xfrm>
            <a:off x="8138160" y="1554480"/>
            <a:ext cx="3685032" cy="269748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1" name="Google Shape;561;p24"/>
          <p:cNvSpPr txBox="1"/>
          <p:nvPr/>
        </p:nvSpPr>
        <p:spPr>
          <a:xfrm>
            <a:off x="8302752" y="1664208"/>
            <a:ext cx="338328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LOAN AMOUNT</a:t>
            </a:r>
            <a:endParaRPr/>
          </a:p>
        </p:txBody>
      </p:sp>
      <p:sp>
        <p:nvSpPr>
          <p:cNvPr id="562" name="Google Shape;562;p24"/>
          <p:cNvSpPr txBox="1"/>
          <p:nvPr/>
        </p:nvSpPr>
        <p:spPr>
          <a:xfrm>
            <a:off x="8302752" y="1883664"/>
            <a:ext cx="3383280" cy="2011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900" u="none" cap="none" strike="noStrike">
                <a:solidFill>
                  <a:srgbClr val="8A8071"/>
                </a:solidFill>
                <a:latin typeface="Arial"/>
                <a:ea typeface="Arial"/>
                <a:cs typeface="Arial"/>
                <a:sym typeface="Arial"/>
              </a:rPr>
              <a:t>Q1 smallest loans, Q4 largest</a:t>
            </a:r>
            <a:endParaRPr/>
          </a:p>
        </p:txBody>
      </p:sp>
      <p:graphicFrame>
        <p:nvGraphicFramePr>
          <p:cNvPr id="563" name="Google Shape;563;p24"/>
          <p:cNvGraphicFramePr/>
          <p:nvPr/>
        </p:nvGraphicFramePr>
        <p:xfrm>
          <a:off x="8229600" y="2103120"/>
          <a:ext cx="3502152" cy="2084831"/>
        </p:xfrm>
        <a:graphic>
          <a:graphicData uri="http://schemas.openxmlformats.org/drawingml/2006/chart">
            <c:chart r:id="rId5"/>
          </a:graphicData>
        </a:graphic>
      </p:graphicFrame>
      <p:sp>
        <p:nvSpPr>
          <p:cNvPr id="564" name="Google Shape;564;p24"/>
          <p:cNvSpPr/>
          <p:nvPr/>
        </p:nvSpPr>
        <p:spPr>
          <a:xfrm>
            <a:off x="365760" y="4434840"/>
            <a:ext cx="11457432" cy="118872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5" name="Google Shape;565;p24"/>
          <p:cNvSpPr txBox="1"/>
          <p:nvPr/>
        </p:nvSpPr>
        <p:spPr>
          <a:xfrm>
            <a:off x="566928" y="4572000"/>
            <a:ext cx="35661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INSIGHT</a:t>
            </a:r>
            <a:endParaRPr/>
          </a:p>
        </p:txBody>
      </p:sp>
      <p:sp>
        <p:nvSpPr>
          <p:cNvPr id="566" name="Google Shape;566;p24"/>
          <p:cNvSpPr txBox="1"/>
          <p:nvPr/>
        </p:nvSpPr>
        <p:spPr>
          <a:xfrm>
            <a:off x="566928" y="4828032"/>
            <a:ext cx="3566160" cy="10058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Stretched instalments and the lowest balances both fail at 19.3%, against 5 to 6% at the safe end. Loan amount stays flat at 7.6 to 9.4% until its top quartile.</a:t>
            </a:r>
            <a:endParaRPr/>
          </a:p>
        </p:txBody>
      </p:sp>
      <p:sp>
        <p:nvSpPr>
          <p:cNvPr id="567" name="Google Shape;567;p24"/>
          <p:cNvSpPr txBox="1"/>
          <p:nvPr/>
        </p:nvSpPr>
        <p:spPr>
          <a:xfrm>
            <a:off x="4407408" y="4572000"/>
            <a:ext cx="35661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BUSINESS INTERPRETATION</a:t>
            </a:r>
            <a:endParaRPr/>
          </a:p>
        </p:txBody>
      </p:sp>
      <p:sp>
        <p:nvSpPr>
          <p:cNvPr id="568" name="Google Shape;568;p24"/>
          <p:cNvSpPr txBox="1"/>
          <p:nvPr/>
        </p:nvSpPr>
        <p:spPr>
          <a:xfrm>
            <a:off x="4407408" y="4828032"/>
            <a:ext cx="3566160" cy="10058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Large loans look risky mainly because their instalment eats the monthly inflow. Affordability is the lever, loan size is its symptom.</a:t>
            </a:r>
            <a:endParaRPr/>
          </a:p>
        </p:txBody>
      </p:sp>
      <p:sp>
        <p:nvSpPr>
          <p:cNvPr id="569" name="Google Shape;569;p24"/>
          <p:cNvSpPr txBox="1"/>
          <p:nvPr/>
        </p:nvSpPr>
        <p:spPr>
          <a:xfrm>
            <a:off x="8247888" y="4572000"/>
            <a:ext cx="356616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RECOMMENDATION</a:t>
            </a:r>
            <a:endParaRPr/>
          </a:p>
        </p:txBody>
      </p:sp>
      <p:sp>
        <p:nvSpPr>
          <p:cNvPr id="570" name="Google Shape;570;p24"/>
          <p:cNvSpPr txBox="1"/>
          <p:nvPr/>
        </p:nvSpPr>
        <p:spPr>
          <a:xfrm>
            <a:off x="8247888" y="4828032"/>
            <a:ext cx="3566160" cy="10058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Cap payment ÷ inflow at 0.17, the start of Q4, rather than capping loan amount. Send bottom-quartile balances to a second review.</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575" name="Shape 575"/>
        <p:cNvGrpSpPr/>
        <p:nvPr/>
      </p:nvGrpSpPr>
      <p:grpSpPr>
        <a:xfrm>
          <a:off x="0" y="0"/>
          <a:ext cx="0" cy="0"/>
          <a:chOff x="0" y="0"/>
          <a:chExt cx="0" cy="0"/>
        </a:xfrm>
      </p:grpSpPr>
      <p:sp>
        <p:nvSpPr>
          <p:cNvPr id="576" name="Google Shape;576;p25"/>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MODEL VALIDATION</a:t>
            </a:r>
            <a:endParaRPr/>
          </a:p>
        </p:txBody>
      </p:sp>
      <p:sp>
        <p:nvSpPr>
          <p:cNvPr id="577" name="Google Shape;577;p25"/>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19 / 21</a:t>
            </a:r>
            <a:endParaRPr/>
          </a:p>
        </p:txBody>
      </p:sp>
      <p:sp>
        <p:nvSpPr>
          <p:cNvPr id="578" name="Google Shape;578;p25"/>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A simple risk score puts 48 of 76 bad loans in the riskiest 20%</a:t>
            </a:r>
            <a:endParaRPr/>
          </a:p>
        </p:txBody>
      </p:sp>
      <p:sp>
        <p:nvSpPr>
          <p:cNvPr id="579" name="Google Shape;579;p25"/>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Logistic regression on eight pre-loan features, 5-fold cross validation, so every loan is scored by a model that never saw it.</a:t>
            </a:r>
            <a:endParaRPr/>
          </a:p>
        </p:txBody>
      </p:sp>
      <p:sp>
        <p:nvSpPr>
          <p:cNvPr id="580" name="Google Shape;580;p25"/>
          <p:cNvSpPr/>
          <p:nvPr/>
        </p:nvSpPr>
        <p:spPr>
          <a:xfrm>
            <a:off x="365760" y="1554480"/>
            <a:ext cx="6720840" cy="4343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8640" y="1700784"/>
            <a:ext cx="640080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PROBLEMATIC LOAN RATE BY RISK BAND (QUINTILES OF THE SCORE)</a:t>
            </a:r>
            <a:endParaRPr/>
          </a:p>
        </p:txBody>
      </p:sp>
      <p:graphicFrame>
        <p:nvGraphicFramePr>
          <p:cNvPr id="582" name="Google Shape;582;p25"/>
          <p:cNvGraphicFramePr/>
          <p:nvPr/>
        </p:nvGraphicFramePr>
        <p:xfrm>
          <a:off x="502920" y="1965960"/>
          <a:ext cx="6446520" cy="3794760"/>
        </p:xfrm>
        <a:graphic>
          <a:graphicData uri="http://schemas.openxmlformats.org/drawingml/2006/chart">
            <c:chart r:id="rId3"/>
          </a:graphicData>
        </a:graphic>
      </p:graphicFrame>
      <p:sp>
        <p:nvSpPr>
          <p:cNvPr id="583" name="Google Shape;583;p25"/>
          <p:cNvSpPr/>
          <p:nvPr/>
        </p:nvSpPr>
        <p:spPr>
          <a:xfrm>
            <a:off x="7269480" y="1554480"/>
            <a:ext cx="4553712" cy="4343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4" name="Google Shape;584;p25"/>
          <p:cNvSpPr txBox="1"/>
          <p:nvPr/>
        </p:nvSpPr>
        <p:spPr>
          <a:xfrm>
            <a:off x="7452360" y="1700784"/>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INSIGHT</a:t>
            </a:r>
            <a:endParaRPr/>
          </a:p>
        </p:txBody>
      </p:sp>
      <p:sp>
        <p:nvSpPr>
          <p:cNvPr id="585" name="Google Shape;585;p25"/>
          <p:cNvSpPr txBox="1"/>
          <p:nvPr/>
        </p:nvSpPr>
        <p:spPr>
          <a:xfrm>
            <a:off x="7452360" y="1956816"/>
            <a:ext cx="4206240" cy="7315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The very high band fails at 35.0%, three times the portfolio. The very low band fails at 1.5%. The score ranks risk out of sample.</a:t>
            </a:r>
            <a:endParaRPr/>
          </a:p>
        </p:txBody>
      </p:sp>
      <p:sp>
        <p:nvSpPr>
          <p:cNvPr id="586" name="Google Shape;586;p25"/>
          <p:cNvSpPr txBox="1"/>
          <p:nvPr/>
        </p:nvSpPr>
        <p:spPr>
          <a:xfrm>
            <a:off x="7452360" y="278892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BUSINESS INTERPRETATION</a:t>
            </a:r>
            <a:endParaRPr/>
          </a:p>
        </p:txBody>
      </p:sp>
      <p:sp>
        <p:nvSpPr>
          <p:cNvPr id="587" name="Google Shape;587;p25"/>
          <p:cNvSpPr txBox="1"/>
          <p:nvPr/>
        </p:nvSpPr>
        <p:spPr>
          <a:xfrm>
            <a:off x="7452360" y="3044952"/>
            <a:ext cx="4206240" cy="914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Features the bank already stores, balance, overdraft history and instalment burden, are enough to sort applicants before approval. 63% of bad loans sit in one fifth of applicants.</a:t>
            </a:r>
            <a:endParaRPr/>
          </a:p>
        </p:txBody>
      </p:sp>
      <p:sp>
        <p:nvSpPr>
          <p:cNvPr id="588" name="Google Shape;588;p25"/>
          <p:cNvSpPr txBox="1"/>
          <p:nvPr/>
        </p:nvSpPr>
        <p:spPr>
          <a:xfrm>
            <a:off x="7452360" y="406908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RECOMMENDATION</a:t>
            </a:r>
            <a:endParaRPr/>
          </a:p>
        </p:txBody>
      </p:sp>
      <p:sp>
        <p:nvSpPr>
          <p:cNvPr id="589" name="Google Shape;589;p25"/>
          <p:cNvSpPr txBox="1"/>
          <p:nvPr/>
        </p:nvSpPr>
        <p:spPr>
          <a:xfrm>
            <a:off x="7452360" y="4325112"/>
            <a:ext cx="4206240" cy="7315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Route the top 20% of scores to manual review. Recalibrate on a larger sample before letting the score decline anyone automatically.</a:t>
            </a:r>
            <a:endParaRPr/>
          </a:p>
        </p:txBody>
      </p:sp>
      <p:sp>
        <p:nvSpPr>
          <p:cNvPr id="590" name="Google Shape;590;p25"/>
          <p:cNvSpPr/>
          <p:nvPr/>
        </p:nvSpPr>
        <p:spPr>
          <a:xfrm>
            <a:off x="7452360" y="4937760"/>
            <a:ext cx="4187952" cy="804672"/>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1" name="Google Shape;591;p25"/>
          <p:cNvSpPr txBox="1"/>
          <p:nvPr/>
        </p:nvSpPr>
        <p:spPr>
          <a:xfrm>
            <a:off x="7589520" y="4937760"/>
            <a:ext cx="1371600" cy="8046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B23A2E"/>
                </a:solidFill>
                <a:latin typeface="Bookman Old Style"/>
                <a:ea typeface="Bookman Old Style"/>
                <a:cs typeface="Bookman Old Style"/>
                <a:sym typeface="Bookman Old Style"/>
              </a:rPr>
              <a:t>63%</a:t>
            </a:r>
            <a:endParaRPr/>
          </a:p>
        </p:txBody>
      </p:sp>
      <p:sp>
        <p:nvSpPr>
          <p:cNvPr id="592" name="Google Shape;592;p25"/>
          <p:cNvSpPr txBox="1"/>
          <p:nvPr/>
        </p:nvSpPr>
        <p:spPr>
          <a:xfrm>
            <a:off x="8961120" y="4937760"/>
            <a:ext cx="2560320" cy="8046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00" u="none" cap="none" strike="noStrike">
                <a:solidFill>
                  <a:srgbClr val="2B2621"/>
                </a:solidFill>
                <a:latin typeface="Arial"/>
                <a:ea typeface="Arial"/>
                <a:cs typeface="Arial"/>
                <a:sym typeface="Arial"/>
              </a:rPr>
              <a:t>of problematic loans captured by reviewing only the top 20% of scores</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597" name="Shape 597"/>
        <p:cNvGrpSpPr/>
        <p:nvPr/>
      </p:nvGrpSpPr>
      <p:grpSpPr>
        <a:xfrm>
          <a:off x="0" y="0"/>
          <a:ext cx="0" cy="0"/>
          <a:chOff x="0" y="0"/>
          <a:chExt cx="0" cy="0"/>
        </a:xfrm>
      </p:grpSpPr>
      <p:sp>
        <p:nvSpPr>
          <p:cNvPr id="598" name="Google Shape;598;p26"/>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BUSINESS IMPACT SIMULATION</a:t>
            </a:r>
            <a:endParaRPr/>
          </a:p>
        </p:txBody>
      </p:sp>
      <p:sp>
        <p:nvSpPr>
          <p:cNvPr id="599" name="Google Shape;599;p26"/>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20 / 21</a:t>
            </a:r>
            <a:endParaRPr/>
          </a:p>
        </p:txBody>
      </p:sp>
      <p:sp>
        <p:nvSpPr>
          <p:cNvPr id="600" name="Google Shape;600;p26"/>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Overdraft screen plus risk score brings the rate to 5%</a:t>
            </a:r>
            <a:endParaRPr/>
          </a:p>
        </p:txBody>
      </p:sp>
      <p:sp>
        <p:nvSpPr>
          <p:cNvPr id="601" name="Google Shape;601;p26"/>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Problematic rate left in the portfolio after each screen. Assumption: a flagged application is declined or restructured.</a:t>
            </a:r>
            <a:endParaRPr/>
          </a:p>
        </p:txBody>
      </p:sp>
      <p:sp>
        <p:nvSpPr>
          <p:cNvPr id="602" name="Google Shape;602;p26"/>
          <p:cNvSpPr/>
          <p:nvPr/>
        </p:nvSpPr>
        <p:spPr>
          <a:xfrm>
            <a:off x="365760" y="1554480"/>
            <a:ext cx="6720840" cy="4343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3" name="Google Shape;603;p26"/>
          <p:cNvSpPr txBox="1"/>
          <p:nvPr/>
        </p:nvSpPr>
        <p:spPr>
          <a:xfrm>
            <a:off x="548640" y="1700784"/>
            <a:ext cx="640080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RATE AFTER EACH SCREEN  ·  TARGET 5%</a:t>
            </a:r>
            <a:endParaRPr/>
          </a:p>
        </p:txBody>
      </p:sp>
      <p:graphicFrame>
        <p:nvGraphicFramePr>
          <p:cNvPr id="604" name="Google Shape;604;p26"/>
          <p:cNvGraphicFramePr/>
          <p:nvPr/>
        </p:nvGraphicFramePr>
        <p:xfrm>
          <a:off x="502920" y="1965960"/>
          <a:ext cx="6446520" cy="3794760"/>
        </p:xfrm>
        <a:graphic>
          <a:graphicData uri="http://schemas.openxmlformats.org/drawingml/2006/chart">
            <c:chart r:id="rId3"/>
          </a:graphicData>
        </a:graphic>
      </p:graphicFrame>
      <p:sp>
        <p:nvSpPr>
          <p:cNvPr id="605" name="Google Shape;605;p26"/>
          <p:cNvSpPr/>
          <p:nvPr/>
        </p:nvSpPr>
        <p:spPr>
          <a:xfrm>
            <a:off x="7269480" y="1554480"/>
            <a:ext cx="4553712" cy="434340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6" name="Google Shape;606;p26"/>
          <p:cNvSpPr txBox="1"/>
          <p:nvPr/>
        </p:nvSpPr>
        <p:spPr>
          <a:xfrm>
            <a:off x="7452360" y="1700784"/>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INSIGHT</a:t>
            </a:r>
            <a:endParaRPr/>
          </a:p>
        </p:txBody>
      </p:sp>
      <p:sp>
        <p:nvSpPr>
          <p:cNvPr id="607" name="Google Shape;607;p26"/>
          <p:cNvSpPr txBox="1"/>
          <p:nvPr/>
        </p:nvSpPr>
        <p:spPr>
          <a:xfrm>
            <a:off x="7452360" y="1956816"/>
            <a:ext cx="4206240" cy="7315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The overdraft screen alone cuts the rate to 7.5% and turns away no good loan. Adding the risk score review brings it to 5.0%.</a:t>
            </a:r>
            <a:endParaRPr/>
          </a:p>
        </p:txBody>
      </p:sp>
      <p:sp>
        <p:nvSpPr>
          <p:cNvPr id="608" name="Google Shape;608;p26"/>
          <p:cNvSpPr txBox="1"/>
          <p:nvPr/>
        </p:nvSpPr>
        <p:spPr>
          <a:xfrm>
            <a:off x="7452360" y="278892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BUSINESS INTERPRETATION</a:t>
            </a:r>
            <a:endParaRPr/>
          </a:p>
        </p:txBody>
      </p:sp>
      <p:sp>
        <p:nvSpPr>
          <p:cNvPr id="609" name="Google Shape;609;p26"/>
          <p:cNvSpPr txBox="1"/>
          <p:nvPr/>
        </p:nvSpPr>
        <p:spPr>
          <a:xfrm>
            <a:off x="7452360" y="3044952"/>
            <a:ext cx="4206240" cy="914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R1 + R3 flags about one in five applicants and removes 49 of 76 bad loans. The cost is roughly 89 good applicants sent to review, not necessarily declined.</a:t>
            </a:r>
            <a:endParaRPr/>
          </a:p>
        </p:txBody>
      </p:sp>
      <p:sp>
        <p:nvSpPr>
          <p:cNvPr id="610" name="Google Shape;610;p26"/>
          <p:cNvSpPr txBox="1"/>
          <p:nvPr/>
        </p:nvSpPr>
        <p:spPr>
          <a:xfrm>
            <a:off x="7452360" y="4069080"/>
            <a:ext cx="42062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RECOMMENDATION</a:t>
            </a:r>
            <a:endParaRPr/>
          </a:p>
        </p:txBody>
      </p:sp>
      <p:sp>
        <p:nvSpPr>
          <p:cNvPr id="611" name="Google Shape;611;p26"/>
          <p:cNvSpPr txBox="1"/>
          <p:nvPr/>
        </p:nvSpPr>
        <p:spPr>
          <a:xfrm>
            <a:off x="7452360" y="4325112"/>
            <a:ext cx="4206240" cy="73152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050" u="none" cap="none" strike="noStrike">
                <a:solidFill>
                  <a:srgbClr val="2B2621"/>
                </a:solidFill>
                <a:latin typeface="Arial"/>
                <a:ea typeface="Arial"/>
                <a:cs typeface="Arial"/>
                <a:sym typeface="Arial"/>
              </a:rPr>
              <a:t>Launch R1 now, run R3 as a review queue, and keep the R2 affordability cap as a buffer because 5.0% sits exactly on the target.</a:t>
            </a:r>
            <a:endParaRPr/>
          </a:p>
        </p:txBody>
      </p:sp>
      <p:sp>
        <p:nvSpPr>
          <p:cNvPr id="612" name="Google Shape;612;p26"/>
          <p:cNvSpPr/>
          <p:nvPr/>
        </p:nvSpPr>
        <p:spPr>
          <a:xfrm>
            <a:off x="7452360" y="4937760"/>
            <a:ext cx="4187952" cy="804672"/>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13" name="Google Shape;613;p26"/>
          <p:cNvSpPr txBox="1"/>
          <p:nvPr/>
        </p:nvSpPr>
        <p:spPr>
          <a:xfrm>
            <a:off x="7589520" y="4937760"/>
            <a:ext cx="3931920" cy="80467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950" u="none" cap="none" strike="noStrike">
                <a:solidFill>
                  <a:srgbClr val="2B2621"/>
                </a:solidFill>
                <a:latin typeface="Arial"/>
                <a:ea typeface="Arial"/>
                <a:cs typeface="Arial"/>
                <a:sym typeface="Arial"/>
              </a:rPr>
              <a:t>Colour key.  </a:t>
            </a:r>
            <a:r>
              <a:rPr b="0" i="0" lang="en-US" sz="950" u="none" cap="none" strike="noStrike">
                <a:solidFill>
                  <a:srgbClr val="2B2621"/>
                </a:solidFill>
                <a:latin typeface="Arial"/>
                <a:ea typeface="Arial"/>
                <a:cs typeface="Arial"/>
                <a:sym typeface="Arial"/>
              </a:rPr>
              <a:t>Green reaches the target, amber lands within one point, grey is a partial fix, red is today.</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CF3"/>
        </a:solidFill>
      </p:bgPr>
    </p:bg>
    <p:spTree>
      <p:nvGrpSpPr>
        <p:cNvPr id="618" name="Shape 618"/>
        <p:cNvGrpSpPr/>
        <p:nvPr/>
      </p:nvGrpSpPr>
      <p:grpSpPr>
        <a:xfrm>
          <a:off x="0" y="0"/>
          <a:ext cx="0" cy="0"/>
          <a:chOff x="0" y="0"/>
          <a:chExt cx="0" cy="0"/>
        </a:xfrm>
      </p:grpSpPr>
      <p:sp>
        <p:nvSpPr>
          <p:cNvPr id="619" name="Google Shape;619;p27"/>
          <p:cNvSpPr txBox="1"/>
          <p:nvPr/>
        </p:nvSpPr>
        <p:spPr>
          <a:xfrm>
            <a:off x="384048" y="237744"/>
            <a:ext cx="777240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DEEPP MILESTONE 3  ·  FINAL SUMMARY &amp; RECOMMENDATIONS</a:t>
            </a:r>
            <a:endParaRPr/>
          </a:p>
        </p:txBody>
      </p:sp>
      <p:sp>
        <p:nvSpPr>
          <p:cNvPr id="620" name="Google Shape;620;p27"/>
          <p:cNvSpPr txBox="1"/>
          <p:nvPr/>
        </p:nvSpPr>
        <p:spPr>
          <a:xfrm>
            <a:off x="8778240" y="237744"/>
            <a:ext cx="3017520" cy="256032"/>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1" i="0" lang="en-US" sz="1000" u="none" cap="none" strike="noStrike">
                <a:solidFill>
                  <a:srgbClr val="8A8071"/>
                </a:solidFill>
                <a:latin typeface="Arial"/>
                <a:ea typeface="Arial"/>
                <a:cs typeface="Arial"/>
                <a:sym typeface="Arial"/>
              </a:rPr>
              <a:t>SLIDE 21 / 21</a:t>
            </a:r>
            <a:endParaRPr/>
          </a:p>
        </p:txBody>
      </p:sp>
      <p:sp>
        <p:nvSpPr>
          <p:cNvPr id="621" name="Google Shape;621;p27"/>
          <p:cNvSpPr txBox="1"/>
          <p:nvPr/>
        </p:nvSpPr>
        <p:spPr>
          <a:xfrm>
            <a:off x="365760" y="548640"/>
            <a:ext cx="11430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2600" u="none" cap="none" strike="noStrike">
                <a:solidFill>
                  <a:srgbClr val="2B2621"/>
                </a:solidFill>
                <a:latin typeface="Bookman Old Style"/>
                <a:ea typeface="Bookman Old Style"/>
                <a:cs typeface="Bookman Old Style"/>
                <a:sym typeface="Bookman Old Style"/>
              </a:rPr>
              <a:t>Four findings, four actions, one path from 11.1% to 5%</a:t>
            </a:r>
            <a:endParaRPr/>
          </a:p>
        </p:txBody>
      </p:sp>
      <p:sp>
        <p:nvSpPr>
          <p:cNvPr id="622" name="Google Shape;622;p27"/>
          <p:cNvSpPr txBox="1"/>
          <p:nvPr/>
        </p:nvSpPr>
        <p:spPr>
          <a:xfrm>
            <a:off x="384048" y="1133856"/>
            <a:ext cx="11430000" cy="31089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1" lang="en-US" sz="1100" u="none" cap="none" strike="noStrike">
                <a:solidFill>
                  <a:srgbClr val="8A8071"/>
                </a:solidFill>
                <a:latin typeface="Arial"/>
                <a:ea typeface="Arial"/>
                <a:cs typeface="Arial"/>
                <a:sym typeface="Arial"/>
              </a:rPr>
              <a:t>Every action uses data available before disbursement and maps back to a Milestone 1 root cause.</a:t>
            </a:r>
            <a:endParaRPr/>
          </a:p>
        </p:txBody>
      </p:sp>
      <p:sp>
        <p:nvSpPr>
          <p:cNvPr id="623" name="Google Shape;623;p27"/>
          <p:cNvSpPr/>
          <p:nvPr/>
        </p:nvSpPr>
        <p:spPr>
          <a:xfrm>
            <a:off x="365760" y="1554480"/>
            <a:ext cx="11457432" cy="3611880"/>
          </a:xfrm>
          <a:prstGeom prst="roundRect">
            <a:avLst>
              <a:gd fmla="val 3000" name="adj"/>
            </a:avLst>
          </a:prstGeom>
          <a:solidFill>
            <a:srgbClr val="FFFFFF"/>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4" name="Google Shape;624;p27"/>
          <p:cNvSpPr txBox="1"/>
          <p:nvPr/>
        </p:nvSpPr>
        <p:spPr>
          <a:xfrm>
            <a:off x="548640" y="1691640"/>
            <a:ext cx="269748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FINDING</a:t>
            </a:r>
            <a:endParaRPr/>
          </a:p>
        </p:txBody>
      </p:sp>
      <p:sp>
        <p:nvSpPr>
          <p:cNvPr id="625" name="Google Shape;625;p27"/>
          <p:cNvSpPr txBox="1"/>
          <p:nvPr/>
        </p:nvSpPr>
        <p:spPr>
          <a:xfrm>
            <a:off x="3429000" y="1691640"/>
            <a:ext cx="237744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INSIGHT</a:t>
            </a:r>
            <a:endParaRPr/>
          </a:p>
        </p:txBody>
      </p:sp>
      <p:sp>
        <p:nvSpPr>
          <p:cNvPr id="626" name="Google Shape;626;p27"/>
          <p:cNvSpPr txBox="1"/>
          <p:nvPr/>
        </p:nvSpPr>
        <p:spPr>
          <a:xfrm>
            <a:off x="5989320" y="1691640"/>
            <a:ext cx="292608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ACTION</a:t>
            </a:r>
            <a:endParaRPr/>
          </a:p>
        </p:txBody>
      </p:sp>
      <p:sp>
        <p:nvSpPr>
          <p:cNvPr id="627" name="Google Shape;627;p27"/>
          <p:cNvSpPr txBox="1"/>
          <p:nvPr/>
        </p:nvSpPr>
        <p:spPr>
          <a:xfrm>
            <a:off x="9098280" y="1691640"/>
            <a:ext cx="2560320" cy="219456"/>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8A6D0B"/>
                </a:solidFill>
                <a:latin typeface="Arial"/>
                <a:ea typeface="Arial"/>
                <a:cs typeface="Arial"/>
                <a:sym typeface="Arial"/>
              </a:rPr>
              <a:t>EXPECTED IMPACT</a:t>
            </a:r>
            <a:endParaRPr/>
          </a:p>
        </p:txBody>
      </p:sp>
      <p:sp>
        <p:nvSpPr>
          <p:cNvPr id="628" name="Google Shape;628;p27"/>
          <p:cNvSpPr/>
          <p:nvPr/>
        </p:nvSpPr>
        <p:spPr>
          <a:xfrm>
            <a:off x="475488" y="1965960"/>
            <a:ext cx="11237976" cy="73152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29" name="Google Shape;629;p27"/>
          <p:cNvSpPr txBox="1"/>
          <p:nvPr/>
        </p:nvSpPr>
        <p:spPr>
          <a:xfrm>
            <a:off x="548640" y="1965960"/>
            <a:ext cx="4114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5B301"/>
                </a:solidFill>
                <a:latin typeface="Bookman Old Style"/>
                <a:ea typeface="Bookman Old Style"/>
                <a:cs typeface="Bookman Old Style"/>
                <a:sym typeface="Bookman Old Style"/>
              </a:rPr>
              <a:t>01</a:t>
            </a:r>
            <a:endParaRPr/>
          </a:p>
        </p:txBody>
      </p:sp>
      <p:sp>
        <p:nvSpPr>
          <p:cNvPr id="630" name="Google Shape;630;p27"/>
          <p:cNvSpPr txBox="1"/>
          <p:nvPr/>
        </p:nvSpPr>
        <p:spPr>
          <a:xfrm>
            <a:off x="960120" y="1965960"/>
            <a:ext cx="228600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All 27 overdrawn accounts failed, 35.5% of bad loans</a:t>
            </a:r>
            <a:endParaRPr/>
          </a:p>
        </p:txBody>
      </p:sp>
      <p:sp>
        <p:nvSpPr>
          <p:cNvPr id="631" name="Google Shape;631;p27"/>
          <p:cNvSpPr txBox="1"/>
          <p:nvPr/>
        </p:nvSpPr>
        <p:spPr>
          <a:xfrm>
            <a:off x="3429000" y="1965960"/>
            <a:ext cx="237744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2B2621"/>
                </a:solidFill>
                <a:latin typeface="Arial"/>
                <a:ea typeface="Arial"/>
                <a:cs typeface="Arial"/>
                <a:sym typeface="Arial"/>
              </a:rPr>
              <a:t>The strongest warning is already in the bank</a:t>
            </a:r>
            <a:endParaRPr/>
          </a:p>
        </p:txBody>
      </p:sp>
      <p:sp>
        <p:nvSpPr>
          <p:cNvPr id="632" name="Google Shape;632;p27"/>
          <p:cNvSpPr txBox="1"/>
          <p:nvPr/>
        </p:nvSpPr>
        <p:spPr>
          <a:xfrm>
            <a:off x="5989320" y="1965960"/>
            <a:ext cx="29260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Manual review for any overdraft in the last 12 months</a:t>
            </a:r>
            <a:endParaRPr/>
          </a:p>
        </p:txBody>
      </p:sp>
      <p:sp>
        <p:nvSpPr>
          <p:cNvPr id="633" name="Google Shape;633;p27"/>
          <p:cNvSpPr txBox="1"/>
          <p:nvPr/>
        </p:nvSpPr>
        <p:spPr>
          <a:xfrm>
            <a:off x="9098280" y="1965960"/>
            <a:ext cx="256032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2B2621"/>
                </a:solidFill>
                <a:latin typeface="Arial"/>
                <a:ea typeface="Arial"/>
                <a:cs typeface="Arial"/>
                <a:sym typeface="Arial"/>
              </a:rPr>
              <a:t>11.1% → 7.5%, no good loan lost</a:t>
            </a:r>
            <a:endParaRPr/>
          </a:p>
        </p:txBody>
      </p:sp>
      <p:sp>
        <p:nvSpPr>
          <p:cNvPr id="634" name="Google Shape;634;p27"/>
          <p:cNvSpPr txBox="1"/>
          <p:nvPr/>
        </p:nvSpPr>
        <p:spPr>
          <a:xfrm>
            <a:off x="548640" y="2743200"/>
            <a:ext cx="4114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5B301"/>
                </a:solidFill>
                <a:latin typeface="Bookman Old Style"/>
                <a:ea typeface="Bookman Old Style"/>
                <a:cs typeface="Bookman Old Style"/>
                <a:sym typeface="Bookman Old Style"/>
              </a:rPr>
              <a:t>02</a:t>
            </a:r>
            <a:endParaRPr/>
          </a:p>
        </p:txBody>
      </p:sp>
      <p:sp>
        <p:nvSpPr>
          <p:cNvPr id="635" name="Google Shape;635;p27"/>
          <p:cNvSpPr txBox="1"/>
          <p:nvPr/>
        </p:nvSpPr>
        <p:spPr>
          <a:xfrm>
            <a:off x="960120" y="2743200"/>
            <a:ext cx="228600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Payment ÷ inflow: 5.8% in Q1, 19.3% in Q4</a:t>
            </a:r>
            <a:endParaRPr/>
          </a:p>
        </p:txBody>
      </p:sp>
      <p:sp>
        <p:nvSpPr>
          <p:cNvPr id="636" name="Google Shape;636;p27"/>
          <p:cNvSpPr txBox="1"/>
          <p:nvPr/>
        </p:nvSpPr>
        <p:spPr>
          <a:xfrm>
            <a:off x="3429000" y="2743200"/>
            <a:ext cx="237744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2B2621"/>
                </a:solidFill>
                <a:latin typeface="Arial"/>
                <a:ea typeface="Arial"/>
                <a:cs typeface="Arial"/>
                <a:sym typeface="Arial"/>
              </a:rPr>
              <a:t>Affordability, not loan size, drives default</a:t>
            </a:r>
            <a:endParaRPr/>
          </a:p>
        </p:txBody>
      </p:sp>
      <p:sp>
        <p:nvSpPr>
          <p:cNvPr id="637" name="Google Shape;637;p27"/>
          <p:cNvSpPr txBox="1"/>
          <p:nvPr/>
        </p:nvSpPr>
        <p:spPr>
          <a:xfrm>
            <a:off x="5989320" y="2743200"/>
            <a:ext cx="29260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Cap payment ÷ inflow at 0.17 at underwriting</a:t>
            </a:r>
            <a:endParaRPr/>
          </a:p>
        </p:txBody>
      </p:sp>
      <p:sp>
        <p:nvSpPr>
          <p:cNvPr id="638" name="Google Shape;638;p27"/>
          <p:cNvSpPr txBox="1"/>
          <p:nvPr/>
        </p:nvSpPr>
        <p:spPr>
          <a:xfrm>
            <a:off x="9098280" y="2743200"/>
            <a:ext cx="256032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2B2621"/>
                </a:solidFill>
                <a:latin typeface="Arial"/>
                <a:ea typeface="Arial"/>
                <a:cs typeface="Arial"/>
                <a:sym typeface="Arial"/>
              </a:rPr>
              <a:t>With R1: 5.8%</a:t>
            </a:r>
            <a:endParaRPr/>
          </a:p>
        </p:txBody>
      </p:sp>
      <p:sp>
        <p:nvSpPr>
          <p:cNvPr id="639" name="Google Shape;639;p27"/>
          <p:cNvSpPr/>
          <p:nvPr/>
        </p:nvSpPr>
        <p:spPr>
          <a:xfrm>
            <a:off x="475488" y="3520440"/>
            <a:ext cx="11237976" cy="731520"/>
          </a:xfrm>
          <a:prstGeom prst="roundRect">
            <a:avLst>
              <a:gd fmla="val 3000" name="adj"/>
            </a:avLst>
          </a:prstGeom>
          <a:solidFill>
            <a:srgbClr val="FDF3D6"/>
          </a:solidFill>
          <a:ln cap="flat" cmpd="sng" w="9525">
            <a:solidFill>
              <a:srgbClr val="FD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40" name="Google Shape;640;p27"/>
          <p:cNvSpPr txBox="1"/>
          <p:nvPr/>
        </p:nvSpPr>
        <p:spPr>
          <a:xfrm>
            <a:off x="548640" y="3520440"/>
            <a:ext cx="4114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5B301"/>
                </a:solidFill>
                <a:latin typeface="Bookman Old Style"/>
                <a:ea typeface="Bookman Old Style"/>
                <a:cs typeface="Bookman Old Style"/>
                <a:sym typeface="Bookman Old Style"/>
              </a:rPr>
              <a:t>03</a:t>
            </a:r>
            <a:endParaRPr/>
          </a:p>
        </p:txBody>
      </p:sp>
      <p:sp>
        <p:nvSpPr>
          <p:cNvPr id="641" name="Google Shape;641;p27"/>
          <p:cNvSpPr txBox="1"/>
          <p:nvPr/>
        </p:nvSpPr>
        <p:spPr>
          <a:xfrm>
            <a:off x="960120" y="3520440"/>
            <a:ext cx="228600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Riskiest 20% of scores hold 48 of 76 bad loans</a:t>
            </a:r>
            <a:endParaRPr/>
          </a:p>
        </p:txBody>
      </p:sp>
      <p:sp>
        <p:nvSpPr>
          <p:cNvPr id="642" name="Google Shape;642;p27"/>
          <p:cNvSpPr txBox="1"/>
          <p:nvPr/>
        </p:nvSpPr>
        <p:spPr>
          <a:xfrm>
            <a:off x="3429000" y="3520440"/>
            <a:ext cx="237744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2B2621"/>
                </a:solidFill>
                <a:latin typeface="Arial"/>
                <a:ea typeface="Arial"/>
                <a:cs typeface="Arial"/>
                <a:sym typeface="Arial"/>
              </a:rPr>
              <a:t>Behaviour predicts risk, demographics do not</a:t>
            </a:r>
            <a:endParaRPr/>
          </a:p>
        </p:txBody>
      </p:sp>
      <p:sp>
        <p:nvSpPr>
          <p:cNvPr id="643" name="Google Shape;643;p27"/>
          <p:cNvSpPr txBox="1"/>
          <p:nvPr/>
        </p:nvSpPr>
        <p:spPr>
          <a:xfrm>
            <a:off x="5989320" y="3520440"/>
            <a:ext cx="29260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Add min and avg balance and overdraft flag to the scorecard, review the top 20%</a:t>
            </a:r>
            <a:endParaRPr/>
          </a:p>
        </p:txBody>
      </p:sp>
      <p:sp>
        <p:nvSpPr>
          <p:cNvPr id="644" name="Google Shape;644;p27"/>
          <p:cNvSpPr txBox="1"/>
          <p:nvPr/>
        </p:nvSpPr>
        <p:spPr>
          <a:xfrm>
            <a:off x="9098280" y="3520440"/>
            <a:ext cx="256032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4E7D3A"/>
                </a:solidFill>
                <a:latin typeface="Arial"/>
                <a:ea typeface="Arial"/>
                <a:cs typeface="Arial"/>
                <a:sym typeface="Arial"/>
              </a:rPr>
              <a:t>With R1: 5.0%, on target</a:t>
            </a:r>
            <a:endParaRPr/>
          </a:p>
        </p:txBody>
      </p:sp>
      <p:sp>
        <p:nvSpPr>
          <p:cNvPr id="645" name="Google Shape;645;p27"/>
          <p:cNvSpPr txBox="1"/>
          <p:nvPr/>
        </p:nvSpPr>
        <p:spPr>
          <a:xfrm>
            <a:off x="548640" y="4297680"/>
            <a:ext cx="4114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F5B301"/>
                </a:solidFill>
                <a:latin typeface="Bookman Old Style"/>
                <a:ea typeface="Bookman Old Style"/>
                <a:cs typeface="Bookman Old Style"/>
                <a:sym typeface="Bookman Old Style"/>
              </a:rPr>
              <a:t>04</a:t>
            </a:r>
            <a:endParaRPr/>
          </a:p>
        </p:txBody>
      </p:sp>
      <p:sp>
        <p:nvSpPr>
          <p:cNvPr id="646" name="Google Shape;646;p27"/>
          <p:cNvSpPr txBox="1"/>
          <p:nvPr/>
        </p:nvSpPr>
        <p:spPr>
          <a:xfrm>
            <a:off x="960120" y="4297680"/>
            <a:ext cx="228600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1998 at 2.5% vs 13 to 14% for mature cohorts</a:t>
            </a:r>
            <a:endParaRPr/>
          </a:p>
        </p:txBody>
      </p:sp>
      <p:sp>
        <p:nvSpPr>
          <p:cNvPr id="647" name="Google Shape;647;p27"/>
          <p:cNvSpPr txBox="1"/>
          <p:nvPr/>
        </p:nvSpPr>
        <p:spPr>
          <a:xfrm>
            <a:off x="3429000" y="4297680"/>
            <a:ext cx="237744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2B2621"/>
                </a:solidFill>
                <a:latin typeface="Arial"/>
                <a:ea typeface="Arial"/>
                <a:cs typeface="Arial"/>
                <a:sym typeface="Arial"/>
              </a:rPr>
              <a:t>The recent improvement is maturity bias</a:t>
            </a:r>
            <a:endParaRPr/>
          </a:p>
        </p:txBody>
      </p:sp>
      <p:sp>
        <p:nvSpPr>
          <p:cNvPr id="648" name="Google Shape;648;p27"/>
          <p:cNvSpPr txBox="1"/>
          <p:nvPr/>
        </p:nvSpPr>
        <p:spPr>
          <a:xfrm>
            <a:off x="5989320" y="4297680"/>
            <a:ext cx="292608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050" u="none" cap="none" strike="noStrike">
                <a:solidFill>
                  <a:srgbClr val="2B2621"/>
                </a:solidFill>
                <a:latin typeface="Arial"/>
                <a:ea typeface="Arial"/>
                <a:cs typeface="Arial"/>
                <a:sym typeface="Arial"/>
              </a:rPr>
              <a:t>Report the KPI by vintage at equal loan age</a:t>
            </a:r>
            <a:endParaRPr/>
          </a:p>
        </p:txBody>
      </p:sp>
      <p:sp>
        <p:nvSpPr>
          <p:cNvPr id="649" name="Google Shape;649;p27"/>
          <p:cNvSpPr txBox="1"/>
          <p:nvPr/>
        </p:nvSpPr>
        <p:spPr>
          <a:xfrm>
            <a:off x="9098280" y="4297680"/>
            <a:ext cx="2560320" cy="73152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50" u="none" cap="none" strike="noStrike">
                <a:solidFill>
                  <a:srgbClr val="2B2621"/>
                </a:solidFill>
                <a:latin typeface="Arial"/>
                <a:ea typeface="Arial"/>
                <a:cs typeface="Arial"/>
                <a:sym typeface="Arial"/>
              </a:rPr>
              <a:t>Prevents false progress</a:t>
            </a:r>
            <a:endParaRPr/>
          </a:p>
        </p:txBody>
      </p:sp>
      <p:sp>
        <p:nvSpPr>
          <p:cNvPr id="650" name="Google Shape;650;p27"/>
          <p:cNvSpPr/>
          <p:nvPr/>
        </p:nvSpPr>
        <p:spPr>
          <a:xfrm>
            <a:off x="365760" y="5349240"/>
            <a:ext cx="11457432" cy="914400"/>
          </a:xfrm>
          <a:prstGeom prst="roundRect">
            <a:avLst>
              <a:gd fmla="val 3000" name="adj"/>
            </a:avLst>
          </a:prstGeom>
          <a:solidFill>
            <a:srgbClr val="FDF3D6"/>
          </a:solidFill>
          <a:ln cap="flat" cmpd="sng" w="9525">
            <a:solidFill>
              <a:srgbClr val="D8CDB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51" name="Google Shape;651;p27"/>
          <p:cNvSpPr txBox="1"/>
          <p:nvPr/>
        </p:nvSpPr>
        <p:spPr>
          <a:xfrm>
            <a:off x="566928" y="5524311"/>
            <a:ext cx="11064240" cy="564257"/>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000" u="none" cap="none" strike="noStrike">
                <a:solidFill>
                  <a:srgbClr val="2B2621"/>
                </a:solidFill>
                <a:latin typeface="Arial"/>
                <a:ea typeface="Arial"/>
                <a:cs typeface="Arial"/>
                <a:sym typeface="Arial"/>
              </a:rPr>
              <a:t>Next steps.  </a:t>
            </a:r>
            <a:r>
              <a:rPr b="0" i="0" lang="en-US" sz="1000" u="none" cap="none" strike="noStrike">
                <a:solidFill>
                  <a:srgbClr val="2B2621"/>
                </a:solidFill>
                <a:latin typeface="Arial"/>
                <a:ea typeface="Arial"/>
                <a:cs typeface="Arial"/>
                <a:sym typeface="Arial"/>
              </a:rPr>
              <a:t>Pilot R1 and R3 on new applications for three months, monitor the rate by vintage on the dashboard, and revalidate the score on a larger sample since 76 events limit precision.</a:t>
            </a:r>
            <a:endParaRPr/>
          </a:p>
          <a:p>
            <a:pPr indent="0" lvl="0" marL="0" marR="0" rtl="0" algn="l">
              <a:lnSpc>
                <a:spcPct val="100000"/>
              </a:lnSpc>
              <a:spcBef>
                <a:spcPts val="400"/>
              </a:spcBef>
              <a:spcAft>
                <a:spcPts val="0"/>
              </a:spcAft>
              <a:buNone/>
            </a:pPr>
            <a:r>
              <a:rPr b="1" i="0" lang="en-US" sz="1000" u="none" cap="none" strike="noStrike">
                <a:solidFill>
                  <a:srgbClr val="2B2621"/>
                </a:solidFill>
                <a:latin typeface="Arial"/>
                <a:ea typeface="Arial"/>
                <a:cs typeface="Arial"/>
                <a:sym typeface="Arial"/>
              </a:rPr>
              <a:t>Notebook: </a:t>
            </a:r>
            <a:r>
              <a:rPr b="0" i="0" lang="en-US" sz="1000" u="sng" cap="none" strike="noStrike">
                <a:solidFill>
                  <a:srgbClr val="8A6D0B"/>
                </a:solidFill>
                <a:latin typeface="Arial"/>
                <a:ea typeface="Arial"/>
                <a:cs typeface="Arial"/>
                <a:sym typeface="Arial"/>
                <a:hlinkClick r:id="rId3">
                  <a:extLst>
                    <a:ext uri="{A12FA001-AC4F-418D-AE19-62706E023703}">
                      <ahyp:hlinkClr val="tx"/>
                    </a:ext>
                  </a:extLst>
                </a:hlinkClick>
              </a:rPr>
              <a:t>https://colab.research.google.com/drive/1e9emuAy44EXOmNlLx93IDxuazRG6gOMy?usp=sharing</a:t>
            </a:r>
            <a:endParaRPr b="0" i="0" sz="1000" u="none" cap="none" strike="noStrike">
              <a:solidFill>
                <a:srgbClr val="8A6D0B"/>
              </a:solidFill>
              <a:latin typeface="Arial"/>
              <a:ea typeface="Arial"/>
              <a:cs typeface="Arial"/>
              <a:sym typeface="Arial"/>
            </a:endParaRPr>
          </a:p>
          <a:p>
            <a:pPr indent="0" lvl="0" marL="0" marR="0" rtl="0" algn="l">
              <a:lnSpc>
                <a:spcPct val="100000"/>
              </a:lnSpc>
              <a:spcBef>
                <a:spcPts val="400"/>
              </a:spcBef>
              <a:spcAft>
                <a:spcPts val="0"/>
              </a:spcAft>
              <a:buNone/>
            </a:pPr>
            <a:r>
              <a:rPr b="1" i="0" lang="en-US" sz="1000" u="none" cap="none" strike="noStrike">
                <a:solidFill>
                  <a:srgbClr val="2B2621"/>
                </a:solidFill>
                <a:latin typeface="Arial"/>
                <a:ea typeface="Arial"/>
                <a:cs typeface="Arial"/>
                <a:sym typeface="Arial"/>
              </a:rPr>
              <a:t>Dashboard: </a:t>
            </a:r>
            <a:r>
              <a:rPr b="1" i="0" lang="en-US" sz="1000" u="sng" cap="none" strike="noStrike">
                <a:solidFill>
                  <a:srgbClr val="2B2621"/>
                </a:solidFill>
                <a:latin typeface="Arial"/>
                <a:ea typeface="Arial"/>
                <a:cs typeface="Arial"/>
                <a:sym typeface="Arial"/>
                <a:hlinkClick r:id="rId4">
                  <a:extLst>
                    <a:ext uri="{A12FA001-AC4F-418D-AE19-62706E023703}">
                      <ahyp:hlinkClr val="tx"/>
                    </a:ext>
                  </a:extLst>
                </a:hlinkClick>
              </a:rPr>
              <a:t>https://public.tableau.com/shared/9DCRP6QSK?:display_count=n&amp;:origin=viz_share_link</a:t>
            </a:r>
            <a:endParaRPr b="1" i="0" sz="1000" u="none" cap="none" strike="noStrike">
              <a:solidFill>
                <a:srgbClr val="2B262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2026-09-07T12:52:06Z</dcterms:created>
  <dc:creator>PptxGenJS</dc:creator>
</cp:coreProperties>
</file>
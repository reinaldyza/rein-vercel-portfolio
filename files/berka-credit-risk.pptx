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1c359d-2e0a-e27e-73cb-1ae150dcc8fd}">
          <p14:sldIdLst>
            <p14:sldId id="256"/>
            <p14:sldId id="257"/>
          </p14:sldIdLst>
        </p14:section>
        <p14:section name="Problem and Approach" id="{599c581e-e34b-56aa-ec0a-b9f92d563646}">
          <p14:sldIdLst>
            <p14:sldId id="258"/>
            <p14:sldId id="259"/>
            <p14:sldId id="260"/>
            <p14:sldId id="261"/>
            <p14:sldId id="262"/>
          </p14:sldIdLst>
        </p14:section>
        <p14:section name="Findings" id="{f704e2bf-36f4-2005-0279-11289d867e1b}">
          <p14:sldIdLst>
            <p14:sldId id="263"/>
            <p14:sldId id="264"/>
            <p14:sldId id="265"/>
            <p14:sldId id="266"/>
          </p14:sldIdLst>
        </p14:section>
        <p14:section name="Dashboard" id="{2a9c3eb0-0c2f-29d3-fc90-1f9ed4122677}">
          <p14:sldIdLst>
            <p14:sldId id="267"/>
          </p14:sldIdLst>
        </p14:section>
        <p14:section name="Solution" id="{47eca6ba-c074-d2b0-1ce2-7e71439581b2}">
          <p14:sldIdLst>
            <p14:sldId id="268"/>
            <p14:sldId id="269"/>
            <p14:sldId id="270"/>
          </p14:sldIdLst>
        </p14:section>
        <p14:section name="Appendix" id="{051ae500-d105-0662-3237-4f0aec16525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Problematic rate</c:v>
                </c:pt>
              </c:strCache>
            </c:strRef>
          </c:tx>
          <c:spPr>
            <a:solidFill>
              <a:srgbClr val="2B2621"/>
            </a:solidFill>
            <a:ln w="31750" cap="flat">
              <a:solidFill>
                <a:srgbClr val="2B2621"/>
              </a:solidFill>
              <a:prstDash val="solid"/>
              <a:round/>
            </a:ln>
            <a:effectLst/>
          </c:spPr>
          <c:invertIfNegative val="0"/>
          <c:dLbls>
            <c:numFmt formatCode="0.0&quot;%&quot;" sourceLinked="0"/>
            <c:txPr>
              <a:bodyPr/>
              <a:lstStyle/>
              <a:p>
                <a:pPr>
                  <a:defRPr b="1" i="0" strike="noStrike" sz="1100" u="none">
                    <a:solidFill>
                      <a:schemeClr val="tx1"/>
                    </a:solidFill>
                    <a:latin typeface="+mn-lt"/>
                  </a:defRPr>
                </a:pPr>
              </a:p>
            </c:txPr>
            <c:dLblPos val="t"/>
            <c:showLegendKey val="0"/>
            <c:showVal val="1"/>
            <c:showCatName val="0"/>
            <c:showSerName val="0"/>
            <c:showPercent val="0"/>
            <c:showBubbleSize val="0"/>
            <c:showLeaderLines val="0"/>
          </c:dLbls>
          <c:marker>
            <c:symbol val="circle"/>
            <c:size val="7"/>
            <c:spPr>
              <a:solidFill>
                <a:srgbClr val="2B2621"/>
              </a:solidFill>
              <a:ln w="9525" cap="flat">
                <a:solidFill>
                  <a:srgbClr val="2B2621"/>
                </a:solidFill>
                <a:prstDash val="solid"/>
                <a:round/>
              </a:ln>
              <a:effectLst/>
            </c:spPr>
          </c:marker>
          <c:cat>
            <c:multiLvlStrRef>
              <c:f>Sheet1!$A$2:$A$7</c:f>
              <c:multiLvlStrCache>
                <c:ptCount val="6"/>
                <c:lvl>
                  <c:pt idx="0">
                    <c:v>1993</c:v>
                  </c:pt>
                  <c:pt idx="1">
                    <c:v>1994</c:v>
                  </c:pt>
                  <c:pt idx="2">
                    <c:v>1995</c:v>
                  </c:pt>
                  <c:pt idx="3">
                    <c:v>1996</c:v>
                  </c:pt>
                  <c:pt idx="4">
                    <c:v>1997</c:v>
                  </c:pt>
                  <c:pt idx="5">
                    <c:v>1998</c:v>
                  </c:pt>
                </c:lvl>
              </c:multiLvlStrCache>
            </c:multiLvlStrRef>
          </c:cat>
          <c:val>
            <c:numRef>
              <c:f>Sheet1!$B$2:$B$7</c:f>
              <c:numCache>
                <c:formatCode>General</c:formatCode>
                <c:ptCount val="6"/>
                <c:pt idx="0">
                  <c:v>20</c:v>
                </c:pt>
                <c:pt idx="1">
                  <c:v>13.9</c:v>
                </c:pt>
                <c:pt idx="2">
                  <c:v>13.3</c:v>
                </c:pt>
                <c:pt idx="3">
                  <c:v>13.7</c:v>
                </c:pt>
                <c:pt idx="4">
                  <c:v>13.3</c:v>
                </c:pt>
                <c:pt idx="5">
                  <c:v>2.5</c:v>
                </c:pt>
              </c:numCache>
            </c:numRef>
          </c:val>
          <c:smooth val="0"/>
        </c:ser>
        <c:dLbls>
          <c:numFmt formatCode="0.0&quot;%&quot;" sourceLinked="0"/>
          <c:txPr>
            <a:bodyPr/>
            <a:lstStyle/>
            <a:p>
              <a:pPr>
                <a:defRPr b="1" i="0" strike="noStrike" sz="1100" u="none">
                  <a:solidFill>
                    <a:schemeClr val="tx1"/>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Average 11.1%</c:v>
                </c:pt>
              </c:strCache>
            </c:strRef>
          </c:tx>
          <c:spPr>
            <a:solidFill>
              <a:srgbClr val="8A8071"/>
            </a:solidFill>
            <a:ln w="19050" cap="flat">
              <a:solidFill>
                <a:srgbClr val="8A8071"/>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E7D3A"/>
              </a:solidFill>
              <a:ln w="9525" cap="flat">
                <a:solidFill>
                  <a:srgbClr val="8A8071"/>
                </a:solidFill>
                <a:prstDash val="solid"/>
                <a:round/>
              </a:ln>
              <a:effectLst/>
            </c:spPr>
          </c:marker>
          <c:cat>
            <c:multiLvlStrRef>
              <c:f>Sheet1!$A$2:$A$7</c:f>
              <c:multiLvlStrCache>
                <c:ptCount val="6"/>
                <c:lvl>
                  <c:pt idx="0">
                    <c:v>1993</c:v>
                  </c:pt>
                  <c:pt idx="1">
                    <c:v>1994</c:v>
                  </c:pt>
                  <c:pt idx="2">
                    <c:v>1995</c:v>
                  </c:pt>
                  <c:pt idx="3">
                    <c:v>1996</c:v>
                  </c:pt>
                  <c:pt idx="4">
                    <c:v>1997</c:v>
                  </c:pt>
                  <c:pt idx="5">
                    <c:v>1998</c:v>
                  </c:pt>
                </c:lvl>
              </c:multiLvlStrCache>
            </c:multiLvlStrRef>
          </c:cat>
          <c:val>
            <c:numRef>
              <c:f>Sheet1!$C$2:$C$7</c:f>
              <c:numCache>
                <c:formatCode>General</c:formatCode>
                <c:ptCount val="6"/>
                <c:pt idx="0">
                  <c:v>11.1</c:v>
                </c:pt>
                <c:pt idx="1">
                  <c:v>11.1</c:v>
                </c:pt>
                <c:pt idx="2">
                  <c:v>11.1</c:v>
                </c:pt>
                <c:pt idx="3">
                  <c:v>11.1</c:v>
                </c:pt>
                <c:pt idx="4">
                  <c:v>11.1</c:v>
                </c:pt>
                <c:pt idx="5">
                  <c:v>11.1</c:v>
                </c:pt>
              </c:numCache>
            </c:numRef>
          </c:val>
          <c:smooth val="0"/>
        </c:ser>
        <c:ser>
          <c:idx val="2"/>
          <c:order val="2"/>
          <c:tx>
            <c:strRef>
              <c:f>Sheet1!$D$1</c:f>
              <c:strCache>
                <c:ptCount val="1"/>
                <c:pt idx="0">
                  <c:v>Target 5%</c:v>
                </c:pt>
              </c:strCache>
            </c:strRef>
          </c:tx>
          <c:spPr>
            <a:solidFill>
              <a:srgbClr val="4E7D3A"/>
            </a:solidFill>
            <a:ln w="19050" cap="flat">
              <a:solidFill>
                <a:srgbClr val="4E7D3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8071"/>
              </a:solidFill>
              <a:ln w="9525" cap="flat">
                <a:solidFill>
                  <a:srgbClr val="4E7D3A"/>
                </a:solidFill>
                <a:prstDash val="solid"/>
                <a:round/>
              </a:ln>
              <a:effectLst/>
            </c:spPr>
          </c:marker>
          <c:cat>
            <c:multiLvlStrRef>
              <c:f>Sheet1!$A$2:$A$7</c:f>
              <c:multiLvlStrCache>
                <c:ptCount val="6"/>
                <c:lvl>
                  <c:pt idx="0">
                    <c:v>1993</c:v>
                  </c:pt>
                  <c:pt idx="1">
                    <c:v>1994</c:v>
                  </c:pt>
                  <c:pt idx="2">
                    <c:v>1995</c:v>
                  </c:pt>
                  <c:pt idx="3">
                    <c:v>1996</c:v>
                  </c:pt>
                  <c:pt idx="4">
                    <c:v>1997</c:v>
                  </c:pt>
                  <c:pt idx="5">
                    <c:v>1998</c:v>
                  </c:pt>
                </c:lvl>
              </c:multiLvlStrCache>
            </c:multiLvlStrRef>
          </c:cat>
          <c:val>
            <c:numRef>
              <c:f>Sheet1!$D$2:$D$7</c:f>
              <c:numCache>
                <c:formatCode>General</c:formatCode>
                <c:ptCount val="6"/>
                <c:pt idx="0">
                  <c:v>5</c:v>
                </c:pt>
                <c:pt idx="1">
                  <c:v>5</c:v>
                </c:pt>
                <c:pt idx="2">
                  <c:v>5</c:v>
                </c:pt>
                <c:pt idx="3">
                  <c:v>5</c:v>
                </c:pt>
                <c:pt idx="4">
                  <c:v>5</c:v>
                </c:pt>
                <c:pt idx="5">
                  <c:v>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chemeClr val="accent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Risk lift</c:v>
                </c:pt>
              </c:strCache>
            </c:strRef>
          </c:tx>
          <c:spPr>
            <a:solidFill>
              <a:srgbClr val="D8CDB4"/>
            </a:solidFill>
            <a:effectLst/>
          </c:spPr>
          <c:invertIfNegative val="0"/>
          <c:dLbls>
            <c:numFmt formatCode="0.0&quot;x&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D8CDB4"/>
              </a:solidFill>
              <a:effectLst/>
            </c:spPr>
          </c:dPt>
          <c:dPt>
            <c:idx val="1"/>
            <c:invertIfNegative val="0"/>
            <c:bubble3D val="0"/>
            <c:spPr>
              <a:solidFill>
                <a:srgbClr val="D8CDB4"/>
              </a:solidFill>
              <a:effectLst/>
            </c:spPr>
          </c:dPt>
          <c:dPt>
            <c:idx val="2"/>
            <c:invertIfNegative val="0"/>
            <c:bubble3D val="0"/>
            <c:spPr>
              <a:solidFill>
                <a:srgbClr val="D8CDB4"/>
              </a:solidFill>
              <a:effectLst/>
            </c:spPr>
          </c:dPt>
          <c:dPt>
            <c:idx val="3"/>
            <c:invertIfNegative val="0"/>
            <c:bubble3D val="0"/>
            <c:spPr>
              <a:solidFill>
                <a:srgbClr val="D8CDB4"/>
              </a:solidFill>
              <a:effectLst/>
            </c:spPr>
          </c:dPt>
          <c:dPt>
            <c:idx val="4"/>
            <c:invertIfNegative val="0"/>
            <c:bubble3D val="0"/>
            <c:spPr>
              <a:solidFill>
                <a:srgbClr val="D8CDB4"/>
              </a:solidFill>
              <a:effectLst/>
            </c:spPr>
          </c:dPt>
          <c:dPt>
            <c:idx val="5"/>
            <c:invertIfNegative val="0"/>
            <c:bubble3D val="0"/>
            <c:spPr>
              <a:solidFill>
                <a:srgbClr val="D8CDB4"/>
              </a:solidFill>
              <a:effectLst/>
            </c:spPr>
          </c:dPt>
          <c:dPt>
            <c:idx val="6"/>
            <c:invertIfNegative val="0"/>
            <c:bubble3D val="0"/>
            <c:spPr>
              <a:solidFill>
                <a:srgbClr val="D8CDB4"/>
              </a:solidFill>
              <a:effectLst/>
            </c:spPr>
          </c:dPt>
          <c:dPt>
            <c:idx val="7"/>
            <c:invertIfNegative val="0"/>
            <c:bubble3D val="0"/>
            <c:spPr>
              <a:solidFill>
                <a:srgbClr val="B23A2E"/>
              </a:solidFill>
              <a:effectLst/>
            </c:spPr>
          </c:dPt>
          <c:cat>
            <c:multiLvlStrRef>
              <c:f>Sheet1!$A$2:$A$9</c:f>
              <c:multiLvlStrCache>
                <c:ptCount val="8"/>
                <c:lvl>
                  <c:pt idx="0">
                    <c:v>Gender</c:v>
                  </c:pt>
                  <c:pt idx="1">
                    <c:v>New account</c:v>
                  </c:pt>
                  <c:pt idx="2">
                    <c:v>Spending vs income</c:v>
                  </c:pt>
                  <c:pt idx="3">
                    <c:v>Loan amount</c:v>
                  </c:pt>
                  <c:pt idx="4">
                    <c:v>Instalment vs income</c:v>
                  </c:pt>
                  <c:pt idx="5">
                    <c:v>Low balance</c:v>
                  </c:pt>
                  <c:pt idx="6">
                    <c:v>Instalment vs salary</c:v>
                  </c:pt>
                  <c:pt idx="7">
                    <c:v>Overdraft before loan</c:v>
                  </c:pt>
                </c:lvl>
              </c:multiLvlStrCache>
            </c:multiLvlStrRef>
          </c:cat>
          <c:val>
            <c:numRef>
              <c:f>Sheet1!$B$2:$B$9</c:f>
              <c:numCache>
                <c:formatCode>General</c:formatCode>
                <c:ptCount val="8"/>
                <c:pt idx="0">
                  <c:v>1.1</c:v>
                </c:pt>
                <c:pt idx="1">
                  <c:v>1.7</c:v>
                </c:pt>
                <c:pt idx="2">
                  <c:v>2.1</c:v>
                </c:pt>
                <c:pt idx="3">
                  <c:v>2.6</c:v>
                </c:pt>
                <c:pt idx="4">
                  <c:v>3.3</c:v>
                </c:pt>
                <c:pt idx="5">
                  <c:v>3.6</c:v>
                </c:pt>
                <c:pt idx="6">
                  <c:v>3.9</c:v>
                </c:pt>
                <c:pt idx="7">
                  <c:v>13.3</c:v>
                </c:pt>
              </c:numCache>
            </c:numRef>
          </c:val>
        </c:ser>
        <c:dLbls>
          <c:numFmt formatCode="0.0&quot;x&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1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Problematic rate</c:v>
                </c:pt>
              </c:strCache>
            </c:strRef>
          </c:tx>
          <c:spPr>
            <a:solidFill>
              <a:srgbClr val="D8CDB4"/>
            </a:solidFill>
            <a:effectLst/>
          </c:spPr>
          <c:invertIfNegative val="0"/>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D8CDB4"/>
              </a:solidFill>
              <a:effectLst/>
            </c:spPr>
          </c:dPt>
          <c:dPt>
            <c:idx val="1"/>
            <c:invertIfNegative val="0"/>
            <c:bubble3D val="0"/>
            <c:spPr>
              <a:solidFill>
                <a:srgbClr val="D8CDB4"/>
              </a:solidFill>
              <a:effectLst/>
            </c:spPr>
          </c:dPt>
          <c:dPt>
            <c:idx val="2"/>
            <c:invertIfNegative val="0"/>
            <c:bubble3D val="0"/>
            <c:spPr>
              <a:solidFill>
                <a:srgbClr val="D8CDB4"/>
              </a:solidFill>
              <a:effectLst/>
            </c:spPr>
          </c:dPt>
          <c:dPt>
            <c:idx val="3"/>
            <c:invertIfNegative val="0"/>
            <c:bubble3D val="0"/>
            <c:spPr>
              <a:solidFill>
                <a:srgbClr val="B23A2E"/>
              </a:solidFill>
              <a:effectLst/>
            </c:spPr>
          </c:dPt>
          <c:cat>
            <c:multiLvlStrRef>
              <c:f>Sheet1!$A$2:$A$5</c:f>
              <c:multiLvlStrCache>
                <c:ptCount val="4"/>
                <c:lvl>
                  <c:pt idx="0">
                    <c:v>Lowest</c:v>
                  </c:pt>
                  <c:pt idx="1">
                    <c:v>Low</c:v>
                  </c:pt>
                  <c:pt idx="2">
                    <c:v>High</c:v>
                  </c:pt>
                  <c:pt idx="3">
                    <c:v>Highest</c:v>
                  </c:pt>
                </c:lvl>
              </c:multiLvlStrCache>
            </c:multiLvlStrRef>
          </c:cat>
          <c:val>
            <c:numRef>
              <c:f>Sheet1!$B$2:$B$5</c:f>
              <c:numCache>
                <c:formatCode>General</c:formatCode>
                <c:ptCount val="4"/>
                <c:pt idx="0">
                  <c:v>5.8</c:v>
                </c:pt>
                <c:pt idx="1">
                  <c:v>10.6</c:v>
                </c:pt>
                <c:pt idx="2">
                  <c:v>8.8</c:v>
                </c:pt>
                <c:pt idx="3">
                  <c:v>19.3</c:v>
                </c:pt>
              </c:numCache>
            </c:numRef>
          </c:val>
        </c:ser>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Problematic rate</c:v>
                </c:pt>
              </c:strCache>
            </c:strRef>
          </c:tx>
          <c:spPr>
            <a:solidFill>
              <a:srgbClr val="B23A2E"/>
            </a:solidFill>
            <a:effectLst/>
          </c:spPr>
          <c:invertIfNegative val="0"/>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B23A2E"/>
              </a:solidFill>
              <a:effectLst/>
            </c:spPr>
          </c:dPt>
          <c:dPt>
            <c:idx val="1"/>
            <c:invertIfNegative val="0"/>
            <c:bubble3D val="0"/>
            <c:spPr>
              <a:solidFill>
                <a:srgbClr val="D8CDB4"/>
              </a:solidFill>
              <a:effectLst/>
            </c:spPr>
          </c:dPt>
          <c:dPt>
            <c:idx val="2"/>
            <c:invertIfNegative val="0"/>
            <c:bubble3D val="0"/>
            <c:spPr>
              <a:solidFill>
                <a:srgbClr val="D8CDB4"/>
              </a:solidFill>
              <a:effectLst/>
            </c:spPr>
          </c:dPt>
          <c:dPt>
            <c:idx val="3"/>
            <c:invertIfNegative val="0"/>
            <c:bubble3D val="0"/>
            <c:spPr>
              <a:solidFill>
                <a:srgbClr val="D8CDB4"/>
              </a:solidFill>
              <a:effectLst/>
            </c:spPr>
          </c:dPt>
          <c:cat>
            <c:multiLvlStrRef>
              <c:f>Sheet1!$A$2:$A$5</c:f>
              <c:multiLvlStrCache>
                <c:ptCount val="4"/>
                <c:lvl>
                  <c:pt idx="0">
                    <c:v>Lowest</c:v>
                  </c:pt>
                  <c:pt idx="1">
                    <c:v>Low</c:v>
                  </c:pt>
                  <c:pt idx="2">
                    <c:v>High</c:v>
                  </c:pt>
                  <c:pt idx="3">
                    <c:v>Highest</c:v>
                  </c:pt>
                </c:lvl>
              </c:multiLvlStrCache>
            </c:multiLvlStrRef>
          </c:cat>
          <c:val>
            <c:numRef>
              <c:f>Sheet1!$B$2:$B$5</c:f>
              <c:numCache>
                <c:formatCode>General</c:formatCode>
                <c:ptCount val="4"/>
                <c:pt idx="0">
                  <c:v>19.3</c:v>
                </c:pt>
                <c:pt idx="1">
                  <c:v>8.2</c:v>
                </c:pt>
                <c:pt idx="2">
                  <c:v>11.8</c:v>
                </c:pt>
                <c:pt idx="3">
                  <c:v>5.3</c:v>
                </c:pt>
              </c:numCache>
            </c:numRef>
          </c:val>
        </c:ser>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Problematic rate</c:v>
                </c:pt>
              </c:strCache>
            </c:strRef>
          </c:tx>
          <c:spPr>
            <a:solidFill>
              <a:srgbClr val="D8CDB4"/>
            </a:solidFill>
            <a:effectLst/>
          </c:spPr>
          <c:invertIfNegative val="0"/>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D8CDB4"/>
              </a:solidFill>
              <a:effectLst/>
            </c:spPr>
          </c:dPt>
          <c:dPt>
            <c:idx val="1"/>
            <c:invertIfNegative val="0"/>
            <c:bubble3D val="0"/>
            <c:spPr>
              <a:solidFill>
                <a:srgbClr val="D8CDB4"/>
              </a:solidFill>
              <a:effectLst/>
            </c:spPr>
          </c:dPt>
          <c:dPt>
            <c:idx val="2"/>
            <c:invertIfNegative val="0"/>
            <c:bubble3D val="0"/>
            <c:spPr>
              <a:solidFill>
                <a:srgbClr val="D8CDB4"/>
              </a:solidFill>
              <a:effectLst/>
            </c:spPr>
          </c:dPt>
          <c:dPt>
            <c:idx val="3"/>
            <c:invertIfNegative val="0"/>
            <c:bubble3D val="0"/>
            <c:spPr>
              <a:solidFill>
                <a:srgbClr val="B23A2E"/>
              </a:solidFill>
              <a:effectLst/>
            </c:spPr>
          </c:dPt>
          <c:cat>
            <c:multiLvlStrRef>
              <c:f>Sheet1!$A$2:$A$5</c:f>
              <c:multiLvlStrCache>
                <c:ptCount val="4"/>
                <c:lvl>
                  <c:pt idx="0">
                    <c:v>Lowest</c:v>
                  </c:pt>
                  <c:pt idx="1">
                    <c:v>Low</c:v>
                  </c:pt>
                  <c:pt idx="2">
                    <c:v>High</c:v>
                  </c:pt>
                  <c:pt idx="3">
                    <c:v>Highest</c:v>
                  </c:pt>
                </c:lvl>
              </c:multiLvlStrCache>
            </c:multiLvlStrRef>
          </c:cat>
          <c:val>
            <c:numRef>
              <c:f>Sheet1!$B$2:$B$5</c:f>
              <c:numCache>
                <c:formatCode>General</c:formatCode>
                <c:ptCount val="4"/>
                <c:pt idx="0">
                  <c:v>7.6</c:v>
                </c:pt>
                <c:pt idx="1">
                  <c:v>7.6</c:v>
                </c:pt>
                <c:pt idx="2">
                  <c:v>9.4</c:v>
                </c:pt>
                <c:pt idx="3">
                  <c:v>19.9</c:v>
                </c:pt>
              </c:numCache>
            </c:numRef>
          </c:val>
        </c:ser>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Problematic rate</c:v>
                </c:pt>
              </c:strCache>
            </c:strRef>
          </c:tx>
          <c:spPr>
            <a:solidFill>
              <a:srgbClr val="D8CDB4"/>
            </a:solidFill>
            <a:effectLst/>
          </c:spPr>
          <c:invertIfNegative val="0"/>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D8CDB4"/>
              </a:solidFill>
              <a:effectLst/>
            </c:spPr>
          </c:dPt>
          <c:dPt>
            <c:idx val="1"/>
            <c:invertIfNegative val="0"/>
            <c:bubble3D val="0"/>
            <c:spPr>
              <a:solidFill>
                <a:srgbClr val="D8CDB4"/>
              </a:solidFill>
              <a:effectLst/>
            </c:spPr>
          </c:dPt>
          <c:dPt>
            <c:idx val="2"/>
            <c:invertIfNegative val="0"/>
            <c:bubble3D val="0"/>
            <c:spPr>
              <a:solidFill>
                <a:srgbClr val="D8CDB4"/>
              </a:solidFill>
              <a:effectLst/>
            </c:spPr>
          </c:dPt>
          <c:dPt>
            <c:idx val="3"/>
            <c:invertIfNegative val="0"/>
            <c:bubble3D val="0"/>
            <c:spPr>
              <a:solidFill>
                <a:srgbClr val="D8CDB4"/>
              </a:solidFill>
              <a:effectLst/>
            </c:spPr>
          </c:dPt>
          <c:dPt>
            <c:idx val="4"/>
            <c:invertIfNegative val="0"/>
            <c:bubble3D val="0"/>
            <c:spPr>
              <a:solidFill>
                <a:srgbClr val="B23A2E"/>
              </a:solidFill>
              <a:effectLst/>
            </c:spPr>
          </c:dPt>
          <c:cat>
            <c:multiLvlStrRef>
              <c:f>Sheet1!$A$2:$A$6</c:f>
              <c:multiLvlStrCache>
                <c:ptCount val="5"/>
                <c:lvl>
                  <c:pt idx="0">
                    <c:v>Very low</c:v>
                  </c:pt>
                  <c:pt idx="1">
                    <c:v>Low</c:v>
                  </c:pt>
                  <c:pt idx="2">
                    <c:v>Medium</c:v>
                  </c:pt>
                  <c:pt idx="3">
                    <c:v>High</c:v>
                  </c:pt>
                  <c:pt idx="4">
                    <c:v>Very high</c:v>
                  </c:pt>
                </c:lvl>
              </c:multiLvlStrCache>
            </c:multiLvlStrRef>
          </c:cat>
          <c:val>
            <c:numRef>
              <c:f>Sheet1!$B$2:$B$6</c:f>
              <c:numCache>
                <c:formatCode>General</c:formatCode>
                <c:ptCount val="5"/>
                <c:pt idx="0">
                  <c:v>1.5</c:v>
                </c:pt>
                <c:pt idx="1">
                  <c:v>3.7</c:v>
                </c:pt>
                <c:pt idx="2">
                  <c:v>7.4</c:v>
                </c:pt>
                <c:pt idx="3">
                  <c:v>8.1</c:v>
                </c:pt>
                <c:pt idx="4">
                  <c:v>35</c:v>
                </c:pt>
              </c:numCache>
            </c:numRef>
          </c:val>
        </c:ser>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Rate after</c:v>
                </c:pt>
              </c:strCache>
            </c:strRef>
          </c:tx>
          <c:spPr>
            <a:solidFill>
              <a:srgbClr val="4E7D3A"/>
            </a:solidFill>
            <a:effectLst/>
          </c:spPr>
          <c:invertIfNegative val="0"/>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4E7D3A"/>
              </a:solidFill>
              <a:effectLst/>
            </c:spPr>
          </c:dPt>
          <c:dPt>
            <c:idx val="1"/>
            <c:invertIfNegative val="0"/>
            <c:bubble3D val="0"/>
            <c:spPr>
              <a:solidFill>
                <a:srgbClr val="F5B301"/>
              </a:solidFill>
              <a:effectLst/>
            </c:spPr>
          </c:dPt>
          <c:dPt>
            <c:idx val="2"/>
            <c:invertIfNegative val="0"/>
            <c:bubble3D val="0"/>
            <c:spPr>
              <a:solidFill>
                <a:srgbClr val="F5B301"/>
              </a:solidFill>
              <a:effectLst/>
            </c:spPr>
          </c:dPt>
          <c:dPt>
            <c:idx val="3"/>
            <c:invertIfNegative val="0"/>
            <c:bubble3D val="0"/>
            <c:spPr>
              <a:solidFill>
                <a:srgbClr val="D8CDB4"/>
              </a:solidFill>
              <a:effectLst/>
            </c:spPr>
          </c:dPt>
          <c:dPt>
            <c:idx val="4"/>
            <c:invertIfNegative val="0"/>
            <c:bubble3D val="0"/>
            <c:spPr>
              <a:solidFill>
                <a:srgbClr val="D8CDB4"/>
              </a:solidFill>
              <a:effectLst/>
            </c:spPr>
          </c:dPt>
          <c:dPt>
            <c:idx val="5"/>
            <c:invertIfNegative val="0"/>
            <c:bubble3D val="0"/>
            <c:spPr>
              <a:solidFill>
                <a:srgbClr val="B23A2E"/>
              </a:solidFill>
              <a:effectLst/>
            </c:spPr>
          </c:dPt>
          <c:cat>
            <c:multiLvlStrRef>
              <c:f>Sheet1!$A$2:$A$7</c:f>
              <c:multiLvlStrCache>
                <c:ptCount val="6"/>
                <c:lvl>
                  <c:pt idx="0">
                    <c:v>Overdraft + risk score review</c:v>
                  </c:pt>
                  <c:pt idx="1">
                    <c:v>Risk score review only</c:v>
                  </c:pt>
                  <c:pt idx="2">
                    <c:v>Overdraft review + instalment cap</c:v>
                  </c:pt>
                  <c:pt idx="3">
                    <c:v>Overdraft review only</c:v>
                  </c:pt>
                  <c:pt idx="4">
                    <c:v>Instalment cap only</c:v>
                  </c:pt>
                  <c:pt idx="5">
                    <c:v>Today</c:v>
                  </c:pt>
                </c:lvl>
              </c:multiLvlStrCache>
            </c:multiLvlStrRef>
          </c:cat>
          <c:val>
            <c:numRef>
              <c:f>Sheet1!$B$2:$B$7</c:f>
              <c:numCache>
                <c:formatCode>General</c:formatCode>
                <c:ptCount val="6"/>
                <c:pt idx="0">
                  <c:v>5</c:v>
                </c:pt>
                <c:pt idx="1">
                  <c:v>5.1</c:v>
                </c:pt>
                <c:pt idx="2">
                  <c:v>5.8</c:v>
                </c:pt>
                <c:pt idx="3">
                  <c:v>7.5</c:v>
                </c:pt>
                <c:pt idx="4">
                  <c:v>8.4</c:v>
                </c:pt>
                <c:pt idx="5">
                  <c:v>11.1</c:v>
                </c:pt>
              </c:numCache>
            </c:numRef>
          </c:val>
        </c:ser>
        <c:dLbls>
          <c:numFmt formatCode="0.0&quot;%&quot;" sourceLinked="0"/>
          <c:txPr>
            <a:bodyPr/>
            <a:lstStyle/>
            <a:p>
              <a:pPr>
                <a:defRPr b="1"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8CDB4"/>
            </a:solidFill>
            <a:prstDash val="solid"/>
            <a:round/>
          </a:ln>
        </c:spPr>
        <c:txPr>
          <a:bodyPr/>
          <a:lstStyle/>
          <a:p>
            <a:pPr>
              <a:defRPr sz="1200" b="0" i="0" u="none" strike="noStrike">
                <a:solidFill>
                  <a:schemeClr val="accent4"/>
                </a:solidFill>
                <a:latin typeface="+mn-lt"/>
              </a:defRPr>
            </a:pPr>
            <a:endParaRPr lang="en-US"/>
          </a:p>
        </c:txPr>
        <c:crossAx val="2094734552"/>
        <c:crosses val="autoZero"/>
        <c:auto val="1"/>
        <c:lblAlgn val="ctr"/>
        <c:noMultiLvlLbl val="1"/>
      </c:catAx>
      <c:valAx>
        <c:axId val="2094734552"/>
        <c:scaling>
          <c:orientation val="minMax"/>
          <c:max val="1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chemeClr val="accent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hook: Setiap 9 pinjaman yang disalurkan Berka, 1 berakhir bermasalah. Hari ini saya akan menunjukkan bahwa tanda risikonya sebenarnya sudah terlihat sebelum pinjaman disetujui, dan dua langkah sederhana bisa menurunkan rate dari 11,1% ke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dalam 30 detik: masalahnya 11,1% pinjaman bermasalah, targetnya di bawah 5% dalam 12 bulan. Saya menganalisis 1,05 juta transaksi dengan Python, DuckDB, dan Tableau. Hasilnya, kombinasi review overdraft dan review skor risiko menurunkan rate ke 5,0%. Tiga temuan utamanya: overdraft sebelum pinjaman, beban cicilan, dan demografi yang tidak berpengaruh.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Bisnis utama Berka adalah meminjamkan uang. Masalahnya, 1 dari 9 pinjaman berakhir bermasalah. Kabar baiknya, sebelum pinjaman disetujui, bank sudah mencatat seluruh perilaku rekening nasabah. Jadi pertanyaannya, apakah tanda risiko itu sebenarnya sudah terlihat lebih awal? Untuk menjawabnya, kita perlu tahu siapa yang memutuskan dan apa targetnya.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Keputusan ada di Head of Credit Risk, dan targetnya jelas, di bawah 5% dalam 12 bulan. Saya fokus pada perilaku transaksi dan rekening karena itulah data yang tersedia. Revenue, kepuasan nasabah, dan channel marketing sengaja dikeluarkan karena datanya tidak ada. Target sudah jelas. Sekarang, kenapa pinjaman bisa gagal?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bayangkan seperti menilai orang yang mau meminjam uang. Pertama, tabungannya tipis. Kedua, pengeluarannya lebih besar dari pemasukan. Ketiga, cicilannya terlalu berat dibanding penghasilan. Keempat, bank belum cukup lama mengenalnya. Keempat penyebab ini tidak saling tumpang tindih dan semuanya bisa diukur dari data. Tapi dugaan saja tidak cukup, semuanya harus bisa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penyebab saya ubah jadi hipotesis jika maka, lalu saya pasangkan dengan satu metrik dari data. Misalnya, jika cicilan besar dibanding pemasukan, maka risiko gagal bayar naik, diukur dengan rasio cicilan terhadap pemasukan bulanan. Dengan kerangka ini, mari kita lihat bagaimana datanya diolah.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kerja mengikuti CRISP-DM. Dua keputusan penting: pertama, hanya transaksi sebelum tanggal pinjaman yang dipakai supaya tidak ada kebocoran data. Kedua, outlier dan saldo negatif tidak dihapus, justru itu yang menjadi sinyal risiko terkuat. Sekarang mari lihat apa yang dibuktikan oleh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utama: 682 pinjaman, 76 bermasalah, rate 11,1%, dengan principal berisiko 15,6 juta Koruna. Hati hati dengan angka 1998 yang hanya 2,5%. Itu bukan perbaikan, melainkan maturity bias karena pinjaman 1998 belum cukup lama untuk gagal. Angka jujurnya 13 sampai 14%, jadi gap ke target sebenarnya 8 sampai 9 poin.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peringkat faktor risiko. Overdraft sebelum pinjaman melipatgandakan risiko 13,3 kali. Semua 27 akun yang pernah minus berakhir bermasalah. Sebaliknya gender hanya 1,1 kali, artinya hampir tidak berbeda. Jadi yang menentukan risiko adalah perilaku rekening, bukan siapa nasabahnya.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faktor dibandingkan per kuartil. Cicilan yang terlalu berat dan saldo paling rendah sama sama gagal di 19,3%. Jumlah pinjaman justru datar sampai kuartil teratas. Artinya pinjaman besar berisiko karena cicilannya memakan pemasukan bulanan, bukan karena nominalnya. Jadi yang dibatasi sebaiknya rasio cicilan, bukan jumlah pinjaman.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fitur fitur tadi saya buat skor risiko sederhana dengan logistic regression dan 5-fold cross validation. Hasilnya, 20% skor tertinggi menampung 48 dari 76 pinjaman bermasalah, atau 63%. Band paling berisiko gagal 35%, band paling aman hanya 1,5%. Jadi skor ini bisa dipakai untuk menentukan siapa yang perlu direview. Semua temuan ini saya rangkum dalam satu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semua temuan bisa dipakai sehari hari, saya merangkumnya dalam satu dashboard Tableau untuk Head of Credit Risk dan loan officer, tanpa perlu membuka kode. Dashboard bisa difilter per tahun, gender, usia, atau distrik, dan warna merah hanya dipakai untuk kelompok berisiko. Setiap bulan, tim kredit cukup membukanya untuk melihat apakah rate benar benar turun menuju 5%. Panel terakhir di dashboard adalah simulasi dampak, yang akan saya tunjukkan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dampak bisnis. Review overdraft saja menurunkan rate ke 7,5% tanpa kehilangan nasabah baik. Ditambah review 20% skor tertinggi, rate turun ke 5,0%, tepat di target. Trade-offnya sekitar 89 nasabah baik masuk antrean review manual, tapi tidak otomatis ditolak. Sebelum masuk ke rekomendasi, saya sampaikan dulu sejauh mana angka angka ini bisa dipercaya.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sampaikan keterbatasan secara terbuka: jumlah pinjaman bermasalah hanya 76, pendapatan individu tidak ada sehingga memakai gaji rata rata distrik, hasilnya asosiasi bukan sebab akibat, dan datanya dari era 1990an. Langkah berikutnya: uji coba review overdraft dan review skor risiko selama 3 bulan, pantau per vintage di dashboard, dan validasi ulang skor dengan data yang lebih besar. Dengan batasan ini dipegang, berikut empat rekomendasi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empat rekomendasi saya. Satu, setiap pemohon yang rekeningnya pernah minus sebelum pinjaman wajib masuk review manual, karena 27 dari 27 akun seperti ini berakhir bermasalah. Langkah ini saja menurunkan rate ke 7,5% tanpa kehilangan nasabah baik. Dua, 20% pemohon dengan skor risiko tertinggi juga masuk review manual, karena kelompok ini menampung 48 dari 76 pinjaman bermasalah. Digabung dengan poin satu, rate turun ke 5,0%, tepat di target. Tiga, batasi cicilan maksimal 17% dari pemasukan bulanan sebagai pengaman, karena kelompok cicilan terberat gagal di 19,3%. Empat, di laporan bandingkan pinjaman dengan umur yang sama supaya angka 1998 yang terlihat aman tidak dianggap sebagai perbaikan. Intinya, tanda risiko sudah ada di rekening sebelum pinjaman disetujui, jadi bank cukup memakai data yang sudah dimiliki.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dibuka hanya jika ditanya soal struktur data atau proses cleaning. Poin kunci: disp difilter ke OWNER agar tidak terjadi duplikasi pinjaman, dan outlier tidak dihapus karena justru menjadi sinyal risiko.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panduan membaca dashboard, dipakai jika penguji bertanya arti tiap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terima kasih dan buka sesi tanya jawab. Pastikan semua link sudah diset Anyone with the link can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509760" y="-1280160"/>
            <a:ext cx="4846320" cy="4846320"/>
          </a:xfrm>
          <a:prstGeom prst="ellipse">
            <a:avLst/>
          </a:prstGeom>
          <a:solidFill>
            <a:schemeClr val="tx2"/>
          </a:solidFill>
          <a:ln/>
        </p:spPr>
        <p:txBody>
          <a:bodyPr wrap="square" rtlCol="0" anchor="ctr"/>
          <a:lstStyle/>
          <a:p>
            <a:pPr indent="0" marL="0">
              <a:buNone/>
            </a:pPr>
            <a:endParaRPr lang="en-US" dirty="0"/>
          </a:p>
        </p:txBody>
      </p:sp>
      <p:sp>
        <p:nvSpPr>
          <p:cNvPr id="3" name="Text 1"/>
          <p:cNvSpPr/>
          <p:nvPr/>
        </p:nvSpPr>
        <p:spPr>
          <a:xfrm>
            <a:off x="10881360" y="4206240"/>
            <a:ext cx="2926080" cy="2926080"/>
          </a:xfrm>
          <a:prstGeom prst="ellipse">
            <a:avLst/>
          </a:prstGeom>
          <a:solidFill>
            <a:schemeClr val="accent1"/>
          </a:solidFill>
          <a:ln/>
        </p:spPr>
        <p:txBody>
          <a:bodyPr wrap="square" rtlCol="0" anchor="ctr"/>
          <a:lstStyle/>
          <a:p>
            <a:pPr indent="0" marL="0">
              <a:buNone/>
            </a:pPr>
            <a:endParaRPr lang="en-US" dirty="0"/>
          </a:p>
        </p:txBody>
      </p:sp>
      <p:sp>
        <p:nvSpPr>
          <p:cNvPr id="4" name="Text 2"/>
          <p:cNvSpPr/>
          <p:nvPr>
            <p:ph idx="102" type="body" hasCustomPrompt="1"/>
          </p:nvPr>
        </p:nvSpPr>
        <p:spPr>
          <a:xfrm>
            <a:off x="914400" y="1554480"/>
            <a:ext cx="8046720"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2"/>
          <p:cNvSpPr/>
          <p:nvPr>
            <p:ph idx="103" type="title" hasCustomPrompt="1"/>
          </p:nvPr>
        </p:nvSpPr>
        <p:spPr>
          <a:xfrm>
            <a:off x="914400" y="2057400"/>
            <a:ext cx="8229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6" name="Text 2"/>
          <p:cNvSpPr/>
          <p:nvPr>
            <p:ph idx="104" type="body" hasCustomPrompt="1"/>
          </p:nvPr>
        </p:nvSpPr>
        <p:spPr>
          <a:xfrm>
            <a:off x="914400" y="3611880"/>
            <a:ext cx="7863840" cy="6400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7" name="Text 2"/>
          <p:cNvSpPr/>
          <p:nvPr>
            <p:ph idx="105" type="body" hasCustomPrompt="1"/>
          </p:nvPr>
        </p:nvSpPr>
        <p:spPr>
          <a:xfrm>
            <a:off x="914400" y="4526280"/>
            <a:ext cx="9144000" cy="137160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rtlCol="0"/>
          <a:lstStyle>
            <a:lvl1pPr indent="0" marL="0">
              <a:buNone/>
              <a:defRPr lang="en-US" sz="1500" dirty="0">
                <a:solidFill>
                  <a:schemeClr val="accent4"/>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linkedin.com/in/reinaldy-zulfananda-arkaan-30567a179"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public.tableau.com/views/REVOUDEEPCreditRiskDashboard/REVOUDEEPCreditRiskDashboard_1?:language=en-US&amp;:display_count=n&amp;:origin=viz_share_link" TargetMode="Externa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public.tableau.com/views/REVOUDEEPCreditRiskDashboard/REVOUDEEPCreditRiskDashboard_1?:language=en-US&amp;:display_count=n&amp;:origin=viz_share_link" TargetMode="External"/><Relationship Id="rId2" Type="http://schemas.openxmlformats.org/officeDocument/2006/relationships/hyperlink" Target="https://colab.research.google.com/drive/1e9emuAy44EXOmNlLx93IDxuazRG6gOMy?usp=sharing" TargetMode="External"/><Relationship Id="rId3" Type="http://schemas.openxmlformats.org/officeDocument/2006/relationships/hyperlink" Target="https://www.linkedin.com/in/reinaldy-zulfananda-arkaan-30567a179" TargetMode="External"/><Relationship Id="rId4" Type="http://schemas.openxmlformats.org/officeDocument/2006/relationships/hyperlink" Target="mailto:reinaldizulfanandaarkaan@gmail.com" TargetMode="External"/><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914400" y="1554480"/>
            <a:ext cx="8046720" cy="365760"/>
          </a:xfrm>
          <a:prstGeom prst="rect">
            <a:avLst/>
          </a:prstGeom>
          <a:noFill/>
          <a:ln/>
        </p:spPr>
        <p:txBody>
          <a:bodyPr wrap="square" lIns="0" tIns="0" rIns="0" bIns="0" rtlCol="0"/>
          <a:lstStyle/>
          <a:p>
            <a:pPr indent="0" marL="0">
              <a:buNone/>
            </a:pPr>
            <a:r>
              <a:rPr lang="en-US" sz="1200" b="1" spc="200" kern="0" dirty="0">
                <a:solidFill>
                  <a:schemeClr val="accent1"/>
                </a:solidFill>
              </a:rPr>
              <a:t>DEEPP FINAL PROJECT   |   BANKING INDUSTRY</a:t>
            </a:r>
            <a:endParaRPr lang="en-US" sz="1200" dirty="0"/>
          </a:p>
        </p:txBody>
      </p:sp>
      <p:sp>
        <p:nvSpPr>
          <p:cNvPr id="3" name="Text 2"/>
          <p:cNvSpPr/>
          <p:nvPr>
            <p:ph idx="103" type="title" hasCustomPrompt="1"/>
          </p:nvPr>
        </p:nvSpPr>
        <p:spPr>
          <a:xfrm>
            <a:off x="914400" y="2057400"/>
            <a:ext cx="8229600" cy="1463040"/>
          </a:xfrm>
          <a:prstGeom prst="rect">
            <a:avLst/>
          </a:prstGeom>
          <a:noFill/>
          <a:ln/>
        </p:spPr>
        <p:txBody>
          <a:bodyPr wrap="square" lIns="0" tIns="0" rIns="0" bIns="0" rtlCol="0" anchor="t"/>
          <a:lstStyle/>
          <a:p>
            <a:pPr algn="l" indent="0" marL="0">
              <a:buNone/>
            </a:pPr>
            <a:r>
              <a:rPr lang="en-US" sz="4000" b="1" dirty="0">
                <a:solidFill>
                  <a:schemeClr val="bg1"/>
                </a:solidFill>
              </a:rPr>
              <a:t>Banking Credit Risk Analysis</a:t>
            </a:r>
            <a:endParaRPr lang="en-US" sz="4000" dirty="0"/>
          </a:p>
          <a:p>
            <a:pPr algn="l" indent="0" marL="0">
              <a:buNone/>
            </a:pPr>
            <a:r>
              <a:rPr lang="en-US" sz="4000" b="1" dirty="0">
                <a:solidFill>
                  <a:schemeClr val="bg1"/>
                </a:solidFill>
              </a:rPr>
              <a:t>Berka Retail Bank</a:t>
            </a:r>
            <a:endParaRPr lang="en-US" sz="4000" dirty="0"/>
          </a:p>
        </p:txBody>
      </p:sp>
      <p:sp>
        <p:nvSpPr>
          <p:cNvPr id="4" name="Text 2"/>
          <p:cNvSpPr/>
          <p:nvPr>
            <p:ph idx="104" type="body" hasCustomPrompt="1"/>
          </p:nvPr>
        </p:nvSpPr>
        <p:spPr>
          <a:xfrm>
            <a:off x="914400" y="3611880"/>
            <a:ext cx="7863840" cy="640080"/>
          </a:xfrm>
          <a:prstGeom prst="rect">
            <a:avLst/>
          </a:prstGeom>
          <a:noFill/>
          <a:ln/>
        </p:spPr>
        <p:txBody>
          <a:bodyPr wrap="square" lIns="0" tIns="0" rIns="0" bIns="0" rtlCol="0" anchor="t"/>
          <a:lstStyle/>
          <a:p>
            <a:pPr indent="0" marL="0">
              <a:buNone/>
            </a:pPr>
            <a:r>
              <a:rPr lang="en-US" sz="1600" dirty="0">
                <a:solidFill>
                  <a:schemeClr val="accent5"/>
                </a:solidFill>
              </a:rPr>
              <a:t>How Berka can cut its problematic loan rate from 11.1% to below 5% with data it already holds</a:t>
            </a:r>
            <a:endParaRPr lang="en-US" sz="1600" dirty="0"/>
          </a:p>
        </p:txBody>
      </p:sp>
      <p:sp>
        <p:nvSpPr>
          <p:cNvPr id="5" name="Text 2"/>
          <p:cNvSpPr/>
          <p:nvPr>
            <p:ph idx="105" type="body" hasCustomPrompt="1"/>
          </p:nvPr>
        </p:nvSpPr>
        <p:spPr>
          <a:xfrm>
            <a:off x="914400" y="4526280"/>
            <a:ext cx="9144000" cy="1371600"/>
          </a:xfrm>
          <a:prstGeom prst="rect">
            <a:avLst/>
          </a:prstGeom>
          <a:noFill/>
          <a:ln/>
        </p:spPr>
        <p:txBody>
          <a:bodyPr wrap="square" lIns="0" tIns="0" rIns="0" bIns="0" rtlCol="0" anchor="t"/>
          <a:lstStyle/>
          <a:p>
            <a:pPr indent="0" marL="0">
              <a:buNone/>
            </a:pPr>
            <a:r>
              <a:rPr lang="en-US" sz="1400" b="1" dirty="0">
                <a:solidFill>
                  <a:schemeClr val="bg1"/>
                </a:solidFill>
              </a:rPr>
              <a:t>Reinaldy Zulfananda Arkaan</a:t>
            </a:r>
            <a:endParaRPr lang="en-US" sz="1400" dirty="0"/>
          </a:p>
          <a:p>
            <a:pPr indent="0" marL="0">
              <a:buNone/>
            </a:pPr>
            <a:r>
              <a:rPr lang="en-US" sz="1400" dirty="0">
                <a:solidFill>
                  <a:schemeClr val="bg1"/>
                </a:solidFill>
              </a:rPr>
              <a:t>Full Stack Data Analytics  ·  RevoU FSDA JUN26  ·  Seoul</a:t>
            </a:r>
            <a:endParaRPr lang="en-US" sz="1400" dirty="0"/>
          </a:p>
          <a:p>
            <a:pPr indent="0" marL="0">
              <a:buNone/>
            </a:pPr>
            <a:r>
              <a:rPr lang="en-US" sz="1400" b="1" dirty="0">
                <a:solidFill>
                  <a:schemeClr val="bg1"/>
                </a:solidFill>
              </a:rPr>
              <a:t>LinkedIn: </a:t>
            </a:r>
            <a:pPr indent="0" marL="0">
              <a:buNone/>
            </a:pPr>
            <a:r>
              <a:rPr lang="en-US" sz="14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linkedin.com/in/reinaldy-zulfananda-arkaan-30567a179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Executive Summary</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Two pre-loan reviews can cut problematic loans from 11.1% to 5%, using data Berka already holds</a:t>
            </a:r>
            <a:endParaRPr lang="en-US" sz="1500" dirty="0"/>
          </a:p>
        </p:txBody>
      </p:sp>
      <p:sp>
        <p:nvSpPr>
          <p:cNvPr id="5" name="card-1"/>
          <p:cNvSpPr/>
          <p:nvPr/>
        </p:nvSpPr>
        <p:spPr>
          <a:xfrm>
            <a:off x="548640" y="1600200"/>
            <a:ext cx="2567864" cy="1234440"/>
          </a:xfrm>
          <a:prstGeom prst="roundRect">
            <a:avLst>
              <a:gd name="adj" fmla="val 5926"/>
            </a:avLst>
          </a:prstGeom>
          <a:solidFill>
            <a:schemeClr val="tx1"/>
          </a:solidFill>
          <a:ln/>
        </p:spPr>
      </p:sp>
      <p:sp>
        <p:nvSpPr>
          <p:cNvPr id="6" name="text-2"/>
          <p:cNvSpPr txBox="1"/>
          <p:nvPr/>
        </p:nvSpPr>
        <p:spPr>
          <a:xfrm>
            <a:off x="822960" y="1737360"/>
            <a:ext cx="2019224" cy="54864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11.1%</a:t>
            </a:r>
            <a:endParaRPr lang="en-US" sz="3200" dirty="0"/>
          </a:p>
        </p:txBody>
      </p:sp>
      <p:sp>
        <p:nvSpPr>
          <p:cNvPr id="7" name="text-3"/>
          <p:cNvSpPr txBox="1"/>
          <p:nvPr/>
        </p:nvSpPr>
        <p:spPr>
          <a:xfrm>
            <a:off x="822960" y="2286000"/>
            <a:ext cx="2019224" cy="457200"/>
          </a:xfrm>
          <a:prstGeom prst="rect">
            <a:avLst/>
          </a:prstGeom>
          <a:noFill/>
          <a:ln/>
        </p:spPr>
        <p:txBody>
          <a:bodyPr wrap="square" lIns="0" tIns="0" rIns="0" bIns="0" rtlCol="0" anchor="t"/>
          <a:lstStyle/>
          <a:p>
            <a:pPr indent="0" marL="0">
              <a:buNone/>
            </a:pPr>
            <a:r>
              <a:rPr lang="en-US" sz="1200" dirty="0">
                <a:solidFill>
                  <a:schemeClr val="accent5"/>
                </a:solidFill>
              </a:rPr>
              <a:t>Problematic loan rate today (76 of 682 loans)</a:t>
            </a:r>
            <a:endParaRPr lang="en-US" sz="1200" dirty="0"/>
          </a:p>
        </p:txBody>
      </p:sp>
      <p:sp>
        <p:nvSpPr>
          <p:cNvPr id="8" name="card-4"/>
          <p:cNvSpPr/>
          <p:nvPr/>
        </p:nvSpPr>
        <p:spPr>
          <a:xfrm>
            <a:off x="3390824" y="1600200"/>
            <a:ext cx="2567864" cy="1234440"/>
          </a:xfrm>
          <a:prstGeom prst="roundRect">
            <a:avLst>
              <a:gd name="adj" fmla="val 5926"/>
            </a:avLst>
          </a:prstGeom>
          <a:solidFill>
            <a:schemeClr val="tx1"/>
          </a:solidFill>
          <a:ln/>
        </p:spPr>
      </p:sp>
      <p:sp>
        <p:nvSpPr>
          <p:cNvPr id="9" name="text-5"/>
          <p:cNvSpPr txBox="1"/>
          <p:nvPr/>
        </p:nvSpPr>
        <p:spPr>
          <a:xfrm>
            <a:off x="3665144" y="1737360"/>
            <a:ext cx="2019224" cy="54864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&lt; 5%</a:t>
            </a:r>
            <a:endParaRPr lang="en-US" sz="3200" dirty="0"/>
          </a:p>
        </p:txBody>
      </p:sp>
      <p:sp>
        <p:nvSpPr>
          <p:cNvPr id="10" name="text-6"/>
          <p:cNvSpPr txBox="1"/>
          <p:nvPr/>
        </p:nvSpPr>
        <p:spPr>
          <a:xfrm>
            <a:off x="3665144" y="2286000"/>
            <a:ext cx="2019224" cy="457200"/>
          </a:xfrm>
          <a:prstGeom prst="rect">
            <a:avLst/>
          </a:prstGeom>
          <a:noFill/>
          <a:ln/>
        </p:spPr>
        <p:txBody>
          <a:bodyPr wrap="square" lIns="0" tIns="0" rIns="0" bIns="0" rtlCol="0" anchor="t"/>
          <a:lstStyle/>
          <a:p>
            <a:pPr indent="0" marL="0">
              <a:buNone/>
            </a:pPr>
            <a:r>
              <a:rPr lang="en-US" sz="1200" dirty="0">
                <a:solidFill>
                  <a:schemeClr val="accent5"/>
                </a:solidFill>
              </a:rPr>
              <a:t>Target rate within 12 months</a:t>
            </a:r>
            <a:endParaRPr lang="en-US" sz="1200" dirty="0"/>
          </a:p>
        </p:txBody>
      </p:sp>
      <p:sp>
        <p:nvSpPr>
          <p:cNvPr id="11" name="card-7"/>
          <p:cNvSpPr/>
          <p:nvPr/>
        </p:nvSpPr>
        <p:spPr>
          <a:xfrm>
            <a:off x="6233008" y="1600200"/>
            <a:ext cx="2567864" cy="1234440"/>
          </a:xfrm>
          <a:prstGeom prst="roundRect">
            <a:avLst>
              <a:gd name="adj" fmla="val 5926"/>
            </a:avLst>
          </a:prstGeom>
          <a:solidFill>
            <a:schemeClr val="tx1"/>
          </a:solidFill>
          <a:ln/>
        </p:spPr>
      </p:sp>
      <p:sp>
        <p:nvSpPr>
          <p:cNvPr id="12" name="text-8"/>
          <p:cNvSpPr txBox="1"/>
          <p:nvPr/>
        </p:nvSpPr>
        <p:spPr>
          <a:xfrm>
            <a:off x="6507328" y="1737360"/>
            <a:ext cx="2019224" cy="54864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1.05M</a:t>
            </a:r>
            <a:endParaRPr lang="en-US" sz="3200" dirty="0"/>
          </a:p>
        </p:txBody>
      </p:sp>
      <p:sp>
        <p:nvSpPr>
          <p:cNvPr id="13" name="text-9"/>
          <p:cNvSpPr txBox="1"/>
          <p:nvPr/>
        </p:nvSpPr>
        <p:spPr>
          <a:xfrm>
            <a:off x="6507328" y="2286000"/>
            <a:ext cx="2019224" cy="457200"/>
          </a:xfrm>
          <a:prstGeom prst="rect">
            <a:avLst/>
          </a:prstGeom>
          <a:noFill/>
          <a:ln/>
        </p:spPr>
        <p:txBody>
          <a:bodyPr wrap="square" lIns="0" tIns="0" rIns="0" bIns="0" rtlCol="0" anchor="t"/>
          <a:lstStyle/>
          <a:p>
            <a:pPr indent="0" marL="0">
              <a:buNone/>
            </a:pPr>
            <a:r>
              <a:rPr lang="en-US" sz="1200" dirty="0">
                <a:solidFill>
                  <a:schemeClr val="accent5"/>
                </a:solidFill>
              </a:rPr>
              <a:t>Transactions analysed with Python, DuckDB and Tableau</a:t>
            </a:r>
            <a:endParaRPr lang="en-US" sz="1200" dirty="0"/>
          </a:p>
        </p:txBody>
      </p:sp>
      <p:sp>
        <p:nvSpPr>
          <p:cNvPr id="14" name="card-10"/>
          <p:cNvSpPr/>
          <p:nvPr/>
        </p:nvSpPr>
        <p:spPr>
          <a:xfrm>
            <a:off x="9075191" y="1600200"/>
            <a:ext cx="2567864" cy="1234440"/>
          </a:xfrm>
          <a:prstGeom prst="roundRect">
            <a:avLst>
              <a:gd name="adj" fmla="val 5926"/>
            </a:avLst>
          </a:prstGeom>
          <a:solidFill>
            <a:schemeClr val="tx1"/>
          </a:solidFill>
          <a:ln/>
        </p:spPr>
      </p:sp>
      <p:sp>
        <p:nvSpPr>
          <p:cNvPr id="15" name="text-11"/>
          <p:cNvSpPr txBox="1"/>
          <p:nvPr/>
        </p:nvSpPr>
        <p:spPr>
          <a:xfrm>
            <a:off x="9349511" y="1737360"/>
            <a:ext cx="2019224"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5.0%</a:t>
            </a:r>
            <a:endParaRPr lang="en-US" sz="3200" dirty="0"/>
          </a:p>
        </p:txBody>
      </p:sp>
      <p:sp>
        <p:nvSpPr>
          <p:cNvPr id="16" name="text-12"/>
          <p:cNvSpPr txBox="1"/>
          <p:nvPr/>
        </p:nvSpPr>
        <p:spPr>
          <a:xfrm>
            <a:off x="9349511" y="2286000"/>
            <a:ext cx="2019224" cy="457200"/>
          </a:xfrm>
          <a:prstGeom prst="rect">
            <a:avLst/>
          </a:prstGeom>
          <a:noFill/>
          <a:ln/>
        </p:spPr>
        <p:txBody>
          <a:bodyPr wrap="square" lIns="0" tIns="0" rIns="0" bIns="0" rtlCol="0" anchor="t"/>
          <a:lstStyle/>
          <a:p>
            <a:pPr indent="0" marL="0">
              <a:buNone/>
            </a:pPr>
            <a:r>
              <a:rPr lang="en-US" sz="1200" dirty="0">
                <a:solidFill>
                  <a:schemeClr val="accent5"/>
                </a:solidFill>
              </a:rPr>
              <a:t>Rate after the two pre-loan reviews</a:t>
            </a:r>
            <a:endParaRPr lang="en-US" sz="1200" dirty="0"/>
          </a:p>
        </p:txBody>
      </p:sp>
      <p:sp>
        <p:nvSpPr>
          <p:cNvPr id="17" name="text-13"/>
          <p:cNvSpPr txBox="1"/>
          <p:nvPr/>
        </p:nvSpPr>
        <p:spPr>
          <a:xfrm>
            <a:off x="548640" y="3108960"/>
            <a:ext cx="685800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Three key findings</a:t>
            </a:r>
            <a:endParaRPr lang="en-US" sz="2000" dirty="0"/>
          </a:p>
        </p:txBody>
      </p:sp>
      <p:sp>
        <p:nvSpPr>
          <p:cNvPr id="18" name="circle-14"/>
          <p:cNvSpPr/>
          <p:nvPr/>
        </p:nvSpPr>
        <p:spPr>
          <a:xfrm>
            <a:off x="548640" y="36576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9" name="text-15"/>
          <p:cNvSpPr txBox="1"/>
          <p:nvPr/>
        </p:nvSpPr>
        <p:spPr>
          <a:xfrm>
            <a:off x="1188720" y="3611880"/>
            <a:ext cx="6400800" cy="320040"/>
          </a:xfrm>
          <a:prstGeom prst="rect">
            <a:avLst/>
          </a:prstGeom>
          <a:noFill/>
          <a:ln/>
        </p:spPr>
        <p:txBody>
          <a:bodyPr wrap="square" lIns="0" tIns="0" rIns="0" bIns="0" rtlCol="0" anchor="t"/>
          <a:lstStyle/>
          <a:p>
            <a:pPr indent="0" marL="0">
              <a:buNone/>
            </a:pPr>
            <a:r>
              <a:rPr lang="en-US" sz="1600" b="1" dirty="0">
                <a:solidFill>
                  <a:schemeClr val="tx1"/>
                </a:solidFill>
              </a:rPr>
              <a:t>Overdraft before the loan is the strongest signal</a:t>
            </a:r>
            <a:endParaRPr lang="en-US" sz="1600" dirty="0"/>
          </a:p>
        </p:txBody>
      </p:sp>
      <p:sp>
        <p:nvSpPr>
          <p:cNvPr id="20" name="text-16"/>
          <p:cNvSpPr txBox="1"/>
          <p:nvPr/>
        </p:nvSpPr>
        <p:spPr>
          <a:xfrm>
            <a:off x="1188720" y="3941064"/>
            <a:ext cx="6400800" cy="320040"/>
          </a:xfrm>
          <a:prstGeom prst="rect">
            <a:avLst/>
          </a:prstGeom>
          <a:noFill/>
          <a:ln/>
        </p:spPr>
        <p:txBody>
          <a:bodyPr wrap="square" lIns="0" tIns="0" rIns="0" bIns="0" rtlCol="0" anchor="t"/>
          <a:lstStyle/>
          <a:p>
            <a:pPr indent="0" marL="0">
              <a:buNone/>
            </a:pPr>
            <a:r>
              <a:rPr lang="en-US" sz="1400" dirty="0">
                <a:solidFill>
                  <a:schemeClr val="accent4"/>
                </a:solidFill>
              </a:rPr>
              <a:t>All 27 accounts that went below zero before the loan went bad</a:t>
            </a:r>
            <a:endParaRPr lang="en-US" sz="1400" dirty="0"/>
          </a:p>
        </p:txBody>
      </p:sp>
      <p:sp>
        <p:nvSpPr>
          <p:cNvPr id="21" name="circle-17"/>
          <p:cNvSpPr/>
          <p:nvPr/>
        </p:nvSpPr>
        <p:spPr>
          <a:xfrm>
            <a:off x="548640" y="44348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18"/>
          <p:cNvSpPr txBox="1"/>
          <p:nvPr/>
        </p:nvSpPr>
        <p:spPr>
          <a:xfrm>
            <a:off x="1188720" y="4389120"/>
            <a:ext cx="6400800" cy="320040"/>
          </a:xfrm>
          <a:prstGeom prst="rect">
            <a:avLst/>
          </a:prstGeom>
          <a:noFill/>
          <a:ln/>
        </p:spPr>
        <p:txBody>
          <a:bodyPr wrap="square" lIns="0" tIns="0" rIns="0" bIns="0" rtlCol="0" anchor="t"/>
          <a:lstStyle/>
          <a:p>
            <a:pPr indent="0" marL="0">
              <a:buNone/>
            </a:pPr>
            <a:r>
              <a:rPr lang="en-US" sz="1600" b="1" dirty="0">
                <a:solidFill>
                  <a:schemeClr val="tx1"/>
                </a:solidFill>
              </a:rPr>
              <a:t>Heavy instalments drive bad loans, not big loans</a:t>
            </a:r>
            <a:endParaRPr lang="en-US" sz="1600" dirty="0"/>
          </a:p>
        </p:txBody>
      </p:sp>
      <p:sp>
        <p:nvSpPr>
          <p:cNvPr id="23" name="text-19"/>
          <p:cNvSpPr txBox="1"/>
          <p:nvPr/>
        </p:nvSpPr>
        <p:spPr>
          <a:xfrm>
            <a:off x="1188720" y="4718304"/>
            <a:ext cx="6400800" cy="320040"/>
          </a:xfrm>
          <a:prstGeom prst="rect">
            <a:avLst/>
          </a:prstGeom>
          <a:noFill/>
          <a:ln/>
        </p:spPr>
        <p:txBody>
          <a:bodyPr wrap="square" lIns="0" tIns="0" rIns="0" bIns="0" rtlCol="0" anchor="t"/>
          <a:lstStyle/>
          <a:p>
            <a:pPr indent="0" marL="0">
              <a:buNone/>
            </a:pPr>
            <a:r>
              <a:rPr lang="en-US" sz="1400" dirty="0">
                <a:solidFill>
                  <a:schemeClr val="accent4"/>
                </a:solidFill>
              </a:rPr>
              <a:t>The heaviest instalment group fails at 19.3%, the lightest at 5.8%</a:t>
            </a:r>
            <a:endParaRPr lang="en-US" sz="1400" dirty="0"/>
          </a:p>
        </p:txBody>
      </p:sp>
      <p:sp>
        <p:nvSpPr>
          <p:cNvPr id="24" name="circle-20"/>
          <p:cNvSpPr/>
          <p:nvPr/>
        </p:nvSpPr>
        <p:spPr>
          <a:xfrm>
            <a:off x="548640" y="52120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5" name="text-21"/>
          <p:cNvSpPr txBox="1"/>
          <p:nvPr/>
        </p:nvSpPr>
        <p:spPr>
          <a:xfrm>
            <a:off x="1188720" y="5166360"/>
            <a:ext cx="6400800" cy="320040"/>
          </a:xfrm>
          <a:prstGeom prst="rect">
            <a:avLst/>
          </a:prstGeom>
          <a:noFill/>
          <a:ln/>
        </p:spPr>
        <p:txBody>
          <a:bodyPr wrap="square" lIns="0" tIns="0" rIns="0" bIns="0" rtlCol="0" anchor="t"/>
          <a:lstStyle/>
          <a:p>
            <a:pPr indent="0" marL="0">
              <a:buNone/>
            </a:pPr>
            <a:r>
              <a:rPr lang="en-US" sz="1600" b="1" dirty="0">
                <a:solidFill>
                  <a:schemeClr val="tx1"/>
                </a:solidFill>
              </a:rPr>
              <a:t>Demographics barely matter</a:t>
            </a:r>
            <a:endParaRPr lang="en-US" sz="1600" dirty="0"/>
          </a:p>
        </p:txBody>
      </p:sp>
      <p:sp>
        <p:nvSpPr>
          <p:cNvPr id="26" name="text-22"/>
          <p:cNvSpPr txBox="1"/>
          <p:nvPr/>
        </p:nvSpPr>
        <p:spPr>
          <a:xfrm>
            <a:off x="1188720" y="5495544"/>
            <a:ext cx="6400800" cy="320040"/>
          </a:xfrm>
          <a:prstGeom prst="rect">
            <a:avLst/>
          </a:prstGeom>
          <a:noFill/>
          <a:ln/>
        </p:spPr>
        <p:txBody>
          <a:bodyPr wrap="square" lIns="0" tIns="0" rIns="0" bIns="0" rtlCol="0" anchor="t"/>
          <a:lstStyle/>
          <a:p>
            <a:pPr indent="0" marL="0">
              <a:buNone/>
            </a:pPr>
            <a:r>
              <a:rPr lang="en-US" sz="1400" dirty="0">
                <a:solidFill>
                  <a:schemeClr val="accent4"/>
                </a:solidFill>
              </a:rPr>
              <a:t>Gender shows almost no difference in risk (1.1x)</a:t>
            </a:r>
            <a:endParaRPr lang="en-US" sz="1400" dirty="0"/>
          </a:p>
        </p:txBody>
      </p:sp>
      <p:sp>
        <p:nvSpPr>
          <p:cNvPr id="27" name="card-23"/>
          <p:cNvSpPr/>
          <p:nvPr/>
        </p:nvSpPr>
        <p:spPr>
          <a:xfrm>
            <a:off x="7863840" y="3108960"/>
            <a:ext cx="3779215" cy="2743200"/>
          </a:xfrm>
          <a:prstGeom prst="roundRect">
            <a:avLst>
              <a:gd name="adj" fmla="val 2667"/>
            </a:avLst>
          </a:prstGeom>
          <a:solidFill>
            <a:schemeClr val="tx1"/>
          </a:solidFill>
          <a:ln/>
        </p:spPr>
      </p:sp>
      <p:sp>
        <p:nvSpPr>
          <p:cNvPr id="28" name="text-24"/>
          <p:cNvSpPr txBox="1"/>
          <p:nvPr/>
        </p:nvSpPr>
        <p:spPr>
          <a:xfrm>
            <a:off x="8138160" y="3383280"/>
            <a:ext cx="3230575" cy="2194560"/>
          </a:xfrm>
          <a:prstGeom prst="rect">
            <a:avLst/>
          </a:prstGeom>
          <a:noFill/>
          <a:ln/>
        </p:spPr>
        <p:txBody>
          <a:bodyPr wrap="square" lIns="0" tIns="0" rIns="0" bIns="0" rtlCol="0" anchor="t"/>
          <a:lstStyle/>
          <a:p>
            <a:pPr indent="0" marL="0">
              <a:buNone/>
            </a:pPr>
            <a:r>
              <a:rPr lang="en-US" sz="1200" b="1" spc="100" kern="0" dirty="0">
                <a:solidFill>
                  <a:schemeClr val="accent1"/>
                </a:solidFill>
              </a:rPr>
              <a:t>RECOMMENDATION</a:t>
            </a:r>
            <a:endParaRPr lang="en-US" sz="1400" dirty="0"/>
          </a:p>
          <a:p>
            <a:pPr indent="0" marL="0">
              <a:spcBef>
                <a:spcPts val="400"/>
              </a:spcBef>
              <a:buNone/>
            </a:pPr>
            <a:r>
              <a:rPr lang="en-US" sz="1700" dirty="0">
                <a:solidFill>
                  <a:schemeClr val="bg1"/>
                </a:solidFill>
              </a:rPr>
              <a:t>Launch the overdraft review now, add a review of the top 20% risk scores, and keep an instalment cap as a buffer.</a:t>
            </a:r>
            <a:endParaRPr lang="en-US" sz="1400" dirty="0"/>
          </a:p>
        </p:txBody>
      </p:sp>
      <p:sp>
        <p:nvSpPr>
          <p:cNvPr id="29" name="text-25"/>
          <p:cNvSpPr txBox="1"/>
          <p:nvPr/>
        </p:nvSpPr>
        <p:spPr>
          <a:xfrm>
            <a:off x="8138160" y="4983480"/>
            <a:ext cx="3230575" cy="59436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11.1%  →  5.0%</a:t>
            </a:r>
            <a:endParaRPr lang="en-US" sz="3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Project Background</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Berka earns from lending, yet 1 in 9 loans ends up problematic</a:t>
            </a:r>
            <a:endParaRPr lang="en-US" sz="1500" dirty="0"/>
          </a:p>
        </p:txBody>
      </p:sp>
      <p:sp>
        <p:nvSpPr>
          <p:cNvPr id="5" name="card-26"/>
          <p:cNvSpPr/>
          <p:nvPr/>
        </p:nvSpPr>
        <p:spPr>
          <a:xfrm>
            <a:off x="548640" y="1600200"/>
            <a:ext cx="6858000" cy="1280160"/>
          </a:xfrm>
          <a:prstGeom prst="roundRect">
            <a:avLst>
              <a:gd name="adj" fmla="val 5714"/>
            </a:avLst>
          </a:prstGeom>
          <a:solidFill>
            <a:schemeClr val="bg1"/>
          </a:solidFill>
          <a:ln w="9525">
            <a:solidFill>
              <a:schemeClr val="accent5"/>
            </a:solidFill>
            <a:prstDash val="solid"/>
          </a:ln>
        </p:spPr>
      </p:sp>
      <p:sp>
        <p:nvSpPr>
          <p:cNvPr id="6" name="text-27"/>
          <p:cNvSpPr txBox="1"/>
          <p:nvPr/>
        </p:nvSpPr>
        <p:spPr>
          <a:xfrm>
            <a:off x="822960" y="1828800"/>
            <a:ext cx="6309360" cy="274320"/>
          </a:xfrm>
          <a:prstGeom prst="rect">
            <a:avLst/>
          </a:prstGeom>
          <a:noFill/>
          <a:ln/>
        </p:spPr>
        <p:txBody>
          <a:bodyPr wrap="square" lIns="0" tIns="0" rIns="0" bIns="0" rtlCol="0" anchor="t"/>
          <a:lstStyle/>
          <a:p>
            <a:pPr indent="0" marL="0">
              <a:buNone/>
            </a:pPr>
            <a:r>
              <a:rPr lang="en-US" sz="1200" b="1" spc="100" kern="0" dirty="0">
                <a:solidFill>
                  <a:schemeClr val="tx2"/>
                </a:solidFill>
              </a:rPr>
              <a:t>THE BANK</a:t>
            </a:r>
            <a:endParaRPr lang="en-US" sz="1200" dirty="0"/>
          </a:p>
        </p:txBody>
      </p:sp>
      <p:sp>
        <p:nvSpPr>
          <p:cNvPr id="7" name="text-28"/>
          <p:cNvSpPr txBox="1"/>
          <p:nvPr/>
        </p:nvSpPr>
        <p:spPr>
          <a:xfrm>
            <a:off x="822960" y="2148840"/>
            <a:ext cx="6309360" cy="640080"/>
          </a:xfrm>
          <a:prstGeom prst="rect">
            <a:avLst/>
          </a:prstGeom>
          <a:noFill/>
          <a:ln/>
        </p:spPr>
        <p:txBody>
          <a:bodyPr wrap="square" lIns="0" tIns="0" rIns="0" bIns="0" rtlCol="0" anchor="t"/>
          <a:lstStyle/>
          <a:p>
            <a:pPr indent="0" marL="0">
              <a:buNone/>
            </a:pPr>
            <a:r>
              <a:rPr lang="en-US" sz="1500" dirty="0">
                <a:solidFill>
                  <a:schemeClr val="tx1"/>
                </a:solidFill>
              </a:rPr>
              <a:t>Berka Retail Bank serves individual customers (B2C). It earns mainly from loan interest, plus card and transaction fees.</a:t>
            </a:r>
            <a:endParaRPr lang="en-US" sz="1500" dirty="0"/>
          </a:p>
        </p:txBody>
      </p:sp>
      <p:sp>
        <p:nvSpPr>
          <p:cNvPr id="8" name="card-29"/>
          <p:cNvSpPr/>
          <p:nvPr/>
        </p:nvSpPr>
        <p:spPr>
          <a:xfrm>
            <a:off x="548640" y="3154680"/>
            <a:ext cx="6858000" cy="1280160"/>
          </a:xfrm>
          <a:prstGeom prst="roundRect">
            <a:avLst>
              <a:gd name="adj" fmla="val 5714"/>
            </a:avLst>
          </a:prstGeom>
          <a:solidFill>
            <a:schemeClr val="bg1"/>
          </a:solidFill>
          <a:ln w="9525">
            <a:solidFill>
              <a:schemeClr val="accent5"/>
            </a:solidFill>
            <a:prstDash val="solid"/>
          </a:ln>
        </p:spPr>
      </p:sp>
      <p:sp>
        <p:nvSpPr>
          <p:cNvPr id="9" name="text-30"/>
          <p:cNvSpPr txBox="1"/>
          <p:nvPr/>
        </p:nvSpPr>
        <p:spPr>
          <a:xfrm>
            <a:off x="822960" y="3383280"/>
            <a:ext cx="6309360" cy="274320"/>
          </a:xfrm>
          <a:prstGeom prst="rect">
            <a:avLst/>
          </a:prstGeom>
          <a:noFill/>
          <a:ln/>
        </p:spPr>
        <p:txBody>
          <a:bodyPr wrap="square" lIns="0" tIns="0" rIns="0" bIns="0" rtlCol="0" anchor="t"/>
          <a:lstStyle/>
          <a:p>
            <a:pPr indent="0" marL="0">
              <a:buNone/>
            </a:pPr>
            <a:r>
              <a:rPr lang="en-US" sz="1200" b="1" spc="100" kern="0" dirty="0">
                <a:solidFill>
                  <a:schemeClr val="tx2"/>
                </a:solidFill>
              </a:rPr>
              <a:t>THE DATA</a:t>
            </a:r>
            <a:endParaRPr lang="en-US" sz="1200" dirty="0"/>
          </a:p>
        </p:txBody>
      </p:sp>
      <p:sp>
        <p:nvSpPr>
          <p:cNvPr id="10" name="text-31"/>
          <p:cNvSpPr txBox="1"/>
          <p:nvPr/>
        </p:nvSpPr>
        <p:spPr>
          <a:xfrm>
            <a:off x="822960" y="3703320"/>
            <a:ext cx="6309360" cy="640080"/>
          </a:xfrm>
          <a:prstGeom prst="rect">
            <a:avLst/>
          </a:prstGeom>
          <a:noFill/>
          <a:ln/>
        </p:spPr>
        <p:txBody>
          <a:bodyPr wrap="square" lIns="0" tIns="0" rIns="0" bIns="0" rtlCol="0" anchor="t"/>
          <a:lstStyle/>
          <a:p>
            <a:pPr indent="0" marL="0">
              <a:buNone/>
            </a:pPr>
            <a:r>
              <a:rPr lang="en-US" sz="1500" dirty="0">
                <a:solidFill>
                  <a:schemeClr val="tx1"/>
                </a:solidFill>
              </a:rPr>
              <a:t>Public Czech Berka dataset (PKDD'99), 1993 to 1998. Every account behaviour is recorded before a loan is approved.</a:t>
            </a:r>
            <a:endParaRPr lang="en-US" sz="1500" dirty="0"/>
          </a:p>
        </p:txBody>
      </p:sp>
      <p:sp>
        <p:nvSpPr>
          <p:cNvPr id="11" name="card-32"/>
          <p:cNvSpPr/>
          <p:nvPr/>
        </p:nvSpPr>
        <p:spPr>
          <a:xfrm>
            <a:off x="7680960" y="1600200"/>
            <a:ext cx="3962095" cy="2834640"/>
          </a:xfrm>
          <a:prstGeom prst="roundRect">
            <a:avLst>
              <a:gd name="adj" fmla="val 2581"/>
            </a:avLst>
          </a:prstGeom>
          <a:solidFill>
            <a:schemeClr val="tx1"/>
          </a:solidFill>
          <a:ln/>
        </p:spPr>
      </p:sp>
      <p:sp>
        <p:nvSpPr>
          <p:cNvPr id="12" name="text-33"/>
          <p:cNvSpPr txBox="1"/>
          <p:nvPr/>
        </p:nvSpPr>
        <p:spPr>
          <a:xfrm>
            <a:off x="8001000" y="1920240"/>
            <a:ext cx="3291840" cy="1005840"/>
          </a:xfrm>
          <a:prstGeom prst="rect">
            <a:avLst/>
          </a:prstGeom>
          <a:noFill/>
          <a:ln/>
        </p:spPr>
        <p:txBody>
          <a:bodyPr wrap="square" lIns="0" tIns="0" rIns="0" bIns="0" rtlCol="0" anchor="t"/>
          <a:lstStyle/>
          <a:p>
            <a:pPr indent="0" marL="0">
              <a:buNone/>
            </a:pPr>
            <a:r>
              <a:rPr lang="en-US" sz="6000" b="1" dirty="0">
                <a:solidFill>
                  <a:schemeClr val="accent1"/>
                </a:solidFill>
                <a:latin typeface="+mj-lt" pitchFamily="34" charset="0"/>
                <a:ea typeface="+mj-lt" pitchFamily="34" charset="-122"/>
                <a:cs typeface="+mj-lt" pitchFamily="34" charset="-120"/>
              </a:rPr>
              <a:t>1 in 9</a:t>
            </a:r>
            <a:endParaRPr lang="en-US" sz="6000" dirty="0"/>
          </a:p>
        </p:txBody>
      </p:sp>
      <p:sp>
        <p:nvSpPr>
          <p:cNvPr id="13" name="text-34"/>
          <p:cNvSpPr txBox="1"/>
          <p:nvPr/>
        </p:nvSpPr>
        <p:spPr>
          <a:xfrm>
            <a:off x="8001000" y="3017520"/>
            <a:ext cx="3291840" cy="365760"/>
          </a:xfrm>
          <a:prstGeom prst="rect">
            <a:avLst/>
          </a:prstGeom>
          <a:noFill/>
          <a:ln/>
        </p:spPr>
        <p:txBody>
          <a:bodyPr wrap="square" lIns="0" tIns="0" rIns="0" bIns="0" rtlCol="0" anchor="t"/>
          <a:lstStyle/>
          <a:p>
            <a:pPr indent="0" marL="0">
              <a:buNone/>
            </a:pPr>
            <a:r>
              <a:rPr lang="en-US" sz="1800" dirty="0">
                <a:solidFill>
                  <a:schemeClr val="bg1"/>
                </a:solidFill>
              </a:rPr>
              <a:t>loans end up problematic</a:t>
            </a:r>
            <a:endParaRPr lang="en-US" sz="1800" dirty="0"/>
          </a:p>
        </p:txBody>
      </p:sp>
      <p:sp>
        <p:nvSpPr>
          <p:cNvPr id="14" name="text-35"/>
          <p:cNvSpPr txBox="1"/>
          <p:nvPr/>
        </p:nvSpPr>
        <p:spPr>
          <a:xfrm>
            <a:off x="8001000" y="3474720"/>
            <a:ext cx="3291840" cy="365760"/>
          </a:xfrm>
          <a:prstGeom prst="rect">
            <a:avLst/>
          </a:prstGeom>
          <a:noFill/>
          <a:ln/>
        </p:spPr>
        <p:txBody>
          <a:bodyPr wrap="square" lIns="0" tIns="0" rIns="0" bIns="0" rtlCol="0" anchor="t"/>
          <a:lstStyle/>
          <a:p>
            <a:pPr indent="0" marL="0">
              <a:buNone/>
            </a:pPr>
            <a:r>
              <a:rPr lang="en-US" sz="1400" dirty="0">
                <a:solidFill>
                  <a:schemeClr val="accent5"/>
                </a:solidFill>
              </a:rPr>
              <a:t>11.1%, or 76 of 682 loans</a:t>
            </a:r>
            <a:endParaRPr lang="en-US" sz="1400" dirty="0"/>
          </a:p>
        </p:txBody>
      </p:sp>
      <p:sp>
        <p:nvSpPr>
          <p:cNvPr id="15" name="card-36"/>
          <p:cNvSpPr/>
          <p:nvPr/>
        </p:nvSpPr>
        <p:spPr>
          <a:xfrm>
            <a:off x="548640" y="4709160"/>
            <a:ext cx="2567864" cy="1188720"/>
          </a:xfrm>
          <a:prstGeom prst="roundRect">
            <a:avLst>
              <a:gd name="adj" fmla="val 6154"/>
            </a:avLst>
          </a:prstGeom>
          <a:solidFill>
            <a:schemeClr val="bg1"/>
          </a:solidFill>
          <a:ln w="9525">
            <a:solidFill>
              <a:schemeClr val="accent5"/>
            </a:solidFill>
            <a:prstDash val="solid"/>
          </a:ln>
        </p:spPr>
      </p:sp>
      <p:sp>
        <p:nvSpPr>
          <p:cNvPr id="16" name="text-37"/>
          <p:cNvSpPr txBox="1"/>
          <p:nvPr/>
        </p:nvSpPr>
        <p:spPr>
          <a:xfrm>
            <a:off x="822960" y="4846320"/>
            <a:ext cx="2019224" cy="548640"/>
          </a:xfrm>
          <a:prstGeom prst="rect">
            <a:avLst/>
          </a:prstGeom>
          <a:noFill/>
          <a:ln/>
        </p:spPr>
        <p:txBody>
          <a:bodyPr wrap="square" lIns="0" tIns="0" rIns="0" bIns="0" rtlCol="0" anchor="t"/>
          <a:lstStyle/>
          <a:p>
            <a:pPr indent="0" marL="0">
              <a:buNone/>
            </a:pPr>
            <a:r>
              <a:rPr lang="en-US" sz="3000" b="1" dirty="0">
                <a:solidFill>
                  <a:schemeClr val="tx1"/>
                </a:solidFill>
                <a:latin typeface="+mj-lt" pitchFamily="34" charset="0"/>
                <a:ea typeface="+mj-lt" pitchFamily="34" charset="-122"/>
                <a:cs typeface="+mj-lt" pitchFamily="34" charset="-120"/>
              </a:rPr>
              <a:t>5,369</a:t>
            </a:r>
            <a:endParaRPr lang="en-US" sz="3000" dirty="0"/>
          </a:p>
        </p:txBody>
      </p:sp>
      <p:sp>
        <p:nvSpPr>
          <p:cNvPr id="17" name="text-38"/>
          <p:cNvSpPr txBox="1"/>
          <p:nvPr/>
        </p:nvSpPr>
        <p:spPr>
          <a:xfrm>
            <a:off x="822960" y="5394960"/>
            <a:ext cx="2019224" cy="320040"/>
          </a:xfrm>
          <a:prstGeom prst="rect">
            <a:avLst/>
          </a:prstGeom>
          <a:noFill/>
          <a:ln/>
        </p:spPr>
        <p:txBody>
          <a:bodyPr wrap="square" lIns="0" tIns="0" rIns="0" bIns="0" rtlCol="0" anchor="t"/>
          <a:lstStyle/>
          <a:p>
            <a:pPr indent="0" marL="0">
              <a:buNone/>
            </a:pPr>
            <a:r>
              <a:rPr lang="en-US" sz="1400" dirty="0">
                <a:solidFill>
                  <a:schemeClr val="accent4"/>
                </a:solidFill>
              </a:rPr>
              <a:t>clients</a:t>
            </a:r>
            <a:endParaRPr lang="en-US" sz="1400" dirty="0"/>
          </a:p>
        </p:txBody>
      </p:sp>
      <p:sp>
        <p:nvSpPr>
          <p:cNvPr id="18" name="card-39"/>
          <p:cNvSpPr/>
          <p:nvPr/>
        </p:nvSpPr>
        <p:spPr>
          <a:xfrm>
            <a:off x="3390824" y="4709160"/>
            <a:ext cx="2567864" cy="1188720"/>
          </a:xfrm>
          <a:prstGeom prst="roundRect">
            <a:avLst>
              <a:gd name="adj" fmla="val 6154"/>
            </a:avLst>
          </a:prstGeom>
          <a:solidFill>
            <a:schemeClr val="bg1"/>
          </a:solidFill>
          <a:ln w="9525">
            <a:solidFill>
              <a:schemeClr val="accent5"/>
            </a:solidFill>
            <a:prstDash val="solid"/>
          </a:ln>
        </p:spPr>
      </p:sp>
      <p:sp>
        <p:nvSpPr>
          <p:cNvPr id="19" name="text-40"/>
          <p:cNvSpPr txBox="1"/>
          <p:nvPr/>
        </p:nvSpPr>
        <p:spPr>
          <a:xfrm>
            <a:off x="3665144" y="4846320"/>
            <a:ext cx="2019224" cy="548640"/>
          </a:xfrm>
          <a:prstGeom prst="rect">
            <a:avLst/>
          </a:prstGeom>
          <a:noFill/>
          <a:ln/>
        </p:spPr>
        <p:txBody>
          <a:bodyPr wrap="square" lIns="0" tIns="0" rIns="0" bIns="0" rtlCol="0" anchor="t"/>
          <a:lstStyle/>
          <a:p>
            <a:pPr indent="0" marL="0">
              <a:buNone/>
            </a:pPr>
            <a:r>
              <a:rPr lang="en-US" sz="3000" b="1" dirty="0">
                <a:solidFill>
                  <a:schemeClr val="tx1"/>
                </a:solidFill>
                <a:latin typeface="+mj-lt" pitchFamily="34" charset="0"/>
                <a:ea typeface="+mj-lt" pitchFamily="34" charset="-122"/>
                <a:cs typeface="+mj-lt" pitchFamily="34" charset="-120"/>
              </a:rPr>
              <a:t>4,500</a:t>
            </a:r>
            <a:endParaRPr lang="en-US" sz="3000" dirty="0"/>
          </a:p>
        </p:txBody>
      </p:sp>
      <p:sp>
        <p:nvSpPr>
          <p:cNvPr id="20" name="text-41"/>
          <p:cNvSpPr txBox="1"/>
          <p:nvPr/>
        </p:nvSpPr>
        <p:spPr>
          <a:xfrm>
            <a:off x="3665144" y="5394960"/>
            <a:ext cx="2019224" cy="320040"/>
          </a:xfrm>
          <a:prstGeom prst="rect">
            <a:avLst/>
          </a:prstGeom>
          <a:noFill/>
          <a:ln/>
        </p:spPr>
        <p:txBody>
          <a:bodyPr wrap="square" lIns="0" tIns="0" rIns="0" bIns="0" rtlCol="0" anchor="t"/>
          <a:lstStyle/>
          <a:p>
            <a:pPr indent="0" marL="0">
              <a:buNone/>
            </a:pPr>
            <a:r>
              <a:rPr lang="en-US" sz="1400" dirty="0">
                <a:solidFill>
                  <a:schemeClr val="accent4"/>
                </a:solidFill>
              </a:rPr>
              <a:t>accounts</a:t>
            </a:r>
            <a:endParaRPr lang="en-US" sz="1400" dirty="0"/>
          </a:p>
        </p:txBody>
      </p:sp>
      <p:sp>
        <p:nvSpPr>
          <p:cNvPr id="21" name="card-42"/>
          <p:cNvSpPr/>
          <p:nvPr/>
        </p:nvSpPr>
        <p:spPr>
          <a:xfrm>
            <a:off x="6233008" y="4709160"/>
            <a:ext cx="2567864" cy="1188720"/>
          </a:xfrm>
          <a:prstGeom prst="roundRect">
            <a:avLst>
              <a:gd name="adj" fmla="val 6154"/>
            </a:avLst>
          </a:prstGeom>
          <a:solidFill>
            <a:schemeClr val="bg1"/>
          </a:solidFill>
          <a:ln w="9525">
            <a:solidFill>
              <a:schemeClr val="accent5"/>
            </a:solidFill>
            <a:prstDash val="solid"/>
          </a:ln>
        </p:spPr>
      </p:sp>
      <p:sp>
        <p:nvSpPr>
          <p:cNvPr id="22" name="text-43"/>
          <p:cNvSpPr txBox="1"/>
          <p:nvPr/>
        </p:nvSpPr>
        <p:spPr>
          <a:xfrm>
            <a:off x="6507328" y="4846320"/>
            <a:ext cx="2019224" cy="548640"/>
          </a:xfrm>
          <a:prstGeom prst="rect">
            <a:avLst/>
          </a:prstGeom>
          <a:noFill/>
          <a:ln/>
        </p:spPr>
        <p:txBody>
          <a:bodyPr wrap="square" lIns="0" tIns="0" rIns="0" bIns="0" rtlCol="0" anchor="t"/>
          <a:lstStyle/>
          <a:p>
            <a:pPr indent="0" marL="0">
              <a:buNone/>
            </a:pPr>
            <a:r>
              <a:rPr lang="en-US" sz="3000" b="1" dirty="0">
                <a:solidFill>
                  <a:schemeClr val="tx1"/>
                </a:solidFill>
                <a:latin typeface="+mj-lt" pitchFamily="34" charset="0"/>
                <a:ea typeface="+mj-lt" pitchFamily="34" charset="-122"/>
                <a:cs typeface="+mj-lt" pitchFamily="34" charset="-120"/>
              </a:rPr>
              <a:t>1.05M</a:t>
            </a:r>
            <a:endParaRPr lang="en-US" sz="3000" dirty="0"/>
          </a:p>
        </p:txBody>
      </p:sp>
      <p:sp>
        <p:nvSpPr>
          <p:cNvPr id="23" name="text-44"/>
          <p:cNvSpPr txBox="1"/>
          <p:nvPr/>
        </p:nvSpPr>
        <p:spPr>
          <a:xfrm>
            <a:off x="6507328" y="5394960"/>
            <a:ext cx="2019224" cy="320040"/>
          </a:xfrm>
          <a:prstGeom prst="rect">
            <a:avLst/>
          </a:prstGeom>
          <a:noFill/>
          <a:ln/>
        </p:spPr>
        <p:txBody>
          <a:bodyPr wrap="square" lIns="0" tIns="0" rIns="0" bIns="0" rtlCol="0" anchor="t"/>
          <a:lstStyle/>
          <a:p>
            <a:pPr indent="0" marL="0">
              <a:buNone/>
            </a:pPr>
            <a:r>
              <a:rPr lang="en-US" sz="1400" dirty="0">
                <a:solidFill>
                  <a:schemeClr val="accent4"/>
                </a:solidFill>
              </a:rPr>
              <a:t>transactions</a:t>
            </a:r>
            <a:endParaRPr lang="en-US" sz="1400" dirty="0"/>
          </a:p>
        </p:txBody>
      </p:sp>
      <p:sp>
        <p:nvSpPr>
          <p:cNvPr id="24" name="card-45"/>
          <p:cNvSpPr/>
          <p:nvPr/>
        </p:nvSpPr>
        <p:spPr>
          <a:xfrm>
            <a:off x="9075191" y="4709160"/>
            <a:ext cx="2567864" cy="1188720"/>
          </a:xfrm>
          <a:prstGeom prst="roundRect">
            <a:avLst>
              <a:gd name="adj" fmla="val 6154"/>
            </a:avLst>
          </a:prstGeom>
          <a:solidFill>
            <a:schemeClr val="bg1"/>
          </a:solidFill>
          <a:ln w="9525">
            <a:solidFill>
              <a:schemeClr val="accent5"/>
            </a:solidFill>
            <a:prstDash val="solid"/>
          </a:ln>
        </p:spPr>
      </p:sp>
      <p:sp>
        <p:nvSpPr>
          <p:cNvPr id="25" name="text-46"/>
          <p:cNvSpPr txBox="1"/>
          <p:nvPr/>
        </p:nvSpPr>
        <p:spPr>
          <a:xfrm>
            <a:off x="9349511" y="4846320"/>
            <a:ext cx="2019224" cy="548640"/>
          </a:xfrm>
          <a:prstGeom prst="rect">
            <a:avLst/>
          </a:prstGeom>
          <a:noFill/>
          <a:ln/>
        </p:spPr>
        <p:txBody>
          <a:bodyPr wrap="square" lIns="0" tIns="0" rIns="0" bIns="0" rtlCol="0" anchor="t"/>
          <a:lstStyle/>
          <a:p>
            <a:pPr indent="0" marL="0">
              <a:buNone/>
            </a:pPr>
            <a:r>
              <a:rPr lang="en-US" sz="3000" b="1" dirty="0">
                <a:solidFill>
                  <a:schemeClr val="tx1"/>
                </a:solidFill>
                <a:latin typeface="+mj-lt" pitchFamily="34" charset="0"/>
                <a:ea typeface="+mj-lt" pitchFamily="34" charset="-122"/>
                <a:cs typeface="+mj-lt" pitchFamily="34" charset="-120"/>
              </a:rPr>
              <a:t>682</a:t>
            </a:r>
            <a:endParaRPr lang="en-US" sz="3000" dirty="0"/>
          </a:p>
        </p:txBody>
      </p:sp>
      <p:sp>
        <p:nvSpPr>
          <p:cNvPr id="26" name="text-47"/>
          <p:cNvSpPr txBox="1"/>
          <p:nvPr/>
        </p:nvSpPr>
        <p:spPr>
          <a:xfrm>
            <a:off x="9349511" y="5394960"/>
            <a:ext cx="2019224" cy="320040"/>
          </a:xfrm>
          <a:prstGeom prst="rect">
            <a:avLst/>
          </a:prstGeom>
          <a:noFill/>
          <a:ln/>
        </p:spPr>
        <p:txBody>
          <a:bodyPr wrap="square" lIns="0" tIns="0" rIns="0" bIns="0" rtlCol="0" anchor="t"/>
          <a:lstStyle/>
          <a:p>
            <a:pPr indent="0" marL="0">
              <a:buNone/>
            </a:pPr>
            <a:r>
              <a:rPr lang="en-US" sz="1400" dirty="0">
                <a:solidFill>
                  <a:schemeClr val="accent4"/>
                </a:solidFill>
              </a:rPr>
              <a:t>loans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Project Goals</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One clear problem, one decision owner, and a scope the data can answer</a:t>
            </a:r>
            <a:endParaRPr lang="en-US" sz="1500" dirty="0"/>
          </a:p>
        </p:txBody>
      </p:sp>
      <p:sp>
        <p:nvSpPr>
          <p:cNvPr id="5" name="card-48"/>
          <p:cNvSpPr/>
          <p:nvPr/>
        </p:nvSpPr>
        <p:spPr>
          <a:xfrm>
            <a:off x="548640" y="1600200"/>
            <a:ext cx="11094415" cy="1188720"/>
          </a:xfrm>
          <a:prstGeom prst="roundRect">
            <a:avLst>
              <a:gd name="adj" fmla="val 6154"/>
            </a:avLst>
          </a:prstGeom>
          <a:solidFill>
            <a:schemeClr val="tx1"/>
          </a:solidFill>
          <a:ln/>
        </p:spPr>
      </p:sp>
      <p:sp>
        <p:nvSpPr>
          <p:cNvPr id="6" name="text-49"/>
          <p:cNvSpPr txBox="1"/>
          <p:nvPr/>
        </p:nvSpPr>
        <p:spPr>
          <a:xfrm>
            <a:off x="868680" y="1783080"/>
            <a:ext cx="10058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PROBLEM STATEMENT</a:t>
            </a:r>
            <a:endParaRPr lang="en-US" sz="1200" dirty="0"/>
          </a:p>
        </p:txBody>
      </p:sp>
      <p:sp>
        <p:nvSpPr>
          <p:cNvPr id="7" name="text-50"/>
          <p:cNvSpPr txBox="1"/>
          <p:nvPr/>
        </p:nvSpPr>
        <p:spPr>
          <a:xfrm>
            <a:off x="868680" y="2084832"/>
            <a:ext cx="10454335" cy="594360"/>
          </a:xfrm>
          <a:prstGeom prst="rect">
            <a:avLst/>
          </a:prstGeom>
          <a:noFill/>
          <a:ln/>
        </p:spPr>
        <p:txBody>
          <a:bodyPr wrap="square" lIns="0" tIns="0" rIns="0" bIns="0" rtlCol="0" anchor="t"/>
          <a:lstStyle/>
          <a:p>
            <a:pPr indent="0" marL="0">
              <a:buNone/>
            </a:pPr>
            <a:r>
              <a:rPr lang="en-US" sz="1600" dirty="0">
                <a:solidFill>
                  <a:schemeClr val="bg1"/>
                </a:solidFill>
              </a:rPr>
              <a:t>How can the credit team reduce Berka's problematic loan rate from 11% to below 5% within 12 months by identifying risk patterns in pre-loan transaction and account data?</a:t>
            </a:r>
            <a:endParaRPr lang="en-US" sz="1600" dirty="0"/>
          </a:p>
        </p:txBody>
      </p:sp>
      <p:sp>
        <p:nvSpPr>
          <p:cNvPr id="8" name="text-51"/>
          <p:cNvSpPr txBox="1"/>
          <p:nvPr/>
        </p:nvSpPr>
        <p:spPr>
          <a:xfrm>
            <a:off x="548640" y="3017520"/>
            <a:ext cx="594360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Who is involved (DARCI)</a:t>
            </a:r>
            <a:endParaRPr lang="en-US" sz="2000" dirty="0"/>
          </a:p>
        </p:txBody>
      </p:sp>
      <p:sp>
        <p:nvSpPr>
          <p:cNvPr id="9" name="circle-52"/>
          <p:cNvSpPr/>
          <p:nvPr/>
        </p:nvSpPr>
        <p:spPr>
          <a:xfrm>
            <a:off x="548640" y="3520440"/>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0" name="text-53"/>
          <p:cNvSpPr txBox="1"/>
          <p:nvPr/>
        </p:nvSpPr>
        <p:spPr>
          <a:xfrm>
            <a:off x="1097280" y="3575304"/>
            <a:ext cx="1554480" cy="292608"/>
          </a:xfrm>
          <a:prstGeom prst="rect">
            <a:avLst/>
          </a:prstGeom>
          <a:noFill/>
          <a:ln/>
        </p:spPr>
        <p:txBody>
          <a:bodyPr wrap="square" lIns="0" tIns="0" rIns="0" bIns="0" rtlCol="0" anchor="t"/>
          <a:lstStyle/>
          <a:p>
            <a:pPr indent="0" marL="0">
              <a:buNone/>
            </a:pPr>
            <a:r>
              <a:rPr lang="en-US" sz="1500" b="1" dirty="0">
                <a:solidFill>
                  <a:schemeClr val="tx1"/>
                </a:solidFill>
              </a:rPr>
              <a:t>Decider</a:t>
            </a:r>
            <a:endParaRPr lang="en-US" sz="1500" dirty="0"/>
          </a:p>
        </p:txBody>
      </p:sp>
      <p:sp>
        <p:nvSpPr>
          <p:cNvPr id="11" name="text-54"/>
          <p:cNvSpPr txBox="1"/>
          <p:nvPr/>
        </p:nvSpPr>
        <p:spPr>
          <a:xfrm>
            <a:off x="2697480" y="3575304"/>
            <a:ext cx="3931920" cy="292608"/>
          </a:xfrm>
          <a:prstGeom prst="rect">
            <a:avLst/>
          </a:prstGeom>
          <a:noFill/>
          <a:ln/>
        </p:spPr>
        <p:txBody>
          <a:bodyPr wrap="square" lIns="0" tIns="0" rIns="0" bIns="0" rtlCol="0" anchor="t"/>
          <a:lstStyle/>
          <a:p>
            <a:pPr indent="0" marL="0">
              <a:buNone/>
            </a:pPr>
            <a:r>
              <a:rPr lang="en-US" sz="1500" dirty="0">
                <a:solidFill>
                  <a:schemeClr val="tx1"/>
                </a:solidFill>
              </a:rPr>
              <a:t>Head of Credit Risk</a:t>
            </a:r>
            <a:endParaRPr lang="en-US" sz="1500" dirty="0"/>
          </a:p>
        </p:txBody>
      </p:sp>
      <p:sp>
        <p:nvSpPr>
          <p:cNvPr id="12" name="circle-55"/>
          <p:cNvSpPr/>
          <p:nvPr/>
        </p:nvSpPr>
        <p:spPr>
          <a:xfrm>
            <a:off x="548640" y="4032504"/>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3" name="text-56"/>
          <p:cNvSpPr txBox="1"/>
          <p:nvPr/>
        </p:nvSpPr>
        <p:spPr>
          <a:xfrm>
            <a:off x="1097280" y="4087368"/>
            <a:ext cx="1554480" cy="292608"/>
          </a:xfrm>
          <a:prstGeom prst="rect">
            <a:avLst/>
          </a:prstGeom>
          <a:noFill/>
          <a:ln/>
        </p:spPr>
        <p:txBody>
          <a:bodyPr wrap="square" lIns="0" tIns="0" rIns="0" bIns="0" rtlCol="0" anchor="t"/>
          <a:lstStyle/>
          <a:p>
            <a:pPr indent="0" marL="0">
              <a:buNone/>
            </a:pPr>
            <a:r>
              <a:rPr lang="en-US" sz="1500" b="1" dirty="0">
                <a:solidFill>
                  <a:schemeClr val="tx1"/>
                </a:solidFill>
              </a:rPr>
              <a:t>Accountable</a:t>
            </a:r>
            <a:endParaRPr lang="en-US" sz="1500" dirty="0"/>
          </a:p>
        </p:txBody>
      </p:sp>
      <p:sp>
        <p:nvSpPr>
          <p:cNvPr id="14" name="text-57"/>
          <p:cNvSpPr txBox="1"/>
          <p:nvPr/>
        </p:nvSpPr>
        <p:spPr>
          <a:xfrm>
            <a:off x="2697480" y="4087368"/>
            <a:ext cx="3931920" cy="292608"/>
          </a:xfrm>
          <a:prstGeom prst="rect">
            <a:avLst/>
          </a:prstGeom>
          <a:noFill/>
          <a:ln/>
        </p:spPr>
        <p:txBody>
          <a:bodyPr wrap="square" lIns="0" tIns="0" rIns="0" bIns="0" rtlCol="0" anchor="t"/>
          <a:lstStyle/>
          <a:p>
            <a:pPr indent="0" marL="0">
              <a:buNone/>
            </a:pPr>
            <a:r>
              <a:rPr lang="en-US" sz="1500" dirty="0">
                <a:solidFill>
                  <a:schemeClr val="tx1"/>
                </a:solidFill>
              </a:rPr>
              <a:t>Credit Risk Manager</a:t>
            </a:r>
            <a:endParaRPr lang="en-US" sz="1500" dirty="0"/>
          </a:p>
        </p:txBody>
      </p:sp>
      <p:sp>
        <p:nvSpPr>
          <p:cNvPr id="15" name="circle-58"/>
          <p:cNvSpPr/>
          <p:nvPr/>
        </p:nvSpPr>
        <p:spPr>
          <a:xfrm>
            <a:off x="548640" y="4544568"/>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R</a:t>
            </a:r>
            <a:endParaRPr lang="en-US" sz="1300" dirty="0"/>
          </a:p>
        </p:txBody>
      </p:sp>
      <p:sp>
        <p:nvSpPr>
          <p:cNvPr id="16" name="text-59"/>
          <p:cNvSpPr txBox="1"/>
          <p:nvPr/>
        </p:nvSpPr>
        <p:spPr>
          <a:xfrm>
            <a:off x="1097280" y="4599432"/>
            <a:ext cx="1554480" cy="292608"/>
          </a:xfrm>
          <a:prstGeom prst="rect">
            <a:avLst/>
          </a:prstGeom>
          <a:noFill/>
          <a:ln/>
        </p:spPr>
        <p:txBody>
          <a:bodyPr wrap="square" lIns="0" tIns="0" rIns="0" bIns="0" rtlCol="0" anchor="t"/>
          <a:lstStyle/>
          <a:p>
            <a:pPr indent="0" marL="0">
              <a:buNone/>
            </a:pPr>
            <a:r>
              <a:rPr lang="en-US" sz="1500" b="1" dirty="0">
                <a:solidFill>
                  <a:schemeClr val="tx1"/>
                </a:solidFill>
              </a:rPr>
              <a:t>Responsible</a:t>
            </a:r>
            <a:endParaRPr lang="en-US" sz="1500" dirty="0"/>
          </a:p>
        </p:txBody>
      </p:sp>
      <p:sp>
        <p:nvSpPr>
          <p:cNvPr id="17" name="text-60"/>
          <p:cNvSpPr txBox="1"/>
          <p:nvPr/>
        </p:nvSpPr>
        <p:spPr>
          <a:xfrm>
            <a:off x="2697480" y="4599432"/>
            <a:ext cx="3931920" cy="292608"/>
          </a:xfrm>
          <a:prstGeom prst="rect">
            <a:avLst/>
          </a:prstGeom>
          <a:noFill/>
          <a:ln/>
        </p:spPr>
        <p:txBody>
          <a:bodyPr wrap="square" lIns="0" tIns="0" rIns="0" bIns="0" rtlCol="0" anchor="t"/>
          <a:lstStyle/>
          <a:p>
            <a:pPr indent="0" marL="0">
              <a:buNone/>
            </a:pPr>
            <a:r>
              <a:rPr lang="en-US" sz="1500" dirty="0">
                <a:solidFill>
                  <a:schemeClr val="tx1"/>
                </a:solidFill>
              </a:rPr>
              <a:t>Data Analyst (me)</a:t>
            </a:r>
            <a:endParaRPr lang="en-US" sz="1500" dirty="0"/>
          </a:p>
        </p:txBody>
      </p:sp>
      <p:sp>
        <p:nvSpPr>
          <p:cNvPr id="18" name="circle-61"/>
          <p:cNvSpPr/>
          <p:nvPr/>
        </p:nvSpPr>
        <p:spPr>
          <a:xfrm>
            <a:off x="548640" y="5056632"/>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9" name="text-62"/>
          <p:cNvSpPr txBox="1"/>
          <p:nvPr/>
        </p:nvSpPr>
        <p:spPr>
          <a:xfrm>
            <a:off x="1097280" y="5111496"/>
            <a:ext cx="1554480" cy="292608"/>
          </a:xfrm>
          <a:prstGeom prst="rect">
            <a:avLst/>
          </a:prstGeom>
          <a:noFill/>
          <a:ln/>
        </p:spPr>
        <p:txBody>
          <a:bodyPr wrap="square" lIns="0" tIns="0" rIns="0" bIns="0" rtlCol="0" anchor="t"/>
          <a:lstStyle/>
          <a:p>
            <a:pPr indent="0" marL="0">
              <a:buNone/>
            </a:pPr>
            <a:r>
              <a:rPr lang="en-US" sz="1500" b="1" dirty="0">
                <a:solidFill>
                  <a:schemeClr val="tx1"/>
                </a:solidFill>
              </a:rPr>
              <a:t>Consulted</a:t>
            </a:r>
            <a:endParaRPr lang="en-US" sz="1500" dirty="0"/>
          </a:p>
        </p:txBody>
      </p:sp>
      <p:sp>
        <p:nvSpPr>
          <p:cNvPr id="20" name="text-63"/>
          <p:cNvSpPr txBox="1"/>
          <p:nvPr/>
        </p:nvSpPr>
        <p:spPr>
          <a:xfrm>
            <a:off x="2697480" y="5111496"/>
            <a:ext cx="3931920" cy="292608"/>
          </a:xfrm>
          <a:prstGeom prst="rect">
            <a:avLst/>
          </a:prstGeom>
          <a:noFill/>
          <a:ln/>
        </p:spPr>
        <p:txBody>
          <a:bodyPr wrap="square" lIns="0" tIns="0" rIns="0" bIns="0" rtlCol="0" anchor="t"/>
          <a:lstStyle/>
          <a:p>
            <a:pPr indent="0" marL="0">
              <a:buNone/>
            </a:pPr>
            <a:r>
              <a:rPr lang="en-US" sz="1500" dirty="0">
                <a:solidFill>
                  <a:schemeClr val="tx1"/>
                </a:solidFill>
              </a:rPr>
              <a:t>Loan Officers, Collections Team</a:t>
            </a:r>
            <a:endParaRPr lang="en-US" sz="1500" dirty="0"/>
          </a:p>
        </p:txBody>
      </p:sp>
      <p:sp>
        <p:nvSpPr>
          <p:cNvPr id="21" name="circle-64"/>
          <p:cNvSpPr/>
          <p:nvPr/>
        </p:nvSpPr>
        <p:spPr>
          <a:xfrm>
            <a:off x="548640" y="5568696"/>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I</a:t>
            </a:r>
            <a:endParaRPr lang="en-US" sz="1300" dirty="0"/>
          </a:p>
        </p:txBody>
      </p:sp>
      <p:sp>
        <p:nvSpPr>
          <p:cNvPr id="22" name="text-65"/>
          <p:cNvSpPr txBox="1"/>
          <p:nvPr/>
        </p:nvSpPr>
        <p:spPr>
          <a:xfrm>
            <a:off x="1097280" y="5623560"/>
            <a:ext cx="1554480" cy="292608"/>
          </a:xfrm>
          <a:prstGeom prst="rect">
            <a:avLst/>
          </a:prstGeom>
          <a:noFill/>
          <a:ln/>
        </p:spPr>
        <p:txBody>
          <a:bodyPr wrap="square" lIns="0" tIns="0" rIns="0" bIns="0" rtlCol="0" anchor="t"/>
          <a:lstStyle/>
          <a:p>
            <a:pPr indent="0" marL="0">
              <a:buNone/>
            </a:pPr>
            <a:r>
              <a:rPr lang="en-US" sz="1500" b="1" dirty="0">
                <a:solidFill>
                  <a:schemeClr val="tx1"/>
                </a:solidFill>
              </a:rPr>
              <a:t>Informed</a:t>
            </a:r>
            <a:endParaRPr lang="en-US" sz="1500" dirty="0"/>
          </a:p>
        </p:txBody>
      </p:sp>
      <p:sp>
        <p:nvSpPr>
          <p:cNvPr id="23" name="text-66"/>
          <p:cNvSpPr txBox="1"/>
          <p:nvPr/>
        </p:nvSpPr>
        <p:spPr>
          <a:xfrm>
            <a:off x="2697480" y="5623560"/>
            <a:ext cx="3931920" cy="292608"/>
          </a:xfrm>
          <a:prstGeom prst="rect">
            <a:avLst/>
          </a:prstGeom>
          <a:noFill/>
          <a:ln/>
        </p:spPr>
        <p:txBody>
          <a:bodyPr wrap="square" lIns="0" tIns="0" rIns="0" bIns="0" rtlCol="0" anchor="t"/>
          <a:lstStyle/>
          <a:p>
            <a:pPr indent="0" marL="0">
              <a:buNone/>
            </a:pPr>
            <a:r>
              <a:rPr lang="en-US" sz="1500" dirty="0">
                <a:solidFill>
                  <a:schemeClr val="tx1"/>
                </a:solidFill>
              </a:rPr>
              <a:t>Senior Management, Branch Heads</a:t>
            </a:r>
            <a:endParaRPr lang="en-US" sz="1500" dirty="0"/>
          </a:p>
        </p:txBody>
      </p:sp>
      <p:sp>
        <p:nvSpPr>
          <p:cNvPr id="24" name="text-67"/>
          <p:cNvSpPr txBox="1"/>
          <p:nvPr/>
        </p:nvSpPr>
        <p:spPr>
          <a:xfrm>
            <a:off x="6949440" y="3017520"/>
            <a:ext cx="457200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Scope</a:t>
            </a:r>
            <a:endParaRPr lang="en-US" sz="2000" dirty="0"/>
          </a:p>
        </p:txBody>
      </p:sp>
      <p:sp>
        <p:nvSpPr>
          <p:cNvPr id="25" name="card-68"/>
          <p:cNvSpPr/>
          <p:nvPr/>
        </p:nvSpPr>
        <p:spPr>
          <a:xfrm>
            <a:off x="6949440" y="3520440"/>
            <a:ext cx="4693615" cy="1097280"/>
          </a:xfrm>
          <a:prstGeom prst="roundRect">
            <a:avLst>
              <a:gd name="adj" fmla="val 6667"/>
            </a:avLst>
          </a:prstGeom>
          <a:solidFill>
            <a:schemeClr val="bg1"/>
          </a:solidFill>
          <a:ln w="9525">
            <a:solidFill>
              <a:schemeClr val="accent5"/>
            </a:solidFill>
            <a:prstDash val="solid"/>
          </a:ln>
        </p:spPr>
      </p:sp>
      <p:sp>
        <p:nvSpPr>
          <p:cNvPr id="26" name="text-69"/>
          <p:cNvSpPr txBox="1"/>
          <p:nvPr/>
        </p:nvSpPr>
        <p:spPr>
          <a:xfrm>
            <a:off x="7223760" y="3703320"/>
            <a:ext cx="41148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IN SCOPE</a:t>
            </a:r>
            <a:endParaRPr lang="en-US" sz="1200" dirty="0"/>
          </a:p>
        </p:txBody>
      </p:sp>
      <p:sp>
        <p:nvSpPr>
          <p:cNvPr id="27" name="text-70"/>
          <p:cNvSpPr txBox="1"/>
          <p:nvPr/>
        </p:nvSpPr>
        <p:spPr>
          <a:xfrm>
            <a:off x="7223760" y="3977640"/>
            <a:ext cx="4144975" cy="640080"/>
          </a:xfrm>
          <a:prstGeom prst="rect">
            <a:avLst/>
          </a:prstGeom>
          <a:noFill/>
          <a:ln/>
        </p:spPr>
        <p:txBody>
          <a:bodyPr wrap="square" lIns="0" tIns="0" rIns="0" bIns="0" rtlCol="0" anchor="t"/>
          <a:lstStyle/>
          <a:p>
            <a:pPr indent="0" marL="0">
              <a:buNone/>
            </a:pPr>
            <a:r>
              <a:rPr lang="en-US" sz="1400" dirty="0">
                <a:solidFill>
                  <a:schemeClr val="tx1"/>
                </a:solidFill>
              </a:rPr>
              <a:t>Pre-loan transactions, account and loan activity, and good (A, C) vs problematic (B, D) loan outcomes.</a:t>
            </a:r>
            <a:endParaRPr lang="en-US" sz="1400" dirty="0"/>
          </a:p>
        </p:txBody>
      </p:sp>
      <p:sp>
        <p:nvSpPr>
          <p:cNvPr id="28" name="card-71"/>
          <p:cNvSpPr/>
          <p:nvPr/>
        </p:nvSpPr>
        <p:spPr>
          <a:xfrm>
            <a:off x="6949440" y="4892040"/>
            <a:ext cx="4693615" cy="1097280"/>
          </a:xfrm>
          <a:prstGeom prst="roundRect">
            <a:avLst>
              <a:gd name="adj" fmla="val 6667"/>
            </a:avLst>
          </a:prstGeom>
          <a:solidFill>
            <a:schemeClr val="bg1"/>
          </a:solidFill>
          <a:ln w="9525">
            <a:solidFill>
              <a:schemeClr val="accent5"/>
            </a:solidFill>
            <a:prstDash val="solid"/>
          </a:ln>
        </p:spPr>
      </p:sp>
      <p:sp>
        <p:nvSpPr>
          <p:cNvPr id="29" name="text-72"/>
          <p:cNvSpPr txBox="1"/>
          <p:nvPr/>
        </p:nvSpPr>
        <p:spPr>
          <a:xfrm>
            <a:off x="7223760" y="5074920"/>
            <a:ext cx="41148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OUT OF SCOPE</a:t>
            </a:r>
            <a:endParaRPr lang="en-US" sz="1200" dirty="0"/>
          </a:p>
        </p:txBody>
      </p:sp>
      <p:sp>
        <p:nvSpPr>
          <p:cNvPr id="30" name="text-73"/>
          <p:cNvSpPr txBox="1"/>
          <p:nvPr/>
        </p:nvSpPr>
        <p:spPr>
          <a:xfrm>
            <a:off x="7223760" y="5349240"/>
            <a:ext cx="4144975" cy="640080"/>
          </a:xfrm>
          <a:prstGeom prst="rect">
            <a:avLst/>
          </a:prstGeom>
          <a:noFill/>
          <a:ln/>
        </p:spPr>
        <p:txBody>
          <a:bodyPr wrap="square" lIns="0" tIns="0" rIns="0" bIns="0" rtlCol="0" anchor="t"/>
          <a:lstStyle/>
          <a:p>
            <a:pPr indent="0" marL="0">
              <a:buNone/>
            </a:pPr>
            <a:r>
              <a:rPr lang="en-US" sz="1400" dirty="0">
                <a:solidFill>
                  <a:schemeClr val="tx1"/>
                </a:solidFill>
              </a:rPr>
              <a:t>Revenue and profit, customer satisfaction, and marketing channels. None of these are in the data.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Root Cause Analysis</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Four measurable ways a borrower can slip into trouble</a:t>
            </a:r>
            <a:endParaRPr lang="en-US" sz="1500" dirty="0"/>
          </a:p>
        </p:txBody>
      </p:sp>
      <p:sp>
        <p:nvSpPr>
          <p:cNvPr id="5" name="line-74"/>
          <p:cNvSpPr/>
          <p:nvPr/>
        </p:nvSpPr>
        <p:spPr>
          <a:xfrm>
            <a:off x="3474720" y="3703320"/>
            <a:ext cx="365760" cy="0"/>
          </a:xfrm>
          <a:prstGeom prst="line">
            <a:avLst/>
          </a:prstGeom>
          <a:noFill/>
          <a:ln w="19050">
            <a:solidFill>
              <a:schemeClr val="accent5"/>
            </a:solidFill>
            <a:prstDash val="solid"/>
          </a:ln>
        </p:spPr>
      </p:sp>
      <p:sp>
        <p:nvSpPr>
          <p:cNvPr id="6" name="line-75"/>
          <p:cNvSpPr/>
          <p:nvPr/>
        </p:nvSpPr>
        <p:spPr>
          <a:xfrm>
            <a:off x="3840480" y="2057400"/>
            <a:ext cx="0" cy="3291840"/>
          </a:xfrm>
          <a:prstGeom prst="line">
            <a:avLst/>
          </a:prstGeom>
          <a:noFill/>
          <a:ln w="19050">
            <a:solidFill>
              <a:schemeClr val="accent5"/>
            </a:solidFill>
            <a:prstDash val="solid"/>
          </a:ln>
        </p:spPr>
      </p:sp>
      <p:sp>
        <p:nvSpPr>
          <p:cNvPr id="7" name="line-76"/>
          <p:cNvSpPr/>
          <p:nvPr/>
        </p:nvSpPr>
        <p:spPr>
          <a:xfrm>
            <a:off x="3840480" y="2057400"/>
            <a:ext cx="365760" cy="0"/>
          </a:xfrm>
          <a:prstGeom prst="line">
            <a:avLst/>
          </a:prstGeom>
          <a:noFill/>
          <a:ln w="19050">
            <a:solidFill>
              <a:schemeClr val="accent5"/>
            </a:solidFill>
            <a:prstDash val="solid"/>
          </a:ln>
        </p:spPr>
      </p:sp>
      <p:sp>
        <p:nvSpPr>
          <p:cNvPr id="8" name="line-77"/>
          <p:cNvSpPr/>
          <p:nvPr/>
        </p:nvSpPr>
        <p:spPr>
          <a:xfrm>
            <a:off x="3840480" y="3154680"/>
            <a:ext cx="365760" cy="0"/>
          </a:xfrm>
          <a:prstGeom prst="line">
            <a:avLst/>
          </a:prstGeom>
          <a:noFill/>
          <a:ln w="19050">
            <a:solidFill>
              <a:schemeClr val="accent5"/>
            </a:solidFill>
            <a:prstDash val="solid"/>
          </a:ln>
        </p:spPr>
      </p:sp>
      <p:sp>
        <p:nvSpPr>
          <p:cNvPr id="9" name="line-78"/>
          <p:cNvSpPr/>
          <p:nvPr/>
        </p:nvSpPr>
        <p:spPr>
          <a:xfrm>
            <a:off x="3840480" y="4251960"/>
            <a:ext cx="365760" cy="0"/>
          </a:xfrm>
          <a:prstGeom prst="line">
            <a:avLst/>
          </a:prstGeom>
          <a:noFill/>
          <a:ln w="19050">
            <a:solidFill>
              <a:schemeClr val="accent5"/>
            </a:solidFill>
            <a:prstDash val="solid"/>
          </a:ln>
        </p:spPr>
      </p:sp>
      <p:sp>
        <p:nvSpPr>
          <p:cNvPr id="10" name="line-79"/>
          <p:cNvSpPr/>
          <p:nvPr/>
        </p:nvSpPr>
        <p:spPr>
          <a:xfrm>
            <a:off x="3840480" y="5349240"/>
            <a:ext cx="365760" cy="0"/>
          </a:xfrm>
          <a:prstGeom prst="line">
            <a:avLst/>
          </a:prstGeom>
          <a:noFill/>
          <a:ln w="19050">
            <a:solidFill>
              <a:schemeClr val="accent5"/>
            </a:solidFill>
            <a:prstDash val="solid"/>
          </a:ln>
        </p:spPr>
      </p:sp>
      <p:sp>
        <p:nvSpPr>
          <p:cNvPr id="11" name="card-80"/>
          <p:cNvSpPr/>
          <p:nvPr/>
        </p:nvSpPr>
        <p:spPr>
          <a:xfrm>
            <a:off x="548640" y="2834640"/>
            <a:ext cx="2926080" cy="1737360"/>
          </a:xfrm>
          <a:prstGeom prst="roundRect">
            <a:avLst>
              <a:gd name="adj" fmla="val 4211"/>
            </a:avLst>
          </a:prstGeom>
          <a:solidFill>
            <a:schemeClr val="tx1"/>
          </a:solidFill>
          <a:ln/>
        </p:spPr>
      </p:sp>
      <p:sp>
        <p:nvSpPr>
          <p:cNvPr id="12" name="text-81"/>
          <p:cNvSpPr txBox="1"/>
          <p:nvPr/>
        </p:nvSpPr>
        <p:spPr>
          <a:xfrm>
            <a:off x="822960" y="3017520"/>
            <a:ext cx="2377440" cy="320040"/>
          </a:xfrm>
          <a:prstGeom prst="rect">
            <a:avLst/>
          </a:prstGeom>
          <a:noFill/>
          <a:ln/>
        </p:spPr>
        <p:txBody>
          <a:bodyPr wrap="square" lIns="0" tIns="0" rIns="0" bIns="0" rtlCol="0" anchor="t"/>
          <a:lstStyle/>
          <a:p>
            <a:pPr indent="0" marL="0">
              <a:buNone/>
            </a:pPr>
            <a:r>
              <a:rPr lang="en-US" sz="1600" b="1" dirty="0">
                <a:solidFill>
                  <a:schemeClr val="bg1"/>
                </a:solidFill>
              </a:rPr>
              <a:t>Problematic loans</a:t>
            </a:r>
            <a:endParaRPr lang="en-US" sz="1600" dirty="0"/>
          </a:p>
        </p:txBody>
      </p:sp>
      <p:sp>
        <p:nvSpPr>
          <p:cNvPr id="13" name="text-82"/>
          <p:cNvSpPr txBox="1"/>
          <p:nvPr/>
        </p:nvSpPr>
        <p:spPr>
          <a:xfrm>
            <a:off x="822960" y="3383280"/>
            <a:ext cx="2377440" cy="68580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11.1%</a:t>
            </a:r>
            <a:endParaRPr lang="en-US" sz="4000" dirty="0"/>
          </a:p>
        </p:txBody>
      </p:sp>
      <p:sp>
        <p:nvSpPr>
          <p:cNvPr id="14" name="text-83"/>
          <p:cNvSpPr txBox="1"/>
          <p:nvPr/>
        </p:nvSpPr>
        <p:spPr>
          <a:xfrm>
            <a:off x="822960" y="4114800"/>
            <a:ext cx="2377440" cy="320040"/>
          </a:xfrm>
          <a:prstGeom prst="rect">
            <a:avLst/>
          </a:prstGeom>
          <a:noFill/>
          <a:ln/>
        </p:spPr>
        <p:txBody>
          <a:bodyPr wrap="square" lIns="0" tIns="0" rIns="0" bIns="0" rtlCol="0" anchor="t"/>
          <a:lstStyle/>
          <a:p>
            <a:pPr indent="0" marL="0">
              <a:buNone/>
            </a:pPr>
            <a:r>
              <a:rPr lang="en-US" sz="1400" dirty="0">
                <a:solidFill>
                  <a:schemeClr val="accent5"/>
                </a:solidFill>
              </a:rPr>
              <a:t>76 of 682 loans</a:t>
            </a:r>
            <a:endParaRPr lang="en-US" sz="1400" dirty="0"/>
          </a:p>
        </p:txBody>
      </p:sp>
      <p:sp>
        <p:nvSpPr>
          <p:cNvPr id="15" name="card-84"/>
          <p:cNvSpPr/>
          <p:nvPr/>
        </p:nvSpPr>
        <p:spPr>
          <a:xfrm>
            <a:off x="4206240" y="1600200"/>
            <a:ext cx="7436815" cy="914400"/>
          </a:xfrm>
          <a:prstGeom prst="roundRect">
            <a:avLst>
              <a:gd name="adj" fmla="val 8000"/>
            </a:avLst>
          </a:prstGeom>
          <a:solidFill>
            <a:schemeClr val="bg1"/>
          </a:solidFill>
          <a:ln w="9525">
            <a:solidFill>
              <a:schemeClr val="accent5"/>
            </a:solidFill>
            <a:prstDash val="solid"/>
          </a:ln>
        </p:spPr>
      </p:sp>
      <p:sp>
        <p:nvSpPr>
          <p:cNvPr id="16" name="circle-85"/>
          <p:cNvSpPr/>
          <p:nvPr/>
        </p:nvSpPr>
        <p:spPr>
          <a:xfrm>
            <a:off x="4480560" y="18516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86"/>
          <p:cNvSpPr txBox="1"/>
          <p:nvPr/>
        </p:nvSpPr>
        <p:spPr>
          <a:xfrm>
            <a:off x="5120640" y="1737360"/>
            <a:ext cx="6217920" cy="320040"/>
          </a:xfrm>
          <a:prstGeom prst="rect">
            <a:avLst/>
          </a:prstGeom>
          <a:noFill/>
          <a:ln/>
        </p:spPr>
        <p:txBody>
          <a:bodyPr wrap="square" lIns="0" tIns="0" rIns="0" bIns="0" rtlCol="0" anchor="t"/>
          <a:lstStyle/>
          <a:p>
            <a:pPr indent="0" marL="0">
              <a:buNone/>
            </a:pPr>
            <a:r>
              <a:rPr lang="en-US" sz="1600" b="1" dirty="0">
                <a:solidFill>
                  <a:schemeClr val="tx1"/>
                </a:solidFill>
              </a:rPr>
              <a:t>Weak account liquidity</a:t>
            </a:r>
            <a:endParaRPr lang="en-US" sz="1600" dirty="0"/>
          </a:p>
        </p:txBody>
      </p:sp>
      <p:sp>
        <p:nvSpPr>
          <p:cNvPr id="18" name="text-87"/>
          <p:cNvSpPr txBox="1"/>
          <p:nvPr/>
        </p:nvSpPr>
        <p:spPr>
          <a:xfrm>
            <a:off x="5120640" y="2075688"/>
            <a:ext cx="6217920" cy="320040"/>
          </a:xfrm>
          <a:prstGeom prst="rect">
            <a:avLst/>
          </a:prstGeom>
          <a:noFill/>
          <a:ln/>
        </p:spPr>
        <p:txBody>
          <a:bodyPr wrap="square" lIns="0" tIns="0" rIns="0" bIns="0" rtlCol="0" anchor="t"/>
          <a:lstStyle/>
          <a:p>
            <a:pPr indent="0" marL="0">
              <a:buNone/>
            </a:pPr>
            <a:r>
              <a:rPr lang="en-US" sz="1400" dirty="0">
                <a:solidFill>
                  <a:schemeClr val="accent4"/>
                </a:solidFill>
              </a:rPr>
              <a:t>The savings cushion is thin, the balance often close to zero</a:t>
            </a:r>
            <a:endParaRPr lang="en-US" sz="1400" dirty="0"/>
          </a:p>
        </p:txBody>
      </p:sp>
      <p:sp>
        <p:nvSpPr>
          <p:cNvPr id="19" name="card-88"/>
          <p:cNvSpPr/>
          <p:nvPr/>
        </p:nvSpPr>
        <p:spPr>
          <a:xfrm>
            <a:off x="4206240" y="2697480"/>
            <a:ext cx="7436815" cy="914400"/>
          </a:xfrm>
          <a:prstGeom prst="roundRect">
            <a:avLst>
              <a:gd name="adj" fmla="val 8000"/>
            </a:avLst>
          </a:prstGeom>
          <a:solidFill>
            <a:schemeClr val="bg1"/>
          </a:solidFill>
          <a:ln w="9525">
            <a:solidFill>
              <a:schemeClr val="accent5"/>
            </a:solidFill>
            <a:prstDash val="solid"/>
          </a:ln>
        </p:spPr>
      </p:sp>
      <p:sp>
        <p:nvSpPr>
          <p:cNvPr id="20" name="circle-89"/>
          <p:cNvSpPr/>
          <p:nvPr/>
        </p:nvSpPr>
        <p:spPr>
          <a:xfrm>
            <a:off x="4480560" y="29489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1" name="text-90"/>
          <p:cNvSpPr txBox="1"/>
          <p:nvPr/>
        </p:nvSpPr>
        <p:spPr>
          <a:xfrm>
            <a:off x="5120640" y="2834640"/>
            <a:ext cx="6217920" cy="320040"/>
          </a:xfrm>
          <a:prstGeom prst="rect">
            <a:avLst/>
          </a:prstGeom>
          <a:noFill/>
          <a:ln/>
        </p:spPr>
        <p:txBody>
          <a:bodyPr wrap="square" lIns="0" tIns="0" rIns="0" bIns="0" rtlCol="0" anchor="t"/>
          <a:lstStyle/>
          <a:p>
            <a:pPr indent="0" marL="0">
              <a:buNone/>
            </a:pPr>
            <a:r>
              <a:rPr lang="en-US" sz="1600" b="1" dirty="0">
                <a:solidFill>
                  <a:schemeClr val="tx1"/>
                </a:solidFill>
              </a:rPr>
              <a:t>Cash flow strain</a:t>
            </a:r>
            <a:endParaRPr lang="en-US" sz="1600" dirty="0"/>
          </a:p>
        </p:txBody>
      </p:sp>
      <p:sp>
        <p:nvSpPr>
          <p:cNvPr id="22" name="text-91"/>
          <p:cNvSpPr txBox="1"/>
          <p:nvPr/>
        </p:nvSpPr>
        <p:spPr>
          <a:xfrm>
            <a:off x="5120640" y="3172968"/>
            <a:ext cx="6217920" cy="320040"/>
          </a:xfrm>
          <a:prstGeom prst="rect">
            <a:avLst/>
          </a:prstGeom>
          <a:noFill/>
          <a:ln/>
        </p:spPr>
        <p:txBody>
          <a:bodyPr wrap="square" lIns="0" tIns="0" rIns="0" bIns="0" rtlCol="0" anchor="t"/>
          <a:lstStyle/>
          <a:p>
            <a:pPr indent="0" marL="0">
              <a:buNone/>
            </a:pPr>
            <a:r>
              <a:rPr lang="en-US" sz="1400" dirty="0">
                <a:solidFill>
                  <a:schemeClr val="accent4"/>
                </a:solidFill>
              </a:rPr>
              <a:t>More money goes out than comes in each month</a:t>
            </a:r>
            <a:endParaRPr lang="en-US" sz="1400" dirty="0"/>
          </a:p>
        </p:txBody>
      </p:sp>
      <p:sp>
        <p:nvSpPr>
          <p:cNvPr id="23" name="card-92"/>
          <p:cNvSpPr/>
          <p:nvPr/>
        </p:nvSpPr>
        <p:spPr>
          <a:xfrm>
            <a:off x="4206240" y="3794760"/>
            <a:ext cx="7436815" cy="914400"/>
          </a:xfrm>
          <a:prstGeom prst="roundRect">
            <a:avLst>
              <a:gd name="adj" fmla="val 8000"/>
            </a:avLst>
          </a:prstGeom>
          <a:solidFill>
            <a:schemeClr val="bg1"/>
          </a:solidFill>
          <a:ln w="9525">
            <a:solidFill>
              <a:schemeClr val="accent5"/>
            </a:solidFill>
            <a:prstDash val="solid"/>
          </a:ln>
        </p:spPr>
      </p:sp>
      <p:sp>
        <p:nvSpPr>
          <p:cNvPr id="24" name="circle-93"/>
          <p:cNvSpPr/>
          <p:nvPr/>
        </p:nvSpPr>
        <p:spPr>
          <a:xfrm>
            <a:off x="4480560" y="404622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5" name="text-94"/>
          <p:cNvSpPr txBox="1"/>
          <p:nvPr/>
        </p:nvSpPr>
        <p:spPr>
          <a:xfrm>
            <a:off x="5120640" y="3931920"/>
            <a:ext cx="6217920" cy="320040"/>
          </a:xfrm>
          <a:prstGeom prst="rect">
            <a:avLst/>
          </a:prstGeom>
          <a:noFill/>
          <a:ln/>
        </p:spPr>
        <p:txBody>
          <a:bodyPr wrap="square" lIns="0" tIns="0" rIns="0" bIns="0" rtlCol="0" anchor="t"/>
          <a:lstStyle/>
          <a:p>
            <a:pPr indent="0" marL="0">
              <a:buNone/>
            </a:pPr>
            <a:r>
              <a:rPr lang="en-US" sz="1600" b="1" dirty="0">
                <a:solidFill>
                  <a:schemeClr val="tx1"/>
                </a:solidFill>
              </a:rPr>
              <a:t>Loan burden</a:t>
            </a:r>
            <a:endParaRPr lang="en-US" sz="1600" dirty="0"/>
          </a:p>
        </p:txBody>
      </p:sp>
      <p:sp>
        <p:nvSpPr>
          <p:cNvPr id="26" name="text-95"/>
          <p:cNvSpPr txBox="1"/>
          <p:nvPr/>
        </p:nvSpPr>
        <p:spPr>
          <a:xfrm>
            <a:off x="5120640" y="4270248"/>
            <a:ext cx="6217920" cy="320040"/>
          </a:xfrm>
          <a:prstGeom prst="rect">
            <a:avLst/>
          </a:prstGeom>
          <a:noFill/>
          <a:ln/>
        </p:spPr>
        <p:txBody>
          <a:bodyPr wrap="square" lIns="0" tIns="0" rIns="0" bIns="0" rtlCol="0" anchor="t"/>
          <a:lstStyle/>
          <a:p>
            <a:pPr indent="0" marL="0">
              <a:buNone/>
            </a:pPr>
            <a:r>
              <a:rPr lang="en-US" sz="1400" dirty="0">
                <a:solidFill>
                  <a:schemeClr val="accent4"/>
                </a:solidFill>
              </a:rPr>
              <a:t>The instalment is too heavy for monthly income</a:t>
            </a:r>
            <a:endParaRPr lang="en-US" sz="1400" dirty="0"/>
          </a:p>
        </p:txBody>
      </p:sp>
      <p:sp>
        <p:nvSpPr>
          <p:cNvPr id="27" name="card-96"/>
          <p:cNvSpPr/>
          <p:nvPr/>
        </p:nvSpPr>
        <p:spPr>
          <a:xfrm>
            <a:off x="4206240" y="4892040"/>
            <a:ext cx="7436815" cy="914400"/>
          </a:xfrm>
          <a:prstGeom prst="roundRect">
            <a:avLst>
              <a:gd name="adj" fmla="val 8000"/>
            </a:avLst>
          </a:prstGeom>
          <a:solidFill>
            <a:schemeClr val="bg1"/>
          </a:solidFill>
          <a:ln w="9525">
            <a:solidFill>
              <a:schemeClr val="accent5"/>
            </a:solidFill>
            <a:prstDash val="solid"/>
          </a:ln>
        </p:spPr>
      </p:sp>
      <p:sp>
        <p:nvSpPr>
          <p:cNvPr id="28" name="circle-97"/>
          <p:cNvSpPr/>
          <p:nvPr/>
        </p:nvSpPr>
        <p:spPr>
          <a:xfrm>
            <a:off x="4480560" y="51435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98"/>
          <p:cNvSpPr txBox="1"/>
          <p:nvPr/>
        </p:nvSpPr>
        <p:spPr>
          <a:xfrm>
            <a:off x="5120640" y="5029200"/>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Thin banking history</a:t>
            </a:r>
            <a:endParaRPr lang="en-US" sz="1600" dirty="0"/>
          </a:p>
        </p:txBody>
      </p:sp>
      <p:sp>
        <p:nvSpPr>
          <p:cNvPr id="30" name="text-99"/>
          <p:cNvSpPr txBox="1"/>
          <p:nvPr/>
        </p:nvSpPr>
        <p:spPr>
          <a:xfrm>
            <a:off x="5120640" y="5367528"/>
            <a:ext cx="6217920" cy="320040"/>
          </a:xfrm>
          <a:prstGeom prst="rect">
            <a:avLst/>
          </a:prstGeom>
          <a:noFill/>
          <a:ln/>
        </p:spPr>
        <p:txBody>
          <a:bodyPr wrap="square" lIns="0" tIns="0" rIns="0" bIns="0" rtlCol="0" anchor="t"/>
          <a:lstStyle/>
          <a:p>
            <a:pPr indent="0" marL="0">
              <a:buNone/>
            </a:pPr>
            <a:r>
              <a:rPr lang="en-US" sz="1400" dirty="0">
                <a:solidFill>
                  <a:schemeClr val="accent4"/>
                </a:solidFill>
              </a:rPr>
              <a:t>Few transactions, so the bank barely knows the customer</a:t>
            </a:r>
            <a:endParaRPr lang="en-US" sz="1400" dirty="0"/>
          </a:p>
        </p:txBody>
      </p:sp>
      <p:sp>
        <p:nvSpPr>
          <p:cNvPr id="31" name="text-100"/>
          <p:cNvSpPr txBox="1"/>
          <p:nvPr/>
        </p:nvSpPr>
        <p:spPr>
          <a:xfrm>
            <a:off x="548640" y="5989320"/>
            <a:ext cx="10058400" cy="274320"/>
          </a:xfrm>
          <a:prstGeom prst="rect">
            <a:avLst/>
          </a:prstGeom>
          <a:noFill/>
          <a:ln/>
        </p:spPr>
        <p:txBody>
          <a:bodyPr wrap="square" lIns="0" tIns="0" rIns="0" bIns="0" rtlCol="0" anchor="t"/>
          <a:lstStyle/>
          <a:p>
            <a:pPr indent="0" marL="0">
              <a:buNone/>
            </a:pPr>
            <a:r>
              <a:rPr lang="en-US" sz="1200" i="1" dirty="0">
                <a:solidFill>
                  <a:schemeClr val="accent4"/>
                </a:solidFill>
              </a:rPr>
              <a:t>The four causes are mutually exclusive and collectively exhaustive. Loan status is the outcome, not a cause.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Hypotheses and Metrics</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Each cause becomes one testable hypothesis with one metric</a:t>
            </a:r>
            <a:endParaRPr lang="en-US" sz="1500" dirty="0"/>
          </a:p>
        </p:txBody>
      </p:sp>
      <p:sp>
        <p:nvSpPr>
          <p:cNvPr id="5" name="card-101"/>
          <p:cNvSpPr/>
          <p:nvPr/>
        </p:nvSpPr>
        <p:spPr>
          <a:xfrm>
            <a:off x="548640" y="1600200"/>
            <a:ext cx="11094415" cy="731520"/>
          </a:xfrm>
          <a:prstGeom prst="roundRect">
            <a:avLst>
              <a:gd name="adj" fmla="val 10000"/>
            </a:avLst>
          </a:prstGeom>
          <a:solidFill>
            <a:schemeClr val="tx1"/>
          </a:solidFill>
          <a:ln/>
        </p:spPr>
      </p:sp>
      <p:sp>
        <p:nvSpPr>
          <p:cNvPr id="6" name="text-102"/>
          <p:cNvSpPr txBox="1"/>
          <p:nvPr/>
        </p:nvSpPr>
        <p:spPr>
          <a:xfrm>
            <a:off x="868680" y="1600200"/>
            <a:ext cx="1645920" cy="731520"/>
          </a:xfrm>
          <a:prstGeom prst="rect">
            <a:avLst/>
          </a:prstGeom>
          <a:noFill/>
          <a:ln/>
        </p:spPr>
        <p:txBody>
          <a:bodyPr wrap="square" lIns="0" tIns="0" rIns="0" bIns="0" rtlCol="0" anchor="ctr"/>
          <a:lstStyle/>
          <a:p>
            <a:pPr indent="0" marL="0">
              <a:buNone/>
            </a:pPr>
            <a:r>
              <a:rPr lang="en-US" sz="1200" b="1" spc="100" kern="0" dirty="0">
                <a:solidFill>
                  <a:schemeClr val="accent1"/>
                </a:solidFill>
              </a:rPr>
              <a:t>OVERALL KPI</a:t>
            </a:r>
            <a:endParaRPr lang="en-US" sz="1200" dirty="0"/>
          </a:p>
        </p:txBody>
      </p:sp>
      <p:sp>
        <p:nvSpPr>
          <p:cNvPr id="7" name="text-103"/>
          <p:cNvSpPr txBox="1"/>
          <p:nvPr/>
        </p:nvSpPr>
        <p:spPr>
          <a:xfrm>
            <a:off x="2560320" y="1600200"/>
            <a:ext cx="8686800" cy="731520"/>
          </a:xfrm>
          <a:prstGeom prst="rect">
            <a:avLst/>
          </a:prstGeom>
          <a:noFill/>
          <a:ln/>
        </p:spPr>
        <p:txBody>
          <a:bodyPr wrap="square" lIns="0" tIns="0" rIns="0" bIns="0" rtlCol="0" anchor="ctr"/>
          <a:lstStyle/>
          <a:p>
            <a:pPr indent="0" marL="0">
              <a:buNone/>
            </a:pPr>
            <a:r>
              <a:rPr lang="en-US" sz="2000" b="1" dirty="0">
                <a:solidFill>
                  <a:schemeClr val="bg1"/>
                </a:solidFill>
                <a:latin typeface="+mj-lt" pitchFamily="34" charset="0"/>
                <a:ea typeface="+mj-lt" pitchFamily="34" charset="-122"/>
                <a:cs typeface="+mj-lt" pitchFamily="34" charset="-120"/>
              </a:rPr>
              <a:t>Problematic Loan Rate  =  (status B + D) ÷ total loans  =  11.1%</a:t>
            </a:r>
            <a:endParaRPr lang="en-US" sz="2000" dirty="0"/>
          </a:p>
        </p:txBody>
      </p:sp>
      <p:graphicFrame>
        <p:nvGraphicFramePr>
          <p:cNvPr id="7" name="table-104"/>
          <p:cNvGraphicFramePr>
            <a:graphicFrameLocks noGrp="1"/>
          </p:cNvGraphicFramePr>
          <p:nvPr>
            <p:extLst>
              <p:ext uri="{D42A27DB-BD31-4B8C-83A1-F6EECF244321}">
                <p14:modId xmlns:p14="http://schemas.microsoft.com/office/powerpoint/2010/main" val="1579011935"/>
              </p:ext>
            </p:extLst>
          </p:nvPr>
        </p:nvGraphicFramePr>
        <p:xfrm>
          <a:off x="548640" y="2560320"/>
          <a:ext cx="11094415" cy="914400"/>
        </p:xfrm>
        <a:graphic>
          <a:graphicData uri="http://schemas.openxmlformats.org/drawingml/2006/table">
            <a:tbl>
              <a:tblPr/>
              <a:tblGrid>
                <a:gridCol w="2651760"/>
                <a:gridCol w="5699455"/>
                <a:gridCol w="2743200"/>
              </a:tblGrid>
              <a:tr h="457200">
                <a:tc>
                  <a:txBody>
                    <a:bodyPr/>
                    <a:lstStyle/>
                    <a:p>
                      <a:pPr indent="0" marL="0">
                        <a:buNone/>
                      </a:pPr>
                      <a:r>
                        <a:rPr lang="en-US" sz="1500" b="1" dirty="0">
                          <a:solidFill>
                            <a:schemeClr val="bg1"/>
                          </a:solidFill>
                          <a:latin typeface="+mn-lt" pitchFamily="34" charset="0"/>
                          <a:ea typeface="+mn-lt" pitchFamily="34" charset="-122"/>
                          <a:cs typeface="+mn-lt" pitchFamily="34" charset="-120"/>
                        </a:rPr>
                        <a:t>Root cause</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Hypothesis: if ... then ...</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Key metric</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r>
              <a:tr h="777240">
                <a:tc>
                  <a:txBody>
                    <a:bodyPr/>
                    <a:lstStyle/>
                    <a:p>
                      <a:pPr indent="0" marL="0">
                        <a:buNone/>
                      </a:pPr>
                      <a:r>
                        <a:rPr lang="en-US" sz="1500" b="1" dirty="0">
                          <a:solidFill>
                            <a:schemeClr val="tx1"/>
                          </a:solidFill>
                          <a:latin typeface="+mn-lt" pitchFamily="34" charset="0"/>
                          <a:ea typeface="+mn-lt" pitchFamily="34" charset="-122"/>
                          <a:cs typeface="+mn-lt" pitchFamily="34" charset="-120"/>
                        </a:rPr>
                        <a:t>Weak account liquidity</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If the average balance before the loan is low, then the loan is more likely to go bad</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Average pre-loan balance</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77240">
                <a:tc>
                  <a:txBody>
                    <a:bodyPr/>
                    <a:lstStyle/>
                    <a:p>
                      <a:pPr indent="0" marL="0">
                        <a:buNone/>
                      </a:pPr>
                      <a:r>
                        <a:rPr lang="en-US" sz="1500" b="1" dirty="0">
                          <a:solidFill>
                            <a:schemeClr val="tx1"/>
                          </a:solidFill>
                          <a:latin typeface="+mn-lt" pitchFamily="34" charset="0"/>
                          <a:ea typeface="+mn-lt" pitchFamily="34" charset="-122"/>
                          <a:cs typeface="+mn-lt" pitchFamily="34" charset="-120"/>
                        </a:rPr>
                        <a:t>Cash flow strain</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If money out is high relative to money in, then default risk rises</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Outflow ÷ inflow</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77240">
                <a:tc>
                  <a:txBody>
                    <a:bodyPr/>
                    <a:lstStyle/>
                    <a:p>
                      <a:pPr indent="0" marL="0">
                        <a:buNone/>
                      </a:pPr>
                      <a:r>
                        <a:rPr lang="en-US" sz="1500" b="1" dirty="0">
                          <a:solidFill>
                            <a:schemeClr val="tx1"/>
                          </a:solidFill>
                          <a:latin typeface="+mn-lt" pitchFamily="34" charset="0"/>
                          <a:ea typeface="+mn-lt" pitchFamily="34" charset="-122"/>
                          <a:cs typeface="+mn-lt" pitchFamily="34" charset="-120"/>
                        </a:rPr>
                        <a:t>Loan burden</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If the monthly instalment is large relative to inflow, then the loan is more likely to fail</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Instalment ÷ monthly inflow</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77240">
                <a:tc>
                  <a:txBody>
                    <a:bodyPr/>
                    <a:lstStyle/>
                    <a:p>
                      <a:pPr indent="0" marL="0">
                        <a:buNone/>
                      </a:pPr>
                      <a:r>
                        <a:rPr lang="en-US" sz="1500" b="1" dirty="0">
                          <a:solidFill>
                            <a:schemeClr val="tx1"/>
                          </a:solidFill>
                          <a:latin typeface="+mn-lt" pitchFamily="34" charset="0"/>
                          <a:ea typeface="+mn-lt" pitchFamily="34" charset="-122"/>
                          <a:cs typeface="+mn-lt" pitchFamily="34" charset="-120"/>
                        </a:rPr>
                        <a:t>Thin banking history</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If there are few transactions before the loan, then risk is higher</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Count of pre-loan transactions</a:t>
                      </a:r>
                      <a:endParaRPr lang="en-US" sz="1500" dirty="0">
                        <a:latin typeface="+mn-lt" charset="0"/>
                        <a:ea typeface="+mn-lt" charset="0"/>
                        <a:cs typeface="+mn-lt" charset="0"/>
                      </a:endParaRPr>
                    </a:p>
                  </a:txBody>
                  <a:tcPr marL="137160" marR="137160" marT="54864" marB="54864"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Methodology</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CRISP-DM workflow, focused on decisions rather than code</a:t>
            </a:r>
            <a:endParaRPr lang="en-US" sz="1500" dirty="0"/>
          </a:p>
        </p:txBody>
      </p:sp>
      <p:sp>
        <p:nvSpPr>
          <p:cNvPr id="5" name="card-105"/>
          <p:cNvSpPr/>
          <p:nvPr/>
        </p:nvSpPr>
        <p:spPr>
          <a:xfrm>
            <a:off x="548640" y="1600200"/>
            <a:ext cx="1962851" cy="2103120"/>
          </a:xfrm>
          <a:prstGeom prst="roundRect">
            <a:avLst>
              <a:gd name="adj" fmla="val 3727"/>
            </a:avLst>
          </a:prstGeom>
          <a:solidFill>
            <a:schemeClr val="bg1"/>
          </a:solidFill>
          <a:ln w="9525">
            <a:solidFill>
              <a:schemeClr val="accent5"/>
            </a:solidFill>
            <a:prstDash val="solid"/>
          </a:ln>
        </p:spPr>
      </p:sp>
      <p:sp>
        <p:nvSpPr>
          <p:cNvPr id="6" name="circle-106"/>
          <p:cNvSpPr/>
          <p:nvPr/>
        </p:nvSpPr>
        <p:spPr>
          <a:xfrm>
            <a:off x="777240" y="18288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107"/>
          <p:cNvSpPr txBox="1"/>
          <p:nvPr/>
        </p:nvSpPr>
        <p:spPr>
          <a:xfrm>
            <a:off x="777240" y="2377440"/>
            <a:ext cx="1597091" cy="548640"/>
          </a:xfrm>
          <a:prstGeom prst="rect">
            <a:avLst/>
          </a:prstGeom>
          <a:noFill/>
          <a:ln/>
        </p:spPr>
        <p:txBody>
          <a:bodyPr wrap="square" lIns="0" tIns="0" rIns="0" bIns="0" rtlCol="0" anchor="t"/>
          <a:lstStyle/>
          <a:p>
            <a:pPr indent="0" marL="0">
              <a:buNone/>
            </a:pPr>
            <a:r>
              <a:rPr lang="en-US" sz="1500" b="1" dirty="0">
                <a:solidFill>
                  <a:schemeClr val="tx1"/>
                </a:solidFill>
              </a:rPr>
              <a:t>Business understanding</a:t>
            </a:r>
            <a:endParaRPr lang="en-US" sz="1500" dirty="0"/>
          </a:p>
        </p:txBody>
      </p:sp>
      <p:sp>
        <p:nvSpPr>
          <p:cNvPr id="8" name="text-108"/>
          <p:cNvSpPr txBox="1"/>
          <p:nvPr/>
        </p:nvSpPr>
        <p:spPr>
          <a:xfrm>
            <a:off x="777240" y="2971800"/>
            <a:ext cx="1597091" cy="594360"/>
          </a:xfrm>
          <a:prstGeom prst="rect">
            <a:avLst/>
          </a:prstGeom>
          <a:noFill/>
          <a:ln/>
        </p:spPr>
        <p:txBody>
          <a:bodyPr wrap="square" lIns="0" tIns="0" rIns="0" bIns="0" rtlCol="0" anchor="t"/>
          <a:lstStyle/>
          <a:p>
            <a:pPr indent="0" marL="0">
              <a:buNone/>
            </a:pPr>
            <a:r>
              <a:rPr lang="en-US" sz="1400" dirty="0">
                <a:solidFill>
                  <a:schemeClr val="accent4"/>
                </a:solidFill>
              </a:rPr>
              <a:t>Owner, goal and possible causes</a:t>
            </a:r>
            <a:endParaRPr lang="en-US" sz="1400" dirty="0"/>
          </a:p>
        </p:txBody>
      </p:sp>
      <p:sp>
        <p:nvSpPr>
          <p:cNvPr id="9" name="text-109"/>
          <p:cNvSpPr txBox="1"/>
          <p:nvPr/>
        </p:nvSpPr>
        <p:spPr>
          <a:xfrm>
            <a:off x="2511491" y="2423160"/>
            <a:ext cx="320040" cy="365760"/>
          </a:xfrm>
          <a:prstGeom prst="rect">
            <a:avLst/>
          </a:prstGeom>
          <a:noFill/>
          <a:ln/>
        </p:spPr>
        <p:txBody>
          <a:bodyPr wrap="square" lIns="0" tIns="0" rIns="0" bIns="0" rtlCol="0" anchor="t"/>
          <a:lstStyle/>
          <a:p>
            <a:pPr algn="ctr" indent="0" marL="0">
              <a:buNone/>
            </a:pPr>
            <a:r>
              <a:rPr lang="en-US" sz="1800" b="1" dirty="0">
                <a:solidFill>
                  <a:schemeClr val="accent1"/>
                </a:solidFill>
              </a:rPr>
              <a:t>&gt;</a:t>
            </a:r>
            <a:endParaRPr lang="en-US" sz="1800" dirty="0"/>
          </a:p>
        </p:txBody>
      </p:sp>
      <p:sp>
        <p:nvSpPr>
          <p:cNvPr id="10" name="card-110"/>
          <p:cNvSpPr/>
          <p:nvPr/>
        </p:nvSpPr>
        <p:spPr>
          <a:xfrm>
            <a:off x="2831531" y="1600200"/>
            <a:ext cx="1962851" cy="2103120"/>
          </a:xfrm>
          <a:prstGeom prst="roundRect">
            <a:avLst>
              <a:gd name="adj" fmla="val 3727"/>
            </a:avLst>
          </a:prstGeom>
          <a:solidFill>
            <a:schemeClr val="bg1"/>
          </a:solidFill>
          <a:ln w="9525">
            <a:solidFill>
              <a:schemeClr val="accent5"/>
            </a:solidFill>
            <a:prstDash val="solid"/>
          </a:ln>
        </p:spPr>
      </p:sp>
      <p:sp>
        <p:nvSpPr>
          <p:cNvPr id="11" name="circle-111"/>
          <p:cNvSpPr/>
          <p:nvPr/>
        </p:nvSpPr>
        <p:spPr>
          <a:xfrm>
            <a:off x="3060131" y="18288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112"/>
          <p:cNvSpPr txBox="1"/>
          <p:nvPr/>
        </p:nvSpPr>
        <p:spPr>
          <a:xfrm>
            <a:off x="3060131" y="2377440"/>
            <a:ext cx="1597091" cy="548640"/>
          </a:xfrm>
          <a:prstGeom prst="rect">
            <a:avLst/>
          </a:prstGeom>
          <a:noFill/>
          <a:ln/>
        </p:spPr>
        <p:txBody>
          <a:bodyPr wrap="square" lIns="0" tIns="0" rIns="0" bIns="0" rtlCol="0" anchor="t"/>
          <a:lstStyle/>
          <a:p>
            <a:pPr indent="0" marL="0">
              <a:buNone/>
            </a:pPr>
            <a:r>
              <a:rPr lang="en-US" sz="1500" b="1" dirty="0">
                <a:solidFill>
                  <a:schemeClr val="tx1"/>
                </a:solidFill>
              </a:rPr>
              <a:t>Data understanding</a:t>
            </a:r>
            <a:endParaRPr lang="en-US" sz="1500" dirty="0"/>
          </a:p>
        </p:txBody>
      </p:sp>
      <p:sp>
        <p:nvSpPr>
          <p:cNvPr id="13" name="text-113"/>
          <p:cNvSpPr txBox="1"/>
          <p:nvPr/>
        </p:nvSpPr>
        <p:spPr>
          <a:xfrm>
            <a:off x="3060131" y="2971800"/>
            <a:ext cx="1597091" cy="594360"/>
          </a:xfrm>
          <a:prstGeom prst="rect">
            <a:avLst/>
          </a:prstGeom>
          <a:noFill/>
          <a:ln/>
        </p:spPr>
        <p:txBody>
          <a:bodyPr wrap="square" lIns="0" tIns="0" rIns="0" bIns="0" rtlCol="0" anchor="t"/>
          <a:lstStyle/>
          <a:p>
            <a:pPr indent="0" marL="0">
              <a:buNone/>
            </a:pPr>
            <a:r>
              <a:rPr lang="en-US" sz="1400" dirty="0">
                <a:solidFill>
                  <a:schemeClr val="accent4"/>
                </a:solidFill>
              </a:rPr>
              <a:t>8 tables, 682 loans</a:t>
            </a:r>
            <a:endParaRPr lang="en-US" sz="1400" dirty="0"/>
          </a:p>
        </p:txBody>
      </p:sp>
      <p:sp>
        <p:nvSpPr>
          <p:cNvPr id="14" name="text-114"/>
          <p:cNvSpPr txBox="1"/>
          <p:nvPr/>
        </p:nvSpPr>
        <p:spPr>
          <a:xfrm>
            <a:off x="4794382" y="2423160"/>
            <a:ext cx="320040" cy="365760"/>
          </a:xfrm>
          <a:prstGeom prst="rect">
            <a:avLst/>
          </a:prstGeom>
          <a:noFill/>
          <a:ln/>
        </p:spPr>
        <p:txBody>
          <a:bodyPr wrap="square" lIns="0" tIns="0" rIns="0" bIns="0" rtlCol="0" anchor="t"/>
          <a:lstStyle/>
          <a:p>
            <a:pPr algn="ctr" indent="0" marL="0">
              <a:buNone/>
            </a:pPr>
            <a:r>
              <a:rPr lang="en-US" sz="1800" b="1" dirty="0">
                <a:solidFill>
                  <a:schemeClr val="accent1"/>
                </a:solidFill>
              </a:rPr>
              <a:t>&gt;</a:t>
            </a:r>
            <a:endParaRPr lang="en-US" sz="1800" dirty="0"/>
          </a:p>
        </p:txBody>
      </p:sp>
      <p:sp>
        <p:nvSpPr>
          <p:cNvPr id="15" name="card-115"/>
          <p:cNvSpPr/>
          <p:nvPr/>
        </p:nvSpPr>
        <p:spPr>
          <a:xfrm>
            <a:off x="5114422" y="1600200"/>
            <a:ext cx="1962851" cy="2103120"/>
          </a:xfrm>
          <a:prstGeom prst="roundRect">
            <a:avLst>
              <a:gd name="adj" fmla="val 3727"/>
            </a:avLst>
          </a:prstGeom>
          <a:solidFill>
            <a:schemeClr val="bg1"/>
          </a:solidFill>
          <a:ln w="9525">
            <a:solidFill>
              <a:schemeClr val="accent5"/>
            </a:solidFill>
            <a:prstDash val="solid"/>
          </a:ln>
        </p:spPr>
      </p:sp>
      <p:sp>
        <p:nvSpPr>
          <p:cNvPr id="16" name="circle-116"/>
          <p:cNvSpPr/>
          <p:nvPr/>
        </p:nvSpPr>
        <p:spPr>
          <a:xfrm>
            <a:off x="5343022" y="18288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117"/>
          <p:cNvSpPr txBox="1"/>
          <p:nvPr/>
        </p:nvSpPr>
        <p:spPr>
          <a:xfrm>
            <a:off x="5343022" y="2377440"/>
            <a:ext cx="1597091" cy="548640"/>
          </a:xfrm>
          <a:prstGeom prst="rect">
            <a:avLst/>
          </a:prstGeom>
          <a:noFill/>
          <a:ln/>
        </p:spPr>
        <p:txBody>
          <a:bodyPr wrap="square" lIns="0" tIns="0" rIns="0" bIns="0" rtlCol="0" anchor="t"/>
          <a:lstStyle/>
          <a:p>
            <a:pPr indent="0" marL="0">
              <a:buNone/>
            </a:pPr>
            <a:r>
              <a:rPr lang="en-US" sz="1500" b="1" dirty="0">
                <a:solidFill>
                  <a:schemeClr val="tx1"/>
                </a:solidFill>
              </a:rPr>
              <a:t>Data preparation</a:t>
            </a:r>
            <a:endParaRPr lang="en-US" sz="1500" dirty="0"/>
          </a:p>
        </p:txBody>
      </p:sp>
      <p:sp>
        <p:nvSpPr>
          <p:cNvPr id="18" name="text-118"/>
          <p:cNvSpPr txBox="1"/>
          <p:nvPr/>
        </p:nvSpPr>
        <p:spPr>
          <a:xfrm>
            <a:off x="5343022" y="2971800"/>
            <a:ext cx="1597091" cy="594360"/>
          </a:xfrm>
          <a:prstGeom prst="rect">
            <a:avLst/>
          </a:prstGeom>
          <a:noFill/>
          <a:ln/>
        </p:spPr>
        <p:txBody>
          <a:bodyPr wrap="square" lIns="0" tIns="0" rIns="0" bIns="0" rtlCol="0" anchor="t"/>
          <a:lstStyle/>
          <a:p>
            <a:pPr indent="0" marL="0">
              <a:buNone/>
            </a:pPr>
            <a:r>
              <a:rPr lang="en-US" sz="1400" dirty="0">
                <a:solidFill>
                  <a:schemeClr val="accent4"/>
                </a:solidFill>
              </a:rPr>
              <a:t>Clean dates, keep outliers</a:t>
            </a:r>
            <a:endParaRPr lang="en-US" sz="1400" dirty="0"/>
          </a:p>
        </p:txBody>
      </p:sp>
      <p:sp>
        <p:nvSpPr>
          <p:cNvPr id="19" name="text-119"/>
          <p:cNvSpPr txBox="1"/>
          <p:nvPr/>
        </p:nvSpPr>
        <p:spPr>
          <a:xfrm>
            <a:off x="7077273" y="2423160"/>
            <a:ext cx="320040" cy="365760"/>
          </a:xfrm>
          <a:prstGeom prst="rect">
            <a:avLst/>
          </a:prstGeom>
          <a:noFill/>
          <a:ln/>
        </p:spPr>
        <p:txBody>
          <a:bodyPr wrap="square" lIns="0" tIns="0" rIns="0" bIns="0" rtlCol="0" anchor="t"/>
          <a:lstStyle/>
          <a:p>
            <a:pPr algn="ctr" indent="0" marL="0">
              <a:buNone/>
            </a:pPr>
            <a:r>
              <a:rPr lang="en-US" sz="1800" b="1" dirty="0">
                <a:solidFill>
                  <a:schemeClr val="accent1"/>
                </a:solidFill>
              </a:rPr>
              <a:t>&gt;</a:t>
            </a:r>
            <a:endParaRPr lang="en-US" sz="1800" dirty="0"/>
          </a:p>
        </p:txBody>
      </p:sp>
      <p:sp>
        <p:nvSpPr>
          <p:cNvPr id="20" name="card-120"/>
          <p:cNvSpPr/>
          <p:nvPr/>
        </p:nvSpPr>
        <p:spPr>
          <a:xfrm>
            <a:off x="7397313" y="1600200"/>
            <a:ext cx="1962851" cy="2103120"/>
          </a:xfrm>
          <a:prstGeom prst="roundRect">
            <a:avLst>
              <a:gd name="adj" fmla="val 3727"/>
            </a:avLst>
          </a:prstGeom>
          <a:solidFill>
            <a:schemeClr val="bg1"/>
          </a:solidFill>
          <a:ln w="9525">
            <a:solidFill>
              <a:schemeClr val="accent5"/>
            </a:solidFill>
            <a:prstDash val="solid"/>
          </a:ln>
        </p:spPr>
      </p:sp>
      <p:sp>
        <p:nvSpPr>
          <p:cNvPr id="21" name="circle-121"/>
          <p:cNvSpPr/>
          <p:nvPr/>
        </p:nvSpPr>
        <p:spPr>
          <a:xfrm>
            <a:off x="7625913" y="18288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122"/>
          <p:cNvSpPr txBox="1"/>
          <p:nvPr/>
        </p:nvSpPr>
        <p:spPr>
          <a:xfrm>
            <a:off x="7625913" y="2377440"/>
            <a:ext cx="1597091" cy="548640"/>
          </a:xfrm>
          <a:prstGeom prst="rect">
            <a:avLst/>
          </a:prstGeom>
          <a:noFill/>
          <a:ln/>
        </p:spPr>
        <p:txBody>
          <a:bodyPr wrap="square" lIns="0" tIns="0" rIns="0" bIns="0" rtlCol="0" anchor="t"/>
          <a:lstStyle/>
          <a:p>
            <a:pPr indent="0" marL="0">
              <a:buNone/>
            </a:pPr>
            <a:r>
              <a:rPr lang="en-US" sz="1500" b="1" dirty="0">
                <a:solidFill>
                  <a:schemeClr val="tx1"/>
                </a:solidFill>
              </a:rPr>
              <a:t>Analysis and modelling</a:t>
            </a:r>
            <a:endParaRPr lang="en-US" sz="1500" dirty="0"/>
          </a:p>
        </p:txBody>
      </p:sp>
      <p:sp>
        <p:nvSpPr>
          <p:cNvPr id="23" name="text-123"/>
          <p:cNvSpPr txBox="1"/>
          <p:nvPr/>
        </p:nvSpPr>
        <p:spPr>
          <a:xfrm>
            <a:off x="7625913" y="2971800"/>
            <a:ext cx="1597091" cy="594360"/>
          </a:xfrm>
          <a:prstGeom prst="rect">
            <a:avLst/>
          </a:prstGeom>
          <a:noFill/>
          <a:ln/>
        </p:spPr>
        <p:txBody>
          <a:bodyPr wrap="square" lIns="0" tIns="0" rIns="0" bIns="0" rtlCol="0" anchor="t"/>
          <a:lstStyle/>
          <a:p>
            <a:pPr indent="0" marL="0">
              <a:buNone/>
            </a:pPr>
            <a:r>
              <a:rPr lang="en-US" sz="1400" dirty="0">
                <a:solidFill>
                  <a:schemeClr val="accent4"/>
                </a:solidFill>
              </a:rPr>
              <a:t>Compare groups, build a risk score</a:t>
            </a:r>
            <a:endParaRPr lang="en-US" sz="1400" dirty="0"/>
          </a:p>
        </p:txBody>
      </p:sp>
      <p:sp>
        <p:nvSpPr>
          <p:cNvPr id="24" name="text-124"/>
          <p:cNvSpPr txBox="1"/>
          <p:nvPr/>
        </p:nvSpPr>
        <p:spPr>
          <a:xfrm>
            <a:off x="9360164" y="2423160"/>
            <a:ext cx="320040" cy="365760"/>
          </a:xfrm>
          <a:prstGeom prst="rect">
            <a:avLst/>
          </a:prstGeom>
          <a:noFill/>
          <a:ln/>
        </p:spPr>
        <p:txBody>
          <a:bodyPr wrap="square" lIns="0" tIns="0" rIns="0" bIns="0" rtlCol="0" anchor="t"/>
          <a:lstStyle/>
          <a:p>
            <a:pPr algn="ctr" indent="0" marL="0">
              <a:buNone/>
            </a:pPr>
            <a:r>
              <a:rPr lang="en-US" sz="1800" b="1" dirty="0">
                <a:solidFill>
                  <a:schemeClr val="accent1"/>
                </a:solidFill>
              </a:rPr>
              <a:t>&gt;</a:t>
            </a:r>
            <a:endParaRPr lang="en-US" sz="1800" dirty="0"/>
          </a:p>
        </p:txBody>
      </p:sp>
      <p:sp>
        <p:nvSpPr>
          <p:cNvPr id="25" name="card-125"/>
          <p:cNvSpPr/>
          <p:nvPr/>
        </p:nvSpPr>
        <p:spPr>
          <a:xfrm>
            <a:off x="9680204" y="1600200"/>
            <a:ext cx="1962851" cy="2103120"/>
          </a:xfrm>
          <a:prstGeom prst="roundRect">
            <a:avLst>
              <a:gd name="adj" fmla="val 3727"/>
            </a:avLst>
          </a:prstGeom>
          <a:solidFill>
            <a:schemeClr val="bg1"/>
          </a:solidFill>
          <a:ln w="9525">
            <a:solidFill>
              <a:schemeClr val="accent5"/>
            </a:solidFill>
            <a:prstDash val="solid"/>
          </a:ln>
        </p:spPr>
      </p:sp>
      <p:sp>
        <p:nvSpPr>
          <p:cNvPr id="26" name="circle-126"/>
          <p:cNvSpPr/>
          <p:nvPr/>
        </p:nvSpPr>
        <p:spPr>
          <a:xfrm>
            <a:off x="9908804" y="182880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127"/>
          <p:cNvSpPr txBox="1"/>
          <p:nvPr/>
        </p:nvSpPr>
        <p:spPr>
          <a:xfrm>
            <a:off x="9908804" y="2377440"/>
            <a:ext cx="1597091" cy="548640"/>
          </a:xfrm>
          <a:prstGeom prst="rect">
            <a:avLst/>
          </a:prstGeom>
          <a:noFill/>
          <a:ln/>
        </p:spPr>
        <p:txBody>
          <a:bodyPr wrap="square" lIns="0" tIns="0" rIns="0" bIns="0" rtlCol="0" anchor="t"/>
          <a:lstStyle/>
          <a:p>
            <a:pPr indent="0" marL="0">
              <a:buNone/>
            </a:pPr>
            <a:r>
              <a:rPr lang="en-US" sz="1500" b="1" dirty="0">
                <a:solidFill>
                  <a:schemeClr val="tx1"/>
                </a:solidFill>
              </a:rPr>
              <a:t>Evaluation and dashboard</a:t>
            </a:r>
            <a:endParaRPr lang="en-US" sz="1500" dirty="0"/>
          </a:p>
        </p:txBody>
      </p:sp>
      <p:sp>
        <p:nvSpPr>
          <p:cNvPr id="28" name="text-128"/>
          <p:cNvSpPr txBox="1"/>
          <p:nvPr/>
        </p:nvSpPr>
        <p:spPr>
          <a:xfrm>
            <a:off x="9908804" y="2971800"/>
            <a:ext cx="1597091" cy="594360"/>
          </a:xfrm>
          <a:prstGeom prst="rect">
            <a:avLst/>
          </a:prstGeom>
          <a:noFill/>
          <a:ln/>
        </p:spPr>
        <p:txBody>
          <a:bodyPr wrap="square" lIns="0" tIns="0" rIns="0" bIns="0" rtlCol="0" anchor="t"/>
          <a:lstStyle/>
          <a:p>
            <a:pPr indent="0" marL="0">
              <a:buNone/>
            </a:pPr>
            <a:r>
              <a:rPr lang="en-US" sz="1400" dirty="0">
                <a:solidFill>
                  <a:schemeClr val="accent4"/>
                </a:solidFill>
              </a:rPr>
              <a:t>Simulate impact, build the dashboard</a:t>
            </a:r>
            <a:endParaRPr lang="en-US" sz="1400" dirty="0"/>
          </a:p>
        </p:txBody>
      </p:sp>
      <p:sp>
        <p:nvSpPr>
          <p:cNvPr id="29" name="card-129"/>
          <p:cNvSpPr/>
          <p:nvPr/>
        </p:nvSpPr>
        <p:spPr>
          <a:xfrm>
            <a:off x="548640" y="3977640"/>
            <a:ext cx="5410048" cy="1234440"/>
          </a:xfrm>
          <a:prstGeom prst="roundRect">
            <a:avLst>
              <a:gd name="adj" fmla="val 5926"/>
            </a:avLst>
          </a:prstGeom>
          <a:solidFill>
            <a:schemeClr val="bg1"/>
          </a:solidFill>
          <a:ln w="9525">
            <a:solidFill>
              <a:schemeClr val="accent5"/>
            </a:solidFill>
            <a:prstDash val="solid"/>
          </a:ln>
        </p:spPr>
      </p:sp>
      <p:sp>
        <p:nvSpPr>
          <p:cNvPr id="30" name="text-130"/>
          <p:cNvSpPr txBox="1"/>
          <p:nvPr/>
        </p:nvSpPr>
        <p:spPr>
          <a:xfrm>
            <a:off x="822960" y="4160520"/>
            <a:ext cx="4861408" cy="320040"/>
          </a:xfrm>
          <a:prstGeom prst="rect">
            <a:avLst/>
          </a:prstGeom>
          <a:noFill/>
          <a:ln/>
        </p:spPr>
        <p:txBody>
          <a:bodyPr wrap="square" lIns="0" tIns="0" rIns="0" bIns="0" rtlCol="0" anchor="t"/>
          <a:lstStyle/>
          <a:p>
            <a:pPr indent="0" marL="0">
              <a:buNone/>
            </a:pPr>
            <a:r>
              <a:rPr lang="en-US" sz="1600" b="1" dirty="0">
                <a:solidFill>
                  <a:schemeClr val="tx1"/>
                </a:solidFill>
              </a:rPr>
              <a:t>No-leakage rule</a:t>
            </a:r>
            <a:endParaRPr lang="en-US" sz="1600" dirty="0"/>
          </a:p>
        </p:txBody>
      </p:sp>
      <p:sp>
        <p:nvSpPr>
          <p:cNvPr id="31" name="text-131"/>
          <p:cNvSpPr txBox="1"/>
          <p:nvPr/>
        </p:nvSpPr>
        <p:spPr>
          <a:xfrm>
            <a:off x="822960" y="4526280"/>
            <a:ext cx="4861408" cy="548640"/>
          </a:xfrm>
          <a:prstGeom prst="rect">
            <a:avLst/>
          </a:prstGeom>
          <a:noFill/>
          <a:ln/>
        </p:spPr>
        <p:txBody>
          <a:bodyPr wrap="square" lIns="0" tIns="0" rIns="0" bIns="0" rtlCol="0" anchor="t"/>
          <a:lstStyle/>
          <a:p>
            <a:pPr indent="0" marL="0">
              <a:buNone/>
            </a:pPr>
            <a:r>
              <a:rPr lang="en-US" sz="1400" dirty="0">
                <a:solidFill>
                  <a:schemeClr val="tx1"/>
                </a:solidFill>
              </a:rPr>
              <a:t>Only transactions before the loan date are used, so every signal is available at approval time.</a:t>
            </a:r>
            <a:endParaRPr lang="en-US" sz="1400" dirty="0"/>
          </a:p>
        </p:txBody>
      </p:sp>
      <p:sp>
        <p:nvSpPr>
          <p:cNvPr id="32" name="card-132"/>
          <p:cNvSpPr/>
          <p:nvPr/>
        </p:nvSpPr>
        <p:spPr>
          <a:xfrm>
            <a:off x="6233008" y="3977640"/>
            <a:ext cx="5410048" cy="1234440"/>
          </a:xfrm>
          <a:prstGeom prst="roundRect">
            <a:avLst>
              <a:gd name="adj" fmla="val 5926"/>
            </a:avLst>
          </a:prstGeom>
          <a:solidFill>
            <a:schemeClr val="bg1"/>
          </a:solidFill>
          <a:ln w="9525">
            <a:solidFill>
              <a:schemeClr val="accent5"/>
            </a:solidFill>
            <a:prstDash val="solid"/>
          </a:ln>
        </p:spPr>
      </p:sp>
      <p:sp>
        <p:nvSpPr>
          <p:cNvPr id="33" name="text-133"/>
          <p:cNvSpPr txBox="1"/>
          <p:nvPr/>
        </p:nvSpPr>
        <p:spPr>
          <a:xfrm>
            <a:off x="6507328" y="4160520"/>
            <a:ext cx="4861408" cy="320040"/>
          </a:xfrm>
          <a:prstGeom prst="rect">
            <a:avLst/>
          </a:prstGeom>
          <a:noFill/>
          <a:ln/>
        </p:spPr>
        <p:txBody>
          <a:bodyPr wrap="square" lIns="0" tIns="0" rIns="0" bIns="0" rtlCol="0" anchor="t"/>
          <a:lstStyle/>
          <a:p>
            <a:pPr indent="0" marL="0">
              <a:buNone/>
            </a:pPr>
            <a:r>
              <a:rPr lang="en-US" sz="1600" b="1" dirty="0">
                <a:solidFill>
                  <a:schemeClr val="tx1"/>
                </a:solidFill>
              </a:rPr>
              <a:t>Outliers kept, not deleted</a:t>
            </a:r>
            <a:endParaRPr lang="en-US" sz="1600" dirty="0"/>
          </a:p>
        </p:txBody>
      </p:sp>
      <p:sp>
        <p:nvSpPr>
          <p:cNvPr id="34" name="text-134"/>
          <p:cNvSpPr txBox="1"/>
          <p:nvPr/>
        </p:nvSpPr>
        <p:spPr>
          <a:xfrm>
            <a:off x="6507328" y="4526280"/>
            <a:ext cx="4861408" cy="548640"/>
          </a:xfrm>
          <a:prstGeom prst="rect">
            <a:avLst/>
          </a:prstGeom>
          <a:noFill/>
          <a:ln/>
        </p:spPr>
        <p:txBody>
          <a:bodyPr wrap="square" lIns="0" tIns="0" rIns="0" bIns="0" rtlCol="0" anchor="t"/>
          <a:lstStyle/>
          <a:p>
            <a:pPr indent="0" marL="0">
              <a:buNone/>
            </a:pPr>
            <a:r>
              <a:rPr lang="en-US" sz="1400" dirty="0">
                <a:solidFill>
                  <a:schemeClr val="tx1"/>
                </a:solidFill>
              </a:rPr>
              <a:t>2,999 negative-balance transactions became the strongest risk signal in the project.</a:t>
            </a:r>
            <a:endParaRPr lang="en-US" sz="1400" dirty="0"/>
          </a:p>
        </p:txBody>
      </p:sp>
      <p:sp>
        <p:nvSpPr>
          <p:cNvPr id="35" name="text-135"/>
          <p:cNvSpPr txBox="1"/>
          <p:nvPr/>
        </p:nvSpPr>
        <p:spPr>
          <a:xfrm>
            <a:off x="548640" y="5486400"/>
            <a:ext cx="822960" cy="411480"/>
          </a:xfrm>
          <a:prstGeom prst="rect">
            <a:avLst/>
          </a:prstGeom>
          <a:noFill/>
          <a:ln/>
        </p:spPr>
        <p:txBody>
          <a:bodyPr wrap="square" lIns="0" tIns="0" rIns="0" bIns="0" rtlCol="0" anchor="ctr"/>
          <a:lstStyle/>
          <a:p>
            <a:pPr indent="0" marL="0">
              <a:buNone/>
            </a:pPr>
            <a:r>
              <a:rPr lang="en-US" sz="1200" b="1" spc="100" kern="0" dirty="0">
                <a:solidFill>
                  <a:schemeClr val="tx2"/>
                </a:solidFill>
              </a:rPr>
              <a:t>TOOLS</a:t>
            </a:r>
            <a:endParaRPr lang="en-US" sz="1200" dirty="0"/>
          </a:p>
        </p:txBody>
      </p:sp>
      <p:sp>
        <p:nvSpPr>
          <p:cNvPr id="36" name="pill-136"/>
          <p:cNvSpPr/>
          <p:nvPr/>
        </p:nvSpPr>
        <p:spPr>
          <a:xfrm>
            <a:off x="1463040" y="5486400"/>
            <a:ext cx="1645920" cy="411480"/>
          </a:xfrm>
          <a:prstGeom prst="roundRect">
            <a:avLst>
              <a:gd name="adj" fmla="val 48889"/>
            </a:avLst>
          </a:prstGeom>
          <a:solidFill>
            <a:schemeClr val="accent6"/>
          </a:solidFill>
          <a:ln/>
        </p:spPr>
        <p:txBody>
          <a:bodyPr wrap="square" lIns="0" tIns="0" rIns="0" bIns="0" rtlCol="0" anchor="ctr"/>
          <a:lstStyle/>
          <a:p>
            <a:pPr algn="ctr" indent="0" marL="0">
              <a:buNone/>
            </a:pPr>
            <a:r>
              <a:rPr lang="en-US" sz="1400" b="1" dirty="0">
                <a:solidFill>
                  <a:schemeClr val="tx2"/>
                </a:solidFill>
              </a:rPr>
              <a:t>Python</a:t>
            </a:r>
            <a:endParaRPr lang="en-US" sz="1400" dirty="0"/>
          </a:p>
        </p:txBody>
      </p:sp>
      <p:sp>
        <p:nvSpPr>
          <p:cNvPr id="37" name="pill-137"/>
          <p:cNvSpPr/>
          <p:nvPr/>
        </p:nvSpPr>
        <p:spPr>
          <a:xfrm>
            <a:off x="3291840" y="5486400"/>
            <a:ext cx="1645920" cy="411480"/>
          </a:xfrm>
          <a:prstGeom prst="roundRect">
            <a:avLst>
              <a:gd name="adj" fmla="val 48889"/>
            </a:avLst>
          </a:prstGeom>
          <a:solidFill>
            <a:schemeClr val="accent6"/>
          </a:solidFill>
          <a:ln/>
        </p:spPr>
        <p:txBody>
          <a:bodyPr wrap="square" lIns="0" tIns="0" rIns="0" bIns="0" rtlCol="0" anchor="ctr"/>
          <a:lstStyle/>
          <a:p>
            <a:pPr algn="ctr" indent="0" marL="0">
              <a:buNone/>
            </a:pPr>
            <a:r>
              <a:rPr lang="en-US" sz="1400" b="1" dirty="0">
                <a:solidFill>
                  <a:schemeClr val="tx2"/>
                </a:solidFill>
              </a:rPr>
              <a:t>DuckDB</a:t>
            </a:r>
            <a:endParaRPr lang="en-US" sz="1400" dirty="0"/>
          </a:p>
        </p:txBody>
      </p:sp>
      <p:sp>
        <p:nvSpPr>
          <p:cNvPr id="38" name="pill-138"/>
          <p:cNvSpPr/>
          <p:nvPr/>
        </p:nvSpPr>
        <p:spPr>
          <a:xfrm>
            <a:off x="5120640" y="5486400"/>
            <a:ext cx="1645920" cy="411480"/>
          </a:xfrm>
          <a:prstGeom prst="roundRect">
            <a:avLst>
              <a:gd name="adj" fmla="val 48889"/>
            </a:avLst>
          </a:prstGeom>
          <a:solidFill>
            <a:schemeClr val="accent6"/>
          </a:solidFill>
          <a:ln/>
        </p:spPr>
        <p:txBody>
          <a:bodyPr wrap="square" lIns="0" tIns="0" rIns="0" bIns="0" rtlCol="0" anchor="ctr"/>
          <a:lstStyle/>
          <a:p>
            <a:pPr algn="ctr" indent="0" marL="0">
              <a:buNone/>
            </a:pPr>
            <a:r>
              <a:rPr lang="en-US" sz="1400" b="1" dirty="0">
                <a:solidFill>
                  <a:schemeClr val="tx2"/>
                </a:solidFill>
              </a:rPr>
              <a:t>Google Colab</a:t>
            </a:r>
            <a:endParaRPr lang="en-US" sz="1400" dirty="0"/>
          </a:p>
        </p:txBody>
      </p:sp>
      <p:sp>
        <p:nvSpPr>
          <p:cNvPr id="39" name="pill-139"/>
          <p:cNvSpPr/>
          <p:nvPr/>
        </p:nvSpPr>
        <p:spPr>
          <a:xfrm>
            <a:off x="6949440" y="5486400"/>
            <a:ext cx="1645920" cy="411480"/>
          </a:xfrm>
          <a:prstGeom prst="roundRect">
            <a:avLst>
              <a:gd name="adj" fmla="val 48889"/>
            </a:avLst>
          </a:prstGeom>
          <a:solidFill>
            <a:schemeClr val="accent6"/>
          </a:solidFill>
          <a:ln/>
        </p:spPr>
        <p:txBody>
          <a:bodyPr wrap="square" lIns="0" tIns="0" rIns="0" bIns="0" rtlCol="0" anchor="ctr"/>
          <a:lstStyle/>
          <a:p>
            <a:pPr algn="ctr" indent="0" marL="0">
              <a:buNone/>
            </a:pPr>
            <a:r>
              <a:rPr lang="en-US" sz="1400" b="1" dirty="0">
                <a:solidFill>
                  <a:schemeClr val="tx2"/>
                </a:solidFill>
              </a:rPr>
              <a:t>Tableau Public</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KPI and Trend</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1 in 9 loans goes bad, more than twice the 5% target</a:t>
            </a:r>
            <a:endParaRPr lang="en-US" sz="1500" dirty="0"/>
          </a:p>
        </p:txBody>
      </p:sp>
      <p:sp>
        <p:nvSpPr>
          <p:cNvPr id="5" name="card-140"/>
          <p:cNvSpPr/>
          <p:nvPr/>
        </p:nvSpPr>
        <p:spPr>
          <a:xfrm>
            <a:off x="548640" y="1600200"/>
            <a:ext cx="2567864" cy="1051560"/>
          </a:xfrm>
          <a:prstGeom prst="roundRect">
            <a:avLst>
              <a:gd name="adj" fmla="val 6957"/>
            </a:avLst>
          </a:prstGeom>
          <a:solidFill>
            <a:schemeClr val="bg1"/>
          </a:solidFill>
          <a:ln w="9525">
            <a:solidFill>
              <a:schemeClr val="accent5"/>
            </a:solidFill>
            <a:prstDash val="solid"/>
          </a:ln>
        </p:spPr>
      </p:sp>
      <p:sp>
        <p:nvSpPr>
          <p:cNvPr id="6" name="text-141"/>
          <p:cNvSpPr txBox="1"/>
          <p:nvPr/>
        </p:nvSpPr>
        <p:spPr>
          <a:xfrm>
            <a:off x="822960" y="1709928"/>
            <a:ext cx="2019224" cy="502920"/>
          </a:xfrm>
          <a:prstGeom prst="rect">
            <a:avLst/>
          </a:prstGeom>
          <a:noFill/>
          <a:ln/>
        </p:spPr>
        <p:txBody>
          <a:bodyPr wrap="square" lIns="0" tIns="0" rIns="0" bIns="0" rtlCol="0" anchor="t"/>
          <a:lstStyle/>
          <a:p>
            <a:pPr indent="0" marL="0">
              <a:buNone/>
            </a:pPr>
            <a:r>
              <a:rPr lang="en-US" sz="2800" b="1" dirty="0">
                <a:solidFill>
                  <a:schemeClr val="tx1"/>
                </a:solidFill>
                <a:latin typeface="+mj-lt" pitchFamily="34" charset="0"/>
                <a:ea typeface="+mj-lt" pitchFamily="34" charset="-122"/>
                <a:cs typeface="+mj-lt" pitchFamily="34" charset="-120"/>
              </a:rPr>
              <a:t>682</a:t>
            </a:r>
            <a:endParaRPr lang="en-US" sz="2800" dirty="0"/>
          </a:p>
        </p:txBody>
      </p:sp>
      <p:sp>
        <p:nvSpPr>
          <p:cNvPr id="7" name="text-142"/>
          <p:cNvSpPr txBox="1"/>
          <p:nvPr/>
        </p:nvSpPr>
        <p:spPr>
          <a:xfrm>
            <a:off x="822960" y="2221992"/>
            <a:ext cx="2019224" cy="320040"/>
          </a:xfrm>
          <a:prstGeom prst="rect">
            <a:avLst/>
          </a:prstGeom>
          <a:noFill/>
          <a:ln/>
        </p:spPr>
        <p:txBody>
          <a:bodyPr wrap="square" lIns="0" tIns="0" rIns="0" bIns="0" rtlCol="0" anchor="t"/>
          <a:lstStyle/>
          <a:p>
            <a:pPr indent="0" marL="0">
              <a:buNone/>
            </a:pPr>
            <a:r>
              <a:rPr lang="en-US" sz="1400" dirty="0">
                <a:solidFill>
                  <a:schemeClr val="accent4"/>
                </a:solidFill>
              </a:rPr>
              <a:t>loans analysed</a:t>
            </a:r>
            <a:endParaRPr lang="en-US" sz="1400" dirty="0"/>
          </a:p>
        </p:txBody>
      </p:sp>
      <p:sp>
        <p:nvSpPr>
          <p:cNvPr id="8" name="card-143"/>
          <p:cNvSpPr/>
          <p:nvPr/>
        </p:nvSpPr>
        <p:spPr>
          <a:xfrm>
            <a:off x="3390824" y="1600200"/>
            <a:ext cx="2567864" cy="1051560"/>
          </a:xfrm>
          <a:prstGeom prst="roundRect">
            <a:avLst>
              <a:gd name="adj" fmla="val 6957"/>
            </a:avLst>
          </a:prstGeom>
          <a:solidFill>
            <a:schemeClr val="bg1"/>
          </a:solidFill>
          <a:ln w="9525">
            <a:solidFill>
              <a:schemeClr val="accent5"/>
            </a:solidFill>
            <a:prstDash val="solid"/>
          </a:ln>
        </p:spPr>
      </p:sp>
      <p:sp>
        <p:nvSpPr>
          <p:cNvPr id="9" name="text-144"/>
          <p:cNvSpPr txBox="1"/>
          <p:nvPr/>
        </p:nvSpPr>
        <p:spPr>
          <a:xfrm>
            <a:off x="3665144" y="1709928"/>
            <a:ext cx="2019224" cy="502920"/>
          </a:xfrm>
          <a:prstGeom prst="rect">
            <a:avLst/>
          </a:prstGeom>
          <a:noFill/>
          <a:ln/>
        </p:spPr>
        <p:txBody>
          <a:bodyPr wrap="square" lIns="0" tIns="0" rIns="0" bIns="0" rtlCol="0" anchor="t"/>
          <a:lstStyle/>
          <a:p>
            <a:pPr indent="0" marL="0">
              <a:buNone/>
            </a:pPr>
            <a:r>
              <a:rPr lang="en-US" sz="2800" b="1" dirty="0">
                <a:solidFill>
                  <a:schemeClr val="tx1"/>
                </a:solidFill>
                <a:latin typeface="+mj-lt" pitchFamily="34" charset="0"/>
                <a:ea typeface="+mj-lt" pitchFamily="34" charset="-122"/>
                <a:cs typeface="+mj-lt" pitchFamily="34" charset="-120"/>
              </a:rPr>
              <a:t>76</a:t>
            </a:r>
            <a:endParaRPr lang="en-US" sz="2800" dirty="0"/>
          </a:p>
        </p:txBody>
      </p:sp>
      <p:sp>
        <p:nvSpPr>
          <p:cNvPr id="10" name="text-145"/>
          <p:cNvSpPr txBox="1"/>
          <p:nvPr/>
        </p:nvSpPr>
        <p:spPr>
          <a:xfrm>
            <a:off x="3665144" y="2221992"/>
            <a:ext cx="2019224" cy="320040"/>
          </a:xfrm>
          <a:prstGeom prst="rect">
            <a:avLst/>
          </a:prstGeom>
          <a:noFill/>
          <a:ln/>
        </p:spPr>
        <p:txBody>
          <a:bodyPr wrap="square" lIns="0" tIns="0" rIns="0" bIns="0" rtlCol="0" anchor="t"/>
          <a:lstStyle/>
          <a:p>
            <a:pPr indent="0" marL="0">
              <a:buNone/>
            </a:pPr>
            <a:r>
              <a:rPr lang="en-US" sz="1400" dirty="0">
                <a:solidFill>
                  <a:schemeClr val="accent4"/>
                </a:solidFill>
              </a:rPr>
              <a:t>problematic loans (B + D)</a:t>
            </a:r>
            <a:endParaRPr lang="en-US" sz="1400" dirty="0"/>
          </a:p>
        </p:txBody>
      </p:sp>
      <p:sp>
        <p:nvSpPr>
          <p:cNvPr id="11" name="card-146"/>
          <p:cNvSpPr/>
          <p:nvPr/>
        </p:nvSpPr>
        <p:spPr>
          <a:xfrm>
            <a:off x="6233008" y="1600200"/>
            <a:ext cx="2567864" cy="1051560"/>
          </a:xfrm>
          <a:prstGeom prst="roundRect">
            <a:avLst>
              <a:gd name="adj" fmla="val 6957"/>
            </a:avLst>
          </a:prstGeom>
          <a:solidFill>
            <a:schemeClr val="bg1"/>
          </a:solidFill>
          <a:ln w="9525">
            <a:solidFill>
              <a:schemeClr val="accent5"/>
            </a:solidFill>
            <a:prstDash val="solid"/>
          </a:ln>
        </p:spPr>
      </p:sp>
      <p:sp>
        <p:nvSpPr>
          <p:cNvPr id="12" name="text-147"/>
          <p:cNvSpPr txBox="1"/>
          <p:nvPr/>
        </p:nvSpPr>
        <p:spPr>
          <a:xfrm>
            <a:off x="6507328" y="1709928"/>
            <a:ext cx="2019224"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11.1%</a:t>
            </a:r>
            <a:endParaRPr lang="en-US" sz="2800" dirty="0"/>
          </a:p>
        </p:txBody>
      </p:sp>
      <p:sp>
        <p:nvSpPr>
          <p:cNvPr id="13" name="text-148"/>
          <p:cNvSpPr txBox="1"/>
          <p:nvPr/>
        </p:nvSpPr>
        <p:spPr>
          <a:xfrm>
            <a:off x="6507328" y="2221992"/>
            <a:ext cx="2019224" cy="320040"/>
          </a:xfrm>
          <a:prstGeom prst="rect">
            <a:avLst/>
          </a:prstGeom>
          <a:noFill/>
          <a:ln/>
        </p:spPr>
        <p:txBody>
          <a:bodyPr wrap="square" lIns="0" tIns="0" rIns="0" bIns="0" rtlCol="0" anchor="t"/>
          <a:lstStyle/>
          <a:p>
            <a:pPr indent="0" marL="0">
              <a:buNone/>
            </a:pPr>
            <a:r>
              <a:rPr lang="en-US" sz="1400" dirty="0">
                <a:solidFill>
                  <a:schemeClr val="accent4"/>
                </a:solidFill>
              </a:rPr>
              <a:t>problematic rate</a:t>
            </a:r>
            <a:endParaRPr lang="en-US" sz="1400" dirty="0"/>
          </a:p>
        </p:txBody>
      </p:sp>
      <p:sp>
        <p:nvSpPr>
          <p:cNvPr id="14" name="card-149"/>
          <p:cNvSpPr/>
          <p:nvPr/>
        </p:nvSpPr>
        <p:spPr>
          <a:xfrm>
            <a:off x="9075191" y="1600200"/>
            <a:ext cx="2567864" cy="1051560"/>
          </a:xfrm>
          <a:prstGeom prst="roundRect">
            <a:avLst>
              <a:gd name="adj" fmla="val 6957"/>
            </a:avLst>
          </a:prstGeom>
          <a:solidFill>
            <a:schemeClr val="bg1"/>
          </a:solidFill>
          <a:ln w="9525">
            <a:solidFill>
              <a:schemeClr val="accent5"/>
            </a:solidFill>
            <a:prstDash val="solid"/>
          </a:ln>
        </p:spPr>
      </p:sp>
      <p:sp>
        <p:nvSpPr>
          <p:cNvPr id="15" name="text-150"/>
          <p:cNvSpPr txBox="1"/>
          <p:nvPr/>
        </p:nvSpPr>
        <p:spPr>
          <a:xfrm>
            <a:off x="9349511" y="1709928"/>
            <a:ext cx="2019224" cy="502920"/>
          </a:xfrm>
          <a:prstGeom prst="rect">
            <a:avLst/>
          </a:prstGeom>
          <a:noFill/>
          <a:ln/>
        </p:spPr>
        <p:txBody>
          <a:bodyPr wrap="square" lIns="0" tIns="0" rIns="0" bIns="0" rtlCol="0" anchor="t"/>
          <a:lstStyle/>
          <a:p>
            <a:pPr indent="0" marL="0">
              <a:buNone/>
            </a:pPr>
            <a:r>
              <a:rPr lang="en-US" sz="2800" b="1" dirty="0">
                <a:solidFill>
                  <a:schemeClr val="tx1"/>
                </a:solidFill>
                <a:latin typeface="+mj-lt" pitchFamily="34" charset="0"/>
                <a:ea typeface="+mj-lt" pitchFamily="34" charset="-122"/>
                <a:cs typeface="+mj-lt" pitchFamily="34" charset="-120"/>
              </a:rPr>
              <a:t>15.6M Kč</a:t>
            </a:r>
            <a:endParaRPr lang="en-US" sz="2800" dirty="0"/>
          </a:p>
        </p:txBody>
      </p:sp>
      <p:sp>
        <p:nvSpPr>
          <p:cNvPr id="16" name="text-151"/>
          <p:cNvSpPr txBox="1"/>
          <p:nvPr/>
        </p:nvSpPr>
        <p:spPr>
          <a:xfrm>
            <a:off x="9349511" y="2221992"/>
            <a:ext cx="2019224" cy="320040"/>
          </a:xfrm>
          <a:prstGeom prst="rect">
            <a:avLst/>
          </a:prstGeom>
          <a:noFill/>
          <a:ln/>
        </p:spPr>
        <p:txBody>
          <a:bodyPr wrap="square" lIns="0" tIns="0" rIns="0" bIns="0" rtlCol="0" anchor="t"/>
          <a:lstStyle/>
          <a:p>
            <a:pPr indent="0" marL="0">
              <a:buNone/>
            </a:pPr>
            <a:r>
              <a:rPr lang="en-US" sz="1400" dirty="0">
                <a:solidFill>
                  <a:schemeClr val="accent4"/>
                </a:solidFill>
              </a:rPr>
              <a:t>principal at risk</a:t>
            </a:r>
            <a:endParaRPr lang="en-US" sz="1400" dirty="0"/>
          </a:p>
        </p:txBody>
      </p:sp>
      <p:sp>
        <p:nvSpPr>
          <p:cNvPr id="17" name="card-152"/>
          <p:cNvSpPr/>
          <p:nvPr/>
        </p:nvSpPr>
        <p:spPr>
          <a:xfrm>
            <a:off x="548640" y="2880360"/>
            <a:ext cx="7315200" cy="3246120"/>
          </a:xfrm>
          <a:prstGeom prst="roundRect">
            <a:avLst>
              <a:gd name="adj" fmla="val 2254"/>
            </a:avLst>
          </a:prstGeom>
          <a:solidFill>
            <a:schemeClr val="bg1"/>
          </a:solidFill>
          <a:ln w="9525">
            <a:solidFill>
              <a:schemeClr val="accent5"/>
            </a:solidFill>
            <a:prstDash val="solid"/>
          </a:ln>
        </p:spPr>
      </p:sp>
      <p:sp>
        <p:nvSpPr>
          <p:cNvPr id="18" name="text-153"/>
          <p:cNvSpPr txBox="1"/>
          <p:nvPr/>
        </p:nvSpPr>
        <p:spPr>
          <a:xfrm>
            <a:off x="822960" y="3017520"/>
            <a:ext cx="6766560" cy="320040"/>
          </a:xfrm>
          <a:prstGeom prst="rect">
            <a:avLst/>
          </a:prstGeom>
          <a:noFill/>
          <a:ln/>
        </p:spPr>
        <p:txBody>
          <a:bodyPr wrap="square" lIns="0" tIns="0" rIns="0" bIns="0" rtlCol="0" anchor="t"/>
          <a:lstStyle/>
          <a:p>
            <a:pPr indent="0" marL="0">
              <a:buNone/>
            </a:pPr>
            <a:r>
              <a:rPr lang="en-US" sz="1400" b="1" dirty="0">
                <a:solidFill>
                  <a:schemeClr val="tx1"/>
                </a:solidFill>
              </a:rPr>
              <a:t>Problematic rate by the year the loan was given (%)</a:t>
            </a:r>
            <a:endParaRPr lang="en-US" sz="1400" dirty="0"/>
          </a:p>
        </p:txBody>
      </p:sp>
      <p:graphicFrame>
        <p:nvGraphicFramePr>
          <p:cNvPr id="19" name="chart-154" descr=""/>
          <p:cNvGraphicFramePr/>
          <p:nvPr/>
        </p:nvGraphicFramePr>
        <p:xfrm>
          <a:off x="685800" y="3383280"/>
          <a:ext cx="7040880" cy="2651760"/>
        </p:xfrm>
        <a:graphic xmlns:a="http://schemas.openxmlformats.org/drawingml/2006/main">
          <a:graphicData uri="http://schemas.openxmlformats.org/drawingml/2006/chart">
            <c:chart xmlns:c="http://schemas.openxmlformats.org/drawingml/2006/chart" r:id="rId1"/>
          </a:graphicData>
        </a:graphic>
      </p:graphicFrame>
      <p:sp>
        <p:nvSpPr>
          <p:cNvPr id="20" name="card-155"/>
          <p:cNvSpPr/>
          <p:nvPr/>
        </p:nvSpPr>
        <p:spPr>
          <a:xfrm>
            <a:off x="8138160" y="2880360"/>
            <a:ext cx="3504895" cy="3246120"/>
          </a:xfrm>
          <a:prstGeom prst="roundRect">
            <a:avLst>
              <a:gd name="adj" fmla="val 2254"/>
            </a:avLst>
          </a:prstGeom>
          <a:solidFill>
            <a:schemeClr val="tx1"/>
          </a:solidFill>
          <a:ln/>
        </p:spPr>
      </p:sp>
      <p:sp>
        <p:nvSpPr>
          <p:cNvPr id="21" name="text-156"/>
          <p:cNvSpPr txBox="1"/>
          <p:nvPr/>
        </p:nvSpPr>
        <p:spPr>
          <a:xfrm>
            <a:off x="8412480" y="3154680"/>
            <a:ext cx="2956255" cy="2697480"/>
          </a:xfrm>
          <a:prstGeom prst="rect">
            <a:avLst/>
          </a:prstGeom>
          <a:noFill/>
          <a:ln/>
        </p:spPr>
        <p:txBody>
          <a:bodyPr wrap="square" lIns="0" tIns="0" rIns="0" bIns="0" rtlCol="0" anchor="t"/>
          <a:lstStyle/>
          <a:p>
            <a:pPr indent="0" marL="0">
              <a:buNone/>
            </a:pPr>
            <a:r>
              <a:rPr lang="en-US" sz="1200" b="1" spc="100" kern="0" dirty="0">
                <a:solidFill>
                  <a:schemeClr val="accent1"/>
                </a:solidFill>
              </a:rPr>
              <a:t>WHAT IT MEANS</a:t>
            </a:r>
            <a:endParaRPr lang="en-US" sz="1400" dirty="0"/>
          </a:p>
          <a:p>
            <a:pPr indent="0" marL="0">
              <a:spcBef>
                <a:spcPts val="400"/>
              </a:spcBef>
              <a:buNone/>
            </a:pPr>
            <a:r>
              <a:rPr lang="en-US" sz="1500" dirty="0">
                <a:solidFill>
                  <a:schemeClr val="bg1"/>
                </a:solidFill>
              </a:rPr>
              <a:t>The 1998 drop to 2.5% is not real progress. Those loans were too new to go bad. The true rate is 13 to 14%.</a:t>
            </a:r>
            <a:endParaRPr lang="en-US" sz="1400" dirty="0"/>
          </a:p>
          <a:p>
            <a:pPr indent="0" marL="0">
              <a:spcBef>
                <a:spcPts val="1400"/>
              </a:spcBef>
              <a:buNone/>
            </a:pPr>
            <a:r>
              <a:rPr lang="en-US" sz="1200" b="1" spc="100" kern="0" dirty="0">
                <a:solidFill>
                  <a:schemeClr val="accent1"/>
                </a:solidFill>
              </a:rPr>
              <a:t>WHAT TO DO</a:t>
            </a:r>
            <a:endParaRPr lang="en-US" sz="1400" dirty="0"/>
          </a:p>
          <a:p>
            <a:pPr indent="0" marL="0">
              <a:spcBef>
                <a:spcPts val="400"/>
              </a:spcBef>
              <a:buNone/>
            </a:pPr>
            <a:r>
              <a:rPr lang="en-US" sz="1500" dirty="0">
                <a:solidFill>
                  <a:schemeClr val="bg1"/>
                </a:solidFill>
              </a:rPr>
              <a:t>Compare loans of the same age, not one overall number.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Driver Ranking</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Account behaviour predicts risk, demographics do not</a:t>
            </a:r>
            <a:endParaRPr lang="en-US" sz="1500" dirty="0"/>
          </a:p>
        </p:txBody>
      </p:sp>
      <p:sp>
        <p:nvSpPr>
          <p:cNvPr id="5" name="card-157"/>
          <p:cNvSpPr/>
          <p:nvPr/>
        </p:nvSpPr>
        <p:spPr>
          <a:xfrm>
            <a:off x="548640" y="1600200"/>
            <a:ext cx="6949440" cy="4526280"/>
          </a:xfrm>
          <a:prstGeom prst="roundRect">
            <a:avLst>
              <a:gd name="adj" fmla="val 1616"/>
            </a:avLst>
          </a:prstGeom>
          <a:solidFill>
            <a:schemeClr val="bg1"/>
          </a:solidFill>
          <a:ln w="9525">
            <a:solidFill>
              <a:schemeClr val="accent5"/>
            </a:solidFill>
            <a:prstDash val="solid"/>
          </a:ln>
        </p:spPr>
      </p:sp>
      <p:sp>
        <p:nvSpPr>
          <p:cNvPr id="6" name="text-158"/>
          <p:cNvSpPr txBox="1"/>
          <p:nvPr/>
        </p:nvSpPr>
        <p:spPr>
          <a:xfrm>
            <a:off x="822960" y="1737360"/>
            <a:ext cx="6400800" cy="548640"/>
          </a:xfrm>
          <a:prstGeom prst="rect">
            <a:avLst/>
          </a:prstGeom>
          <a:noFill/>
          <a:ln/>
        </p:spPr>
        <p:txBody>
          <a:bodyPr wrap="square" lIns="0" tIns="0" rIns="0" bIns="0" rtlCol="0" anchor="t"/>
          <a:lstStyle/>
          <a:p>
            <a:pPr indent="0" marL="0">
              <a:buNone/>
            </a:pPr>
            <a:r>
              <a:rPr lang="en-US" sz="1400" b="1" dirty="0">
                <a:solidFill>
                  <a:schemeClr val="tx1"/>
                </a:solidFill>
              </a:rPr>
              <a:t>Risk lift: how many times riskier the worst group is than the safest (1.0x = no difference)</a:t>
            </a:r>
            <a:endParaRPr lang="en-US" sz="1400" dirty="0"/>
          </a:p>
        </p:txBody>
      </p:sp>
      <p:graphicFrame>
        <p:nvGraphicFramePr>
          <p:cNvPr id="7" name="chart-159" descr=""/>
          <p:cNvGraphicFramePr/>
          <p:nvPr/>
        </p:nvGraphicFramePr>
        <p:xfrm>
          <a:off x="685800" y="2286000"/>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8" name="text-160"/>
          <p:cNvSpPr txBox="1"/>
          <p:nvPr/>
        </p:nvSpPr>
        <p:spPr>
          <a:xfrm>
            <a:off x="7772400" y="1600200"/>
            <a:ext cx="3840480" cy="960120"/>
          </a:xfrm>
          <a:prstGeom prst="rect">
            <a:avLst/>
          </a:prstGeom>
          <a:noFill/>
          <a:ln/>
        </p:spPr>
        <p:txBody>
          <a:bodyPr wrap="square" lIns="0" tIns="0" rIns="0" bIns="0" rtlCol="0" anchor="t"/>
          <a:lstStyle/>
          <a:p>
            <a:pPr indent="0" marL="0">
              <a:buNone/>
            </a:pPr>
            <a:r>
              <a:rPr lang="en-US" sz="6000" b="1" dirty="0">
                <a:solidFill>
                  <a:schemeClr val="accent2"/>
                </a:solidFill>
                <a:latin typeface="+mj-lt" pitchFamily="34" charset="0"/>
                <a:ea typeface="+mj-lt" pitchFamily="34" charset="-122"/>
                <a:cs typeface="+mj-lt" pitchFamily="34" charset="-120"/>
              </a:rPr>
              <a:t>13.3x</a:t>
            </a:r>
            <a:endParaRPr lang="en-US" sz="6000" dirty="0"/>
          </a:p>
        </p:txBody>
      </p:sp>
      <p:sp>
        <p:nvSpPr>
          <p:cNvPr id="9" name="text-161"/>
          <p:cNvSpPr txBox="1"/>
          <p:nvPr/>
        </p:nvSpPr>
        <p:spPr>
          <a:xfrm>
            <a:off x="7772400" y="2606040"/>
            <a:ext cx="3840480" cy="685800"/>
          </a:xfrm>
          <a:prstGeom prst="rect">
            <a:avLst/>
          </a:prstGeom>
          <a:noFill/>
          <a:ln/>
        </p:spPr>
        <p:txBody>
          <a:bodyPr wrap="square" lIns="0" tIns="0" rIns="0" bIns="0" rtlCol="0" anchor="t"/>
          <a:lstStyle/>
          <a:p>
            <a:pPr indent="0" marL="0">
              <a:buNone/>
            </a:pPr>
            <a:r>
              <a:rPr lang="en-US" sz="1700" dirty="0">
                <a:solidFill>
                  <a:schemeClr val="tx1"/>
                </a:solidFill>
              </a:rPr>
              <a:t>riskier when the account went below zero before the loan</a:t>
            </a:r>
            <a:endParaRPr lang="en-US" sz="1700" dirty="0"/>
          </a:p>
        </p:txBody>
      </p:sp>
      <p:sp>
        <p:nvSpPr>
          <p:cNvPr id="10" name="card-162"/>
          <p:cNvSpPr/>
          <p:nvPr/>
        </p:nvSpPr>
        <p:spPr>
          <a:xfrm>
            <a:off x="7772400" y="3520440"/>
            <a:ext cx="3870655" cy="2606040"/>
          </a:xfrm>
          <a:prstGeom prst="roundRect">
            <a:avLst>
              <a:gd name="adj" fmla="val 2807"/>
            </a:avLst>
          </a:prstGeom>
          <a:solidFill>
            <a:schemeClr val="tx1"/>
          </a:solidFill>
          <a:ln/>
        </p:spPr>
      </p:sp>
      <p:sp>
        <p:nvSpPr>
          <p:cNvPr id="11" name="text-163"/>
          <p:cNvSpPr txBox="1"/>
          <p:nvPr/>
        </p:nvSpPr>
        <p:spPr>
          <a:xfrm>
            <a:off x="8046720" y="3794760"/>
            <a:ext cx="3322015" cy="2057400"/>
          </a:xfrm>
          <a:prstGeom prst="rect">
            <a:avLst/>
          </a:prstGeom>
          <a:noFill/>
          <a:ln/>
        </p:spPr>
        <p:txBody>
          <a:bodyPr wrap="square" lIns="0" tIns="0" rIns="0" bIns="0" rtlCol="0" anchor="t"/>
          <a:lstStyle/>
          <a:p>
            <a:pPr indent="0" marL="0">
              <a:buNone/>
            </a:pPr>
            <a:r>
              <a:rPr lang="en-US" sz="1200" b="1" spc="100" kern="0" dirty="0">
                <a:solidFill>
                  <a:schemeClr val="accent1"/>
                </a:solidFill>
              </a:rPr>
              <a:t>WHAT IT MEANS</a:t>
            </a:r>
            <a:endParaRPr lang="en-US" sz="1400" dirty="0"/>
          </a:p>
          <a:p>
            <a:pPr indent="0" marL="0">
              <a:spcBef>
                <a:spcPts val="400"/>
              </a:spcBef>
              <a:buNone/>
            </a:pPr>
            <a:r>
              <a:rPr lang="en-US" sz="1500" dirty="0">
                <a:solidFill>
                  <a:schemeClr val="bg1"/>
                </a:solidFill>
              </a:rPr>
              <a:t>Risk shows in how the account behaves, not in who the customer is. Gender barely matters (1.1x).</a:t>
            </a:r>
            <a:endParaRPr lang="en-US" sz="1400" dirty="0"/>
          </a:p>
          <a:p>
            <a:pPr indent="0" marL="0">
              <a:spcBef>
                <a:spcPts val="1400"/>
              </a:spcBef>
              <a:buNone/>
            </a:pPr>
            <a:r>
              <a:rPr lang="en-US" sz="1200" b="1" spc="100" kern="0" dirty="0">
                <a:solidFill>
                  <a:schemeClr val="accent1"/>
                </a:solidFill>
              </a:rPr>
              <a:t>WHAT TO DO</a:t>
            </a:r>
            <a:endParaRPr lang="en-US" sz="1400" dirty="0"/>
          </a:p>
          <a:p>
            <a:pPr indent="0" marL="0">
              <a:spcBef>
                <a:spcPts val="400"/>
              </a:spcBef>
              <a:buNone/>
            </a:pPr>
            <a:r>
              <a:rPr lang="en-US" sz="1500" dirty="0">
                <a:solidFill>
                  <a:schemeClr val="bg1"/>
                </a:solidFill>
              </a:rPr>
              <a:t>Check account behaviour before approving a loan.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Affordability, Liquidity and Loan Size</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The size of the monthly instalment matters more than the size of the loan</a:t>
            </a:r>
            <a:endParaRPr lang="en-US" sz="1500" dirty="0"/>
          </a:p>
        </p:txBody>
      </p:sp>
      <p:sp>
        <p:nvSpPr>
          <p:cNvPr id="5" name="card-164"/>
          <p:cNvSpPr/>
          <p:nvPr/>
        </p:nvSpPr>
        <p:spPr>
          <a:xfrm>
            <a:off x="548640" y="1600200"/>
            <a:ext cx="3515258" cy="3246120"/>
          </a:xfrm>
          <a:prstGeom prst="roundRect">
            <a:avLst>
              <a:gd name="adj" fmla="val 2254"/>
            </a:avLst>
          </a:prstGeom>
          <a:solidFill>
            <a:schemeClr val="bg1"/>
          </a:solidFill>
          <a:ln w="9525">
            <a:solidFill>
              <a:schemeClr val="accent5"/>
            </a:solidFill>
            <a:prstDash val="solid"/>
          </a:ln>
        </p:spPr>
      </p:sp>
      <p:sp>
        <p:nvSpPr>
          <p:cNvPr id="6" name="text-165"/>
          <p:cNvSpPr txBox="1"/>
          <p:nvPr/>
        </p:nvSpPr>
        <p:spPr>
          <a:xfrm>
            <a:off x="822960" y="1755648"/>
            <a:ext cx="2966618" cy="320040"/>
          </a:xfrm>
          <a:prstGeom prst="rect">
            <a:avLst/>
          </a:prstGeom>
          <a:noFill/>
          <a:ln/>
        </p:spPr>
        <p:txBody>
          <a:bodyPr wrap="square" lIns="0" tIns="0" rIns="0" bIns="0" rtlCol="0" anchor="t"/>
          <a:lstStyle/>
          <a:p>
            <a:pPr indent="0" marL="0">
              <a:buNone/>
            </a:pPr>
            <a:r>
              <a:rPr lang="en-US" sz="1500" b="1" dirty="0">
                <a:solidFill>
                  <a:schemeClr val="tx1"/>
                </a:solidFill>
              </a:rPr>
              <a:t>Instalment vs monthly income</a:t>
            </a:r>
            <a:endParaRPr lang="en-US" sz="1500" dirty="0"/>
          </a:p>
        </p:txBody>
      </p:sp>
      <p:sp>
        <p:nvSpPr>
          <p:cNvPr id="7" name="text-166"/>
          <p:cNvSpPr txBox="1"/>
          <p:nvPr/>
        </p:nvSpPr>
        <p:spPr>
          <a:xfrm>
            <a:off x="822960" y="2075688"/>
            <a:ext cx="2966618" cy="274320"/>
          </a:xfrm>
          <a:prstGeom prst="rect">
            <a:avLst/>
          </a:prstGeom>
          <a:noFill/>
          <a:ln/>
        </p:spPr>
        <p:txBody>
          <a:bodyPr wrap="square" lIns="0" tIns="0" rIns="0" bIns="0" rtlCol="0" anchor="t"/>
          <a:lstStyle/>
          <a:p>
            <a:pPr indent="0" marL="0">
              <a:buNone/>
            </a:pPr>
            <a:r>
              <a:rPr lang="en-US" sz="1200" dirty="0">
                <a:solidFill>
                  <a:schemeClr val="accent4"/>
                </a:solidFill>
              </a:rPr>
              <a:t>Lowest to highest burden</a:t>
            </a:r>
            <a:endParaRPr lang="en-US" sz="1200" dirty="0"/>
          </a:p>
        </p:txBody>
      </p:sp>
      <p:graphicFrame>
        <p:nvGraphicFramePr>
          <p:cNvPr id="8" name="chart-167" descr=""/>
          <p:cNvGraphicFramePr/>
          <p:nvPr/>
        </p:nvGraphicFramePr>
        <p:xfrm>
          <a:off x="640080" y="2377440"/>
          <a:ext cx="3332378" cy="2377440"/>
        </p:xfrm>
        <a:graphic xmlns:a="http://schemas.openxmlformats.org/drawingml/2006/main">
          <a:graphicData uri="http://schemas.openxmlformats.org/drawingml/2006/chart">
            <c:chart xmlns:c="http://schemas.openxmlformats.org/drawingml/2006/chart" r:id="rId1"/>
          </a:graphicData>
        </a:graphic>
      </p:graphicFrame>
      <p:sp>
        <p:nvSpPr>
          <p:cNvPr id="9" name="card-168"/>
          <p:cNvSpPr/>
          <p:nvPr/>
        </p:nvSpPr>
        <p:spPr>
          <a:xfrm>
            <a:off x="4338218" y="1600200"/>
            <a:ext cx="3515258" cy="3246120"/>
          </a:xfrm>
          <a:prstGeom prst="roundRect">
            <a:avLst>
              <a:gd name="adj" fmla="val 2254"/>
            </a:avLst>
          </a:prstGeom>
          <a:solidFill>
            <a:schemeClr val="bg1"/>
          </a:solidFill>
          <a:ln w="9525">
            <a:solidFill>
              <a:schemeClr val="accent5"/>
            </a:solidFill>
            <a:prstDash val="solid"/>
          </a:ln>
        </p:spPr>
      </p:sp>
      <p:sp>
        <p:nvSpPr>
          <p:cNvPr id="10" name="text-169"/>
          <p:cNvSpPr txBox="1"/>
          <p:nvPr/>
        </p:nvSpPr>
        <p:spPr>
          <a:xfrm>
            <a:off x="4612538" y="1755648"/>
            <a:ext cx="2966618" cy="320040"/>
          </a:xfrm>
          <a:prstGeom prst="rect">
            <a:avLst/>
          </a:prstGeom>
          <a:noFill/>
          <a:ln/>
        </p:spPr>
        <p:txBody>
          <a:bodyPr wrap="square" lIns="0" tIns="0" rIns="0" bIns="0" rtlCol="0" anchor="t"/>
          <a:lstStyle/>
          <a:p>
            <a:pPr indent="0" marL="0">
              <a:buNone/>
            </a:pPr>
            <a:r>
              <a:rPr lang="en-US" sz="1500" b="1" dirty="0">
                <a:solidFill>
                  <a:schemeClr val="tx1"/>
                </a:solidFill>
              </a:rPr>
              <a:t>Average account balance</a:t>
            </a:r>
            <a:endParaRPr lang="en-US" sz="1500" dirty="0"/>
          </a:p>
        </p:txBody>
      </p:sp>
      <p:sp>
        <p:nvSpPr>
          <p:cNvPr id="11" name="text-170"/>
          <p:cNvSpPr txBox="1"/>
          <p:nvPr/>
        </p:nvSpPr>
        <p:spPr>
          <a:xfrm>
            <a:off x="4612538" y="2075688"/>
            <a:ext cx="2966618" cy="274320"/>
          </a:xfrm>
          <a:prstGeom prst="rect">
            <a:avLst/>
          </a:prstGeom>
          <a:noFill/>
          <a:ln/>
        </p:spPr>
        <p:txBody>
          <a:bodyPr wrap="square" lIns="0" tIns="0" rIns="0" bIns="0" rtlCol="0" anchor="t"/>
          <a:lstStyle/>
          <a:p>
            <a:pPr indent="0" marL="0">
              <a:buNone/>
            </a:pPr>
            <a:r>
              <a:rPr lang="en-US" sz="1200" dirty="0">
                <a:solidFill>
                  <a:schemeClr val="accent4"/>
                </a:solidFill>
              </a:rPr>
              <a:t>Lowest to highest balance</a:t>
            </a:r>
            <a:endParaRPr lang="en-US" sz="1200" dirty="0"/>
          </a:p>
        </p:txBody>
      </p:sp>
      <p:graphicFrame>
        <p:nvGraphicFramePr>
          <p:cNvPr id="12" name="chart-171" descr=""/>
          <p:cNvGraphicFramePr/>
          <p:nvPr/>
        </p:nvGraphicFramePr>
        <p:xfrm>
          <a:off x="4429658" y="2377440"/>
          <a:ext cx="3332378" cy="2377440"/>
        </p:xfrm>
        <a:graphic xmlns:a="http://schemas.openxmlformats.org/drawingml/2006/main">
          <a:graphicData uri="http://schemas.openxmlformats.org/drawingml/2006/chart">
            <c:chart xmlns:c="http://schemas.openxmlformats.org/drawingml/2006/chart" r:id="rId2"/>
          </a:graphicData>
        </a:graphic>
      </p:graphicFrame>
      <p:sp>
        <p:nvSpPr>
          <p:cNvPr id="13" name="card-172"/>
          <p:cNvSpPr/>
          <p:nvPr/>
        </p:nvSpPr>
        <p:spPr>
          <a:xfrm>
            <a:off x="8127797" y="1600200"/>
            <a:ext cx="3515258" cy="3246120"/>
          </a:xfrm>
          <a:prstGeom prst="roundRect">
            <a:avLst>
              <a:gd name="adj" fmla="val 2254"/>
            </a:avLst>
          </a:prstGeom>
          <a:solidFill>
            <a:schemeClr val="bg1"/>
          </a:solidFill>
          <a:ln w="9525">
            <a:solidFill>
              <a:schemeClr val="accent5"/>
            </a:solidFill>
            <a:prstDash val="solid"/>
          </a:ln>
        </p:spPr>
      </p:sp>
      <p:sp>
        <p:nvSpPr>
          <p:cNvPr id="14" name="text-173"/>
          <p:cNvSpPr txBox="1"/>
          <p:nvPr/>
        </p:nvSpPr>
        <p:spPr>
          <a:xfrm>
            <a:off x="8402117" y="1755648"/>
            <a:ext cx="2966618" cy="320040"/>
          </a:xfrm>
          <a:prstGeom prst="rect">
            <a:avLst/>
          </a:prstGeom>
          <a:noFill/>
          <a:ln/>
        </p:spPr>
        <p:txBody>
          <a:bodyPr wrap="square" lIns="0" tIns="0" rIns="0" bIns="0" rtlCol="0" anchor="t"/>
          <a:lstStyle/>
          <a:p>
            <a:pPr indent="0" marL="0">
              <a:buNone/>
            </a:pPr>
            <a:r>
              <a:rPr lang="en-US" sz="1500" b="1" dirty="0">
                <a:solidFill>
                  <a:schemeClr val="tx1"/>
                </a:solidFill>
              </a:rPr>
              <a:t>Loan amount</a:t>
            </a:r>
            <a:endParaRPr lang="en-US" sz="1500" dirty="0"/>
          </a:p>
        </p:txBody>
      </p:sp>
      <p:sp>
        <p:nvSpPr>
          <p:cNvPr id="15" name="text-174"/>
          <p:cNvSpPr txBox="1"/>
          <p:nvPr/>
        </p:nvSpPr>
        <p:spPr>
          <a:xfrm>
            <a:off x="8402117" y="2075688"/>
            <a:ext cx="2966618" cy="274320"/>
          </a:xfrm>
          <a:prstGeom prst="rect">
            <a:avLst/>
          </a:prstGeom>
          <a:noFill/>
          <a:ln/>
        </p:spPr>
        <p:txBody>
          <a:bodyPr wrap="square" lIns="0" tIns="0" rIns="0" bIns="0" rtlCol="0" anchor="t"/>
          <a:lstStyle/>
          <a:p>
            <a:pPr indent="0" marL="0">
              <a:buNone/>
            </a:pPr>
            <a:r>
              <a:rPr lang="en-US" sz="1200" dirty="0">
                <a:solidFill>
                  <a:schemeClr val="accent4"/>
                </a:solidFill>
              </a:rPr>
              <a:t>Smallest to largest loan</a:t>
            </a:r>
            <a:endParaRPr lang="en-US" sz="1200" dirty="0"/>
          </a:p>
        </p:txBody>
      </p:sp>
      <p:graphicFrame>
        <p:nvGraphicFramePr>
          <p:cNvPr id="16" name="chart-175" descr=""/>
          <p:cNvGraphicFramePr/>
          <p:nvPr/>
        </p:nvGraphicFramePr>
        <p:xfrm>
          <a:off x="8219237" y="2377440"/>
          <a:ext cx="3332378" cy="2377440"/>
        </p:xfrm>
        <a:graphic xmlns:a="http://schemas.openxmlformats.org/drawingml/2006/main">
          <a:graphicData uri="http://schemas.openxmlformats.org/drawingml/2006/chart">
            <c:chart xmlns:c="http://schemas.openxmlformats.org/drawingml/2006/chart" r:id="rId3"/>
          </a:graphicData>
        </a:graphic>
      </p:graphicFrame>
      <p:sp>
        <p:nvSpPr>
          <p:cNvPr id="17" name="card-176"/>
          <p:cNvSpPr/>
          <p:nvPr/>
        </p:nvSpPr>
        <p:spPr>
          <a:xfrm>
            <a:off x="548640" y="5074920"/>
            <a:ext cx="11094415" cy="1051560"/>
          </a:xfrm>
          <a:prstGeom prst="roundRect">
            <a:avLst>
              <a:gd name="adj" fmla="val 6957"/>
            </a:avLst>
          </a:prstGeom>
          <a:solidFill>
            <a:schemeClr val="tx1"/>
          </a:solidFill>
          <a:ln/>
        </p:spPr>
      </p:sp>
      <p:sp>
        <p:nvSpPr>
          <p:cNvPr id="18" name="text-177"/>
          <p:cNvSpPr txBox="1"/>
          <p:nvPr/>
        </p:nvSpPr>
        <p:spPr>
          <a:xfrm>
            <a:off x="822960" y="5212080"/>
            <a:ext cx="5669280" cy="822960"/>
          </a:xfrm>
          <a:prstGeom prst="rect">
            <a:avLst/>
          </a:prstGeom>
          <a:noFill/>
          <a:ln/>
        </p:spPr>
        <p:txBody>
          <a:bodyPr wrap="square" lIns="0" tIns="0" rIns="0" bIns="0" rtlCol="0" anchor="t"/>
          <a:lstStyle/>
          <a:p>
            <a:pPr indent="0" marL="0">
              <a:buNone/>
            </a:pPr>
            <a:r>
              <a:rPr lang="en-US" sz="1200" b="1" spc="100" kern="0" dirty="0">
                <a:solidFill>
                  <a:schemeClr val="accent1"/>
                </a:solidFill>
              </a:rPr>
              <a:t>WHAT IT MEANS</a:t>
            </a:r>
            <a:endParaRPr lang="en-US" sz="1400" dirty="0"/>
          </a:p>
          <a:p>
            <a:pPr indent="0" marL="0">
              <a:spcBef>
                <a:spcPts val="300"/>
              </a:spcBef>
              <a:buNone/>
            </a:pPr>
            <a:r>
              <a:rPr lang="en-US" sz="1400" dirty="0">
                <a:solidFill>
                  <a:schemeClr val="bg1"/>
                </a:solidFill>
              </a:rPr>
              <a:t>Heavy instalments and low balances both fail at 19.3%. Loan amount stays flat until the largest group.</a:t>
            </a:r>
            <a:endParaRPr lang="en-US" sz="1400" dirty="0"/>
          </a:p>
        </p:txBody>
      </p:sp>
      <p:sp>
        <p:nvSpPr>
          <p:cNvPr id="19" name="text-178"/>
          <p:cNvSpPr txBox="1"/>
          <p:nvPr/>
        </p:nvSpPr>
        <p:spPr>
          <a:xfrm>
            <a:off x="6949440" y="5212080"/>
            <a:ext cx="4480560" cy="822960"/>
          </a:xfrm>
          <a:prstGeom prst="rect">
            <a:avLst/>
          </a:prstGeom>
          <a:noFill/>
          <a:ln/>
        </p:spPr>
        <p:txBody>
          <a:bodyPr wrap="square" lIns="0" tIns="0" rIns="0" bIns="0" rtlCol="0" anchor="t"/>
          <a:lstStyle/>
          <a:p>
            <a:pPr indent="0" marL="0">
              <a:buNone/>
            </a:pPr>
            <a:r>
              <a:rPr lang="en-US" sz="1200" b="1" spc="100" kern="0" dirty="0">
                <a:solidFill>
                  <a:schemeClr val="accent1"/>
                </a:solidFill>
              </a:rPr>
              <a:t>WHAT TO DO</a:t>
            </a:r>
            <a:endParaRPr lang="en-US" sz="1400" dirty="0"/>
          </a:p>
          <a:p>
            <a:pPr indent="0" marL="0">
              <a:spcBef>
                <a:spcPts val="300"/>
              </a:spcBef>
              <a:buNone/>
            </a:pPr>
            <a:r>
              <a:rPr lang="en-US" sz="1400" dirty="0">
                <a:solidFill>
                  <a:schemeClr val="bg1"/>
                </a:solidFill>
              </a:rPr>
              <a:t>Cap the instalment at 17% of the customer's monthly income.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Risk Score Validation</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The riskiest 20% of scores hold 48 of 76 problematic loans</a:t>
            </a:r>
            <a:endParaRPr lang="en-US" sz="1500" dirty="0"/>
          </a:p>
        </p:txBody>
      </p:sp>
      <p:sp>
        <p:nvSpPr>
          <p:cNvPr id="5" name="card-179"/>
          <p:cNvSpPr/>
          <p:nvPr/>
        </p:nvSpPr>
        <p:spPr>
          <a:xfrm>
            <a:off x="548640" y="1600200"/>
            <a:ext cx="6949440" cy="4526280"/>
          </a:xfrm>
          <a:prstGeom prst="roundRect">
            <a:avLst>
              <a:gd name="adj" fmla="val 1616"/>
            </a:avLst>
          </a:prstGeom>
          <a:solidFill>
            <a:schemeClr val="bg1"/>
          </a:solidFill>
          <a:ln w="9525">
            <a:solidFill>
              <a:schemeClr val="accent5"/>
            </a:solidFill>
            <a:prstDash val="solid"/>
          </a:ln>
        </p:spPr>
      </p:sp>
      <p:sp>
        <p:nvSpPr>
          <p:cNvPr id="6" name="text-180"/>
          <p:cNvSpPr txBox="1"/>
          <p:nvPr/>
        </p:nvSpPr>
        <p:spPr>
          <a:xfrm>
            <a:off x="822960" y="1737360"/>
            <a:ext cx="6400800" cy="320040"/>
          </a:xfrm>
          <a:prstGeom prst="rect">
            <a:avLst/>
          </a:prstGeom>
          <a:noFill/>
          <a:ln/>
        </p:spPr>
        <p:txBody>
          <a:bodyPr wrap="square" lIns="0" tIns="0" rIns="0" bIns="0" rtlCol="0" anchor="t"/>
          <a:lstStyle/>
          <a:p>
            <a:pPr indent="0" marL="0">
              <a:buNone/>
            </a:pPr>
            <a:r>
              <a:rPr lang="en-US" sz="1400" b="1" dirty="0">
                <a:solidFill>
                  <a:schemeClr val="tx1"/>
                </a:solidFill>
              </a:rPr>
              <a:t>Problematic rate in five equal groups, from lowest to highest risk score</a:t>
            </a:r>
            <a:endParaRPr lang="en-US" sz="1400" dirty="0"/>
          </a:p>
        </p:txBody>
      </p:sp>
      <p:graphicFrame>
        <p:nvGraphicFramePr>
          <p:cNvPr id="7" name="chart-181" descr=""/>
          <p:cNvGraphicFramePr/>
          <p:nvPr/>
        </p:nvGraphicFramePr>
        <p:xfrm>
          <a:off x="685800" y="2148840"/>
          <a:ext cx="6675120" cy="3520440"/>
        </p:xfrm>
        <a:graphic xmlns:a="http://schemas.openxmlformats.org/drawingml/2006/main">
          <a:graphicData uri="http://schemas.openxmlformats.org/drawingml/2006/chart">
            <c:chart xmlns:c="http://schemas.openxmlformats.org/drawingml/2006/chart" r:id="rId1"/>
          </a:graphicData>
        </a:graphic>
      </p:graphicFrame>
      <p:sp>
        <p:nvSpPr>
          <p:cNvPr id="8" name="text-182"/>
          <p:cNvSpPr txBox="1"/>
          <p:nvPr/>
        </p:nvSpPr>
        <p:spPr>
          <a:xfrm>
            <a:off x="822960" y="5733288"/>
            <a:ext cx="6400800" cy="274320"/>
          </a:xfrm>
          <a:prstGeom prst="rect">
            <a:avLst/>
          </a:prstGeom>
          <a:noFill/>
          <a:ln/>
        </p:spPr>
        <p:txBody>
          <a:bodyPr wrap="square" lIns="0" tIns="0" rIns="0" bIns="0" rtlCol="0" anchor="t"/>
          <a:lstStyle/>
          <a:p>
            <a:pPr indent="0" marL="0">
              <a:buNone/>
            </a:pPr>
            <a:r>
              <a:rPr lang="en-US" sz="1200" i="1" dirty="0">
                <a:solidFill>
                  <a:schemeClr val="accent4"/>
                </a:solidFill>
              </a:rPr>
              <a:t>Method: logistic regression, 8 features, 5-fold cross validation</a:t>
            </a:r>
            <a:endParaRPr lang="en-US" sz="1200" dirty="0"/>
          </a:p>
        </p:txBody>
      </p:sp>
      <p:sp>
        <p:nvSpPr>
          <p:cNvPr id="9" name="text-183"/>
          <p:cNvSpPr txBox="1"/>
          <p:nvPr/>
        </p:nvSpPr>
        <p:spPr>
          <a:xfrm>
            <a:off x="7772400" y="1600200"/>
            <a:ext cx="3840480" cy="960120"/>
          </a:xfrm>
          <a:prstGeom prst="rect">
            <a:avLst/>
          </a:prstGeom>
          <a:noFill/>
          <a:ln/>
        </p:spPr>
        <p:txBody>
          <a:bodyPr wrap="square" lIns="0" tIns="0" rIns="0" bIns="0" rtlCol="0" anchor="t"/>
          <a:lstStyle/>
          <a:p>
            <a:pPr indent="0" marL="0">
              <a:buNone/>
            </a:pPr>
            <a:r>
              <a:rPr lang="en-US" sz="6000" b="1" dirty="0">
                <a:solidFill>
                  <a:schemeClr val="accent2"/>
                </a:solidFill>
                <a:latin typeface="+mj-lt" pitchFamily="34" charset="0"/>
                <a:ea typeface="+mj-lt" pitchFamily="34" charset="-122"/>
                <a:cs typeface="+mj-lt" pitchFamily="34" charset="-120"/>
              </a:rPr>
              <a:t>63%</a:t>
            </a:r>
            <a:endParaRPr lang="en-US" sz="6000" dirty="0"/>
          </a:p>
        </p:txBody>
      </p:sp>
      <p:sp>
        <p:nvSpPr>
          <p:cNvPr id="10" name="text-184"/>
          <p:cNvSpPr txBox="1"/>
          <p:nvPr/>
        </p:nvSpPr>
        <p:spPr>
          <a:xfrm>
            <a:off x="7772400" y="2606040"/>
            <a:ext cx="3840480" cy="685800"/>
          </a:xfrm>
          <a:prstGeom prst="rect">
            <a:avLst/>
          </a:prstGeom>
          <a:noFill/>
          <a:ln/>
        </p:spPr>
        <p:txBody>
          <a:bodyPr wrap="square" lIns="0" tIns="0" rIns="0" bIns="0" rtlCol="0" anchor="t"/>
          <a:lstStyle/>
          <a:p>
            <a:pPr indent="0" marL="0">
              <a:buNone/>
            </a:pPr>
            <a:r>
              <a:rPr lang="en-US" sz="1700" dirty="0">
                <a:solidFill>
                  <a:schemeClr val="tx1"/>
                </a:solidFill>
              </a:rPr>
              <a:t>of problematic loans sit in the riskiest 20% of applicants</a:t>
            </a:r>
            <a:endParaRPr lang="en-US" sz="1700" dirty="0"/>
          </a:p>
        </p:txBody>
      </p:sp>
      <p:sp>
        <p:nvSpPr>
          <p:cNvPr id="11" name="card-185"/>
          <p:cNvSpPr/>
          <p:nvPr/>
        </p:nvSpPr>
        <p:spPr>
          <a:xfrm>
            <a:off x="7772400" y="3520440"/>
            <a:ext cx="3870655" cy="2606040"/>
          </a:xfrm>
          <a:prstGeom prst="roundRect">
            <a:avLst>
              <a:gd name="adj" fmla="val 2807"/>
            </a:avLst>
          </a:prstGeom>
          <a:solidFill>
            <a:schemeClr val="tx1"/>
          </a:solidFill>
          <a:ln/>
        </p:spPr>
      </p:sp>
      <p:sp>
        <p:nvSpPr>
          <p:cNvPr id="12" name="text-186"/>
          <p:cNvSpPr txBox="1"/>
          <p:nvPr/>
        </p:nvSpPr>
        <p:spPr>
          <a:xfrm>
            <a:off x="8046720" y="3794760"/>
            <a:ext cx="3322015" cy="2057400"/>
          </a:xfrm>
          <a:prstGeom prst="rect">
            <a:avLst/>
          </a:prstGeom>
          <a:noFill/>
          <a:ln/>
        </p:spPr>
        <p:txBody>
          <a:bodyPr wrap="square" lIns="0" tIns="0" rIns="0" bIns="0" rtlCol="0" anchor="t"/>
          <a:lstStyle/>
          <a:p>
            <a:pPr indent="0" marL="0">
              <a:buNone/>
            </a:pPr>
            <a:r>
              <a:rPr lang="en-US" sz="1200" b="1" spc="100" kern="0" dirty="0">
                <a:solidFill>
                  <a:schemeClr val="accent1"/>
                </a:solidFill>
              </a:rPr>
              <a:t>WHAT IT MEANS</a:t>
            </a:r>
            <a:endParaRPr lang="en-US" sz="1400" dirty="0"/>
          </a:p>
          <a:p>
            <a:pPr indent="0" marL="0">
              <a:spcBef>
                <a:spcPts val="400"/>
              </a:spcBef>
              <a:buNone/>
            </a:pPr>
            <a:r>
              <a:rPr lang="en-US" sz="1500" dirty="0">
                <a:solidFill>
                  <a:schemeClr val="bg1"/>
                </a:solidFill>
              </a:rPr>
              <a:t>A simple score built from data the bank already has spots most risky applicants.</a:t>
            </a:r>
            <a:endParaRPr lang="en-US" sz="1400" dirty="0"/>
          </a:p>
          <a:p>
            <a:pPr indent="0" marL="0">
              <a:spcBef>
                <a:spcPts val="1400"/>
              </a:spcBef>
              <a:buNone/>
            </a:pPr>
            <a:r>
              <a:rPr lang="en-US" sz="1200" b="1" spc="100" kern="0" dirty="0">
                <a:solidFill>
                  <a:schemeClr val="accent1"/>
                </a:solidFill>
              </a:rPr>
              <a:t>WHAT TO DO</a:t>
            </a:r>
            <a:endParaRPr lang="en-US" sz="1400" dirty="0"/>
          </a:p>
          <a:p>
            <a:pPr indent="0" marL="0">
              <a:spcBef>
                <a:spcPts val="400"/>
              </a:spcBef>
              <a:buNone/>
            </a:pPr>
            <a:r>
              <a:rPr lang="en-US" sz="1500" dirty="0">
                <a:solidFill>
                  <a:schemeClr val="bg1"/>
                </a:solidFill>
              </a:rPr>
              <a:t>Send the riskiest 20% to manual review.</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Dashboard Overview</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One Tableau dashboard shows where risk sits and what fixes it</a:t>
            </a:r>
            <a:endParaRPr lang="en-US" sz="1500" dirty="0"/>
          </a:p>
        </p:txBody>
      </p:sp>
      <p:sp>
        <p:nvSpPr>
          <p:cNvPr id="5" name="card-187"/>
          <p:cNvSpPr/>
          <p:nvPr/>
        </p:nvSpPr>
        <p:spPr>
          <a:xfrm>
            <a:off x="548640" y="1600200"/>
            <a:ext cx="7406640" cy="4351591"/>
          </a:xfrm>
          <a:prstGeom prst="roundRect">
            <a:avLst>
              <a:gd name="adj" fmla="val 1681"/>
            </a:avLst>
          </a:prstGeom>
          <a:solidFill>
            <a:schemeClr val="bg1"/>
          </a:solidFill>
          <a:ln w="9525">
            <a:solidFill>
              <a:schemeClr val="accent5"/>
            </a:solidFill>
            <a:prstDash val="solid"/>
          </a:ln>
        </p:spPr>
      </p:sp>
      <p:pic>
        <p:nvPicPr>
          <p:cNvPr id="6" name="image-188" descr="Tableau credit risk dashboard with navy header, filters, Target Rate slider, KPI cards, yearly trend and overdraft panels">    </p:cNvPr>
          <p:cNvPicPr>
            <a:picLocks noChangeAspect="1"/>
          </p:cNvPicPr>
          <p:nvPr/>
        </p:nvPicPr>
        <p:blipFill>
          <a:blip r:embed="rId1"/>
          <a:stretch>
            <a:fillRect/>
          </a:stretch>
        </p:blipFill>
        <p:spPr>
          <a:xfrm>
            <a:off x="685800" y="1737360"/>
            <a:ext cx="7132320" cy="4077271"/>
          </a:xfrm>
          <a:prstGeom prst="rect">
            <a:avLst/>
          </a:prstGeom>
        </p:spPr>
      </p:pic>
      <p:sp>
        <p:nvSpPr>
          <p:cNvPr id="7" name="text-189"/>
          <p:cNvSpPr txBox="1"/>
          <p:nvPr/>
        </p:nvSpPr>
        <p:spPr>
          <a:xfrm>
            <a:off x="548640" y="6088951"/>
            <a:ext cx="7406640" cy="274320"/>
          </a:xfrm>
          <a:prstGeom prst="rect">
            <a:avLst/>
          </a:prstGeom>
          <a:noFill/>
          <a:ln/>
        </p:spPr>
        <p:txBody>
          <a:bodyPr wrap="square" lIns="0" tIns="0" rIns="0" bIns="0" rtlCol="0" anchor="t"/>
          <a:lstStyle/>
          <a:p>
            <a:pPr indent="0" marL="0">
              <a:buNone/>
            </a:pPr>
            <a:r>
              <a:rPr lang="en-US" sz="1200" i="1" dirty="0">
                <a:solidFill>
                  <a:schemeClr val="accent4"/>
                </a:solidFill>
              </a:rPr>
              <a:t>Red marks the risk group only. Dashed lines show the 11.1% average and the target set by the slider.</a:t>
            </a:r>
            <a:endParaRPr lang="en-US" sz="1200" dirty="0"/>
          </a:p>
        </p:txBody>
      </p:sp>
      <p:sp>
        <p:nvSpPr>
          <p:cNvPr id="8" name="text-190"/>
          <p:cNvSpPr txBox="1"/>
          <p:nvPr/>
        </p:nvSpPr>
        <p:spPr>
          <a:xfrm>
            <a:off x="8321040" y="1645920"/>
            <a:ext cx="3322015" cy="274320"/>
          </a:xfrm>
          <a:prstGeom prst="rect">
            <a:avLst/>
          </a:prstGeom>
          <a:noFill/>
          <a:ln/>
        </p:spPr>
        <p:txBody>
          <a:bodyPr wrap="square" lIns="0" tIns="0" rIns="0" bIns="0" rtlCol="0" anchor="t"/>
          <a:lstStyle/>
          <a:p>
            <a:pPr indent="0" marL="0">
              <a:buNone/>
            </a:pPr>
            <a:r>
              <a:rPr lang="en-US" sz="1200" b="1" spc="100" kern="0" dirty="0">
                <a:solidFill>
                  <a:schemeClr val="tx2"/>
                </a:solidFill>
              </a:rPr>
              <a:t>BUILT FOR</a:t>
            </a:r>
            <a:endParaRPr lang="en-US" sz="1200" dirty="0"/>
          </a:p>
        </p:txBody>
      </p:sp>
      <p:sp>
        <p:nvSpPr>
          <p:cNvPr id="9" name="text-191"/>
          <p:cNvSpPr txBox="1"/>
          <p:nvPr/>
        </p:nvSpPr>
        <p:spPr>
          <a:xfrm>
            <a:off x="8321040" y="1938528"/>
            <a:ext cx="3322015" cy="731520"/>
          </a:xfrm>
          <a:prstGeom prst="rect">
            <a:avLst/>
          </a:prstGeom>
          <a:noFill/>
          <a:ln/>
        </p:spPr>
        <p:txBody>
          <a:bodyPr wrap="square" lIns="0" tIns="0" rIns="0" bIns="0" rtlCol="0" anchor="t"/>
          <a:lstStyle/>
          <a:p>
            <a:pPr indent="0" marL="0">
              <a:buNone/>
            </a:pPr>
            <a:r>
              <a:rPr lang="en-US" sz="1500" dirty="0">
                <a:solidFill>
                  <a:schemeClr val="tx1"/>
                </a:solidFill>
              </a:rPr>
              <a:t>Head of Credit Risk and loan officers, no code needed</a:t>
            </a:r>
            <a:endParaRPr lang="en-US" sz="1500" dirty="0"/>
          </a:p>
        </p:txBody>
      </p:sp>
      <p:sp>
        <p:nvSpPr>
          <p:cNvPr id="10" name="text-192"/>
          <p:cNvSpPr txBox="1"/>
          <p:nvPr/>
        </p:nvSpPr>
        <p:spPr>
          <a:xfrm>
            <a:off x="8321040" y="2743200"/>
            <a:ext cx="3322015" cy="274320"/>
          </a:xfrm>
          <a:prstGeom prst="rect">
            <a:avLst/>
          </a:prstGeom>
          <a:noFill/>
          <a:ln/>
        </p:spPr>
        <p:txBody>
          <a:bodyPr wrap="square" lIns="0" tIns="0" rIns="0" bIns="0" rtlCol="0" anchor="t"/>
          <a:lstStyle/>
          <a:p>
            <a:pPr indent="0" marL="0">
              <a:buNone/>
            </a:pPr>
            <a:r>
              <a:rPr lang="en-US" sz="1200" b="1" spc="100" kern="0" dirty="0">
                <a:solidFill>
                  <a:schemeClr val="tx2"/>
                </a:solidFill>
              </a:rPr>
              <a:t>FILTERS</a:t>
            </a:r>
            <a:endParaRPr lang="en-US" sz="1200" dirty="0"/>
          </a:p>
        </p:txBody>
      </p:sp>
      <p:sp>
        <p:nvSpPr>
          <p:cNvPr id="11" name="text-193"/>
          <p:cNvSpPr txBox="1"/>
          <p:nvPr/>
        </p:nvSpPr>
        <p:spPr>
          <a:xfrm>
            <a:off x="8321040" y="3035808"/>
            <a:ext cx="3322015" cy="731520"/>
          </a:xfrm>
          <a:prstGeom prst="rect">
            <a:avLst/>
          </a:prstGeom>
          <a:noFill/>
          <a:ln/>
        </p:spPr>
        <p:txBody>
          <a:bodyPr wrap="square" lIns="0" tIns="0" rIns="0" bIns="0" rtlCol="0" anchor="t"/>
          <a:lstStyle/>
          <a:p>
            <a:pPr indent="0" marL="0">
              <a:buNone/>
            </a:pPr>
            <a:r>
              <a:rPr lang="en-US" sz="1500" dirty="0">
                <a:solidFill>
                  <a:schemeClr val="tx1"/>
                </a:solidFill>
              </a:rPr>
              <a:t>Loan year, gender, age band, district and a Target Rate slider</a:t>
            </a:r>
            <a:endParaRPr lang="en-US" sz="1500" dirty="0"/>
          </a:p>
        </p:txBody>
      </p:sp>
      <p:sp>
        <p:nvSpPr>
          <p:cNvPr id="12" name="text-194"/>
          <p:cNvSpPr txBox="1"/>
          <p:nvPr/>
        </p:nvSpPr>
        <p:spPr>
          <a:xfrm>
            <a:off x="8321040" y="3840480"/>
            <a:ext cx="3322015" cy="274320"/>
          </a:xfrm>
          <a:prstGeom prst="rect">
            <a:avLst/>
          </a:prstGeom>
          <a:noFill/>
          <a:ln/>
        </p:spPr>
        <p:txBody>
          <a:bodyPr wrap="square" lIns="0" tIns="0" rIns="0" bIns="0" rtlCol="0" anchor="t"/>
          <a:lstStyle/>
          <a:p>
            <a:pPr indent="0" marL="0">
              <a:buNone/>
            </a:pPr>
            <a:r>
              <a:rPr lang="en-US" sz="1200" b="1" spc="100" kern="0" dirty="0">
                <a:solidFill>
                  <a:schemeClr val="tx2"/>
                </a:solidFill>
              </a:rPr>
              <a:t>PANELS</a:t>
            </a:r>
            <a:endParaRPr lang="en-US" sz="1200" dirty="0"/>
          </a:p>
        </p:txBody>
      </p:sp>
      <p:sp>
        <p:nvSpPr>
          <p:cNvPr id="13" name="text-195"/>
          <p:cNvSpPr txBox="1"/>
          <p:nvPr/>
        </p:nvSpPr>
        <p:spPr>
          <a:xfrm>
            <a:off x="8321040" y="4133088"/>
            <a:ext cx="3322015" cy="731520"/>
          </a:xfrm>
          <a:prstGeom prst="rect">
            <a:avLst/>
          </a:prstGeom>
          <a:noFill/>
          <a:ln/>
        </p:spPr>
        <p:txBody>
          <a:bodyPr wrap="square" lIns="0" tIns="0" rIns="0" bIns="0" rtlCol="0" anchor="t"/>
          <a:lstStyle/>
          <a:p>
            <a:pPr indent="0" marL="0">
              <a:buNone/>
            </a:pPr>
            <a:r>
              <a:rPr lang="en-US" sz="1500" dirty="0">
                <a:solidFill>
                  <a:schemeClr val="tx1"/>
                </a:solidFill>
              </a:rPr>
              <a:t>Four sections: portfolio review, trend and behaviour, who is at risk, model score and recommendation</a:t>
            </a:r>
            <a:endParaRPr lang="en-US" sz="1500" dirty="0"/>
          </a:p>
        </p:txBody>
      </p:sp>
      <p:sp>
        <p:nvSpPr>
          <p:cNvPr id="14" name="button-196"/>
          <p:cNvSpPr/>
          <p:nvPr/>
        </p:nvSpPr>
        <p:spPr>
          <a:xfrm>
            <a:off x="8321040" y="5120640"/>
            <a:ext cx="3322015" cy="548640"/>
          </a:xfrm>
          <a:prstGeom prst="roundRect">
            <a:avLst>
              <a:gd name="adj" fmla="val 16667"/>
            </a:avLst>
          </a:prstGeom>
          <a:solidFill>
            <a:schemeClr val="tx1"/>
          </a:solidFill>
          <a:ln/>
        </p:spPr>
      </p:sp>
      <p:sp>
        <p:nvSpPr>
          <p:cNvPr id="15" name="text-197"/>
          <p:cNvSpPr txBox="1"/>
          <p:nvPr/>
        </p:nvSpPr>
        <p:spPr>
          <a:xfrm>
            <a:off x="8321040" y="5120640"/>
            <a:ext cx="3322015" cy="548640"/>
          </a:xfrm>
          <a:prstGeom prst="rect">
            <a:avLst/>
          </a:prstGeom>
          <a:noFill/>
          <a:ln/>
        </p:spPr>
        <p:txBody>
          <a:bodyPr wrap="square" lIns="0" tIns="0" rIns="0" bIns="0" rtlCol="0" anchor="ctr"/>
          <a:lstStyle/>
          <a:p>
            <a:pPr algn="ctr" indent="0" marL="0">
              <a:buNone/>
            </a:pPr>
            <a:r>
              <a:rPr lang="en-US" sz="14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Open dashboard on Tableau Public</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Business Impact Simulation</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Overdraft review plus risk score review brings the rate to 5%</a:t>
            </a:r>
            <a:endParaRPr lang="en-US" sz="1500" dirty="0"/>
          </a:p>
        </p:txBody>
      </p:sp>
      <p:sp>
        <p:nvSpPr>
          <p:cNvPr id="5" name="card-198"/>
          <p:cNvSpPr/>
          <p:nvPr/>
        </p:nvSpPr>
        <p:spPr>
          <a:xfrm>
            <a:off x="548640" y="1600200"/>
            <a:ext cx="6949440" cy="4526280"/>
          </a:xfrm>
          <a:prstGeom prst="roundRect">
            <a:avLst>
              <a:gd name="adj" fmla="val 1616"/>
            </a:avLst>
          </a:prstGeom>
          <a:solidFill>
            <a:schemeClr val="bg1"/>
          </a:solidFill>
          <a:ln w="9525">
            <a:solidFill>
              <a:schemeClr val="accent5"/>
            </a:solidFill>
            <a:prstDash val="solid"/>
          </a:ln>
        </p:spPr>
      </p:sp>
      <p:sp>
        <p:nvSpPr>
          <p:cNvPr id="6" name="text-199"/>
          <p:cNvSpPr txBox="1"/>
          <p:nvPr/>
        </p:nvSpPr>
        <p:spPr>
          <a:xfrm>
            <a:off x="822960" y="1737360"/>
            <a:ext cx="6400800" cy="320040"/>
          </a:xfrm>
          <a:prstGeom prst="rect">
            <a:avLst/>
          </a:prstGeom>
          <a:noFill/>
          <a:ln/>
        </p:spPr>
        <p:txBody>
          <a:bodyPr wrap="square" lIns="0" tIns="0" rIns="0" bIns="0" rtlCol="0" anchor="t"/>
          <a:lstStyle/>
          <a:p>
            <a:pPr indent="0" marL="0">
              <a:buNone/>
            </a:pPr>
            <a:r>
              <a:rPr lang="en-US" sz="1400" b="1" dirty="0">
                <a:solidFill>
                  <a:schemeClr val="tx1"/>
                </a:solidFill>
              </a:rPr>
              <a:t>Problematic rate left after each action (flagged loans declined or restructured)</a:t>
            </a:r>
            <a:endParaRPr lang="en-US" sz="1400" dirty="0"/>
          </a:p>
        </p:txBody>
      </p:sp>
      <p:graphicFrame>
        <p:nvGraphicFramePr>
          <p:cNvPr id="7" name="chart-200" descr=""/>
          <p:cNvGraphicFramePr/>
          <p:nvPr/>
        </p:nvGraphicFramePr>
        <p:xfrm>
          <a:off x="685800" y="2148840"/>
          <a:ext cx="6675120" cy="3520440"/>
        </p:xfrm>
        <a:graphic xmlns:a="http://schemas.openxmlformats.org/drawingml/2006/main">
          <a:graphicData uri="http://schemas.openxmlformats.org/drawingml/2006/chart">
            <c:chart xmlns:c="http://schemas.openxmlformats.org/drawingml/2006/chart" r:id="rId1"/>
          </a:graphicData>
        </a:graphic>
      </p:graphicFrame>
      <p:sp>
        <p:nvSpPr>
          <p:cNvPr id="8" name="text-201"/>
          <p:cNvSpPr txBox="1"/>
          <p:nvPr/>
        </p:nvSpPr>
        <p:spPr>
          <a:xfrm>
            <a:off x="822960" y="5733288"/>
            <a:ext cx="6400800" cy="274320"/>
          </a:xfrm>
          <a:prstGeom prst="rect">
            <a:avLst/>
          </a:prstGeom>
          <a:noFill/>
          <a:ln/>
        </p:spPr>
        <p:txBody>
          <a:bodyPr wrap="square" lIns="0" tIns="0" rIns="0" bIns="0" rtlCol="0" anchor="t"/>
          <a:lstStyle/>
          <a:p>
            <a:pPr indent="0" marL="0">
              <a:buNone/>
            </a:pPr>
            <a:r>
              <a:rPr lang="en-US" sz="1200" i="1" dirty="0">
                <a:solidFill>
                  <a:schemeClr val="accent4"/>
                </a:solidFill>
              </a:rPr>
              <a:t>Green reaches the 5% target  ·  gold is close  ·  grey is a partial fix  ·  red is today</a:t>
            </a:r>
            <a:endParaRPr lang="en-US" sz="1200" dirty="0"/>
          </a:p>
        </p:txBody>
      </p:sp>
      <p:sp>
        <p:nvSpPr>
          <p:cNvPr id="9" name="text-202"/>
          <p:cNvSpPr txBox="1"/>
          <p:nvPr/>
        </p:nvSpPr>
        <p:spPr>
          <a:xfrm>
            <a:off x="7772400" y="1600200"/>
            <a:ext cx="3840480" cy="960120"/>
          </a:xfrm>
          <a:prstGeom prst="rect">
            <a:avLst/>
          </a:prstGeom>
          <a:noFill/>
          <a:ln/>
        </p:spPr>
        <p:txBody>
          <a:bodyPr wrap="square" lIns="0" tIns="0" rIns="0" bIns="0" rtlCol="0" anchor="t"/>
          <a:lstStyle/>
          <a:p>
            <a:pPr indent="0" marL="0">
              <a:buNone/>
            </a:pPr>
            <a:r>
              <a:rPr lang="en-US" sz="5400" b="1" dirty="0">
                <a:solidFill>
                  <a:schemeClr val="accent3"/>
                </a:solidFill>
                <a:latin typeface="+mj-lt" pitchFamily="34" charset="0"/>
                <a:ea typeface="+mj-lt" pitchFamily="34" charset="-122"/>
                <a:cs typeface="+mj-lt" pitchFamily="34" charset="-120"/>
              </a:rPr>
              <a:t>49 of 76</a:t>
            </a:r>
            <a:endParaRPr lang="en-US" sz="5400" dirty="0"/>
          </a:p>
        </p:txBody>
      </p:sp>
      <p:sp>
        <p:nvSpPr>
          <p:cNvPr id="10" name="text-203"/>
          <p:cNvSpPr txBox="1"/>
          <p:nvPr/>
        </p:nvSpPr>
        <p:spPr>
          <a:xfrm>
            <a:off x="7772400" y="2606040"/>
            <a:ext cx="3840480" cy="685800"/>
          </a:xfrm>
          <a:prstGeom prst="rect">
            <a:avLst/>
          </a:prstGeom>
          <a:noFill/>
          <a:ln/>
        </p:spPr>
        <p:txBody>
          <a:bodyPr wrap="square" lIns="0" tIns="0" rIns="0" bIns="0" rtlCol="0" anchor="t"/>
          <a:lstStyle/>
          <a:p>
            <a:pPr indent="0" marL="0">
              <a:buNone/>
            </a:pPr>
            <a:r>
              <a:rPr lang="en-US" sz="1700" dirty="0">
                <a:solidFill>
                  <a:schemeClr val="tx1"/>
                </a:solidFill>
              </a:rPr>
              <a:t>problematic loans removed, checking about 1 in 5 applicants</a:t>
            </a:r>
            <a:endParaRPr lang="en-US" sz="1700" dirty="0"/>
          </a:p>
        </p:txBody>
      </p:sp>
      <p:sp>
        <p:nvSpPr>
          <p:cNvPr id="11" name="card-204"/>
          <p:cNvSpPr/>
          <p:nvPr/>
        </p:nvSpPr>
        <p:spPr>
          <a:xfrm>
            <a:off x="7772400" y="3520440"/>
            <a:ext cx="3870655" cy="2606040"/>
          </a:xfrm>
          <a:prstGeom prst="roundRect">
            <a:avLst>
              <a:gd name="adj" fmla="val 2807"/>
            </a:avLst>
          </a:prstGeom>
          <a:solidFill>
            <a:schemeClr val="tx1"/>
          </a:solidFill>
          <a:ln/>
        </p:spPr>
      </p:sp>
      <p:sp>
        <p:nvSpPr>
          <p:cNvPr id="12" name="text-205"/>
          <p:cNvSpPr txBox="1"/>
          <p:nvPr/>
        </p:nvSpPr>
        <p:spPr>
          <a:xfrm>
            <a:off x="8046720" y="3794760"/>
            <a:ext cx="3322015" cy="2057400"/>
          </a:xfrm>
          <a:prstGeom prst="rect">
            <a:avLst/>
          </a:prstGeom>
          <a:noFill/>
          <a:ln/>
        </p:spPr>
        <p:txBody>
          <a:bodyPr wrap="square" lIns="0" tIns="0" rIns="0" bIns="0" rtlCol="0" anchor="t"/>
          <a:lstStyle/>
          <a:p>
            <a:pPr indent="0" marL="0">
              <a:buNone/>
            </a:pPr>
            <a:r>
              <a:rPr lang="en-US" sz="1200" b="1" spc="100" kern="0" dirty="0">
                <a:solidFill>
                  <a:schemeClr val="accent1"/>
                </a:solidFill>
              </a:rPr>
              <a:t>WHAT IT MEANS</a:t>
            </a:r>
            <a:endParaRPr lang="en-US" sz="1400" dirty="0"/>
          </a:p>
          <a:p>
            <a:pPr indent="0" marL="0">
              <a:spcBef>
                <a:spcPts val="400"/>
              </a:spcBef>
              <a:buNone/>
            </a:pPr>
            <a:r>
              <a:rPr lang="en-US" sz="1500" dirty="0">
                <a:solidFill>
                  <a:schemeClr val="bg1"/>
                </a:solidFill>
              </a:rPr>
              <a:t>Only the combination of both reviews reaches the 5% target.</a:t>
            </a:r>
            <a:endParaRPr lang="en-US" sz="1400" dirty="0"/>
          </a:p>
          <a:p>
            <a:pPr indent="0" marL="0">
              <a:spcBef>
                <a:spcPts val="1400"/>
              </a:spcBef>
              <a:buNone/>
            </a:pPr>
            <a:r>
              <a:rPr lang="en-US" sz="1200" b="1" spc="100" kern="0" dirty="0">
                <a:solidFill>
                  <a:schemeClr val="accent1"/>
                </a:solidFill>
              </a:rPr>
              <a:t>TRADE-OFF</a:t>
            </a:r>
            <a:endParaRPr lang="en-US" sz="1400" dirty="0"/>
          </a:p>
          <a:p>
            <a:pPr indent="0" marL="0">
              <a:spcBef>
                <a:spcPts val="400"/>
              </a:spcBef>
              <a:buNone/>
            </a:pPr>
            <a:r>
              <a:rPr lang="en-US" sz="1500" dirty="0">
                <a:solidFill>
                  <a:schemeClr val="bg1"/>
                </a:solidFill>
              </a:rPr>
              <a:t>About 89 good applicants get a manual check. They are not automatically rejected.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Limitations and Next Steps</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Stated openly so the credit team knows how far to trust each number</a:t>
            </a:r>
            <a:endParaRPr lang="en-US" sz="1500" dirty="0"/>
          </a:p>
        </p:txBody>
      </p:sp>
      <p:sp>
        <p:nvSpPr>
          <p:cNvPr id="5" name="card-206"/>
          <p:cNvSpPr/>
          <p:nvPr/>
        </p:nvSpPr>
        <p:spPr>
          <a:xfrm>
            <a:off x="548640" y="1600200"/>
            <a:ext cx="3383280" cy="2148840"/>
          </a:xfrm>
          <a:prstGeom prst="roundRect">
            <a:avLst>
              <a:gd name="adj" fmla="val 3404"/>
            </a:avLst>
          </a:prstGeom>
          <a:solidFill>
            <a:schemeClr val="bg1"/>
          </a:solidFill>
          <a:ln w="9525">
            <a:solidFill>
              <a:schemeClr val="accent5"/>
            </a:solidFill>
            <a:prstDash val="solid"/>
          </a:ln>
        </p:spPr>
      </p:sp>
      <p:sp>
        <p:nvSpPr>
          <p:cNvPr id="6" name="circle-207"/>
          <p:cNvSpPr/>
          <p:nvPr/>
        </p:nvSpPr>
        <p:spPr>
          <a:xfrm>
            <a:off x="822960" y="18745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a:t>
            </a:r>
            <a:endParaRPr lang="en-US" sz="1300" dirty="0"/>
          </a:p>
        </p:txBody>
      </p:sp>
      <p:sp>
        <p:nvSpPr>
          <p:cNvPr id="7" name="text-208"/>
          <p:cNvSpPr txBox="1"/>
          <p:nvPr/>
        </p:nvSpPr>
        <p:spPr>
          <a:xfrm>
            <a:off x="822960" y="2423160"/>
            <a:ext cx="2834640" cy="320040"/>
          </a:xfrm>
          <a:prstGeom prst="rect">
            <a:avLst/>
          </a:prstGeom>
          <a:noFill/>
          <a:ln/>
        </p:spPr>
        <p:txBody>
          <a:bodyPr wrap="square" lIns="0" tIns="0" rIns="0" bIns="0" rtlCol="0" anchor="t"/>
          <a:lstStyle/>
          <a:p>
            <a:pPr indent="0" marL="0">
              <a:buNone/>
            </a:pPr>
            <a:r>
              <a:rPr lang="en-US" sz="1600" b="1" dirty="0">
                <a:solidFill>
                  <a:schemeClr val="tx1"/>
                </a:solidFill>
              </a:rPr>
              <a:t>Small event count</a:t>
            </a:r>
            <a:endParaRPr lang="en-US" sz="1600" dirty="0"/>
          </a:p>
        </p:txBody>
      </p:sp>
      <p:sp>
        <p:nvSpPr>
          <p:cNvPr id="8" name="text-209"/>
          <p:cNvSpPr txBox="1"/>
          <p:nvPr/>
        </p:nvSpPr>
        <p:spPr>
          <a:xfrm>
            <a:off x="822960" y="2788920"/>
            <a:ext cx="2834640" cy="822960"/>
          </a:xfrm>
          <a:prstGeom prst="rect">
            <a:avLst/>
          </a:prstGeom>
          <a:noFill/>
          <a:ln/>
        </p:spPr>
        <p:txBody>
          <a:bodyPr wrap="square" lIns="0" tIns="0" rIns="0" bIns="0" rtlCol="0" anchor="t"/>
          <a:lstStyle/>
          <a:p>
            <a:pPr indent="0" marL="0">
              <a:buNone/>
            </a:pPr>
            <a:r>
              <a:rPr lang="en-US" sz="1400" dirty="0">
                <a:solidFill>
                  <a:schemeClr val="accent4"/>
                </a:solidFill>
              </a:rPr>
              <a:t>Only 76 problematic loans. The overdraft group of 27 accounts needs revalidation.</a:t>
            </a:r>
            <a:endParaRPr lang="en-US" sz="1400" dirty="0"/>
          </a:p>
        </p:txBody>
      </p:sp>
      <p:sp>
        <p:nvSpPr>
          <p:cNvPr id="9" name="card-210"/>
          <p:cNvSpPr/>
          <p:nvPr/>
        </p:nvSpPr>
        <p:spPr>
          <a:xfrm>
            <a:off x="4206240" y="1600200"/>
            <a:ext cx="3383280" cy="2148840"/>
          </a:xfrm>
          <a:prstGeom prst="roundRect">
            <a:avLst>
              <a:gd name="adj" fmla="val 3404"/>
            </a:avLst>
          </a:prstGeom>
          <a:solidFill>
            <a:schemeClr val="bg1"/>
          </a:solidFill>
          <a:ln w="9525">
            <a:solidFill>
              <a:schemeClr val="accent5"/>
            </a:solidFill>
            <a:prstDash val="solid"/>
          </a:ln>
        </p:spPr>
      </p:sp>
      <p:sp>
        <p:nvSpPr>
          <p:cNvPr id="10" name="circle-211"/>
          <p:cNvSpPr/>
          <p:nvPr/>
        </p:nvSpPr>
        <p:spPr>
          <a:xfrm>
            <a:off x="4480560" y="18745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a:t>
            </a:r>
            <a:endParaRPr lang="en-US" sz="1300" dirty="0"/>
          </a:p>
        </p:txBody>
      </p:sp>
      <p:sp>
        <p:nvSpPr>
          <p:cNvPr id="11" name="text-212"/>
          <p:cNvSpPr txBox="1"/>
          <p:nvPr/>
        </p:nvSpPr>
        <p:spPr>
          <a:xfrm>
            <a:off x="4480560" y="2423160"/>
            <a:ext cx="2834640" cy="320040"/>
          </a:xfrm>
          <a:prstGeom prst="rect">
            <a:avLst/>
          </a:prstGeom>
          <a:noFill/>
          <a:ln/>
        </p:spPr>
        <p:txBody>
          <a:bodyPr wrap="square" lIns="0" tIns="0" rIns="0" bIns="0" rtlCol="0" anchor="t"/>
          <a:lstStyle/>
          <a:p>
            <a:pPr indent="0" marL="0">
              <a:buNone/>
            </a:pPr>
            <a:r>
              <a:rPr lang="en-US" sz="1600" b="1" dirty="0">
                <a:solidFill>
                  <a:schemeClr val="tx1"/>
                </a:solidFill>
              </a:rPr>
              <a:t>Income is a proxy</a:t>
            </a:r>
            <a:endParaRPr lang="en-US" sz="1600" dirty="0"/>
          </a:p>
        </p:txBody>
      </p:sp>
      <p:sp>
        <p:nvSpPr>
          <p:cNvPr id="12" name="text-213"/>
          <p:cNvSpPr txBox="1"/>
          <p:nvPr/>
        </p:nvSpPr>
        <p:spPr>
          <a:xfrm>
            <a:off x="4480560" y="2788920"/>
            <a:ext cx="2834640" cy="822960"/>
          </a:xfrm>
          <a:prstGeom prst="rect">
            <a:avLst/>
          </a:prstGeom>
          <a:noFill/>
          <a:ln/>
        </p:spPr>
        <p:txBody>
          <a:bodyPr wrap="square" lIns="0" tIns="0" rIns="0" bIns="0" rtlCol="0" anchor="t"/>
          <a:lstStyle/>
          <a:p>
            <a:pPr indent="0" marL="0">
              <a:buNone/>
            </a:pPr>
            <a:r>
              <a:rPr lang="en-US" sz="1400" dirty="0">
                <a:solidFill>
                  <a:schemeClr val="accent4"/>
                </a:solidFill>
              </a:rPr>
              <a:t>No individual income in the data, so district average salary stands in.</a:t>
            </a:r>
            <a:endParaRPr lang="en-US" sz="1400" dirty="0"/>
          </a:p>
        </p:txBody>
      </p:sp>
      <p:sp>
        <p:nvSpPr>
          <p:cNvPr id="13" name="card-214"/>
          <p:cNvSpPr/>
          <p:nvPr/>
        </p:nvSpPr>
        <p:spPr>
          <a:xfrm>
            <a:off x="548640" y="3977640"/>
            <a:ext cx="3383280" cy="2148840"/>
          </a:xfrm>
          <a:prstGeom prst="roundRect">
            <a:avLst>
              <a:gd name="adj" fmla="val 3404"/>
            </a:avLst>
          </a:prstGeom>
          <a:solidFill>
            <a:schemeClr val="bg1"/>
          </a:solidFill>
          <a:ln w="9525">
            <a:solidFill>
              <a:schemeClr val="accent5"/>
            </a:solidFill>
            <a:prstDash val="solid"/>
          </a:ln>
        </p:spPr>
      </p:sp>
      <p:sp>
        <p:nvSpPr>
          <p:cNvPr id="14" name="circle-215"/>
          <p:cNvSpPr/>
          <p:nvPr/>
        </p:nvSpPr>
        <p:spPr>
          <a:xfrm>
            <a:off x="822960" y="42519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a:t>
            </a:r>
            <a:endParaRPr lang="en-US" sz="1300" dirty="0"/>
          </a:p>
        </p:txBody>
      </p:sp>
      <p:sp>
        <p:nvSpPr>
          <p:cNvPr id="15" name="text-216"/>
          <p:cNvSpPr txBox="1"/>
          <p:nvPr/>
        </p:nvSpPr>
        <p:spPr>
          <a:xfrm>
            <a:off x="822960" y="4800600"/>
            <a:ext cx="2834640" cy="320040"/>
          </a:xfrm>
          <a:prstGeom prst="rect">
            <a:avLst/>
          </a:prstGeom>
          <a:noFill/>
          <a:ln/>
        </p:spPr>
        <p:txBody>
          <a:bodyPr wrap="square" lIns="0" tIns="0" rIns="0" bIns="0" rtlCol="0" anchor="t"/>
          <a:lstStyle/>
          <a:p>
            <a:pPr indent="0" marL="0">
              <a:buNone/>
            </a:pPr>
            <a:r>
              <a:rPr lang="en-US" sz="1600" b="1" dirty="0">
                <a:solidFill>
                  <a:schemeClr val="tx1"/>
                </a:solidFill>
              </a:rPr>
              <a:t>Association, not causation</a:t>
            </a:r>
            <a:endParaRPr lang="en-US" sz="1600" dirty="0"/>
          </a:p>
        </p:txBody>
      </p:sp>
      <p:sp>
        <p:nvSpPr>
          <p:cNvPr id="16" name="text-217"/>
          <p:cNvSpPr txBox="1"/>
          <p:nvPr/>
        </p:nvSpPr>
        <p:spPr>
          <a:xfrm>
            <a:off x="822960" y="5166360"/>
            <a:ext cx="2834640" cy="822960"/>
          </a:xfrm>
          <a:prstGeom prst="rect">
            <a:avLst/>
          </a:prstGeom>
          <a:noFill/>
          <a:ln/>
        </p:spPr>
        <p:txBody>
          <a:bodyPr wrap="square" lIns="0" tIns="0" rIns="0" bIns="0" rtlCol="0" anchor="t"/>
          <a:lstStyle/>
          <a:p>
            <a:pPr indent="0" marL="0">
              <a:buNone/>
            </a:pPr>
            <a:r>
              <a:rPr lang="en-US" sz="1400" dirty="0">
                <a:solidFill>
                  <a:schemeClr val="accent4"/>
                </a:solidFill>
              </a:rPr>
              <a:t>A low balance may be a symptom of the same pressure, not its cause.</a:t>
            </a:r>
            <a:endParaRPr lang="en-US" sz="1400" dirty="0"/>
          </a:p>
        </p:txBody>
      </p:sp>
      <p:sp>
        <p:nvSpPr>
          <p:cNvPr id="17" name="card-218"/>
          <p:cNvSpPr/>
          <p:nvPr/>
        </p:nvSpPr>
        <p:spPr>
          <a:xfrm>
            <a:off x="4206240" y="3977640"/>
            <a:ext cx="3383280" cy="2148840"/>
          </a:xfrm>
          <a:prstGeom prst="roundRect">
            <a:avLst>
              <a:gd name="adj" fmla="val 3404"/>
            </a:avLst>
          </a:prstGeom>
          <a:solidFill>
            <a:schemeClr val="bg1"/>
          </a:solidFill>
          <a:ln w="9525">
            <a:solidFill>
              <a:schemeClr val="accent5"/>
            </a:solidFill>
            <a:prstDash val="solid"/>
          </a:ln>
        </p:spPr>
      </p:sp>
      <p:sp>
        <p:nvSpPr>
          <p:cNvPr id="18" name="circle-219"/>
          <p:cNvSpPr/>
          <p:nvPr/>
        </p:nvSpPr>
        <p:spPr>
          <a:xfrm>
            <a:off x="4480560" y="42519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a:t>
            </a:r>
            <a:endParaRPr lang="en-US" sz="1300" dirty="0"/>
          </a:p>
        </p:txBody>
      </p:sp>
      <p:sp>
        <p:nvSpPr>
          <p:cNvPr id="19" name="text-220"/>
          <p:cNvSpPr txBox="1"/>
          <p:nvPr/>
        </p:nvSpPr>
        <p:spPr>
          <a:xfrm>
            <a:off x="4480560" y="4800600"/>
            <a:ext cx="2834640" cy="320040"/>
          </a:xfrm>
          <a:prstGeom prst="rect">
            <a:avLst/>
          </a:prstGeom>
          <a:noFill/>
          <a:ln/>
        </p:spPr>
        <p:txBody>
          <a:bodyPr wrap="square" lIns="0" tIns="0" rIns="0" bIns="0" rtlCol="0" anchor="t"/>
          <a:lstStyle/>
          <a:p>
            <a:pPr indent="0" marL="0">
              <a:buNone/>
            </a:pPr>
            <a:r>
              <a:rPr lang="en-US" sz="1600" b="1" dirty="0">
                <a:solidFill>
                  <a:schemeClr val="tx1"/>
                </a:solidFill>
              </a:rPr>
              <a:t>Period-bound data</a:t>
            </a:r>
            <a:endParaRPr lang="en-US" sz="1600" dirty="0"/>
          </a:p>
        </p:txBody>
      </p:sp>
      <p:sp>
        <p:nvSpPr>
          <p:cNvPr id="20" name="text-221"/>
          <p:cNvSpPr txBox="1"/>
          <p:nvPr/>
        </p:nvSpPr>
        <p:spPr>
          <a:xfrm>
            <a:off x="4480560" y="5166360"/>
            <a:ext cx="2834640" cy="822960"/>
          </a:xfrm>
          <a:prstGeom prst="rect">
            <a:avLst/>
          </a:prstGeom>
          <a:noFill/>
          <a:ln/>
        </p:spPr>
        <p:txBody>
          <a:bodyPr wrap="square" lIns="0" tIns="0" rIns="0" bIns="0" rtlCol="0" anchor="t"/>
          <a:lstStyle/>
          <a:p>
            <a:pPr indent="0" marL="0">
              <a:buNone/>
            </a:pPr>
            <a:r>
              <a:rPr lang="en-US" sz="1400" dirty="0">
                <a:solidFill>
                  <a:schemeClr val="accent4"/>
                </a:solidFill>
              </a:rPr>
              <a:t>1993 to 1998 Czech economy. Directions carry over, thresholds need recalibration.</a:t>
            </a:r>
            <a:endParaRPr lang="en-US" sz="1400" dirty="0"/>
          </a:p>
        </p:txBody>
      </p:sp>
      <p:sp>
        <p:nvSpPr>
          <p:cNvPr id="21" name="card-222"/>
          <p:cNvSpPr/>
          <p:nvPr/>
        </p:nvSpPr>
        <p:spPr>
          <a:xfrm>
            <a:off x="7863840" y="1600200"/>
            <a:ext cx="3779215" cy="4526280"/>
          </a:xfrm>
          <a:prstGeom prst="roundRect">
            <a:avLst>
              <a:gd name="adj" fmla="val 1936"/>
            </a:avLst>
          </a:prstGeom>
          <a:solidFill>
            <a:schemeClr val="tx1"/>
          </a:solidFill>
          <a:ln/>
        </p:spPr>
      </p:sp>
      <p:sp>
        <p:nvSpPr>
          <p:cNvPr id="22" name="text-223"/>
          <p:cNvSpPr txBox="1"/>
          <p:nvPr/>
        </p:nvSpPr>
        <p:spPr>
          <a:xfrm>
            <a:off x="8183880" y="1828800"/>
            <a:ext cx="3139135"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NEXT STEPS</a:t>
            </a:r>
            <a:endParaRPr lang="en-US" sz="1200" dirty="0"/>
          </a:p>
        </p:txBody>
      </p:sp>
      <p:sp>
        <p:nvSpPr>
          <p:cNvPr id="23" name="circle-224"/>
          <p:cNvSpPr/>
          <p:nvPr/>
        </p:nvSpPr>
        <p:spPr>
          <a:xfrm>
            <a:off x="8183880" y="233172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4" name="text-225"/>
          <p:cNvSpPr txBox="1"/>
          <p:nvPr/>
        </p:nvSpPr>
        <p:spPr>
          <a:xfrm>
            <a:off x="8732520" y="2313432"/>
            <a:ext cx="2590495" cy="914400"/>
          </a:xfrm>
          <a:prstGeom prst="rect">
            <a:avLst/>
          </a:prstGeom>
          <a:noFill/>
          <a:ln/>
        </p:spPr>
        <p:txBody>
          <a:bodyPr wrap="square" lIns="0" tIns="0" rIns="0" bIns="0" rtlCol="0" anchor="t"/>
          <a:lstStyle/>
          <a:p>
            <a:pPr indent="0" marL="0">
              <a:buNone/>
            </a:pPr>
            <a:r>
              <a:rPr lang="en-US" sz="1500" dirty="0">
                <a:solidFill>
                  <a:schemeClr val="bg1"/>
                </a:solidFill>
              </a:rPr>
              <a:t>Pilot the overdraft and risk score reviews for 3 months</a:t>
            </a:r>
            <a:endParaRPr lang="en-US" sz="1500" dirty="0"/>
          </a:p>
        </p:txBody>
      </p:sp>
      <p:sp>
        <p:nvSpPr>
          <p:cNvPr id="25" name="circle-226"/>
          <p:cNvSpPr/>
          <p:nvPr/>
        </p:nvSpPr>
        <p:spPr>
          <a:xfrm>
            <a:off x="8183880" y="352044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6" name="text-227"/>
          <p:cNvSpPr txBox="1"/>
          <p:nvPr/>
        </p:nvSpPr>
        <p:spPr>
          <a:xfrm>
            <a:off x="8732520" y="3502152"/>
            <a:ext cx="2590495" cy="914400"/>
          </a:xfrm>
          <a:prstGeom prst="rect">
            <a:avLst/>
          </a:prstGeom>
          <a:noFill/>
          <a:ln/>
        </p:spPr>
        <p:txBody>
          <a:bodyPr wrap="square" lIns="0" tIns="0" rIns="0" bIns="0" rtlCol="0" anchor="t"/>
          <a:lstStyle/>
          <a:p>
            <a:pPr indent="0" marL="0">
              <a:buNone/>
            </a:pPr>
            <a:r>
              <a:rPr lang="en-US" sz="1500" dirty="0">
                <a:solidFill>
                  <a:schemeClr val="bg1"/>
                </a:solidFill>
              </a:rPr>
              <a:t>Track the rate by loan vintage on the dashboard</a:t>
            </a:r>
            <a:endParaRPr lang="en-US" sz="1500" dirty="0"/>
          </a:p>
        </p:txBody>
      </p:sp>
      <p:sp>
        <p:nvSpPr>
          <p:cNvPr id="27" name="circle-228"/>
          <p:cNvSpPr/>
          <p:nvPr/>
        </p:nvSpPr>
        <p:spPr>
          <a:xfrm>
            <a:off x="8183880" y="470916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8" name="text-229"/>
          <p:cNvSpPr txBox="1"/>
          <p:nvPr/>
        </p:nvSpPr>
        <p:spPr>
          <a:xfrm>
            <a:off x="8732520" y="4690872"/>
            <a:ext cx="2590495" cy="914400"/>
          </a:xfrm>
          <a:prstGeom prst="rect">
            <a:avLst/>
          </a:prstGeom>
          <a:noFill/>
          <a:ln/>
        </p:spPr>
        <p:txBody>
          <a:bodyPr wrap="square" lIns="0" tIns="0" rIns="0" bIns="0" rtlCol="0" anchor="t"/>
          <a:lstStyle/>
          <a:p>
            <a:pPr indent="0" marL="0">
              <a:buNone/>
            </a:pPr>
            <a:r>
              <a:rPr lang="en-US" sz="1500" dirty="0">
                <a:solidFill>
                  <a:schemeClr val="bg1"/>
                </a:solidFill>
              </a:rPr>
              <a:t>Revalidate the score on a larger sample before any automatic decline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Recommendations</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Four actions, one path from 11.1% to 5%, all using data the bank already has</a:t>
            </a:r>
            <a:endParaRPr lang="en-US" sz="1500" dirty="0"/>
          </a:p>
        </p:txBody>
      </p:sp>
      <p:sp>
        <p:nvSpPr>
          <p:cNvPr id="5" name="card-230"/>
          <p:cNvSpPr/>
          <p:nvPr/>
        </p:nvSpPr>
        <p:spPr>
          <a:xfrm>
            <a:off x="548640" y="1600200"/>
            <a:ext cx="11094415" cy="960120"/>
          </a:xfrm>
          <a:prstGeom prst="roundRect">
            <a:avLst>
              <a:gd name="adj" fmla="val 7619"/>
            </a:avLst>
          </a:prstGeom>
          <a:solidFill>
            <a:schemeClr val="bg1"/>
          </a:solidFill>
          <a:ln w="9525">
            <a:solidFill>
              <a:schemeClr val="accent5"/>
            </a:solidFill>
            <a:prstDash val="solid"/>
          </a:ln>
        </p:spPr>
      </p:sp>
      <p:sp>
        <p:nvSpPr>
          <p:cNvPr id="6" name="circle-231"/>
          <p:cNvSpPr/>
          <p:nvPr/>
        </p:nvSpPr>
        <p:spPr>
          <a:xfrm>
            <a:off x="822960" y="185166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text-232"/>
          <p:cNvSpPr txBox="1"/>
          <p:nvPr/>
        </p:nvSpPr>
        <p:spPr>
          <a:xfrm>
            <a:off x="1508760" y="1755648"/>
            <a:ext cx="6949440" cy="347472"/>
          </a:xfrm>
          <a:prstGeom prst="rect">
            <a:avLst/>
          </a:prstGeom>
          <a:noFill/>
          <a:ln/>
        </p:spPr>
        <p:txBody>
          <a:bodyPr wrap="square" lIns="0" tIns="0" rIns="0" bIns="0" rtlCol="0" anchor="t"/>
          <a:lstStyle/>
          <a:p>
            <a:pPr indent="0" marL="0">
              <a:buNone/>
            </a:pPr>
            <a:r>
              <a:rPr lang="en-US" sz="1700" b="1" dirty="0">
                <a:solidFill>
                  <a:schemeClr val="tx1"/>
                </a:solidFill>
              </a:rPr>
              <a:t>Send every pre-loan overdraft to manual review</a:t>
            </a:r>
            <a:endParaRPr lang="en-US" sz="1700" dirty="0"/>
          </a:p>
        </p:txBody>
      </p:sp>
      <p:sp>
        <p:nvSpPr>
          <p:cNvPr id="8" name="text-233"/>
          <p:cNvSpPr txBox="1"/>
          <p:nvPr/>
        </p:nvSpPr>
        <p:spPr>
          <a:xfrm>
            <a:off x="1508760" y="2121408"/>
            <a:ext cx="6949440" cy="320040"/>
          </a:xfrm>
          <a:prstGeom prst="rect">
            <a:avLst/>
          </a:prstGeom>
          <a:noFill/>
          <a:ln/>
        </p:spPr>
        <p:txBody>
          <a:bodyPr wrap="square" lIns="0" tIns="0" rIns="0" bIns="0" rtlCol="0" anchor="t"/>
          <a:lstStyle/>
          <a:p>
            <a:pPr indent="0" marL="0">
              <a:buNone/>
            </a:pPr>
            <a:r>
              <a:rPr lang="en-US" sz="1400" dirty="0">
                <a:solidFill>
                  <a:schemeClr val="accent4"/>
                </a:solidFill>
              </a:rPr>
              <a:t>Based on: all 27 overdrawn accounts went bad</a:t>
            </a:r>
            <a:endParaRPr lang="en-US" sz="1400" dirty="0"/>
          </a:p>
        </p:txBody>
      </p:sp>
      <p:sp>
        <p:nvSpPr>
          <p:cNvPr id="9" name="pill-234"/>
          <p:cNvSpPr/>
          <p:nvPr/>
        </p:nvSpPr>
        <p:spPr>
          <a:xfrm>
            <a:off x="8168335" y="1828800"/>
            <a:ext cx="3200400" cy="502920"/>
          </a:xfrm>
          <a:prstGeom prst="roundRect">
            <a:avLst>
              <a:gd name="adj" fmla="val 45455"/>
            </a:avLst>
          </a:prstGeom>
          <a:solidFill>
            <a:schemeClr val="accent6"/>
          </a:solidFill>
          <a:ln/>
        </p:spPr>
        <p:txBody>
          <a:bodyPr wrap="square" lIns="0" tIns="0" rIns="0" bIns="0" rtlCol="0" anchor="ctr"/>
          <a:lstStyle/>
          <a:p>
            <a:pPr algn="ctr" indent="0" marL="0">
              <a:buNone/>
            </a:pPr>
            <a:r>
              <a:rPr lang="en-US" sz="1400" b="1" dirty="0">
                <a:solidFill>
                  <a:schemeClr val="tx2"/>
                </a:solidFill>
              </a:rPr>
              <a:t>11.1% → 7.5%, no good loan lost</a:t>
            </a:r>
            <a:endParaRPr lang="en-US" sz="1400" dirty="0"/>
          </a:p>
        </p:txBody>
      </p:sp>
      <p:sp>
        <p:nvSpPr>
          <p:cNvPr id="10" name="card-235"/>
          <p:cNvSpPr/>
          <p:nvPr/>
        </p:nvSpPr>
        <p:spPr>
          <a:xfrm>
            <a:off x="548640" y="2715768"/>
            <a:ext cx="11094415" cy="960120"/>
          </a:xfrm>
          <a:prstGeom prst="roundRect">
            <a:avLst>
              <a:gd name="adj" fmla="val 7619"/>
            </a:avLst>
          </a:prstGeom>
          <a:solidFill>
            <a:schemeClr val="bg1"/>
          </a:solidFill>
          <a:ln w="9525">
            <a:solidFill>
              <a:schemeClr val="accent5"/>
            </a:solidFill>
            <a:prstDash val="solid"/>
          </a:ln>
        </p:spPr>
      </p:sp>
      <p:sp>
        <p:nvSpPr>
          <p:cNvPr id="11" name="circle-236"/>
          <p:cNvSpPr/>
          <p:nvPr/>
        </p:nvSpPr>
        <p:spPr>
          <a:xfrm>
            <a:off x="822960" y="2967228"/>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2" name="text-237"/>
          <p:cNvSpPr txBox="1"/>
          <p:nvPr/>
        </p:nvSpPr>
        <p:spPr>
          <a:xfrm>
            <a:off x="1508760" y="2871216"/>
            <a:ext cx="6949440" cy="347472"/>
          </a:xfrm>
          <a:prstGeom prst="rect">
            <a:avLst/>
          </a:prstGeom>
          <a:noFill/>
          <a:ln/>
        </p:spPr>
        <p:txBody>
          <a:bodyPr wrap="square" lIns="0" tIns="0" rIns="0" bIns="0" rtlCol="0" anchor="t"/>
          <a:lstStyle/>
          <a:p>
            <a:pPr indent="0" marL="0">
              <a:buNone/>
            </a:pPr>
            <a:r>
              <a:rPr lang="en-US" sz="1700" b="1" dirty="0">
                <a:solidFill>
                  <a:schemeClr val="tx1"/>
                </a:solidFill>
              </a:rPr>
              <a:t>Review the top 20% of risk scores</a:t>
            </a:r>
            <a:endParaRPr lang="en-US" sz="1700" dirty="0"/>
          </a:p>
        </p:txBody>
      </p:sp>
      <p:sp>
        <p:nvSpPr>
          <p:cNvPr id="13" name="text-238"/>
          <p:cNvSpPr txBox="1"/>
          <p:nvPr/>
        </p:nvSpPr>
        <p:spPr>
          <a:xfrm>
            <a:off x="1508760" y="3236976"/>
            <a:ext cx="6949440" cy="320040"/>
          </a:xfrm>
          <a:prstGeom prst="rect">
            <a:avLst/>
          </a:prstGeom>
          <a:noFill/>
          <a:ln/>
        </p:spPr>
        <p:txBody>
          <a:bodyPr wrap="square" lIns="0" tIns="0" rIns="0" bIns="0" rtlCol="0" anchor="t"/>
          <a:lstStyle/>
          <a:p>
            <a:pPr indent="0" marL="0">
              <a:buNone/>
            </a:pPr>
            <a:r>
              <a:rPr lang="en-US" sz="1400" dirty="0">
                <a:solidFill>
                  <a:schemeClr val="accent4"/>
                </a:solidFill>
              </a:rPr>
              <a:t>Based on: this group holds 48 of 76 problematic loans</a:t>
            </a:r>
            <a:endParaRPr lang="en-US" sz="1400" dirty="0"/>
          </a:p>
        </p:txBody>
      </p:sp>
      <p:sp>
        <p:nvSpPr>
          <p:cNvPr id="14" name="pill-239"/>
          <p:cNvSpPr/>
          <p:nvPr/>
        </p:nvSpPr>
        <p:spPr>
          <a:xfrm>
            <a:off x="8168335" y="2944368"/>
            <a:ext cx="3200400" cy="502920"/>
          </a:xfrm>
          <a:prstGeom prst="roundRect">
            <a:avLst>
              <a:gd name="adj" fmla="val 45455"/>
            </a:avLst>
          </a:prstGeom>
          <a:solidFill>
            <a:schemeClr val="accent6"/>
          </a:solidFill>
          <a:ln/>
        </p:spPr>
        <p:txBody>
          <a:bodyPr wrap="square" lIns="0" tIns="0" rIns="0" bIns="0" rtlCol="0" anchor="ctr"/>
          <a:lstStyle/>
          <a:p>
            <a:pPr algn="ctr" indent="0" marL="0">
              <a:buNone/>
            </a:pPr>
            <a:r>
              <a:rPr lang="en-US" sz="1400" b="1" dirty="0">
                <a:solidFill>
                  <a:schemeClr val="tx2"/>
                </a:solidFill>
              </a:rPr>
              <a:t>With action 1: 5.0%, on target</a:t>
            </a:r>
            <a:endParaRPr lang="en-US" sz="1400" dirty="0"/>
          </a:p>
        </p:txBody>
      </p:sp>
      <p:sp>
        <p:nvSpPr>
          <p:cNvPr id="15" name="card-240"/>
          <p:cNvSpPr/>
          <p:nvPr/>
        </p:nvSpPr>
        <p:spPr>
          <a:xfrm>
            <a:off x="548640" y="3831336"/>
            <a:ext cx="11094415" cy="960120"/>
          </a:xfrm>
          <a:prstGeom prst="roundRect">
            <a:avLst>
              <a:gd name="adj" fmla="val 7619"/>
            </a:avLst>
          </a:prstGeom>
          <a:solidFill>
            <a:schemeClr val="bg1"/>
          </a:solidFill>
          <a:ln w="9525">
            <a:solidFill>
              <a:schemeClr val="accent5"/>
            </a:solidFill>
            <a:prstDash val="solid"/>
          </a:ln>
        </p:spPr>
      </p:sp>
      <p:sp>
        <p:nvSpPr>
          <p:cNvPr id="16" name="circle-241"/>
          <p:cNvSpPr/>
          <p:nvPr/>
        </p:nvSpPr>
        <p:spPr>
          <a:xfrm>
            <a:off x="822960" y="4082796"/>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7" name="text-242"/>
          <p:cNvSpPr txBox="1"/>
          <p:nvPr/>
        </p:nvSpPr>
        <p:spPr>
          <a:xfrm>
            <a:off x="1508760" y="3986784"/>
            <a:ext cx="6949440" cy="347472"/>
          </a:xfrm>
          <a:prstGeom prst="rect">
            <a:avLst/>
          </a:prstGeom>
          <a:noFill/>
          <a:ln/>
        </p:spPr>
        <p:txBody>
          <a:bodyPr wrap="square" lIns="0" tIns="0" rIns="0" bIns="0" rtlCol="0" anchor="t"/>
          <a:lstStyle/>
          <a:p>
            <a:pPr indent="0" marL="0">
              <a:buNone/>
            </a:pPr>
            <a:r>
              <a:rPr lang="en-US" sz="1700" b="1" dirty="0">
                <a:solidFill>
                  <a:schemeClr val="tx1"/>
                </a:solidFill>
              </a:rPr>
              <a:t>Cap the instalment at 17% of monthly income</a:t>
            </a:r>
            <a:endParaRPr lang="en-US" sz="1700" dirty="0"/>
          </a:p>
        </p:txBody>
      </p:sp>
      <p:sp>
        <p:nvSpPr>
          <p:cNvPr id="18" name="text-243"/>
          <p:cNvSpPr txBox="1"/>
          <p:nvPr/>
        </p:nvSpPr>
        <p:spPr>
          <a:xfrm>
            <a:off x="1508760" y="4352544"/>
            <a:ext cx="6949440" cy="320040"/>
          </a:xfrm>
          <a:prstGeom prst="rect">
            <a:avLst/>
          </a:prstGeom>
          <a:noFill/>
          <a:ln/>
        </p:spPr>
        <p:txBody>
          <a:bodyPr wrap="square" lIns="0" tIns="0" rIns="0" bIns="0" rtlCol="0" anchor="t"/>
          <a:lstStyle/>
          <a:p>
            <a:pPr indent="0" marL="0">
              <a:buNone/>
            </a:pPr>
            <a:r>
              <a:rPr lang="en-US" sz="1400" dirty="0">
                <a:solidFill>
                  <a:schemeClr val="accent4"/>
                </a:solidFill>
              </a:rPr>
              <a:t>Based on: the heaviest instalments fail at 19.3%</a:t>
            </a:r>
            <a:endParaRPr lang="en-US" sz="1400" dirty="0"/>
          </a:p>
        </p:txBody>
      </p:sp>
      <p:sp>
        <p:nvSpPr>
          <p:cNvPr id="19" name="pill-244"/>
          <p:cNvSpPr/>
          <p:nvPr/>
        </p:nvSpPr>
        <p:spPr>
          <a:xfrm>
            <a:off x="8168335" y="4059936"/>
            <a:ext cx="3200400" cy="502920"/>
          </a:xfrm>
          <a:prstGeom prst="roundRect">
            <a:avLst>
              <a:gd name="adj" fmla="val 45455"/>
            </a:avLst>
          </a:prstGeom>
          <a:solidFill>
            <a:schemeClr val="accent6"/>
          </a:solidFill>
          <a:ln/>
        </p:spPr>
        <p:txBody>
          <a:bodyPr wrap="square" lIns="0" tIns="0" rIns="0" bIns="0" rtlCol="0" anchor="ctr"/>
          <a:lstStyle/>
          <a:p>
            <a:pPr algn="ctr" indent="0" marL="0">
              <a:buNone/>
            </a:pPr>
            <a:r>
              <a:rPr lang="en-US" sz="1400" b="1" dirty="0">
                <a:solidFill>
                  <a:schemeClr val="tx2"/>
                </a:solidFill>
              </a:rPr>
              <a:t>Keeps a buffer below 5%</a:t>
            </a:r>
            <a:endParaRPr lang="en-US" sz="1400" dirty="0"/>
          </a:p>
        </p:txBody>
      </p:sp>
      <p:sp>
        <p:nvSpPr>
          <p:cNvPr id="20" name="card-245"/>
          <p:cNvSpPr/>
          <p:nvPr/>
        </p:nvSpPr>
        <p:spPr>
          <a:xfrm>
            <a:off x="548640" y="4946904"/>
            <a:ext cx="11094415" cy="960120"/>
          </a:xfrm>
          <a:prstGeom prst="roundRect">
            <a:avLst>
              <a:gd name="adj" fmla="val 7619"/>
            </a:avLst>
          </a:prstGeom>
          <a:solidFill>
            <a:schemeClr val="bg1"/>
          </a:solidFill>
          <a:ln w="9525">
            <a:solidFill>
              <a:schemeClr val="accent5"/>
            </a:solidFill>
            <a:prstDash val="solid"/>
          </a:ln>
        </p:spPr>
      </p:sp>
      <p:sp>
        <p:nvSpPr>
          <p:cNvPr id="21" name="circle-246"/>
          <p:cNvSpPr/>
          <p:nvPr/>
        </p:nvSpPr>
        <p:spPr>
          <a:xfrm>
            <a:off x="822960" y="5198364"/>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22" name="text-247"/>
          <p:cNvSpPr txBox="1"/>
          <p:nvPr/>
        </p:nvSpPr>
        <p:spPr>
          <a:xfrm>
            <a:off x="1508760" y="5102352"/>
            <a:ext cx="6949440" cy="347472"/>
          </a:xfrm>
          <a:prstGeom prst="rect">
            <a:avLst/>
          </a:prstGeom>
          <a:noFill/>
          <a:ln/>
        </p:spPr>
        <p:txBody>
          <a:bodyPr wrap="square" lIns="0" tIns="0" rIns="0" bIns="0" rtlCol="0" anchor="t"/>
          <a:lstStyle/>
          <a:p>
            <a:pPr indent="0" marL="0">
              <a:buNone/>
            </a:pPr>
            <a:r>
              <a:rPr lang="en-US" sz="1700" b="1" dirty="0">
                <a:solidFill>
                  <a:schemeClr val="tx1"/>
                </a:solidFill>
              </a:rPr>
              <a:t>Compare loans of the same age in reports</a:t>
            </a:r>
            <a:endParaRPr lang="en-US" sz="1700" dirty="0"/>
          </a:p>
        </p:txBody>
      </p:sp>
      <p:sp>
        <p:nvSpPr>
          <p:cNvPr id="23" name="text-248"/>
          <p:cNvSpPr txBox="1"/>
          <p:nvPr/>
        </p:nvSpPr>
        <p:spPr>
          <a:xfrm>
            <a:off x="1508760" y="5468112"/>
            <a:ext cx="6949440" cy="320040"/>
          </a:xfrm>
          <a:prstGeom prst="rect">
            <a:avLst/>
          </a:prstGeom>
          <a:noFill/>
          <a:ln/>
        </p:spPr>
        <p:txBody>
          <a:bodyPr wrap="square" lIns="0" tIns="0" rIns="0" bIns="0" rtlCol="0" anchor="t"/>
          <a:lstStyle/>
          <a:p>
            <a:pPr indent="0" marL="0">
              <a:buNone/>
            </a:pPr>
            <a:r>
              <a:rPr lang="en-US" sz="1400" dirty="0">
                <a:solidFill>
                  <a:schemeClr val="accent4"/>
                </a:solidFill>
              </a:rPr>
              <a:t>Based on: new 1998 loans look falsely safe</a:t>
            </a:r>
            <a:endParaRPr lang="en-US" sz="1400" dirty="0"/>
          </a:p>
        </p:txBody>
      </p:sp>
      <p:sp>
        <p:nvSpPr>
          <p:cNvPr id="24" name="pill-249"/>
          <p:cNvSpPr/>
          <p:nvPr/>
        </p:nvSpPr>
        <p:spPr>
          <a:xfrm>
            <a:off x="8168335" y="5175504"/>
            <a:ext cx="3200400" cy="502920"/>
          </a:xfrm>
          <a:prstGeom prst="roundRect">
            <a:avLst>
              <a:gd name="adj" fmla="val 45455"/>
            </a:avLst>
          </a:prstGeom>
          <a:solidFill>
            <a:schemeClr val="accent6"/>
          </a:solidFill>
          <a:ln/>
        </p:spPr>
        <p:txBody>
          <a:bodyPr wrap="square" lIns="0" tIns="0" rIns="0" bIns="0" rtlCol="0" anchor="ctr"/>
          <a:lstStyle/>
          <a:p>
            <a:pPr algn="ctr" indent="0" marL="0">
              <a:buNone/>
            </a:pPr>
            <a:r>
              <a:rPr lang="en-US" sz="1400" b="1" dirty="0">
                <a:solidFill>
                  <a:schemeClr val="tx2"/>
                </a:solidFill>
              </a:rPr>
              <a:t>Prevents false signs of progress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Appendix A  |  Dataset and Cleaning</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Eight tables linked by account_id, with every cleaning decision documented</a:t>
            </a:r>
            <a:endParaRPr lang="en-US" sz="1500" dirty="0"/>
          </a:p>
        </p:txBody>
      </p:sp>
      <p:graphicFrame>
        <p:nvGraphicFramePr>
          <p:cNvPr id="17" name="table-250"/>
          <p:cNvGraphicFramePr>
            <a:graphicFrameLocks noGrp="1"/>
          </p:cNvGraphicFramePr>
          <p:nvPr>
            <p:extLst>
              <p:ext uri="{D42A27DB-BD31-4B8C-83A1-F6EECF244321}">
                <p14:modId xmlns:p14="http://schemas.microsoft.com/office/powerpoint/2010/main" val="1579011935"/>
              </p:ext>
            </p:extLst>
          </p:nvPr>
        </p:nvGraphicFramePr>
        <p:xfrm>
          <a:off x="548640" y="1600200"/>
          <a:ext cx="3657600" cy="914400"/>
        </p:xfrm>
        <a:graphic>
          <a:graphicData uri="http://schemas.openxmlformats.org/drawingml/2006/table">
            <a:tbl>
              <a:tblPr/>
              <a:tblGrid>
                <a:gridCol w="2103120"/>
                <a:gridCol w="1554480"/>
              </a:tblGrid>
              <a:tr h="402336">
                <a:tc>
                  <a:txBody>
                    <a:bodyPr/>
                    <a:lstStyle/>
                    <a:p>
                      <a:pPr indent="0" marL="0">
                        <a:buNone/>
                      </a:pPr>
                      <a:r>
                        <a:rPr lang="en-US" sz="1300" b="1" dirty="0">
                          <a:solidFill>
                            <a:schemeClr val="bg1"/>
                          </a:solidFill>
                          <a:latin typeface="+mn-lt" pitchFamily="34" charset="0"/>
                          <a:ea typeface="+mn-lt" pitchFamily="34" charset="-122"/>
                          <a:cs typeface="+mn-lt" pitchFamily="34" charset="-120"/>
                        </a:rPr>
                        <a:t>Table</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latin typeface="+mn-lt" pitchFamily="34" charset="0"/>
                          <a:ea typeface="+mn-lt" pitchFamily="34" charset="-122"/>
                          <a:cs typeface="+mn-lt" pitchFamily="34" charset="-120"/>
                        </a:rPr>
                        <a:t>Rows</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client</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5,369</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disp</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5,369</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account</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4,500</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b="1" dirty="0">
                          <a:solidFill>
                            <a:schemeClr val="tx1"/>
                          </a:solidFill>
                          <a:latin typeface="+mn-lt" pitchFamily="34" charset="0"/>
                          <a:ea typeface="+mn-lt" pitchFamily="34" charset="-122"/>
                          <a:cs typeface="+mn-lt" pitchFamily="34" charset="-120"/>
                        </a:rPr>
                        <a:t>loan (target)</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mn-lt" pitchFamily="34" charset="0"/>
                          <a:ea typeface="+mn-lt" pitchFamily="34" charset="-122"/>
                          <a:cs typeface="+mn-lt" pitchFamily="34" charset="-120"/>
                        </a:rPr>
                        <a:t>682</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trans</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1,056,320</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order</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6,471</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card</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892</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402336">
                <a:tc>
                  <a:txBody>
                    <a:bodyPr/>
                    <a:lstStyle/>
                    <a:p>
                      <a:pPr algn="l" indent="0" marL="0">
                        <a:buNone/>
                      </a:pPr>
                      <a:r>
                        <a:rPr lang="en-US" sz="1300" dirty="0">
                          <a:solidFill>
                            <a:schemeClr val="tx1"/>
                          </a:solidFill>
                          <a:latin typeface="+mn-lt" pitchFamily="34" charset="0"/>
                          <a:ea typeface="+mn-lt" pitchFamily="34" charset="-122"/>
                          <a:cs typeface="+mn-lt" pitchFamily="34" charset="-120"/>
                        </a:rPr>
                        <a:t>district</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mn-lt" pitchFamily="34" charset="0"/>
                          <a:ea typeface="+mn-lt" pitchFamily="34" charset="-122"/>
                          <a:cs typeface="+mn-lt" pitchFamily="34" charset="-120"/>
                        </a:rPr>
                        <a:t>77</a:t>
                      </a:r>
                      <a:endParaRPr lang="en-US" sz="1300" dirty="0">
                        <a:latin typeface="+mn-lt" charset="0"/>
                        <a:ea typeface="+mn-lt" charset="0"/>
                        <a:cs typeface="+mn-lt" charset="0"/>
                      </a:endParaRPr>
                    </a:p>
                  </a:txBody>
                  <a:tcPr marL="137160" marR="137160" marT="36576" marB="36576"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bl>
          </a:graphicData>
        </a:graphic>
      </p:graphicFrame>
      <p:graphicFrame>
        <p:nvGraphicFramePr>
          <p:cNvPr id="33" name="table-251"/>
          <p:cNvGraphicFramePr>
            <a:graphicFrameLocks noGrp="1"/>
          </p:cNvGraphicFramePr>
          <p:nvPr>
            <p:extLst>
              <p:ext uri="{D42A27DB-BD31-4B8C-83A1-F6EECF244321}">
                <p14:modId xmlns:p14="http://schemas.microsoft.com/office/powerpoint/2010/main" val="1579011935"/>
              </p:ext>
            </p:extLst>
          </p:nvPr>
        </p:nvGraphicFramePr>
        <p:xfrm>
          <a:off x="4572000" y="1600200"/>
          <a:ext cx="7071055" cy="914400"/>
        </p:xfrm>
        <a:graphic>
          <a:graphicData uri="http://schemas.openxmlformats.org/drawingml/2006/table">
            <a:tbl>
              <a:tblPr/>
              <a:tblGrid>
                <a:gridCol w="1554480"/>
                <a:gridCol w="2651760"/>
                <a:gridCol w="2864815"/>
              </a:tblGrid>
              <a:tr h="402336">
                <a:tc>
                  <a:txBody>
                    <a:bodyPr/>
                    <a:lstStyle/>
                    <a:p>
                      <a:pPr indent="0" marL="0">
                        <a:buNone/>
                      </a:pPr>
                      <a:r>
                        <a:rPr lang="en-US" sz="1300" b="1" dirty="0">
                          <a:solidFill>
                            <a:schemeClr val="bg1"/>
                          </a:solidFill>
                          <a:latin typeface="+mn-lt" pitchFamily="34" charset="0"/>
                          <a:ea typeface="+mn-lt" pitchFamily="34" charset="-122"/>
                          <a:cs typeface="+mn-lt" pitchFamily="34" charset="-120"/>
                        </a:rPr>
                        <a:t>Area</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Issue</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mn-lt" pitchFamily="34" charset="0"/>
                          <a:ea typeface="+mn-lt" pitchFamily="34" charset="-122"/>
                          <a:cs typeface="+mn-lt" pitchFamily="34" charset="-120"/>
                        </a:rPr>
                        <a:t>Decision</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r>
              <a:tr h="731520">
                <a:tc>
                  <a:txBody>
                    <a:bodyPr/>
                    <a:lstStyle/>
                    <a:p>
                      <a:pPr indent="0" marL="0">
                        <a:buNone/>
                      </a:pPr>
                      <a:r>
                        <a:rPr lang="en-US" sz="1300" b="1" dirty="0">
                          <a:solidFill>
                            <a:schemeClr val="tx1"/>
                          </a:solidFill>
                          <a:latin typeface="+mn-lt" pitchFamily="34" charset="0"/>
                          <a:ea typeface="+mn-lt" pitchFamily="34" charset="-122"/>
                          <a:cs typeface="+mn-lt" pitchFamily="34" charset="-120"/>
                        </a:rPr>
                        <a:t>Data types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Dates stored as YYMMDD integers, coded birth_number</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Converted with century 19, decoded gender and birth date</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1"/>
                          </a:solidFill>
                          <a:latin typeface="+mn-lt" pitchFamily="34" charset="0"/>
                          <a:ea typeface="+mn-lt" pitchFamily="34" charset="-122"/>
                          <a:cs typeface="+mn-lt" pitchFamily="34" charset="-120"/>
                        </a:rPr>
                        <a:t>Missing values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trans: bank 74%, account 72%, k_symbol 51% blank</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Kept every row, imputed nothing. Blanks are structural</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1"/>
                          </a:solidFill>
                          <a:latin typeface="+mn-lt" pitchFamily="34" charset="0"/>
                          <a:ea typeface="+mn-lt" pitchFamily="34" charset="-122"/>
                          <a:cs typeface="+mn-lt" pitchFamily="34" charset="-120"/>
                        </a:rPr>
                        <a:t>Duplicates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None in source tables, the risk comes from joins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Filtered disp to OWNER, asserted 682 loans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1"/>
                          </a:solidFill>
                          <a:latin typeface="+mn-lt" pitchFamily="34" charset="0"/>
                          <a:ea typeface="+mn-lt" pitchFamily="34" charset="-122"/>
                          <a:cs typeface="+mn-lt" pitchFamily="34" charset="-120"/>
                        </a:rPr>
                        <a:t>Outliers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120,215 amounts flagged by IQR, 2,999 negative balances</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mn-lt" pitchFamily="34" charset="0"/>
                          <a:ea typeface="+mn-lt" pitchFamily="34" charset="-122"/>
                          <a:cs typeface="+mn-lt" pitchFamily="34" charset="-120"/>
                        </a:rPr>
                        <a:t>Kept all. Negative balances became the overdraft flag</a:t>
                      </a:r>
                      <a:endParaRPr lang="en-US" sz="13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bl>
          </a:graphicData>
        </a:graphic>
      </p:graphicFrame>
      <p:sp>
        <p:nvSpPr>
          <p:cNvPr id="7" name="card-252"/>
          <p:cNvSpPr/>
          <p:nvPr/>
        </p:nvSpPr>
        <p:spPr>
          <a:xfrm>
            <a:off x="4572000" y="5257800"/>
            <a:ext cx="7071055" cy="822960"/>
          </a:xfrm>
          <a:prstGeom prst="roundRect">
            <a:avLst>
              <a:gd name="adj" fmla="val 8889"/>
            </a:avLst>
          </a:prstGeom>
          <a:solidFill>
            <a:schemeClr val="bg1"/>
          </a:solidFill>
          <a:ln w="9525">
            <a:solidFill>
              <a:schemeClr val="accent5"/>
            </a:solidFill>
            <a:prstDash val="solid"/>
          </a:ln>
        </p:spPr>
      </p:sp>
      <p:sp>
        <p:nvSpPr>
          <p:cNvPr id="8" name="text-253"/>
          <p:cNvSpPr txBox="1"/>
          <p:nvPr/>
        </p:nvSpPr>
        <p:spPr>
          <a:xfrm>
            <a:off x="4846320" y="5257800"/>
            <a:ext cx="6522415" cy="822960"/>
          </a:xfrm>
          <a:prstGeom prst="rect">
            <a:avLst/>
          </a:prstGeom>
          <a:noFill/>
          <a:ln/>
        </p:spPr>
        <p:txBody>
          <a:bodyPr wrap="square" lIns="0" tIns="0" rIns="0" bIns="0" rtlCol="0" anchor="ctr"/>
          <a:lstStyle/>
          <a:p>
            <a:pPr indent="0" marL="0">
              <a:buNone/>
            </a:pPr>
            <a:r>
              <a:rPr lang="en-US" sz="1400" dirty="0">
                <a:solidFill>
                  <a:schemeClr val="tx1"/>
                </a:solidFill>
              </a:rPr>
              <a:t>disp is filtered to OWNER so the 682 loans stay 682 after the join. Zero orphan rows across all eight foreign keys.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640080"/>
          </a:xfrm>
          <a:prstGeom prst="rect">
            <a:avLst/>
          </a:prstGeom>
          <a:noFill/>
          <a:ln/>
        </p:spPr>
        <p:txBody>
          <a:bodyPr wrap="square" lIns="0" tIns="0" rIns="0" bIns="0" rtlCol="0" anchor="t"/>
          <a:lstStyle/>
          <a:p>
            <a:pPr algn="l" indent="0" marL="0">
              <a:buNone/>
            </a:pPr>
            <a:r>
              <a:rPr lang="en-US" sz="3000" b="1" dirty="0">
                <a:solidFill>
                  <a:schemeClr val="tx1"/>
                </a:solidFill>
              </a:rPr>
              <a:t>Appendix B  |  How to Read the Dashboard</a:t>
            </a:r>
            <a:endParaRPr lang="en-US" sz="3000" dirty="0"/>
          </a:p>
        </p:txBody>
      </p:sp>
      <p:sp>
        <p:nvSpPr>
          <p:cNvPr id="3" name="Text 0"/>
          <p:cNvSpPr/>
          <p:nvPr>
            <p:ph idx="101" type="body" hasCustomPrompt="1"/>
          </p:nvPr>
        </p:nvSpPr>
        <p:spPr>
          <a:xfrm>
            <a:off x="548640" y="1005840"/>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Quartiles split the 682 loans into four equal groups of about 170 loans</a:t>
            </a:r>
            <a:endParaRPr lang="en-US" sz="1500" dirty="0"/>
          </a:p>
        </p:txBody>
      </p:sp>
      <p:graphicFrame>
        <p:nvGraphicFramePr>
          <p:cNvPr id="18" name="table-254"/>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011680"/>
                <a:gridCol w="4480560"/>
                <a:gridCol w="4602175"/>
              </a:tblGrid>
              <a:tr h="457200">
                <a:tc>
                  <a:txBody>
                    <a:bodyPr/>
                    <a:lstStyle/>
                    <a:p>
                      <a:pPr indent="0" marL="0">
                        <a:buNone/>
                      </a:pPr>
                      <a:r>
                        <a:rPr lang="en-US" sz="1400" b="1" dirty="0">
                          <a:solidFill>
                            <a:schemeClr val="bg1"/>
                          </a:solidFill>
                          <a:latin typeface="+mn-lt" pitchFamily="34" charset="0"/>
                          <a:ea typeface="+mn-lt" pitchFamily="34" charset="-122"/>
                          <a:cs typeface="+mn-lt" pitchFamily="34" charset="-120"/>
                        </a:rPr>
                        <a:t>Panel</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What it shows</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Key insight</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Trend per year</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Rate by loan year vs the 11.1% average and the slider target</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1998 at 2.5% is maturity bias, mature years sit at 13 to 14%</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Overdraft</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Accounts that went below zero before the loan vs the rest</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All 27 overdrawn accounts went bad vs 7.5% for the rest (13x)</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Affordability</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Instalment ÷ own monthly inflow, Q1 lowest burden</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Q4 fails at 19.3%, Q1 only at 5.8%</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Liquidity</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Average pre-loan balance, Q1 lowest balance</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Q1 fails at 19.3%, Q4 only at 5.3%</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Loan size</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Loan amount, Q1 smallest loans</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Flat at 7.6 to 9.4% until Q4 jumps to 19.9%</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Risk band</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Model score split into five equal groups</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Very high fails at 35.0% and holds 48 of 76 bad loans</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latin typeface="+mn-lt" pitchFamily="34" charset="0"/>
                          <a:ea typeface="+mn-lt" pitchFamily="34" charset="-122"/>
                          <a:cs typeface="+mn-lt" pitchFamily="34" charset="-120"/>
                        </a:rPr>
                        <a:t>Simulation</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Rate left after each action vs the slider target, shaded safe zone</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Only overdraft + risk score review reaches 5%</a:t>
                      </a:r>
                      <a:endParaRPr lang="en-US" sz="1400" dirty="0">
                        <a:latin typeface="+mn-lt" charset="0"/>
                        <a:ea typeface="+mn-lt" charset="0"/>
                        <a:cs typeface="+mn-lt" charset="0"/>
                      </a:endParaRPr>
                    </a:p>
                  </a:txBody>
                  <a:tcPr marL="137160" marR="137160" marT="45720" marB="45720" anchor="ctr">
                    <a:lnL w="9525" cap="flat" cmpd="sng" algn="ctr">
                      <a:solidFill>
                        <a:srgbClr val="D8CDB4"/>
                      </a:solidFill>
                      <a:prstDash val="solid"/>
                      <a:round/>
                      <a:headEnd type="none" w="med" len="med"/>
                      <a:tailEnd type="none" w="med" len="med"/>
                    </a:lnL>
                    <a:lnR w="9525" cap="flat" cmpd="sng" algn="ctr">
                      <a:solidFill>
                        <a:srgbClr val="D8CDB4"/>
                      </a:solidFill>
                      <a:prstDash val="solid"/>
                      <a:round/>
                      <a:headEnd type="none" w="med" len="med"/>
                      <a:tailEnd type="none" w="med" len="med"/>
                    </a:lnR>
                    <a:lnT w="9525" cap="flat" cmpd="sng" algn="ctr">
                      <a:solidFill>
                        <a:srgbClr val="D8CDB4"/>
                      </a:solidFill>
                      <a:prstDash val="solid"/>
                      <a:round/>
                      <a:headEnd type="none" w="med" len="med"/>
                      <a:tailEnd type="none" w="med" len="med"/>
                    </a:lnT>
                    <a:lnB w="9525" cap="flat" cmpd="sng" algn="ctr">
                      <a:solidFill>
                        <a:srgbClr val="D8CDB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914400" y="1554480"/>
            <a:ext cx="8046720" cy="365760"/>
          </a:xfrm>
          <a:prstGeom prst="rect">
            <a:avLst/>
          </a:prstGeom>
          <a:noFill/>
          <a:ln/>
        </p:spPr>
        <p:txBody>
          <a:bodyPr wrap="square" lIns="0" tIns="0" rIns="0" bIns="0" rtlCol="0"/>
          <a:lstStyle/>
          <a:p>
            <a:pPr indent="0" marL="0">
              <a:buNone/>
            </a:pPr>
            <a:r>
              <a:rPr lang="en-US" sz="1200" b="1" spc="200" kern="0" dirty="0">
                <a:solidFill>
                  <a:schemeClr val="accent1"/>
                </a:solidFill>
              </a:rPr>
              <a:t>DEEPP FINAL PROJECT   |   BANKING INDUSTRY</a:t>
            </a:r>
            <a:endParaRPr lang="en-US" sz="1200" dirty="0"/>
          </a:p>
        </p:txBody>
      </p:sp>
      <p:sp>
        <p:nvSpPr>
          <p:cNvPr id="3" name="Text 2"/>
          <p:cNvSpPr/>
          <p:nvPr>
            <p:ph idx="103" type="title" hasCustomPrompt="1"/>
          </p:nvPr>
        </p:nvSpPr>
        <p:spPr>
          <a:xfrm>
            <a:off x="914400" y="2057400"/>
            <a:ext cx="8229600" cy="1463040"/>
          </a:xfrm>
          <a:prstGeom prst="rect">
            <a:avLst/>
          </a:prstGeom>
          <a:noFill/>
          <a:ln/>
        </p:spPr>
        <p:txBody>
          <a:bodyPr wrap="square" lIns="0" tIns="0" rIns="0" bIns="0" rtlCol="0" anchor="t"/>
          <a:lstStyle/>
          <a:p>
            <a:pPr algn="l" indent="0" marL="0">
              <a:buNone/>
            </a:pPr>
            <a:r>
              <a:rPr lang="en-US" sz="6000" b="1" dirty="0">
                <a:solidFill>
                  <a:schemeClr val="bg1"/>
                </a:solidFill>
              </a:rPr>
              <a:t>Thank You</a:t>
            </a:r>
            <a:endParaRPr lang="en-US" sz="4000" dirty="0"/>
          </a:p>
        </p:txBody>
      </p:sp>
      <p:sp>
        <p:nvSpPr>
          <p:cNvPr id="4" name="Text 2"/>
          <p:cNvSpPr/>
          <p:nvPr>
            <p:ph idx="104" type="body" hasCustomPrompt="1"/>
          </p:nvPr>
        </p:nvSpPr>
        <p:spPr>
          <a:xfrm>
            <a:off x="914400" y="3611880"/>
            <a:ext cx="7863840" cy="640080"/>
          </a:xfrm>
          <a:prstGeom prst="rect">
            <a:avLst/>
          </a:prstGeom>
          <a:noFill/>
          <a:ln/>
        </p:spPr>
        <p:txBody>
          <a:bodyPr wrap="square" lIns="0" tIns="0" rIns="0" bIns="0" rtlCol="0" anchor="t"/>
          <a:lstStyle/>
          <a:p>
            <a:pPr indent="0" marL="0">
              <a:buNone/>
            </a:pPr>
            <a:r>
              <a:rPr lang="en-US" sz="1600" i="1" dirty="0">
                <a:solidFill>
                  <a:schemeClr val="accent5"/>
                </a:solidFill>
              </a:rPr>
              <a:t>The warning signs are already in the account before the loan is approved.</a:t>
            </a:r>
            <a:endParaRPr lang="en-US" sz="1600" dirty="0"/>
          </a:p>
        </p:txBody>
      </p:sp>
      <p:sp>
        <p:nvSpPr>
          <p:cNvPr id="5" name="Text 2"/>
          <p:cNvSpPr/>
          <p:nvPr>
            <p:ph idx="105" type="body" hasCustomPrompt="1"/>
          </p:nvPr>
        </p:nvSpPr>
        <p:spPr>
          <a:xfrm>
            <a:off x="914400" y="4526280"/>
            <a:ext cx="9144000" cy="137160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Dashboard:  </a:t>
            </a:r>
            <a:pPr indent="0" marL="0">
              <a:spcAft>
                <a:spcPts val="400"/>
              </a:spcAft>
              <a:buNone/>
            </a:pPr>
            <a:r>
              <a:rPr lang="en-US" sz="14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Tableau Public, Berka credit risk dashboard</a:t>
            </a:r>
            <a:endParaRPr lang="en-US" sz="1400" dirty="0"/>
          </a:p>
          <a:p>
            <a:pPr indent="0" marL="0">
              <a:spcAft>
                <a:spcPts val="400"/>
              </a:spcAft>
              <a:buNone/>
            </a:pPr>
            <a:r>
              <a:rPr lang="en-US" sz="1400" b="1" dirty="0">
                <a:solidFill>
                  <a:schemeClr val="bg1"/>
                </a:solidFill>
              </a:rPr>
              <a:t>Notebook:  </a:t>
            </a:r>
            <a:pPr indent="0" marL="0">
              <a:spcAft>
                <a:spcPts val="400"/>
              </a:spcAft>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Google Colab, cleaning and analysis code</a:t>
            </a:r>
            <a:endParaRPr lang="en-US" sz="1400" dirty="0"/>
          </a:p>
          <a:p>
            <a:pPr indent="0" marL="0">
              <a:spcAft>
                <a:spcPts val="400"/>
              </a:spcAft>
              <a:buNone/>
            </a:pPr>
            <a:r>
              <a:rPr lang="en-US" sz="1400" b="1" dirty="0">
                <a:solidFill>
                  <a:schemeClr val="bg1"/>
                </a:solidFill>
              </a:rPr>
              <a:t>LinkedIn:  </a:t>
            </a:r>
            <a:pPr indent="0" marL="0">
              <a:spcAft>
                <a:spcPts val="400"/>
              </a:spcAft>
              <a:buNone/>
            </a:pPr>
            <a:r>
              <a:rPr lang="en-US" sz="14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linkedin.com/in/reinaldy-zulfananda-arkaan-30567a179</a:t>
            </a:r>
            <a:endParaRPr lang="en-US" sz="1400" dirty="0"/>
          </a:p>
          <a:p>
            <a:pPr indent="0" marL="0">
              <a:spcAft>
                <a:spcPts val="400"/>
              </a:spcAft>
              <a:buNone/>
            </a:pPr>
            <a:r>
              <a:rPr lang="en-US" sz="1400" b="1" dirty="0">
                <a:solidFill>
                  <a:schemeClr val="bg1"/>
                </a:solidFill>
              </a:rPr>
              <a:t>Email:  </a:t>
            </a:r>
            <a:pPr indent="0" marL="0">
              <a:spcAft>
                <a:spcPts val="400"/>
              </a:spcAft>
              <a:buNone/>
            </a:pPr>
            <a:r>
              <a:rPr lang="en-US" sz="14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reinaldizulfanandaarkaan@gmail.com</a:t>
            </a:r>
            <a:endParaRPr lang="en-US" sz="1400" dirty="0"/>
          </a:p>
        </p:txBody>
      </p:sp>
    </p:spTree>
  </p:cSld>
  <p:clrMapOvr>
    <a:masterClrMapping/>
  </p:clrMapOvr>
</p:sld>
</file>

<file path=ppt/theme/theme1.xml><?xml version="1.0" encoding="utf-8"?>
<a:theme xmlns:a="http://schemas.openxmlformats.org/drawingml/2006/main" name="Berka Credit Risk">
  <a:themeElements>
    <a:clrScheme name="Berka Credit Risk">
      <a:dk1>
        <a:srgbClr val="2B2621"/>
      </a:dk1>
      <a:lt1>
        <a:srgbClr val="FFFFFF"/>
      </a:lt1>
      <a:dk2>
        <a:srgbClr val="8A6D0B"/>
      </a:dk2>
      <a:lt2>
        <a:srgbClr val="FFFCF3"/>
      </a:lt2>
      <a:accent1>
        <a:srgbClr val="F5B301"/>
      </a:accent1>
      <a:accent2>
        <a:srgbClr val="B23A2E"/>
      </a:accent2>
      <a:accent3>
        <a:srgbClr val="4E7D3A"/>
      </a:accent3>
      <a:accent4>
        <a:srgbClr val="8A8071"/>
      </a:accent4>
      <a:accent5>
        <a:srgbClr val="D8CDB4"/>
      </a:accent5>
      <a:accent6>
        <a:srgbClr val="FDF3D6"/>
      </a:accent6>
      <a:hlink>
        <a:srgbClr val="F5B301"/>
      </a:hlink>
      <a:folHlink>
        <a:srgbClr val="D8CDB4"/>
      </a:folHlink>
    </a:clrScheme>
    <a:fontScheme name="Berka Credit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Credit Risk Analysis: Berka Retail Bank</dc:title>
  <dc:subject>PptxGenJS Presentation</dc:subject>
  <dc:creator>Reinaldy Zulfananda Arkaan</dc:creator>
  <cp:lastModifiedBy>Reinaldy Zulfananda Arkaan</cp:lastModifiedBy>
  <cp:revision>1</cp:revision>
  <dcterms:created xsi:type="dcterms:W3CDTF">2026-10-04T20:43:34Z</dcterms:created>
  <dcterms:modified xsi:type="dcterms:W3CDTF">2026-10-04T20:43:34Z</dcterms:modified>
</cp:coreProperties>
</file>
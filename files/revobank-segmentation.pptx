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6" roundtripDataSignature="AMtx7mjynJ53kU5LG0PhiqtwhkEaVnnOG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D7D59D7-DF91-47F0-BCBC-DAAD57FB8C79}">
  <a:tblStyle styleId="{3D7D59D7-DF91-47F0-BCBC-DAAD57FB8C7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slide" Target="slides/slide39.xml"/><Relationship Id="rId21" Type="http://schemas.openxmlformats.org/officeDocument/2006/relationships/slide" Target="slides/slide16.xml"/><Relationship Id="rId43" Type="http://schemas.openxmlformats.org/officeDocument/2006/relationships/slide" Target="slides/slide38.xml"/><Relationship Id="rId24" Type="http://schemas.openxmlformats.org/officeDocument/2006/relationships/slide" Target="slides/slide19.xml"/><Relationship Id="rId46" Type="http://customschemas.google.com/relationships/presentationmetadata" Target="metadata"/><Relationship Id="rId23" Type="http://schemas.openxmlformats.org/officeDocument/2006/relationships/slide" Target="slides/slide18.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 name="Shape 20"/>
        <p:cNvGrpSpPr/>
        <p:nvPr/>
      </p:nvGrpSpPr>
      <p:grpSpPr>
        <a:xfrm>
          <a:off x="0" y="0"/>
          <a:ext cx="0" cy="0"/>
          <a:chOff x="0" y="0"/>
          <a:chExt cx="0" cy="0"/>
        </a:xfrm>
      </p:grpSpPr>
      <p:sp>
        <p:nvSpPr>
          <p:cNvPr id="21" name="Google Shape;21;p2: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3: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4: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4: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6: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6: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7: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7: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8: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8: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9: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9: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10: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0: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1: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1: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2: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2: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3: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3: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4: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4: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1" name="Google Shape;191;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92" name="Google Shape;192;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0" name="Google Shape;210;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11" name="Google Shape;211;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9" name="Google Shape;229;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30" name="Google Shape;230;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8" name="Google Shape;248;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49" name="Google Shape;249;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7" name="Google Shape;267;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68" name="Google Shape;268;p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2" name="Google Shape;282;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83" name="Google Shape;283;p2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1" name="Google Shape;301;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02" name="Google Shape;302;p2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0" name="Google Shape;320;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21" name="Google Shape;321;p2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7" name="Google Shape;337;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38" name="Google Shape;338;p2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7" name="Google Shape;357;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58" name="Google Shape;358;p2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6" name="Google Shape;376;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77" name="Google Shape;377;p2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5" name="Google Shape;395;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96" name="Google Shape;396;p2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4" name="Google Shape;414;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15" name="Google Shape;415;p2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2" name="Google Shape;432;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33" name="Google Shape;433;p2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29: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29: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30: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30: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31: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31: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32: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32: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33: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33: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p34: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34: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p35: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35: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36: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36: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37: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37: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p38: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38: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39: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39: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p40: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40: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p4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0" name="Google Shape;640;p4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641" name="Google Shape;641;p4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06998"/>
        </a:solidFill>
      </p:bgPr>
    </p:bg>
    <p:spTree>
      <p:nvGrpSpPr>
        <p:cNvPr id="11" name="Shape 11"/>
        <p:cNvGrpSpPr/>
        <p:nvPr/>
      </p:nvGrpSpPr>
      <p:grpSpPr>
        <a:xfrm>
          <a:off x="0" y="0"/>
          <a:ext cx="0" cy="0"/>
          <a:chOff x="0" y="0"/>
          <a:chExt cx="0" cy="0"/>
        </a:xfrm>
      </p:grpSpPr>
      <p:sp>
        <p:nvSpPr>
          <p:cNvPr id="12" name="Google Shape;12;p1"/>
          <p:cNvSpPr/>
          <p:nvPr/>
        </p:nvSpPr>
        <p:spPr>
          <a:xfrm>
            <a:off x="9966960" y="-1188720"/>
            <a:ext cx="3840480" cy="3840480"/>
          </a:xfrm>
          <a:prstGeom prst="ellipse">
            <a:avLst/>
          </a:prstGeom>
          <a:solidFill>
            <a:srgbClr val="4B8BB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 name="Google Shape;13;p1"/>
          <p:cNvSpPr/>
          <p:nvPr/>
        </p:nvSpPr>
        <p:spPr>
          <a:xfrm>
            <a:off x="-1371600" y="5212080"/>
            <a:ext cx="3657600" cy="3657600"/>
          </a:xfrm>
          <a:prstGeom prst="ellipse">
            <a:avLst/>
          </a:prstGeom>
          <a:solidFill>
            <a:srgbClr val="FFD43B">
              <a:alpha val="45098"/>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 name="Google Shape;14;p1"/>
          <p:cNvSpPr txBox="1"/>
          <p:nvPr/>
        </p:nvSpPr>
        <p:spPr>
          <a:xfrm>
            <a:off x="731520" y="2286000"/>
            <a:ext cx="1069848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D43B"/>
              </a:buClr>
              <a:buSzPts val="4400"/>
              <a:buFont typeface="Cambria"/>
              <a:buNone/>
            </a:pPr>
            <a:r>
              <a:rPr b="1" lang="en-US" sz="4400">
                <a:solidFill>
                  <a:srgbClr val="FFD43B"/>
                </a:solidFill>
                <a:latin typeface="Cambria"/>
                <a:ea typeface="Cambria"/>
                <a:cs typeface="Cambria"/>
                <a:sym typeface="Cambria"/>
              </a:rPr>
              <a:t>Credit Card &amp; User Data Analysis</a:t>
            </a:r>
            <a:endParaRPr sz="4400">
              <a:solidFill>
                <a:schemeClr val="dk1"/>
              </a:solidFill>
              <a:latin typeface="Calibri"/>
              <a:ea typeface="Calibri"/>
              <a:cs typeface="Calibri"/>
              <a:sym typeface="Calibri"/>
            </a:endParaRPr>
          </a:p>
        </p:txBody>
      </p:sp>
      <p:sp>
        <p:nvSpPr>
          <p:cNvPr id="15" name="Google Shape;15;p1"/>
          <p:cNvSpPr txBox="1"/>
          <p:nvPr/>
        </p:nvSpPr>
        <p:spPr>
          <a:xfrm>
            <a:off x="731520" y="3063240"/>
            <a:ext cx="106984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Calibri"/>
              <a:buNone/>
            </a:pPr>
            <a:r>
              <a:rPr lang="en-US" sz="1800">
                <a:solidFill>
                  <a:srgbClr val="FFFFFF"/>
                </a:solidFill>
                <a:latin typeface="Calibri"/>
                <a:ea typeface="Calibri"/>
                <a:cs typeface="Calibri"/>
                <a:sym typeface="Calibri"/>
              </a:rPr>
              <a:t>Milestone 1, 2 &amp; 3 (Cleaning, EDA and Customer Segmentation)</a:t>
            </a:r>
            <a:endParaRPr sz="1800">
              <a:solidFill>
                <a:schemeClr val="dk1"/>
              </a:solidFill>
              <a:latin typeface="Calibri"/>
              <a:ea typeface="Calibri"/>
              <a:cs typeface="Calibri"/>
              <a:sym typeface="Calibri"/>
            </a:endParaRPr>
          </a:p>
        </p:txBody>
      </p:sp>
      <p:sp>
        <p:nvSpPr>
          <p:cNvPr id="16" name="Google Shape;16;p1"/>
          <p:cNvSpPr txBox="1"/>
          <p:nvPr/>
        </p:nvSpPr>
        <p:spPr>
          <a:xfrm>
            <a:off x="731520" y="3520440"/>
            <a:ext cx="106984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DCEA"/>
              </a:buClr>
              <a:buSzPts val="1300"/>
              <a:buFont typeface="Calibri"/>
              <a:buNone/>
            </a:pPr>
            <a:r>
              <a:rPr i="1" lang="en-US" sz="1300">
                <a:solidFill>
                  <a:srgbClr val="C9DCEA"/>
                </a:solidFill>
                <a:latin typeface="Calibri"/>
                <a:ea typeface="Calibri"/>
                <a:cs typeface="Calibri"/>
                <a:sym typeface="Calibri"/>
              </a:rPr>
              <a:t>FSDA Intermediate Python for Data Analysis</a:t>
            </a:r>
            <a:endParaRPr sz="1300">
              <a:solidFill>
                <a:schemeClr val="dk1"/>
              </a:solidFill>
              <a:latin typeface="Calibri"/>
              <a:ea typeface="Calibri"/>
              <a:cs typeface="Calibri"/>
              <a:sym typeface="Calibri"/>
            </a:endParaRPr>
          </a:p>
        </p:txBody>
      </p:sp>
      <p:sp>
        <p:nvSpPr>
          <p:cNvPr id="17" name="Google Shape;17;p1"/>
          <p:cNvSpPr txBox="1"/>
          <p:nvPr/>
        </p:nvSpPr>
        <p:spPr>
          <a:xfrm>
            <a:off x="731520" y="562356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US" sz="1400">
                <a:solidFill>
                  <a:srgbClr val="FFFFFF"/>
                </a:solidFill>
                <a:latin typeface="Calibri"/>
                <a:ea typeface="Calibri"/>
                <a:cs typeface="Calibri"/>
                <a:sym typeface="Calibri"/>
              </a:rPr>
              <a:t>Reinaldy Zulfananda Arkaan</a:t>
            </a:r>
            <a:endParaRPr sz="1400">
              <a:solidFill>
                <a:schemeClr val="dk1"/>
              </a:solidFill>
              <a:latin typeface="Calibri"/>
              <a:ea typeface="Calibri"/>
              <a:cs typeface="Calibri"/>
              <a:sym typeface="Calibri"/>
            </a:endParaRPr>
          </a:p>
        </p:txBody>
      </p:sp>
      <p:sp>
        <p:nvSpPr>
          <p:cNvPr id="18" name="Google Shape;18;p1"/>
          <p:cNvSpPr txBox="1"/>
          <p:nvPr/>
        </p:nvSpPr>
        <p:spPr>
          <a:xfrm>
            <a:off x="731520" y="594360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DCEA"/>
              </a:buClr>
              <a:buSzPts val="1100"/>
              <a:buFont typeface="Calibri"/>
              <a:buNone/>
            </a:pPr>
            <a:r>
              <a:rPr b="1" lang="en-US" sz="1100">
                <a:solidFill>
                  <a:srgbClr val="C9DCEA"/>
                </a:solidFill>
                <a:latin typeface="Calibri"/>
                <a:ea typeface="Calibri"/>
                <a:cs typeface="Calibri"/>
                <a:sym typeface="Calibri"/>
              </a:rPr>
              <a:t>RevoU</a:t>
            </a:r>
            <a:r>
              <a:rPr lang="en-US" sz="1100">
                <a:solidFill>
                  <a:srgbClr val="C9DCEA"/>
                </a:solidFill>
                <a:latin typeface="Calibri"/>
                <a:ea typeface="Calibri"/>
                <a:cs typeface="Calibri"/>
                <a:sym typeface="Calibri"/>
              </a:rPr>
              <a:t> Full Stack Data Analytics  |  [W7W8W9 JUN26]  |  Intermediate</a:t>
            </a:r>
            <a:endParaRPr sz="1100">
              <a:solidFill>
                <a:schemeClr val="dk1"/>
              </a:solidFill>
              <a:latin typeface="Calibri"/>
              <a:ea typeface="Calibri"/>
              <a:cs typeface="Calibri"/>
              <a:sym typeface="Calibri"/>
            </a:endParaRPr>
          </a:p>
        </p:txBody>
      </p:sp>
      <p:sp>
        <p:nvSpPr>
          <p:cNvPr id="19" name="Google Shape;19;p1"/>
          <p:cNvSpPr txBox="1"/>
          <p:nvPr/>
        </p:nvSpPr>
        <p:spPr>
          <a:xfrm>
            <a:off x="731520" y="621792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DCEA"/>
              </a:buClr>
              <a:buSzPts val="1100"/>
              <a:buFont typeface="Calibri"/>
              <a:buNone/>
            </a:pPr>
            <a:r>
              <a:rPr lang="en-US" sz="1100">
                <a:solidFill>
                  <a:srgbClr val="C9DCEA"/>
                </a:solidFill>
                <a:latin typeface="Calibri"/>
                <a:ea typeface="Calibri"/>
                <a:cs typeface="Calibri"/>
                <a:sym typeface="Calibri"/>
              </a:rPr>
              <a:t>LinkedIn: https://www.linkedin.com/in/reinaldy-zulfananda-arkaan-30567a179</a:t>
            </a:r>
            <a:endParaRPr sz="11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06998"/>
        </a:solidFill>
      </p:bgPr>
    </p:bg>
    <p:spTree>
      <p:nvGrpSpPr>
        <p:cNvPr id="23" name="Shape 23"/>
        <p:cNvGrpSpPr/>
        <p:nvPr/>
      </p:nvGrpSpPr>
      <p:grpSpPr>
        <a:xfrm>
          <a:off x="0" y="0"/>
          <a:ext cx="0" cy="0"/>
          <a:chOff x="0" y="0"/>
          <a:chExt cx="0" cy="0"/>
        </a:xfrm>
      </p:grpSpPr>
      <p:sp>
        <p:nvSpPr>
          <p:cNvPr id="24" name="Google Shape;24;p2"/>
          <p:cNvSpPr/>
          <p:nvPr/>
        </p:nvSpPr>
        <p:spPr>
          <a:xfrm>
            <a:off x="9966960" y="-1188720"/>
            <a:ext cx="3840480" cy="3840480"/>
          </a:xfrm>
          <a:prstGeom prst="ellipse">
            <a:avLst/>
          </a:prstGeom>
          <a:solidFill>
            <a:srgbClr val="4B8BB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 name="Google Shape;25;p2"/>
          <p:cNvSpPr/>
          <p:nvPr/>
        </p:nvSpPr>
        <p:spPr>
          <a:xfrm>
            <a:off x="-1371600" y="5212080"/>
            <a:ext cx="3657600" cy="3657600"/>
          </a:xfrm>
          <a:prstGeom prst="ellipse">
            <a:avLst/>
          </a:prstGeom>
          <a:solidFill>
            <a:srgbClr val="FFD4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 name="Google Shape;26;p2"/>
          <p:cNvSpPr txBox="1"/>
          <p:nvPr/>
        </p:nvSpPr>
        <p:spPr>
          <a:xfrm>
            <a:off x="731520" y="2240280"/>
            <a:ext cx="10698480" cy="36576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None/>
            </a:pPr>
            <a:r>
              <a:rPr b="1" lang="en-US" sz="1500">
                <a:solidFill>
                  <a:srgbClr val="FFD43B"/>
                </a:solidFill>
                <a:latin typeface="Calibri"/>
                <a:ea typeface="Calibri"/>
                <a:cs typeface="Calibri"/>
                <a:sym typeface="Calibri"/>
              </a:rPr>
              <a:t>MILESTONE 1</a:t>
            </a:r>
            <a:endParaRPr/>
          </a:p>
        </p:txBody>
      </p:sp>
      <p:sp>
        <p:nvSpPr>
          <p:cNvPr id="27" name="Google Shape;27;p2"/>
          <p:cNvSpPr txBox="1"/>
          <p:nvPr/>
        </p:nvSpPr>
        <p:spPr>
          <a:xfrm>
            <a:off x="731520" y="2651760"/>
            <a:ext cx="10698480" cy="86868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None/>
            </a:pPr>
            <a:r>
              <a:rPr b="1" lang="en-US" sz="4000">
                <a:solidFill>
                  <a:srgbClr val="FFFFFF"/>
                </a:solidFill>
                <a:latin typeface="Cambria"/>
                <a:ea typeface="Cambria"/>
                <a:cs typeface="Cambria"/>
                <a:sym typeface="Cambria"/>
              </a:rPr>
              <a:t>Data Cleaning and Preparation</a:t>
            </a:r>
            <a:endParaRPr/>
          </a:p>
        </p:txBody>
      </p:sp>
      <p:sp>
        <p:nvSpPr>
          <p:cNvPr id="28" name="Google Shape;28;p2"/>
          <p:cNvSpPr txBox="1"/>
          <p:nvPr/>
        </p:nvSpPr>
        <p:spPr>
          <a:xfrm>
            <a:off x="731520" y="3703320"/>
            <a:ext cx="8778240" cy="21544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1" lang="en-US" sz="1400">
                <a:solidFill>
                  <a:srgbClr val="C9DCEA"/>
                </a:solidFill>
                <a:latin typeface="Calibri"/>
                <a:ea typeface="Calibri"/>
                <a:cs typeface="Calibri"/>
                <a:sym typeface="Calibri"/>
              </a:rPr>
              <a:t>FSDA Intermediate Python for Data Analysis</a:t>
            </a:r>
            <a:endParaRPr sz="14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B"/>
        </a:solidFill>
      </p:bgPr>
    </p:bg>
    <p:spTree>
      <p:nvGrpSpPr>
        <p:cNvPr id="32" name="Shape 32"/>
        <p:cNvGrpSpPr/>
        <p:nvPr/>
      </p:nvGrpSpPr>
      <p:grpSpPr>
        <a:xfrm>
          <a:off x="0" y="0"/>
          <a:ext cx="0" cy="0"/>
          <a:chOff x="0" y="0"/>
          <a:chExt cx="0" cy="0"/>
        </a:xfrm>
      </p:grpSpPr>
      <p:sp>
        <p:nvSpPr>
          <p:cNvPr id="33" name="Google Shape;33;p3"/>
          <p:cNvSpPr/>
          <p:nvPr/>
        </p:nvSpPr>
        <p:spPr>
          <a:xfrm>
            <a:off x="548640" y="457200"/>
            <a:ext cx="109728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84"/>
              </a:buClr>
              <a:buSzPts val="2400"/>
              <a:buFont typeface="Cambria"/>
              <a:buNone/>
            </a:pPr>
            <a:r>
              <a:rPr b="1" i="0" lang="en-US" sz="2400" u="none" cap="none" strike="noStrike">
                <a:solidFill>
                  <a:srgbClr val="2B5B84"/>
                </a:solidFill>
                <a:latin typeface="Cambria"/>
                <a:ea typeface="Cambria"/>
                <a:cs typeface="Cambria"/>
                <a:sym typeface="Cambria"/>
              </a:rPr>
              <a:t>Business Understanding &amp; Goal</a:t>
            </a:r>
            <a:endParaRPr b="0" i="0" sz="2400" u="none" cap="none" strike="noStrike">
              <a:solidFill>
                <a:schemeClr val="dk1"/>
              </a:solidFill>
              <a:latin typeface="Calibri"/>
              <a:ea typeface="Calibri"/>
              <a:cs typeface="Calibri"/>
              <a:sym typeface="Calibri"/>
            </a:endParaRPr>
          </a:p>
        </p:txBody>
      </p:sp>
      <p:sp>
        <p:nvSpPr>
          <p:cNvPr id="34" name="Google Shape;34;p3"/>
          <p:cNvSpPr/>
          <p:nvPr/>
        </p:nvSpPr>
        <p:spPr>
          <a:xfrm>
            <a:off x="548640" y="1417320"/>
            <a:ext cx="5349240" cy="4663440"/>
          </a:xfrm>
          <a:prstGeom prst="roundRect">
            <a:avLst>
              <a:gd fmla="val 1569" name="adj"/>
            </a:avLst>
          </a:prstGeom>
          <a:solidFill>
            <a:srgbClr val="FFFFFF"/>
          </a:solidFill>
          <a:ln cap="flat" cmpd="sng" w="12700">
            <a:solidFill>
              <a:srgbClr val="C9DC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3"/>
          <p:cNvSpPr/>
          <p:nvPr/>
        </p:nvSpPr>
        <p:spPr>
          <a:xfrm>
            <a:off x="822960" y="1691640"/>
            <a:ext cx="48006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06998"/>
              </a:buClr>
              <a:buSzPts val="1600"/>
              <a:buFont typeface="Cambria"/>
              <a:buNone/>
            </a:pPr>
            <a:r>
              <a:rPr b="1" i="0" lang="en-US" sz="1600" u="none" cap="none" strike="noStrike">
                <a:solidFill>
                  <a:srgbClr val="306998"/>
                </a:solidFill>
                <a:latin typeface="Cambria"/>
                <a:ea typeface="Cambria"/>
                <a:cs typeface="Cambria"/>
                <a:sym typeface="Cambria"/>
              </a:rPr>
              <a:t>Dataset Overview</a:t>
            </a:r>
            <a:endParaRPr b="0" i="0" sz="1600" u="none" cap="none" strike="noStrike">
              <a:solidFill>
                <a:schemeClr val="dk1"/>
              </a:solidFill>
              <a:latin typeface="Calibri"/>
              <a:ea typeface="Calibri"/>
              <a:cs typeface="Calibri"/>
              <a:sym typeface="Calibri"/>
            </a:endParaRPr>
          </a:p>
        </p:txBody>
      </p:sp>
      <p:sp>
        <p:nvSpPr>
          <p:cNvPr id="36" name="Google Shape;36;p3"/>
          <p:cNvSpPr/>
          <p:nvPr/>
        </p:nvSpPr>
        <p:spPr>
          <a:xfrm>
            <a:off x="822960" y="2194560"/>
            <a:ext cx="4800600" cy="35661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alibri"/>
                <a:ea typeface="Calibri"/>
                <a:cs typeface="Calibri"/>
                <a:sym typeface="Calibri"/>
              </a:rPr>
              <a:t>df_card</a:t>
            </a:r>
            <a:br>
              <a:rPr b="0" i="0" lang="en-US" sz="1400" u="none" cap="none" strike="noStrike">
                <a:solidFill>
                  <a:schemeClr val="dk1"/>
                </a:solidFill>
                <a:latin typeface="Calibri"/>
                <a:ea typeface="Calibri"/>
                <a:cs typeface="Calibri"/>
                <a:sym typeface="Calibri"/>
              </a:rPr>
            </a:br>
            <a:r>
              <a:rPr b="0" i="0" lang="en-US" sz="1400" u="none" cap="none" strike="noStrike">
                <a:solidFill>
                  <a:schemeClr val="dk1"/>
                </a:solidFill>
                <a:latin typeface="Calibri"/>
                <a:ea typeface="Calibri"/>
                <a:cs typeface="Calibri"/>
                <a:sym typeface="Calibri"/>
              </a:rPr>
              <a:t>5,599 rows × 14 columns, card level records covering brand, credit limit, expiry, transaction and fraud counts.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alibri"/>
                <a:ea typeface="Calibri"/>
                <a:cs typeface="Calibri"/>
                <a:sym typeface="Calibri"/>
              </a:rPr>
              <a:t>df_user</a:t>
            </a:r>
            <a:br>
              <a:rPr b="0" i="0" lang="en-US" sz="1400" u="none" cap="none" strike="noStrike">
                <a:solidFill>
                  <a:schemeClr val="dk1"/>
                </a:solidFill>
                <a:latin typeface="Calibri"/>
                <a:ea typeface="Calibri"/>
                <a:cs typeface="Calibri"/>
                <a:sym typeface="Calibri"/>
              </a:rPr>
            </a:br>
            <a:r>
              <a:rPr b="0" i="0" lang="en-US" sz="1400" u="none" cap="none" strike="noStrike">
                <a:solidFill>
                  <a:schemeClr val="dk1"/>
                </a:solidFill>
                <a:latin typeface="Calibri"/>
                <a:ea typeface="Calibri"/>
                <a:cs typeface="Calibri"/>
                <a:sym typeface="Calibri"/>
              </a:rPr>
              <a:t>2,000 rows × 8 columns, user profile records covering birthdate, income, debt, and credit score.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alibri"/>
                <a:ea typeface="Calibri"/>
                <a:cs typeface="Calibri"/>
                <a:sym typeface="Calibri"/>
              </a:rPr>
              <a:t>Relationship</a:t>
            </a:r>
            <a:br>
              <a:rPr b="0" i="0" lang="en-US" sz="1400" u="none" cap="none" strike="noStrike">
                <a:solidFill>
                  <a:schemeClr val="dk1"/>
                </a:solidFill>
                <a:latin typeface="Calibri"/>
                <a:ea typeface="Calibri"/>
                <a:cs typeface="Calibri"/>
                <a:sym typeface="Calibri"/>
              </a:rPr>
            </a:br>
            <a:r>
              <a:rPr b="0" i="0" lang="en-US" sz="1400" u="none" cap="none" strike="noStrike">
                <a:solidFill>
                  <a:schemeClr val="dk1"/>
                </a:solidFill>
                <a:latin typeface="Calibri"/>
                <a:ea typeface="Calibri"/>
                <a:cs typeface="Calibri"/>
                <a:sym typeface="Calibri"/>
              </a:rPr>
              <a:t>df_card.client_id links to df_user.id, with many cards per user.</a:t>
            </a:r>
            <a:endParaRPr b="0" i="0" sz="1400" u="none" cap="none" strike="noStrike">
              <a:solidFill>
                <a:srgbClr val="000000"/>
              </a:solidFill>
              <a:latin typeface="Arial"/>
              <a:ea typeface="Arial"/>
              <a:cs typeface="Arial"/>
              <a:sym typeface="Arial"/>
            </a:endParaRPr>
          </a:p>
        </p:txBody>
      </p:sp>
      <p:sp>
        <p:nvSpPr>
          <p:cNvPr id="37" name="Google Shape;37;p3"/>
          <p:cNvSpPr/>
          <p:nvPr/>
        </p:nvSpPr>
        <p:spPr>
          <a:xfrm>
            <a:off x="6172200" y="1417320"/>
            <a:ext cx="5349240" cy="4663440"/>
          </a:xfrm>
          <a:prstGeom prst="roundRect">
            <a:avLst>
              <a:gd fmla="val 1569" name="adj"/>
            </a:avLst>
          </a:prstGeom>
          <a:solidFill>
            <a:srgbClr val="306998"/>
          </a:solidFill>
          <a:ln cap="flat" cmpd="sng" w="12700">
            <a:solidFill>
              <a:srgbClr val="30699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3"/>
          <p:cNvSpPr/>
          <p:nvPr/>
        </p:nvSpPr>
        <p:spPr>
          <a:xfrm>
            <a:off x="6446520" y="1691640"/>
            <a:ext cx="48006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D43B"/>
              </a:buClr>
              <a:buSzPts val="1600"/>
              <a:buFont typeface="Cambria"/>
              <a:buNone/>
            </a:pPr>
            <a:r>
              <a:rPr b="1" i="0" lang="en-US" sz="1600" u="none" cap="none" strike="noStrike">
                <a:solidFill>
                  <a:srgbClr val="FFD43B"/>
                </a:solidFill>
                <a:latin typeface="Cambria"/>
                <a:ea typeface="Cambria"/>
                <a:cs typeface="Cambria"/>
                <a:sym typeface="Cambria"/>
              </a:rPr>
              <a:t>Goal of the Analysis</a:t>
            </a:r>
            <a:endParaRPr b="0" i="0" sz="1600" u="none" cap="none" strike="noStrike">
              <a:solidFill>
                <a:schemeClr val="dk1"/>
              </a:solidFill>
              <a:latin typeface="Calibri"/>
              <a:ea typeface="Calibri"/>
              <a:cs typeface="Calibri"/>
              <a:sym typeface="Calibri"/>
            </a:endParaRPr>
          </a:p>
        </p:txBody>
      </p:sp>
      <p:sp>
        <p:nvSpPr>
          <p:cNvPr id="39" name="Google Shape;39;p3"/>
          <p:cNvSpPr/>
          <p:nvPr/>
        </p:nvSpPr>
        <p:spPr>
          <a:xfrm>
            <a:off x="6446520" y="2194560"/>
            <a:ext cx="4800600" cy="3291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Calibri"/>
                <a:ea typeface="Calibri"/>
                <a:cs typeface="Calibri"/>
                <a:sym typeface="Calibri"/>
              </a:rPr>
              <a:t>Summarise the last 6 months of card sales performance and build user personas from the existing customer base, by combining df_user (who the customer is) with df_card (how their cards are used), so the PM team can see which customer groups still have room to transact more. Milestone 1 delivers the foundation for that: a clean, correctly typed and deduplicated dataset covering active cards only, plus three persona attributes - age for life stage, retired_flag for earning power, and DTI for spending headroom.</a:t>
            </a:r>
            <a:endParaRPr b="0" i="0" sz="1400" u="none" cap="none" strike="noStrike">
              <a:solidFill>
                <a:srgbClr val="000000"/>
              </a:solidFill>
              <a:latin typeface="Arial"/>
              <a:ea typeface="Arial"/>
              <a:cs typeface="Arial"/>
              <a:sym typeface="Arial"/>
            </a:endParaRPr>
          </a:p>
        </p:txBody>
      </p:sp>
      <p:sp>
        <p:nvSpPr>
          <p:cNvPr id="40" name="Google Shape;40;p3"/>
          <p:cNvSpPr/>
          <p:nvPr/>
        </p:nvSpPr>
        <p:spPr>
          <a:xfrm>
            <a:off x="6446520" y="4892040"/>
            <a:ext cx="48006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D9E8F5"/>
              </a:buClr>
              <a:buSzPts val="1100"/>
              <a:buFont typeface="Calibri"/>
              <a:buNone/>
            </a:pPr>
            <a:r>
              <a:rPr b="0" i="1" lang="en-US" sz="1100" u="none" cap="none" strike="noStrike">
                <a:solidFill>
                  <a:srgbClr val="D9E8F5"/>
                </a:solidFill>
                <a:latin typeface="Calibri"/>
                <a:ea typeface="Calibri"/>
                <a:cs typeface="Calibri"/>
                <a:sym typeface="Calibri"/>
              </a:rPr>
              <a:t>This serves the PM team's business problem: finding which customer groups still have room to transact more, so campaigns can be aimed at them rather than at everyone.</a:t>
            </a:r>
            <a:endParaRPr b="0" i="0" sz="1100" u="none" cap="none" strike="noStrike">
              <a:solidFill>
                <a:schemeClr val="dk1"/>
              </a:solidFill>
              <a:latin typeface="Calibri"/>
              <a:ea typeface="Calibri"/>
              <a:cs typeface="Calibri"/>
              <a:sym typeface="Calibri"/>
            </a:endParaRPr>
          </a:p>
        </p:txBody>
      </p:sp>
      <p:sp>
        <p:nvSpPr>
          <p:cNvPr id="41" name="Google Shape;41;p3"/>
          <p:cNvSpPr/>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7185"/>
              </a:buClr>
              <a:buSzPts val="900"/>
              <a:buFont typeface="Calibri"/>
              <a:buNone/>
            </a:pPr>
            <a:r>
              <a:rPr b="0" i="0" lang="en-US" sz="900" u="none" cap="none" strike="noStrike">
                <a:solidFill>
                  <a:srgbClr val="5A7185"/>
                </a:solidFill>
                <a:latin typeface="Calibri"/>
                <a:ea typeface="Calibri"/>
                <a:cs typeface="Calibri"/>
                <a:sym typeface="Calibri"/>
              </a:rPr>
              <a:t>Credit Card &amp; User Data Cleaning – Milestone 1</a:t>
            </a:r>
            <a:endParaRPr b="0" i="0" sz="900" u="none" cap="none" strike="noStrike">
              <a:solidFill>
                <a:schemeClr val="dk1"/>
              </a:solidFill>
              <a:latin typeface="Calibri"/>
              <a:ea typeface="Calibri"/>
              <a:cs typeface="Calibri"/>
              <a:sym typeface="Calibri"/>
            </a:endParaRPr>
          </a:p>
        </p:txBody>
      </p:sp>
      <p:sp>
        <p:nvSpPr>
          <p:cNvPr id="42" name="Google Shape;42;p3"/>
          <p:cNvSpPr/>
          <p:nvPr/>
        </p:nvSpPr>
        <p:spPr>
          <a:xfrm>
            <a:off x="11247120" y="6492240"/>
            <a:ext cx="4572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7185"/>
              </a:buClr>
              <a:buSzPts val="900"/>
              <a:buFont typeface="Calibri"/>
              <a:buNone/>
            </a:pPr>
            <a:r>
              <a:rPr b="0" i="0" lang="en-US" sz="900" u="none" cap="none" strike="noStrike">
                <a:solidFill>
                  <a:srgbClr val="5A7185"/>
                </a:solidFill>
                <a:latin typeface="Calibri"/>
                <a:ea typeface="Calibri"/>
                <a:cs typeface="Calibri"/>
                <a:sym typeface="Calibri"/>
              </a:rPr>
              <a:t>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B"/>
        </a:solidFill>
      </p:bgPr>
    </p:bg>
    <p:spTree>
      <p:nvGrpSpPr>
        <p:cNvPr id="46" name="Shape 46"/>
        <p:cNvGrpSpPr/>
        <p:nvPr/>
      </p:nvGrpSpPr>
      <p:grpSpPr>
        <a:xfrm>
          <a:off x="0" y="0"/>
          <a:ext cx="0" cy="0"/>
          <a:chOff x="0" y="0"/>
          <a:chExt cx="0" cy="0"/>
        </a:xfrm>
      </p:grpSpPr>
      <p:sp>
        <p:nvSpPr>
          <p:cNvPr id="47" name="Google Shape;47;p4"/>
          <p:cNvSpPr/>
          <p:nvPr/>
        </p:nvSpPr>
        <p:spPr>
          <a:xfrm>
            <a:off x="548640" y="457200"/>
            <a:ext cx="109728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84"/>
              </a:buClr>
              <a:buSzPts val="2400"/>
              <a:buFont typeface="Cambria"/>
              <a:buNone/>
            </a:pPr>
            <a:r>
              <a:rPr b="1" i="0" lang="en-US" sz="2400" u="none" cap="none" strike="noStrike">
                <a:solidFill>
                  <a:srgbClr val="2B5B84"/>
                </a:solidFill>
                <a:latin typeface="Cambria"/>
                <a:ea typeface="Cambria"/>
                <a:cs typeface="Cambria"/>
                <a:sym typeface="Cambria"/>
              </a:rPr>
              <a:t>Data Dictionary Overview</a:t>
            </a:r>
            <a:endParaRPr b="0" i="0" sz="2400" u="none" cap="none" strike="noStrike">
              <a:solidFill>
                <a:schemeClr val="dk1"/>
              </a:solidFill>
              <a:latin typeface="Calibri"/>
              <a:ea typeface="Calibri"/>
              <a:cs typeface="Calibri"/>
              <a:sym typeface="Calibri"/>
            </a:endParaRPr>
          </a:p>
        </p:txBody>
      </p:sp>
      <p:sp>
        <p:nvSpPr>
          <p:cNvPr id="48" name="Google Shape;48;p4"/>
          <p:cNvSpPr/>
          <p:nvPr/>
        </p:nvSpPr>
        <p:spPr>
          <a:xfrm>
            <a:off x="548640" y="1371600"/>
            <a:ext cx="5349240" cy="4754880"/>
          </a:xfrm>
          <a:prstGeom prst="roundRect">
            <a:avLst>
              <a:gd fmla="val 1538" name="adj"/>
            </a:avLst>
          </a:prstGeom>
          <a:solidFill>
            <a:srgbClr val="FFFFFF"/>
          </a:solidFill>
          <a:ln cap="flat" cmpd="sng" w="12700">
            <a:solidFill>
              <a:srgbClr val="C9DC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4"/>
          <p:cNvSpPr/>
          <p:nvPr/>
        </p:nvSpPr>
        <p:spPr>
          <a:xfrm>
            <a:off x="822960" y="1600200"/>
            <a:ext cx="48006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06998"/>
              </a:buClr>
              <a:buSzPts val="1500"/>
              <a:buFont typeface="Cambria"/>
              <a:buNone/>
            </a:pPr>
            <a:r>
              <a:rPr b="1" i="0" lang="en-US" sz="1500" u="none" cap="none" strike="noStrike">
                <a:solidFill>
                  <a:srgbClr val="306998"/>
                </a:solidFill>
                <a:latin typeface="Cambria"/>
                <a:ea typeface="Cambria"/>
                <a:cs typeface="Cambria"/>
                <a:sym typeface="Cambria"/>
              </a:rPr>
              <a:t>df_card (5,599 × 14)</a:t>
            </a:r>
            <a:endParaRPr b="0" i="0" sz="1500" u="none" cap="none" strike="noStrike">
              <a:solidFill>
                <a:schemeClr val="dk1"/>
              </a:solidFill>
              <a:latin typeface="Calibri"/>
              <a:ea typeface="Calibri"/>
              <a:cs typeface="Calibri"/>
              <a:sym typeface="Calibri"/>
            </a:endParaRPr>
          </a:p>
        </p:txBody>
      </p:sp>
      <p:graphicFrame>
        <p:nvGraphicFramePr>
          <p:cNvPr id="50" name="Google Shape;50;p4"/>
          <p:cNvGraphicFramePr/>
          <p:nvPr/>
        </p:nvGraphicFramePr>
        <p:xfrm>
          <a:off x="822960" y="2057400"/>
          <a:ext cx="3000000" cy="3000000"/>
        </p:xfrm>
        <a:graphic>
          <a:graphicData uri="http://schemas.openxmlformats.org/drawingml/2006/table">
            <a:tbl>
              <a:tblPr>
                <a:noFill/>
                <a:tableStyleId>{3D7D59D7-DF91-47F0-BCBC-DAAD57FB8C79}</a:tableStyleId>
              </a:tblPr>
              <a:tblGrid>
                <a:gridCol w="1463050"/>
                <a:gridCol w="3337550"/>
              </a:tblGrid>
              <a:tr h="114300">
                <a:tc>
                  <a:txBody>
                    <a:bodyPr/>
                    <a:lstStyle/>
                    <a:p>
                      <a:pPr indent="0" lvl="0" marL="0" marR="0" rtl="0" algn="l">
                        <a:lnSpc>
                          <a:spcPct val="100000"/>
                        </a:lnSpc>
                        <a:spcBef>
                          <a:spcPts val="0"/>
                        </a:spcBef>
                        <a:spcAft>
                          <a:spcPts val="0"/>
                        </a:spcAft>
                        <a:buClr>
                          <a:srgbClr val="FFFFFF"/>
                        </a:buClr>
                        <a:buSzPts val="900"/>
                        <a:buFont typeface="Calibri"/>
                        <a:buNone/>
                      </a:pPr>
                      <a:r>
                        <a:rPr b="1" lang="en-US" sz="900" u="none" cap="none" strike="noStrike">
                          <a:solidFill>
                            <a:srgbClr val="FFFFFF"/>
                          </a:solidFill>
                        </a:rPr>
                        <a:t>Column</a:t>
                      </a:r>
                      <a:endParaRPr sz="900" u="none" cap="none" strike="noStrike"/>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306998"/>
                    </a:solidFill>
                  </a:tcPr>
                </a:tc>
                <a:tc>
                  <a:txBody>
                    <a:bodyPr/>
                    <a:lstStyle/>
                    <a:p>
                      <a:pPr indent="0" lvl="0" marL="0" marR="0" rtl="0" algn="l">
                        <a:lnSpc>
                          <a:spcPct val="100000"/>
                        </a:lnSpc>
                        <a:spcBef>
                          <a:spcPts val="0"/>
                        </a:spcBef>
                        <a:spcAft>
                          <a:spcPts val="0"/>
                        </a:spcAft>
                        <a:buClr>
                          <a:srgbClr val="FFFFFF"/>
                        </a:buClr>
                        <a:buSzPts val="900"/>
                        <a:buFont typeface="Calibri"/>
                        <a:buNone/>
                      </a:pPr>
                      <a:r>
                        <a:rPr b="1" lang="en-US" sz="900" u="none" cap="none" strike="noStrike">
                          <a:solidFill>
                            <a:srgbClr val="FFFFFF"/>
                          </a:solidFill>
                        </a:rPr>
                        <a:t>Description</a:t>
                      </a:r>
                      <a:endParaRPr sz="900" u="none" cap="none" strike="noStrike"/>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306998"/>
                    </a:solidFill>
                  </a:tcPr>
                </a:tc>
              </a:tr>
              <a:tr h="114300">
                <a:tc>
                  <a:txBody>
                    <a:bodyPr/>
                    <a:lstStyle/>
                    <a:p>
                      <a:pPr indent="0" lvl="0" marL="0" marR="0" rtl="0" algn="l">
                        <a:lnSpc>
                          <a:spcPct val="100000"/>
                        </a:lnSpc>
                        <a:spcBef>
                          <a:spcPts val="0"/>
                        </a:spcBef>
                        <a:spcAft>
                          <a:spcPts val="0"/>
                        </a:spcAft>
                        <a:buClr>
                          <a:srgbClr val="1B2A38"/>
                        </a:buClr>
                        <a:buSzPts val="900"/>
                        <a:buFont typeface="Courier New"/>
                        <a:buNone/>
                      </a:pPr>
                      <a:r>
                        <a:rPr lang="en-US" sz="900" u="none" cap="none" strike="noStrike">
                          <a:solidFill>
                            <a:srgbClr val="1B2A38"/>
                          </a:solidFill>
                          <a:latin typeface="Courier New"/>
                          <a:ea typeface="Courier New"/>
                          <a:cs typeface="Courier New"/>
                          <a:sym typeface="Courier New"/>
                        </a:rPr>
                        <a:t>id / client_id</a:t>
                      </a:r>
                      <a:endParaRPr sz="900" u="none" cap="none" strike="noStrike">
                        <a:latin typeface="Courier New"/>
                        <a:ea typeface="Courier New"/>
                        <a:cs typeface="Courier New"/>
                        <a:sym typeface="Courier New"/>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B2A38"/>
                        </a:buClr>
                        <a:buSzPts val="900"/>
                        <a:buFont typeface="Calibri"/>
                        <a:buNone/>
                      </a:pPr>
                      <a:r>
                        <a:rPr lang="en-US" sz="900" u="none" cap="none" strike="noStrike">
                          <a:solidFill>
                            <a:srgbClr val="1B2A38"/>
                          </a:solidFill>
                        </a:rPr>
                        <a:t>Card ID / customer ID (links to df_user)</a:t>
                      </a:r>
                      <a:endParaRPr sz="900" u="none" cap="none" strike="noStrike"/>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r>
              <a:tr h="114300">
                <a:tc>
                  <a:txBody>
                    <a:bodyPr/>
                    <a:lstStyle/>
                    <a:p>
                      <a:pPr indent="0" lvl="0" marL="0" marR="0" rtl="0" algn="l">
                        <a:lnSpc>
                          <a:spcPct val="100000"/>
                        </a:lnSpc>
                        <a:spcBef>
                          <a:spcPts val="0"/>
                        </a:spcBef>
                        <a:spcAft>
                          <a:spcPts val="0"/>
                        </a:spcAft>
                        <a:buClr>
                          <a:srgbClr val="1B2A38"/>
                        </a:buClr>
                        <a:buSzPts val="900"/>
                        <a:buFont typeface="Courier New"/>
                        <a:buNone/>
                      </a:pPr>
                      <a:r>
                        <a:rPr lang="en-US" sz="900" u="none" cap="none" strike="noStrike">
                          <a:solidFill>
                            <a:srgbClr val="1B2A38"/>
                          </a:solidFill>
                          <a:latin typeface="Courier New"/>
                          <a:ea typeface="Courier New"/>
                          <a:cs typeface="Courier New"/>
                          <a:sym typeface="Courier New"/>
                        </a:rPr>
                        <a:t>card_brand</a:t>
                      </a:r>
                      <a:endParaRPr sz="900" u="none" cap="none" strike="noStrike">
                        <a:latin typeface="Courier New"/>
                        <a:ea typeface="Courier New"/>
                        <a:cs typeface="Courier New"/>
                        <a:sym typeface="Courier New"/>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AF2FB"/>
                    </a:solidFill>
                  </a:tcPr>
                </a:tc>
                <a:tc>
                  <a:txBody>
                    <a:bodyPr/>
                    <a:lstStyle/>
                    <a:p>
                      <a:pPr indent="0" lvl="0" marL="0" marR="0" rtl="0" algn="l">
                        <a:lnSpc>
                          <a:spcPct val="100000"/>
                        </a:lnSpc>
                        <a:spcBef>
                          <a:spcPts val="0"/>
                        </a:spcBef>
                        <a:spcAft>
                          <a:spcPts val="0"/>
                        </a:spcAft>
                        <a:buClr>
                          <a:srgbClr val="1B2A38"/>
                        </a:buClr>
                        <a:buSzPts val="900"/>
                        <a:buFont typeface="Calibri"/>
                        <a:buNone/>
                      </a:pPr>
                      <a:r>
                        <a:rPr lang="en-US" sz="900" u="none" cap="none" strike="noStrike">
                          <a:solidFill>
                            <a:srgbClr val="1B2A38"/>
                          </a:solidFill>
                        </a:rPr>
                        <a:t>Card brand; contains typos ("Visa ", "Jcb")</a:t>
                      </a:r>
                      <a:endParaRPr sz="900" u="none" cap="none" strike="noStrike"/>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AF2FB"/>
                    </a:solidFill>
                  </a:tcPr>
                </a:tc>
              </a:tr>
              <a:tr h="114300">
                <a:tc>
                  <a:txBody>
                    <a:bodyPr/>
                    <a:lstStyle/>
                    <a:p>
                      <a:pPr indent="0" lvl="0" marL="0" marR="0" rtl="0" algn="l">
                        <a:lnSpc>
                          <a:spcPct val="100000"/>
                        </a:lnSpc>
                        <a:spcBef>
                          <a:spcPts val="0"/>
                        </a:spcBef>
                        <a:spcAft>
                          <a:spcPts val="0"/>
                        </a:spcAft>
                        <a:buClr>
                          <a:srgbClr val="1B2A38"/>
                        </a:buClr>
                        <a:buSzPts val="900"/>
                        <a:buFont typeface="Courier New"/>
                        <a:buNone/>
                      </a:pPr>
                      <a:r>
                        <a:rPr lang="en-US" sz="900" u="none" cap="none" strike="noStrike">
                          <a:solidFill>
                            <a:srgbClr val="1B2A38"/>
                          </a:solidFill>
                          <a:latin typeface="Courier New"/>
                          <a:ea typeface="Courier New"/>
                          <a:cs typeface="Courier New"/>
                          <a:sym typeface="Courier New"/>
                        </a:rPr>
                        <a:t>expires</a:t>
                      </a:r>
                      <a:endParaRPr sz="900" u="none" cap="none" strike="noStrike">
                        <a:latin typeface="Courier New"/>
                        <a:ea typeface="Courier New"/>
                        <a:cs typeface="Courier New"/>
                        <a:sym typeface="Courier New"/>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B2A38"/>
                        </a:buClr>
                        <a:buSzPts val="900"/>
                        <a:buFont typeface="Calibri"/>
                        <a:buNone/>
                      </a:pPr>
                      <a:r>
                        <a:rPr lang="en-US" sz="900" u="none" cap="none" strike="noStrike">
                          <a:solidFill>
                            <a:srgbClr val="1B2A38"/>
                          </a:solidFill>
                        </a:rPr>
                        <a:t>Expiry month/year</a:t>
                      </a:r>
                      <a:endParaRPr sz="900" u="none" cap="none" strike="noStrike"/>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r>
              <a:tr h="114300">
                <a:tc>
                  <a:txBody>
                    <a:bodyPr/>
                    <a:lstStyle/>
                    <a:p>
                      <a:pPr indent="0" lvl="0" marL="0" marR="0" rtl="0" algn="l">
                        <a:lnSpc>
                          <a:spcPct val="100000"/>
                        </a:lnSpc>
                        <a:spcBef>
                          <a:spcPts val="0"/>
                        </a:spcBef>
                        <a:spcAft>
                          <a:spcPts val="0"/>
                        </a:spcAft>
                        <a:buClr>
                          <a:srgbClr val="1B2A38"/>
                        </a:buClr>
                        <a:buSzPts val="900"/>
                        <a:buFont typeface="Courier New"/>
                        <a:buNone/>
                      </a:pPr>
                      <a:r>
                        <a:rPr lang="en-US" sz="900" u="none" cap="none" strike="noStrike">
                          <a:solidFill>
                            <a:srgbClr val="1B2A38"/>
                          </a:solidFill>
                          <a:latin typeface="Courier New"/>
                          <a:ea typeface="Courier New"/>
                          <a:cs typeface="Courier New"/>
                          <a:sym typeface="Courier New"/>
                        </a:rPr>
                        <a:t>credit_limit</a:t>
                      </a:r>
                      <a:endParaRPr sz="900" u="none" cap="none" strike="noStrike">
                        <a:latin typeface="Courier New"/>
                        <a:ea typeface="Courier New"/>
                        <a:cs typeface="Courier New"/>
                        <a:sym typeface="Courier New"/>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AF2FB"/>
                    </a:solidFill>
                  </a:tcPr>
                </a:tc>
                <a:tc>
                  <a:txBody>
                    <a:bodyPr/>
                    <a:lstStyle/>
                    <a:p>
                      <a:pPr indent="0" lvl="0" marL="0" marR="0" rtl="0" algn="l">
                        <a:lnSpc>
                          <a:spcPct val="100000"/>
                        </a:lnSpc>
                        <a:spcBef>
                          <a:spcPts val="0"/>
                        </a:spcBef>
                        <a:spcAft>
                          <a:spcPts val="0"/>
                        </a:spcAft>
                        <a:buClr>
                          <a:srgbClr val="1B2A38"/>
                        </a:buClr>
                        <a:buSzPts val="900"/>
                        <a:buFont typeface="Calibri"/>
                        <a:buNone/>
                      </a:pPr>
                      <a:r>
                        <a:rPr lang="en-US" sz="900" u="none" cap="none" strike="noStrike">
                          <a:solidFill>
                            <a:srgbClr val="1B2A38"/>
                          </a:solidFill>
                        </a:rPr>
                        <a:t>Credit limit (text, "Rp" prefix)</a:t>
                      </a:r>
                      <a:endParaRPr sz="900" u="none" cap="none" strike="noStrike"/>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AF2FB"/>
                    </a:solidFill>
                  </a:tcPr>
                </a:tc>
              </a:tr>
              <a:tr h="114300">
                <a:tc>
                  <a:txBody>
                    <a:bodyPr/>
                    <a:lstStyle/>
                    <a:p>
                      <a:pPr indent="0" lvl="0" marL="0" marR="0" rtl="0" algn="l">
                        <a:lnSpc>
                          <a:spcPct val="100000"/>
                        </a:lnSpc>
                        <a:spcBef>
                          <a:spcPts val="0"/>
                        </a:spcBef>
                        <a:spcAft>
                          <a:spcPts val="0"/>
                        </a:spcAft>
                        <a:buClr>
                          <a:srgbClr val="1B2A38"/>
                        </a:buClr>
                        <a:buSzPts val="900"/>
                        <a:buFont typeface="Courier New"/>
                        <a:buNone/>
                      </a:pPr>
                      <a:r>
                        <a:rPr lang="en-US" sz="900" u="none" cap="none" strike="noStrike">
                          <a:solidFill>
                            <a:srgbClr val="1B2A38"/>
                          </a:solidFill>
                          <a:latin typeface="Courier New"/>
                          <a:ea typeface="Courier New"/>
                          <a:cs typeface="Courier New"/>
                          <a:sym typeface="Courier New"/>
                        </a:rPr>
                        <a:t>count/amt_*_trx_L6M</a:t>
                      </a:r>
                      <a:endParaRPr sz="900" u="none" cap="none" strike="noStrike">
                        <a:latin typeface="Courier New"/>
                        <a:ea typeface="Courier New"/>
                        <a:cs typeface="Courier New"/>
                        <a:sym typeface="Courier New"/>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B2A38"/>
                        </a:buClr>
                        <a:buSzPts val="900"/>
                        <a:buFont typeface="Calibri"/>
                        <a:buNone/>
                      </a:pPr>
                      <a:r>
                        <a:rPr lang="en-US" sz="900" u="none" cap="none" strike="noStrike">
                          <a:solidFill>
                            <a:srgbClr val="1B2A38"/>
                          </a:solidFill>
                        </a:rPr>
                        <a:t>Transaction &amp; fraud count/amount, last 6 months</a:t>
                      </a:r>
                      <a:endParaRPr sz="900" u="none" cap="none" strike="noStrike"/>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r>
            </a:tbl>
          </a:graphicData>
        </a:graphic>
      </p:graphicFrame>
      <p:sp>
        <p:nvSpPr>
          <p:cNvPr id="51" name="Google Shape;51;p4"/>
          <p:cNvSpPr/>
          <p:nvPr/>
        </p:nvSpPr>
        <p:spPr>
          <a:xfrm>
            <a:off x="6172200" y="1371600"/>
            <a:ext cx="5349240" cy="4754880"/>
          </a:xfrm>
          <a:prstGeom prst="roundRect">
            <a:avLst>
              <a:gd fmla="val 1538" name="adj"/>
            </a:avLst>
          </a:prstGeom>
          <a:solidFill>
            <a:srgbClr val="FFFFFF"/>
          </a:solidFill>
          <a:ln cap="flat" cmpd="sng" w="12700">
            <a:solidFill>
              <a:srgbClr val="C9DC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4"/>
          <p:cNvSpPr/>
          <p:nvPr/>
        </p:nvSpPr>
        <p:spPr>
          <a:xfrm>
            <a:off x="6446520" y="1600200"/>
            <a:ext cx="48006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06998"/>
              </a:buClr>
              <a:buSzPts val="1500"/>
              <a:buFont typeface="Cambria"/>
              <a:buNone/>
            </a:pPr>
            <a:r>
              <a:rPr b="1" i="0" lang="en-US" sz="1500" u="none" cap="none" strike="noStrike">
                <a:solidFill>
                  <a:srgbClr val="306998"/>
                </a:solidFill>
                <a:latin typeface="Cambria"/>
                <a:ea typeface="Cambria"/>
                <a:cs typeface="Cambria"/>
                <a:sym typeface="Cambria"/>
              </a:rPr>
              <a:t>df_user (2,000 × 8)</a:t>
            </a:r>
            <a:endParaRPr b="0" i="0" sz="1500" u="none" cap="none" strike="noStrike">
              <a:solidFill>
                <a:schemeClr val="dk1"/>
              </a:solidFill>
              <a:latin typeface="Calibri"/>
              <a:ea typeface="Calibri"/>
              <a:cs typeface="Calibri"/>
              <a:sym typeface="Calibri"/>
            </a:endParaRPr>
          </a:p>
        </p:txBody>
      </p:sp>
      <p:graphicFrame>
        <p:nvGraphicFramePr>
          <p:cNvPr id="53" name="Google Shape;53;p4"/>
          <p:cNvGraphicFramePr/>
          <p:nvPr/>
        </p:nvGraphicFramePr>
        <p:xfrm>
          <a:off x="6446520" y="2057400"/>
          <a:ext cx="3000000" cy="3000000"/>
        </p:xfrm>
        <a:graphic>
          <a:graphicData uri="http://schemas.openxmlformats.org/drawingml/2006/table">
            <a:tbl>
              <a:tblPr>
                <a:noFill/>
                <a:tableStyleId>{3D7D59D7-DF91-47F0-BCBC-DAAD57FB8C79}</a:tableStyleId>
              </a:tblPr>
              <a:tblGrid>
                <a:gridCol w="1463050"/>
                <a:gridCol w="3337550"/>
              </a:tblGrid>
              <a:tr h="114300">
                <a:tc>
                  <a:txBody>
                    <a:bodyPr/>
                    <a:lstStyle/>
                    <a:p>
                      <a:pPr indent="0" lvl="0" marL="0" marR="0" rtl="0" algn="l">
                        <a:lnSpc>
                          <a:spcPct val="100000"/>
                        </a:lnSpc>
                        <a:spcBef>
                          <a:spcPts val="0"/>
                        </a:spcBef>
                        <a:spcAft>
                          <a:spcPts val="0"/>
                        </a:spcAft>
                        <a:buClr>
                          <a:srgbClr val="FFFFFF"/>
                        </a:buClr>
                        <a:buSzPts val="900"/>
                        <a:buFont typeface="Calibri"/>
                        <a:buNone/>
                      </a:pPr>
                      <a:r>
                        <a:rPr b="1" lang="en-US" sz="900" u="none" cap="none" strike="noStrike">
                          <a:solidFill>
                            <a:srgbClr val="FFFFFF"/>
                          </a:solidFill>
                        </a:rPr>
                        <a:t>Column</a:t>
                      </a:r>
                      <a:endParaRPr sz="900" u="none" cap="none" strike="noStrike"/>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306998"/>
                    </a:solidFill>
                  </a:tcPr>
                </a:tc>
                <a:tc>
                  <a:txBody>
                    <a:bodyPr/>
                    <a:lstStyle/>
                    <a:p>
                      <a:pPr indent="0" lvl="0" marL="0" marR="0" rtl="0" algn="l">
                        <a:lnSpc>
                          <a:spcPct val="100000"/>
                        </a:lnSpc>
                        <a:spcBef>
                          <a:spcPts val="0"/>
                        </a:spcBef>
                        <a:spcAft>
                          <a:spcPts val="0"/>
                        </a:spcAft>
                        <a:buClr>
                          <a:srgbClr val="FFFFFF"/>
                        </a:buClr>
                        <a:buSzPts val="900"/>
                        <a:buFont typeface="Calibri"/>
                        <a:buNone/>
                      </a:pPr>
                      <a:r>
                        <a:rPr b="1" lang="en-US" sz="900" u="none" cap="none" strike="noStrike">
                          <a:solidFill>
                            <a:srgbClr val="FFFFFF"/>
                          </a:solidFill>
                        </a:rPr>
                        <a:t>Description</a:t>
                      </a:r>
                      <a:endParaRPr sz="900" u="none" cap="none" strike="noStrike"/>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306998"/>
                    </a:solidFill>
                  </a:tcPr>
                </a:tc>
              </a:tr>
              <a:tr h="114300">
                <a:tc>
                  <a:txBody>
                    <a:bodyPr/>
                    <a:lstStyle/>
                    <a:p>
                      <a:pPr indent="0" lvl="0" marL="0" marR="0" rtl="0" algn="l">
                        <a:lnSpc>
                          <a:spcPct val="100000"/>
                        </a:lnSpc>
                        <a:spcBef>
                          <a:spcPts val="0"/>
                        </a:spcBef>
                        <a:spcAft>
                          <a:spcPts val="0"/>
                        </a:spcAft>
                        <a:buClr>
                          <a:srgbClr val="1B2A38"/>
                        </a:buClr>
                        <a:buSzPts val="900"/>
                        <a:buFont typeface="Courier New"/>
                        <a:buNone/>
                      </a:pPr>
                      <a:r>
                        <a:rPr lang="en-US" sz="900" u="none" cap="none" strike="noStrike">
                          <a:solidFill>
                            <a:srgbClr val="1B2A38"/>
                          </a:solidFill>
                          <a:latin typeface="Courier New"/>
                          <a:ea typeface="Courier New"/>
                          <a:cs typeface="Courier New"/>
                          <a:sym typeface="Courier New"/>
                        </a:rPr>
                        <a:t>id</a:t>
                      </a:r>
                      <a:endParaRPr sz="900" u="none" cap="none" strike="noStrike">
                        <a:latin typeface="Courier New"/>
                        <a:ea typeface="Courier New"/>
                        <a:cs typeface="Courier New"/>
                        <a:sym typeface="Courier New"/>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B2A38"/>
                        </a:buClr>
                        <a:buSzPts val="900"/>
                        <a:buFont typeface="Calibri"/>
                        <a:buNone/>
                      </a:pPr>
                      <a:r>
                        <a:rPr lang="en-US" sz="900" u="none" cap="none" strike="noStrike">
                          <a:solidFill>
                            <a:srgbClr val="1B2A38"/>
                          </a:solidFill>
                        </a:rPr>
                        <a:t>Customer ID, links to df_card.client_id</a:t>
                      </a:r>
                      <a:endParaRPr sz="900" u="none" cap="none" strike="noStrike"/>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r>
              <a:tr h="114300">
                <a:tc>
                  <a:txBody>
                    <a:bodyPr/>
                    <a:lstStyle/>
                    <a:p>
                      <a:pPr indent="0" lvl="0" marL="0" marR="0" rtl="0" algn="l">
                        <a:lnSpc>
                          <a:spcPct val="100000"/>
                        </a:lnSpc>
                        <a:spcBef>
                          <a:spcPts val="0"/>
                        </a:spcBef>
                        <a:spcAft>
                          <a:spcPts val="0"/>
                        </a:spcAft>
                        <a:buClr>
                          <a:srgbClr val="1B2A38"/>
                        </a:buClr>
                        <a:buSzPts val="900"/>
                        <a:buFont typeface="Courier New"/>
                        <a:buNone/>
                      </a:pPr>
                      <a:r>
                        <a:rPr lang="en-US" sz="900" u="none" cap="none" strike="noStrike">
                          <a:solidFill>
                            <a:srgbClr val="1B2A38"/>
                          </a:solidFill>
                          <a:latin typeface="Courier New"/>
                          <a:ea typeface="Courier New"/>
                          <a:cs typeface="Courier New"/>
                          <a:sym typeface="Courier New"/>
                        </a:rPr>
                        <a:t>birthdate</a:t>
                      </a:r>
                      <a:endParaRPr sz="900" u="none" cap="none" strike="noStrike">
                        <a:latin typeface="Courier New"/>
                        <a:ea typeface="Courier New"/>
                        <a:cs typeface="Courier New"/>
                        <a:sym typeface="Courier New"/>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AF2FB"/>
                    </a:solidFill>
                  </a:tcPr>
                </a:tc>
                <a:tc>
                  <a:txBody>
                    <a:bodyPr/>
                    <a:lstStyle/>
                    <a:p>
                      <a:pPr indent="0" lvl="0" marL="0" marR="0" rtl="0" algn="l">
                        <a:lnSpc>
                          <a:spcPct val="100000"/>
                        </a:lnSpc>
                        <a:spcBef>
                          <a:spcPts val="0"/>
                        </a:spcBef>
                        <a:spcAft>
                          <a:spcPts val="0"/>
                        </a:spcAft>
                        <a:buClr>
                          <a:srgbClr val="1B2A38"/>
                        </a:buClr>
                        <a:buSzPts val="900"/>
                        <a:buFont typeface="Calibri"/>
                        <a:buNone/>
                      </a:pPr>
                      <a:r>
                        <a:rPr lang="en-US" sz="900" u="none" cap="none" strike="noStrike">
                          <a:solidFill>
                            <a:srgbClr val="1B2A38"/>
                          </a:solidFill>
                        </a:rPr>
                        <a:t>Date of birth</a:t>
                      </a:r>
                      <a:endParaRPr sz="900" u="none" cap="none" strike="noStrike"/>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AF2FB"/>
                    </a:solidFill>
                  </a:tcPr>
                </a:tc>
              </a:tr>
              <a:tr h="114300">
                <a:tc>
                  <a:txBody>
                    <a:bodyPr/>
                    <a:lstStyle/>
                    <a:p>
                      <a:pPr indent="0" lvl="0" marL="0" marR="0" rtl="0" algn="l">
                        <a:lnSpc>
                          <a:spcPct val="100000"/>
                        </a:lnSpc>
                        <a:spcBef>
                          <a:spcPts val="0"/>
                        </a:spcBef>
                        <a:spcAft>
                          <a:spcPts val="0"/>
                        </a:spcAft>
                        <a:buClr>
                          <a:srgbClr val="1B2A38"/>
                        </a:buClr>
                        <a:buSzPts val="900"/>
                        <a:buFont typeface="Courier New"/>
                        <a:buNone/>
                      </a:pPr>
                      <a:r>
                        <a:rPr lang="en-US" sz="900" u="none" cap="none" strike="noStrike">
                          <a:solidFill>
                            <a:srgbClr val="1B2A38"/>
                          </a:solidFill>
                          <a:latin typeface="Courier New"/>
                          <a:ea typeface="Courier New"/>
                          <a:cs typeface="Courier New"/>
                          <a:sym typeface="Courier New"/>
                        </a:rPr>
                        <a:t>retirement_age</a:t>
                      </a:r>
                      <a:endParaRPr sz="900" u="none" cap="none" strike="noStrike">
                        <a:latin typeface="Courier New"/>
                        <a:ea typeface="Courier New"/>
                        <a:cs typeface="Courier New"/>
                        <a:sym typeface="Courier New"/>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B2A38"/>
                        </a:buClr>
                        <a:buSzPts val="900"/>
                        <a:buFont typeface="Calibri"/>
                        <a:buNone/>
                      </a:pPr>
                      <a:r>
                        <a:rPr lang="en-US" sz="900" u="none" cap="none" strike="noStrike">
                          <a:solidFill>
                            <a:srgbClr val="1B2A38"/>
                          </a:solidFill>
                        </a:rPr>
                        <a:t>Customer's stated retirement age</a:t>
                      </a:r>
                      <a:endParaRPr sz="900" u="none" cap="none" strike="noStrike"/>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r>
              <a:tr h="114300">
                <a:tc>
                  <a:txBody>
                    <a:bodyPr/>
                    <a:lstStyle/>
                    <a:p>
                      <a:pPr indent="0" lvl="0" marL="0" marR="0" rtl="0" algn="l">
                        <a:lnSpc>
                          <a:spcPct val="100000"/>
                        </a:lnSpc>
                        <a:spcBef>
                          <a:spcPts val="0"/>
                        </a:spcBef>
                        <a:spcAft>
                          <a:spcPts val="0"/>
                        </a:spcAft>
                        <a:buClr>
                          <a:srgbClr val="1B2A38"/>
                        </a:buClr>
                        <a:buSzPts val="900"/>
                        <a:buFont typeface="Courier New"/>
                        <a:buNone/>
                      </a:pPr>
                      <a:r>
                        <a:rPr lang="en-US" sz="900" u="none" cap="none" strike="noStrike">
                          <a:solidFill>
                            <a:srgbClr val="1B2A38"/>
                          </a:solidFill>
                          <a:latin typeface="Courier New"/>
                          <a:ea typeface="Courier New"/>
                          <a:cs typeface="Courier New"/>
                          <a:sym typeface="Courier New"/>
                        </a:rPr>
                        <a:t>yearly_income / total_debt</a:t>
                      </a:r>
                      <a:endParaRPr sz="900" u="none" cap="none" strike="noStrike">
                        <a:latin typeface="Courier New"/>
                        <a:ea typeface="Courier New"/>
                        <a:cs typeface="Courier New"/>
                        <a:sym typeface="Courier New"/>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AF2FB"/>
                    </a:solidFill>
                  </a:tcPr>
                </a:tc>
                <a:tc>
                  <a:txBody>
                    <a:bodyPr/>
                    <a:lstStyle/>
                    <a:p>
                      <a:pPr indent="0" lvl="0" marL="0" marR="0" rtl="0" algn="l">
                        <a:lnSpc>
                          <a:spcPct val="100000"/>
                        </a:lnSpc>
                        <a:spcBef>
                          <a:spcPts val="0"/>
                        </a:spcBef>
                        <a:spcAft>
                          <a:spcPts val="0"/>
                        </a:spcAft>
                        <a:buClr>
                          <a:srgbClr val="1B2A38"/>
                        </a:buClr>
                        <a:buSzPts val="900"/>
                        <a:buFont typeface="Calibri"/>
                        <a:buNone/>
                      </a:pPr>
                      <a:r>
                        <a:rPr lang="en-US" sz="900" u="none" cap="none" strike="noStrike">
                          <a:solidFill>
                            <a:srgbClr val="1B2A38"/>
                          </a:solidFill>
                        </a:rPr>
                        <a:t>Text, "Rp" prefix</a:t>
                      </a:r>
                      <a:endParaRPr sz="900" u="none" cap="none" strike="noStrike"/>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AF2FB"/>
                    </a:solidFill>
                  </a:tcPr>
                </a:tc>
              </a:tr>
              <a:tr h="114300">
                <a:tc>
                  <a:txBody>
                    <a:bodyPr/>
                    <a:lstStyle/>
                    <a:p>
                      <a:pPr indent="0" lvl="0" marL="0" marR="0" rtl="0" algn="l">
                        <a:lnSpc>
                          <a:spcPct val="100000"/>
                        </a:lnSpc>
                        <a:spcBef>
                          <a:spcPts val="0"/>
                        </a:spcBef>
                        <a:spcAft>
                          <a:spcPts val="0"/>
                        </a:spcAft>
                        <a:buClr>
                          <a:srgbClr val="1B2A38"/>
                        </a:buClr>
                        <a:buSzPts val="900"/>
                        <a:buFont typeface="Courier New"/>
                        <a:buNone/>
                      </a:pPr>
                      <a:r>
                        <a:rPr lang="en-US" sz="900" u="none" cap="none" strike="noStrike">
                          <a:solidFill>
                            <a:srgbClr val="1B2A38"/>
                          </a:solidFill>
                          <a:latin typeface="Courier New"/>
                          <a:ea typeface="Courier New"/>
                          <a:cs typeface="Courier New"/>
                          <a:sym typeface="Courier New"/>
                        </a:rPr>
                        <a:t>credit_score</a:t>
                      </a:r>
                      <a:endParaRPr sz="900" u="none" cap="none" strike="noStrike">
                        <a:latin typeface="Courier New"/>
                        <a:ea typeface="Courier New"/>
                        <a:cs typeface="Courier New"/>
                        <a:sym typeface="Courier New"/>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B2A38"/>
                        </a:buClr>
                        <a:buSzPts val="900"/>
                        <a:buFont typeface="Calibri"/>
                        <a:buNone/>
                      </a:pPr>
                      <a:r>
                        <a:rPr lang="en-US" sz="900" u="none" cap="none" strike="noStrike">
                          <a:solidFill>
                            <a:srgbClr val="1B2A38"/>
                          </a:solidFill>
                        </a:rPr>
                        <a:t>Numeric credit score</a:t>
                      </a:r>
                      <a:endParaRPr sz="900" u="none" cap="none" strike="noStrike"/>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r>
            </a:tbl>
          </a:graphicData>
        </a:graphic>
      </p:graphicFrame>
      <p:sp>
        <p:nvSpPr>
          <p:cNvPr id="54" name="Google Shape;54;p4"/>
          <p:cNvSpPr/>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7185"/>
              </a:buClr>
              <a:buSzPts val="900"/>
              <a:buFont typeface="Calibri"/>
              <a:buNone/>
            </a:pPr>
            <a:r>
              <a:rPr b="0" i="0" lang="en-US" sz="900" u="none" cap="none" strike="noStrike">
                <a:solidFill>
                  <a:srgbClr val="5A7185"/>
                </a:solidFill>
                <a:latin typeface="Calibri"/>
                <a:ea typeface="Calibri"/>
                <a:cs typeface="Calibri"/>
                <a:sym typeface="Calibri"/>
              </a:rPr>
              <a:t>Credit Card &amp; User Data Cleaning – Milestone 1</a:t>
            </a:r>
            <a:endParaRPr b="0" i="0" sz="900" u="none" cap="none" strike="noStrike">
              <a:solidFill>
                <a:schemeClr val="dk1"/>
              </a:solidFill>
              <a:latin typeface="Calibri"/>
              <a:ea typeface="Calibri"/>
              <a:cs typeface="Calibri"/>
              <a:sym typeface="Calibri"/>
            </a:endParaRPr>
          </a:p>
        </p:txBody>
      </p:sp>
      <p:sp>
        <p:nvSpPr>
          <p:cNvPr id="55" name="Google Shape;55;p4"/>
          <p:cNvSpPr/>
          <p:nvPr/>
        </p:nvSpPr>
        <p:spPr>
          <a:xfrm>
            <a:off x="11247120" y="6492240"/>
            <a:ext cx="4572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7185"/>
              </a:buClr>
              <a:buSzPts val="900"/>
              <a:buFont typeface="Calibri"/>
              <a:buNone/>
            </a:pPr>
            <a:r>
              <a:rPr b="0" i="0" lang="en-US" sz="900" u="none" cap="none" strike="noStrike">
                <a:solidFill>
                  <a:srgbClr val="5A7185"/>
                </a:solidFill>
                <a:latin typeface="Calibri"/>
                <a:ea typeface="Calibri"/>
                <a:cs typeface="Calibri"/>
                <a:sym typeface="Calibri"/>
              </a:rPr>
              <a:t>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B"/>
        </a:solidFill>
      </p:bgPr>
    </p:bg>
    <p:spTree>
      <p:nvGrpSpPr>
        <p:cNvPr id="59" name="Shape 59"/>
        <p:cNvGrpSpPr/>
        <p:nvPr/>
      </p:nvGrpSpPr>
      <p:grpSpPr>
        <a:xfrm>
          <a:off x="0" y="0"/>
          <a:ext cx="0" cy="0"/>
          <a:chOff x="0" y="0"/>
          <a:chExt cx="0" cy="0"/>
        </a:xfrm>
      </p:grpSpPr>
      <p:sp>
        <p:nvSpPr>
          <p:cNvPr id="60" name="Google Shape;60;p6"/>
          <p:cNvSpPr/>
          <p:nvPr/>
        </p:nvSpPr>
        <p:spPr>
          <a:xfrm>
            <a:off x="548640" y="457200"/>
            <a:ext cx="502920" cy="502920"/>
          </a:xfrm>
          <a:prstGeom prst="ellipse">
            <a:avLst/>
          </a:prstGeom>
          <a:solidFill>
            <a:srgbClr val="30699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6"/>
          <p:cNvSpPr/>
          <p:nvPr/>
        </p:nvSpPr>
        <p:spPr>
          <a:xfrm>
            <a:off x="548640" y="457200"/>
            <a:ext cx="50292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000"/>
              <a:buFont typeface="Cambria"/>
              <a:buNone/>
            </a:pPr>
            <a:r>
              <a:rPr b="1" i="0" lang="en-US" sz="2000" u="none" cap="none" strike="noStrike">
                <a:solidFill>
                  <a:srgbClr val="FFFFFF"/>
                </a:solidFill>
                <a:latin typeface="Cambria"/>
                <a:ea typeface="Cambria"/>
                <a:cs typeface="Cambria"/>
                <a:sym typeface="Cambria"/>
              </a:rPr>
              <a:t>1</a:t>
            </a:r>
            <a:endParaRPr b="0" i="0" sz="2000" u="none" cap="none" strike="noStrike">
              <a:solidFill>
                <a:schemeClr val="dk1"/>
              </a:solidFill>
              <a:latin typeface="Calibri"/>
              <a:ea typeface="Calibri"/>
              <a:cs typeface="Calibri"/>
              <a:sym typeface="Calibri"/>
            </a:endParaRPr>
          </a:p>
        </p:txBody>
      </p:sp>
      <p:sp>
        <p:nvSpPr>
          <p:cNvPr id="62" name="Google Shape;62;p6"/>
          <p:cNvSpPr/>
          <p:nvPr/>
        </p:nvSpPr>
        <p:spPr>
          <a:xfrm>
            <a:off x="1188720" y="384048"/>
            <a:ext cx="10424160"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84"/>
              </a:buClr>
              <a:buSzPts val="2000"/>
              <a:buFont typeface="Cambria"/>
              <a:buNone/>
            </a:pPr>
            <a:r>
              <a:rPr b="1" i="0" lang="en-US" sz="2000" u="none" cap="none" strike="noStrike">
                <a:solidFill>
                  <a:srgbClr val="2B5B84"/>
                </a:solidFill>
                <a:latin typeface="Cambria"/>
                <a:ea typeface="Cambria"/>
                <a:cs typeface="Cambria"/>
                <a:sym typeface="Cambria"/>
              </a:rPr>
              <a:t>4a. Card Data  (Convert Data Types)</a:t>
            </a:r>
            <a:endParaRPr b="0" i="0" sz="2000" u="none" cap="none" strike="noStrike">
              <a:solidFill>
                <a:schemeClr val="dk1"/>
              </a:solidFill>
              <a:latin typeface="Calibri"/>
              <a:ea typeface="Calibri"/>
              <a:cs typeface="Calibri"/>
              <a:sym typeface="Calibri"/>
            </a:endParaRPr>
          </a:p>
        </p:txBody>
      </p:sp>
      <p:sp>
        <p:nvSpPr>
          <p:cNvPr id="63" name="Google Shape;63;p6"/>
          <p:cNvSpPr/>
          <p:nvPr/>
        </p:nvSpPr>
        <p:spPr>
          <a:xfrm>
            <a:off x="548640" y="1325880"/>
            <a:ext cx="54864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7185"/>
              </a:buClr>
              <a:buSzPts val="1300"/>
              <a:buFont typeface="Calibri"/>
              <a:buNone/>
            </a:pPr>
            <a:r>
              <a:rPr b="1" i="0" lang="en-US" sz="1300" u="none" cap="none" strike="noStrike">
                <a:solidFill>
                  <a:srgbClr val="5A7185"/>
                </a:solidFill>
                <a:latin typeface="Calibri"/>
                <a:ea typeface="Calibri"/>
                <a:cs typeface="Calibri"/>
                <a:sym typeface="Calibri"/>
              </a:rPr>
              <a:t>Syntax</a:t>
            </a:r>
            <a:endParaRPr b="0" i="0" sz="1300" u="none" cap="none" strike="noStrike">
              <a:solidFill>
                <a:schemeClr val="dk1"/>
              </a:solidFill>
              <a:latin typeface="Calibri"/>
              <a:ea typeface="Calibri"/>
              <a:cs typeface="Calibri"/>
              <a:sym typeface="Calibri"/>
            </a:endParaRPr>
          </a:p>
        </p:txBody>
      </p:sp>
      <p:sp>
        <p:nvSpPr>
          <p:cNvPr id="64" name="Google Shape;64;p6"/>
          <p:cNvSpPr/>
          <p:nvPr/>
        </p:nvSpPr>
        <p:spPr>
          <a:xfrm>
            <a:off x="548640" y="1691640"/>
            <a:ext cx="6035040" cy="4663440"/>
          </a:xfrm>
          <a:prstGeom prst="roundRect">
            <a:avLst>
              <a:gd fmla="val 1569" name="adj"/>
            </a:avLst>
          </a:prstGeom>
          <a:solidFill>
            <a:srgbClr val="1B2A38"/>
          </a:solidFill>
          <a:ln cap="flat" cmpd="sng" w="12700">
            <a:solidFill>
              <a:srgbClr val="1B2A3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6"/>
          <p:cNvSpPr/>
          <p:nvPr/>
        </p:nvSpPr>
        <p:spPr>
          <a:xfrm>
            <a:off x="731520" y="1828800"/>
            <a:ext cx="5715000" cy="43891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E7F0FA"/>
              </a:buClr>
              <a:buSzPts val="1100"/>
              <a:buFont typeface="Courier New"/>
              <a:buNone/>
            </a:pPr>
            <a:r>
              <a:rPr b="0" i="0" lang="en-US" sz="1100" u="none" cap="none" strike="noStrike">
                <a:solidFill>
                  <a:srgbClr val="E7F0FA"/>
                </a:solidFill>
                <a:latin typeface="Courier New"/>
                <a:ea typeface="Courier New"/>
                <a:cs typeface="Courier New"/>
                <a:sym typeface="Courier New"/>
              </a:rPr>
              <a:t># 1. Identifiers -&gt; string</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7F0FA"/>
              </a:buClr>
              <a:buSzPts val="1100"/>
              <a:buFont typeface="Courier New"/>
              <a:buNone/>
            </a:pPr>
            <a:r>
              <a:rPr b="0" i="0" lang="en-US" sz="1100" u="none" cap="none" strike="noStrike">
                <a:solidFill>
                  <a:srgbClr val="E7F0FA"/>
                </a:solidFill>
                <a:latin typeface="Courier New"/>
                <a:ea typeface="Courier New"/>
                <a:cs typeface="Courier New"/>
                <a:sym typeface="Courier New"/>
              </a:rPr>
              <a:t>ids = ['id','client_id','card_number','cvv']</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7F0FA"/>
              </a:buClr>
              <a:buSzPts val="1100"/>
              <a:buFont typeface="Courier New"/>
              <a:buNone/>
            </a:pPr>
            <a:r>
              <a:rPr b="0" i="0" lang="en-US" sz="1100" u="none" cap="none" strike="noStrike">
                <a:solidFill>
                  <a:srgbClr val="E7F0FA"/>
                </a:solidFill>
                <a:latin typeface="Courier New"/>
                <a:ea typeface="Courier New"/>
                <a:cs typeface="Courier New"/>
                <a:sym typeface="Courier New"/>
              </a:rPr>
              <a:t>df_card[ids] = df_card[ids].astype(str)</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7F0FA"/>
              </a:buClr>
              <a:buSzPts val="1100"/>
              <a:buFont typeface="Courier New"/>
              <a:buNone/>
            </a:pPr>
            <a:r>
              <a:rPr b="0" i="0" lang="en-US" sz="1100" u="none" cap="none" strike="noStrike">
                <a:solidFill>
                  <a:srgbClr val="E7F0FA"/>
                </a:solidFill>
                <a:latin typeface="Courier New"/>
                <a:ea typeface="Courier New"/>
                <a:cs typeface="Courier New"/>
                <a:sym typeface="Courier New"/>
              </a:rPr>
              <a:t># 2. Dates -&gt; datetime</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7F0FA"/>
              </a:buClr>
              <a:buSzPts val="1100"/>
              <a:buFont typeface="Courier New"/>
              <a:buNone/>
            </a:pPr>
            <a:r>
              <a:rPr b="0" i="0" lang="en-US" sz="1100" u="none" cap="none" strike="noStrike">
                <a:solidFill>
                  <a:srgbClr val="E7F0FA"/>
                </a:solidFill>
                <a:latin typeface="Courier New"/>
                <a:ea typeface="Courier New"/>
                <a:cs typeface="Courier New"/>
                <a:sym typeface="Courier New"/>
              </a:rPr>
              <a:t>expires        -&gt; to_datetime + MonthEnd(0)</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7F0FA"/>
              </a:buClr>
              <a:buSzPts val="1100"/>
              <a:buFont typeface="Courier New"/>
              <a:buNone/>
            </a:pPr>
            <a:r>
              <a:rPr b="0" i="0" lang="en-US" sz="1100" u="none" cap="none" strike="noStrike">
                <a:solidFill>
                  <a:srgbClr val="E7F0FA"/>
                </a:solidFill>
                <a:latin typeface="Courier New"/>
                <a:ea typeface="Courier New"/>
                <a:cs typeface="Courier New"/>
                <a:sym typeface="Courier New"/>
              </a:rPr>
              <a:t>acct_open_date -&gt; to_datetime</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7F0FA"/>
              </a:buClr>
              <a:buSzPts val="1100"/>
              <a:buFont typeface="Courier New"/>
              <a:buNone/>
            </a:pPr>
            <a:r>
              <a:rPr b="0" i="0" lang="en-US" sz="1100" u="none" cap="none" strike="noStrike">
                <a:solidFill>
                  <a:srgbClr val="E7F0FA"/>
                </a:solidFill>
                <a:latin typeface="Courier New"/>
                <a:ea typeface="Courier New"/>
                <a:cs typeface="Courier New"/>
                <a:sym typeface="Courier New"/>
              </a:rPr>
              <a:t># 3. Money -&gt; float (strip 'Rp' and '.')</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7F0FA"/>
              </a:buClr>
              <a:buSzPts val="1100"/>
              <a:buFont typeface="Courier New"/>
              <a:buNone/>
            </a:pPr>
            <a:r>
              <a:rPr b="0" i="0" lang="en-US" sz="1100" u="none" cap="none" strike="noStrike">
                <a:solidFill>
                  <a:srgbClr val="E7F0FA"/>
                </a:solidFill>
                <a:latin typeface="Courier New"/>
                <a:ea typeface="Courier New"/>
                <a:cs typeface="Courier New"/>
                <a:sym typeface="Courier New"/>
              </a:rPr>
              <a:t>credit_limit, amt_nonfraud_trx_L6M,</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7F0FA"/>
              </a:buClr>
              <a:buSzPts val="1100"/>
              <a:buFont typeface="Courier New"/>
              <a:buNone/>
            </a:pPr>
            <a:r>
              <a:rPr b="0" i="0" lang="en-US" sz="1100" u="none" cap="none" strike="noStrike">
                <a:solidFill>
                  <a:srgbClr val="E7F0FA"/>
                </a:solidFill>
                <a:latin typeface="Courier New"/>
                <a:ea typeface="Courier New"/>
                <a:cs typeface="Courier New"/>
                <a:sym typeface="Courier New"/>
              </a:rPr>
              <a:t>amt_fraud_trx_L6M -&gt; astype(float)</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7F0FA"/>
              </a:buClr>
              <a:buSzPts val="1100"/>
              <a:buFont typeface="Courier New"/>
              <a:buNone/>
            </a:pPr>
            <a:r>
              <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7F0FA"/>
              </a:buClr>
              <a:buSzPts val="1100"/>
              <a:buFont typeface="Courier New"/>
              <a:buNone/>
            </a:pPr>
            <a:r>
              <a:rPr b="0" i="0" lang="en-US" sz="1100" u="none" cap="none" strike="noStrike">
                <a:solidFill>
                  <a:srgbClr val="E7F0FA"/>
                </a:solidFill>
                <a:latin typeface="Courier New"/>
                <a:ea typeface="Courier New"/>
                <a:cs typeface="Courier New"/>
                <a:sym typeface="Courier New"/>
              </a:rPr>
              <a:t># 4. Count data -&gt; integer</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7F0FA"/>
              </a:buClr>
              <a:buSzPts val="1100"/>
              <a:buFont typeface="Courier New"/>
              <a:buNone/>
            </a:pPr>
            <a:r>
              <a:rPr b="0" i="0" lang="en-US" sz="1100" u="none" cap="none" strike="noStrike">
                <a:solidFill>
                  <a:srgbClr val="E7F0FA"/>
                </a:solidFill>
                <a:latin typeface="Courier New"/>
                <a:ea typeface="Courier New"/>
                <a:cs typeface="Courier New"/>
                <a:sym typeface="Courier New"/>
              </a:rPr>
              <a:t>count_nonfraud_trx_L6M,</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7F0FA"/>
              </a:buClr>
              <a:buSzPts val="1100"/>
              <a:buFont typeface="Courier New"/>
              <a:buNone/>
            </a:pPr>
            <a:r>
              <a:rPr b="0" i="0" lang="en-US" sz="1100" u="none" cap="none" strike="noStrike">
                <a:solidFill>
                  <a:srgbClr val="E7F0FA"/>
                </a:solidFill>
                <a:latin typeface="Courier New"/>
                <a:ea typeface="Courier New"/>
                <a:cs typeface="Courier New"/>
                <a:sym typeface="Courier New"/>
              </a:rPr>
              <a:t>count_fraud_trx_L6M -&gt; astype('Int64')</a:t>
            </a:r>
            <a:endParaRPr b="0" i="0" sz="1100" u="none" cap="none" strike="noStrike">
              <a:solidFill>
                <a:schemeClr val="dk1"/>
              </a:solidFill>
              <a:latin typeface="Calibri"/>
              <a:ea typeface="Calibri"/>
              <a:cs typeface="Calibri"/>
              <a:sym typeface="Calibri"/>
            </a:endParaRPr>
          </a:p>
        </p:txBody>
      </p:sp>
      <p:sp>
        <p:nvSpPr>
          <p:cNvPr id="66" name="Google Shape;66;p6"/>
          <p:cNvSpPr/>
          <p:nvPr/>
        </p:nvSpPr>
        <p:spPr>
          <a:xfrm>
            <a:off x="6812280" y="1325880"/>
            <a:ext cx="4800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7185"/>
              </a:buClr>
              <a:buSzPts val="1300"/>
              <a:buFont typeface="Calibri"/>
              <a:buNone/>
            </a:pPr>
            <a:r>
              <a:rPr b="1" i="0" lang="en-US" sz="1300" u="none" cap="none" strike="noStrike">
                <a:solidFill>
                  <a:srgbClr val="5A7185"/>
                </a:solidFill>
                <a:latin typeface="Calibri"/>
                <a:ea typeface="Calibri"/>
                <a:cs typeface="Calibri"/>
                <a:sym typeface="Calibri"/>
              </a:rPr>
              <a:t>Output</a:t>
            </a:r>
            <a:endParaRPr b="0" i="0" sz="1300" u="none" cap="none" strike="noStrike">
              <a:solidFill>
                <a:schemeClr val="dk1"/>
              </a:solidFill>
              <a:latin typeface="Calibri"/>
              <a:ea typeface="Calibri"/>
              <a:cs typeface="Calibri"/>
              <a:sym typeface="Calibri"/>
            </a:endParaRPr>
          </a:p>
        </p:txBody>
      </p:sp>
      <p:sp>
        <p:nvSpPr>
          <p:cNvPr id="67" name="Google Shape;67;p6"/>
          <p:cNvSpPr/>
          <p:nvPr/>
        </p:nvSpPr>
        <p:spPr>
          <a:xfrm>
            <a:off x="6812280" y="1691640"/>
            <a:ext cx="4800600" cy="2331720"/>
          </a:xfrm>
          <a:prstGeom prst="roundRect">
            <a:avLst>
              <a:gd fmla="val 2353" name="adj"/>
            </a:avLst>
          </a:prstGeom>
          <a:solidFill>
            <a:srgbClr val="FFFFFF"/>
          </a:solidFill>
          <a:ln cap="flat" cmpd="sng" w="19050">
            <a:solidFill>
              <a:srgbClr val="FFD4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68" name="Google Shape;68;p6"/>
          <p:cNvGraphicFramePr/>
          <p:nvPr/>
        </p:nvGraphicFramePr>
        <p:xfrm>
          <a:off x="6903720" y="1783080"/>
          <a:ext cx="3000000" cy="3000000"/>
        </p:xfrm>
        <a:graphic>
          <a:graphicData uri="http://schemas.openxmlformats.org/drawingml/2006/table">
            <a:tbl>
              <a:tblPr>
                <a:noFill/>
                <a:tableStyleId>{3D7D59D7-DF91-47F0-BCBC-DAAD57FB8C79}</a:tableStyleId>
              </a:tblPr>
              <a:tblGrid>
                <a:gridCol w="1417325"/>
                <a:gridCol w="1600200"/>
                <a:gridCol w="1600200"/>
              </a:tblGrid>
              <a:tr h="537200">
                <a:tc>
                  <a:txBody>
                    <a:bodyPr/>
                    <a:lstStyle/>
                    <a:p>
                      <a:pPr indent="0" lvl="0" marL="0" marR="0" rtl="0" algn="ctr">
                        <a:lnSpc>
                          <a:spcPct val="100000"/>
                        </a:lnSpc>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Column</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306998"/>
                    </a:solidFill>
                  </a:tcPr>
                </a:tc>
                <a:tc>
                  <a:txBody>
                    <a:bodyPr/>
                    <a:lstStyle/>
                    <a:p>
                      <a:pPr indent="0" lvl="0" marL="0" marR="0" rtl="0" algn="ctr">
                        <a:lnSpc>
                          <a:spcPct val="100000"/>
                        </a:lnSpc>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Before</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306998"/>
                    </a:solidFill>
                  </a:tcPr>
                </a:tc>
                <a:tc>
                  <a:txBody>
                    <a:bodyPr/>
                    <a:lstStyle/>
                    <a:p>
                      <a:pPr indent="0" lvl="0" marL="0" marR="0" rtl="0" algn="ctr">
                        <a:lnSpc>
                          <a:spcPct val="100000"/>
                        </a:lnSpc>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After</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306998"/>
                    </a:solidFill>
                  </a:tcPr>
                </a:tc>
              </a:tr>
              <a:tr h="537200">
                <a:tc>
                  <a:txBody>
                    <a:bodyPr/>
                    <a:lstStyle/>
                    <a:p>
                      <a:pPr indent="0" lvl="0" marL="0" marR="0" rtl="0" algn="l">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id, client_id, card_number, cvv</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int64</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string</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r>
              <a:tr h="537200">
                <a:tc>
                  <a:txBody>
                    <a:bodyPr/>
                    <a:lstStyle/>
                    <a:p>
                      <a:pPr indent="0" lvl="0" marL="0" marR="0" rtl="0" algn="l">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expires, acct_open_date</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AF2FB"/>
                    </a:solidFill>
                  </a:tcPr>
                </a:tc>
                <a:tc>
                  <a:txBody>
                    <a:bodyPr/>
                    <a:lstStyle/>
                    <a:p>
                      <a:pPr indent="0" lvl="0" marL="0" marR="0" rtl="0" algn="r">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"04/2030"</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AF2FB"/>
                    </a:solidFill>
                  </a:tcPr>
                </a:tc>
                <a:tc>
                  <a:txBody>
                    <a:bodyPr/>
                    <a:lstStyle/>
                    <a:p>
                      <a:pPr indent="0" lvl="0" marL="0" marR="0" rtl="0" algn="r">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datetime64</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AF2FB"/>
                    </a:solidFill>
                  </a:tcPr>
                </a:tc>
              </a:tr>
              <a:tr h="537200">
                <a:tc>
                  <a:txBody>
                    <a:bodyPr/>
                    <a:lstStyle/>
                    <a:p>
                      <a:pPr indent="0" lvl="0" marL="0" marR="0" rtl="0" algn="l">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credit_limit, amt_*_trx_L6M</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"Rp53.189.000"</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53189000.0</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r>
            </a:tbl>
          </a:graphicData>
        </a:graphic>
      </p:graphicFrame>
      <p:sp>
        <p:nvSpPr>
          <p:cNvPr id="69" name="Google Shape;69;p6"/>
          <p:cNvSpPr/>
          <p:nvPr/>
        </p:nvSpPr>
        <p:spPr>
          <a:xfrm>
            <a:off x="6812280" y="4160520"/>
            <a:ext cx="4800600" cy="2194560"/>
          </a:xfrm>
          <a:prstGeom prst="roundRect">
            <a:avLst>
              <a:gd fmla="val 2500" name="adj"/>
            </a:avLst>
          </a:prstGeom>
          <a:solidFill>
            <a:srgbClr val="FFD43B"/>
          </a:solidFill>
          <a:ln cap="flat" cmpd="sng" w="12700">
            <a:solidFill>
              <a:srgbClr val="FFD4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6"/>
          <p:cNvSpPr/>
          <p:nvPr/>
        </p:nvSpPr>
        <p:spPr>
          <a:xfrm>
            <a:off x="6995160" y="4279392"/>
            <a:ext cx="448056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2A38"/>
              </a:buClr>
              <a:buSzPts val="1500"/>
              <a:buFont typeface="Cambria"/>
              <a:buNone/>
            </a:pPr>
            <a:r>
              <a:rPr b="1" i="0" lang="en-US" sz="1500" u="none" cap="none" strike="noStrike">
                <a:solidFill>
                  <a:srgbClr val="1B2A38"/>
                </a:solidFill>
                <a:latin typeface="Cambria"/>
                <a:ea typeface="Cambria"/>
                <a:cs typeface="Cambria"/>
                <a:sym typeface="Cambria"/>
              </a:rPr>
              <a:t>Insight</a:t>
            </a:r>
            <a:endParaRPr b="0" i="0" sz="1500" u="none" cap="none" strike="noStrike">
              <a:solidFill>
                <a:schemeClr val="dk1"/>
              </a:solidFill>
              <a:latin typeface="Calibri"/>
              <a:ea typeface="Calibri"/>
              <a:cs typeface="Calibri"/>
              <a:sym typeface="Calibri"/>
            </a:endParaRPr>
          </a:p>
        </p:txBody>
      </p:sp>
      <p:sp>
        <p:nvSpPr>
          <p:cNvPr id="71" name="Google Shape;71;p6"/>
          <p:cNvSpPr/>
          <p:nvPr/>
        </p:nvSpPr>
        <p:spPr>
          <a:xfrm>
            <a:off x="6995160" y="4645152"/>
            <a:ext cx="4480560" cy="1600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B2A38"/>
              </a:buClr>
              <a:buSzPts val="1200"/>
              <a:buFont typeface="Calibri"/>
              <a:buNone/>
            </a:pPr>
            <a:r>
              <a:rPr b="0" i="0" lang="en-US" sz="1200" u="none" cap="none" strike="noStrike">
                <a:solidFill>
                  <a:srgbClr val="1B2A38"/>
                </a:solidFill>
                <a:latin typeface="Calibri"/>
                <a:ea typeface="Calibri"/>
                <a:cs typeface="Calibri"/>
                <a:sym typeface="Calibri"/>
              </a:rPr>
              <a:t>All four type rules from the brief are applied. Identifiers (id, client_id, card_number, cvv) become string — no arithmetic is ever done on them. Both date columns become datetime; expires is pushed to month end, because a card stays valid through the last day of its expiry month. All three money columns are stripped of 'Rp' and the '.' separator and cast to float. The two count columns become integer, using nullable Int64 so their blanks survive until 4c.</a:t>
            </a:r>
            <a:endParaRPr b="0" i="0" sz="1200" u="none" cap="none" strike="noStrike">
              <a:solidFill>
                <a:schemeClr val="dk1"/>
              </a:solidFill>
              <a:latin typeface="Calibri"/>
              <a:ea typeface="Calibri"/>
              <a:cs typeface="Calibri"/>
              <a:sym typeface="Calibri"/>
            </a:endParaRPr>
          </a:p>
        </p:txBody>
      </p:sp>
      <p:sp>
        <p:nvSpPr>
          <p:cNvPr id="72" name="Google Shape;72;p6"/>
          <p:cNvSpPr/>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7185"/>
              </a:buClr>
              <a:buSzPts val="900"/>
              <a:buFont typeface="Calibri"/>
              <a:buNone/>
            </a:pPr>
            <a:r>
              <a:rPr b="0" i="0" lang="en-US" sz="900" u="none" cap="none" strike="noStrike">
                <a:solidFill>
                  <a:srgbClr val="5A7185"/>
                </a:solidFill>
                <a:latin typeface="Calibri"/>
                <a:ea typeface="Calibri"/>
                <a:cs typeface="Calibri"/>
                <a:sym typeface="Calibri"/>
              </a:rPr>
              <a:t>Credit Card &amp; User Data Cleaning – Milestone 1</a:t>
            </a:r>
            <a:endParaRPr b="0" i="0" sz="900" u="none" cap="none" strike="noStrike">
              <a:solidFill>
                <a:schemeClr val="dk1"/>
              </a:solidFill>
              <a:latin typeface="Calibri"/>
              <a:ea typeface="Calibri"/>
              <a:cs typeface="Calibri"/>
              <a:sym typeface="Calibri"/>
            </a:endParaRPr>
          </a:p>
        </p:txBody>
      </p:sp>
      <p:sp>
        <p:nvSpPr>
          <p:cNvPr id="73" name="Google Shape;73;p6"/>
          <p:cNvSpPr/>
          <p:nvPr/>
        </p:nvSpPr>
        <p:spPr>
          <a:xfrm>
            <a:off x="11247120" y="6492240"/>
            <a:ext cx="4572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7185"/>
              </a:buClr>
              <a:buSzPts val="900"/>
              <a:buFont typeface="Calibri"/>
              <a:buNone/>
            </a:pPr>
            <a:r>
              <a:rPr b="0" i="0" lang="en-US" sz="900" u="none" cap="none" strike="noStrike">
                <a:solidFill>
                  <a:srgbClr val="5A7185"/>
                </a:solidFill>
                <a:latin typeface="Calibri"/>
                <a:ea typeface="Calibri"/>
                <a:cs typeface="Calibri"/>
                <a:sym typeface="Calibri"/>
              </a:rPr>
              <a:t>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B"/>
        </a:solidFill>
      </p:bgPr>
    </p:bg>
    <p:spTree>
      <p:nvGrpSpPr>
        <p:cNvPr id="77" name="Shape 77"/>
        <p:cNvGrpSpPr/>
        <p:nvPr/>
      </p:nvGrpSpPr>
      <p:grpSpPr>
        <a:xfrm>
          <a:off x="0" y="0"/>
          <a:ext cx="0" cy="0"/>
          <a:chOff x="0" y="0"/>
          <a:chExt cx="0" cy="0"/>
        </a:xfrm>
      </p:grpSpPr>
      <p:sp>
        <p:nvSpPr>
          <p:cNvPr id="78" name="Google Shape;78;p7"/>
          <p:cNvSpPr/>
          <p:nvPr/>
        </p:nvSpPr>
        <p:spPr>
          <a:xfrm>
            <a:off x="548640" y="457200"/>
            <a:ext cx="502920" cy="502920"/>
          </a:xfrm>
          <a:prstGeom prst="ellipse">
            <a:avLst/>
          </a:prstGeom>
          <a:solidFill>
            <a:srgbClr val="30699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7"/>
          <p:cNvSpPr/>
          <p:nvPr/>
        </p:nvSpPr>
        <p:spPr>
          <a:xfrm>
            <a:off x="548640" y="457200"/>
            <a:ext cx="50292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000"/>
              <a:buFont typeface="Cambria"/>
              <a:buNone/>
            </a:pPr>
            <a:r>
              <a:rPr b="1" i="0" lang="en-US" sz="2000" u="none" cap="none" strike="noStrike">
                <a:solidFill>
                  <a:srgbClr val="FFFFFF"/>
                </a:solidFill>
                <a:latin typeface="Cambria"/>
                <a:ea typeface="Cambria"/>
                <a:cs typeface="Cambria"/>
                <a:sym typeface="Cambria"/>
              </a:rPr>
              <a:t>2</a:t>
            </a:r>
            <a:endParaRPr b="0" i="0" sz="2000" u="none" cap="none" strike="noStrike">
              <a:solidFill>
                <a:schemeClr val="dk1"/>
              </a:solidFill>
              <a:latin typeface="Calibri"/>
              <a:ea typeface="Calibri"/>
              <a:cs typeface="Calibri"/>
              <a:sym typeface="Calibri"/>
            </a:endParaRPr>
          </a:p>
        </p:txBody>
      </p:sp>
      <p:sp>
        <p:nvSpPr>
          <p:cNvPr id="80" name="Google Shape;80;p7"/>
          <p:cNvSpPr/>
          <p:nvPr/>
        </p:nvSpPr>
        <p:spPr>
          <a:xfrm>
            <a:off x="1188720" y="384048"/>
            <a:ext cx="10424160"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84"/>
              </a:buClr>
              <a:buSzPts val="2000"/>
              <a:buFont typeface="Cambria"/>
              <a:buNone/>
            </a:pPr>
            <a:r>
              <a:rPr b="1" i="0" lang="en-US" sz="2000" u="none" cap="none" strike="noStrike">
                <a:solidFill>
                  <a:srgbClr val="2B5B84"/>
                </a:solidFill>
                <a:latin typeface="Cambria"/>
                <a:ea typeface="Cambria"/>
                <a:cs typeface="Cambria"/>
                <a:sym typeface="Cambria"/>
              </a:rPr>
              <a:t>4b. Card Data (Handle Typos)</a:t>
            </a:r>
            <a:endParaRPr b="0" i="0" sz="2000" u="none" cap="none" strike="noStrike">
              <a:solidFill>
                <a:schemeClr val="dk1"/>
              </a:solidFill>
              <a:latin typeface="Calibri"/>
              <a:ea typeface="Calibri"/>
              <a:cs typeface="Calibri"/>
              <a:sym typeface="Calibri"/>
            </a:endParaRPr>
          </a:p>
        </p:txBody>
      </p:sp>
      <p:sp>
        <p:nvSpPr>
          <p:cNvPr id="81" name="Google Shape;81;p7"/>
          <p:cNvSpPr/>
          <p:nvPr/>
        </p:nvSpPr>
        <p:spPr>
          <a:xfrm>
            <a:off x="548640" y="1325880"/>
            <a:ext cx="54864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7185"/>
              </a:buClr>
              <a:buSzPts val="1300"/>
              <a:buFont typeface="Calibri"/>
              <a:buNone/>
            </a:pPr>
            <a:r>
              <a:rPr b="1" i="0" lang="en-US" sz="1300" u="none" cap="none" strike="noStrike">
                <a:solidFill>
                  <a:srgbClr val="5A7185"/>
                </a:solidFill>
                <a:latin typeface="Calibri"/>
                <a:ea typeface="Calibri"/>
                <a:cs typeface="Calibri"/>
                <a:sym typeface="Calibri"/>
              </a:rPr>
              <a:t>Syntax</a:t>
            </a:r>
            <a:endParaRPr b="0" i="0" sz="1300" u="none" cap="none" strike="noStrike">
              <a:solidFill>
                <a:schemeClr val="dk1"/>
              </a:solidFill>
              <a:latin typeface="Calibri"/>
              <a:ea typeface="Calibri"/>
              <a:cs typeface="Calibri"/>
              <a:sym typeface="Calibri"/>
            </a:endParaRPr>
          </a:p>
        </p:txBody>
      </p:sp>
      <p:sp>
        <p:nvSpPr>
          <p:cNvPr id="82" name="Google Shape;82;p7"/>
          <p:cNvSpPr/>
          <p:nvPr/>
        </p:nvSpPr>
        <p:spPr>
          <a:xfrm>
            <a:off x="548640" y="1691640"/>
            <a:ext cx="6035040" cy="4663440"/>
          </a:xfrm>
          <a:prstGeom prst="roundRect">
            <a:avLst>
              <a:gd fmla="val 1569" name="adj"/>
            </a:avLst>
          </a:prstGeom>
          <a:solidFill>
            <a:srgbClr val="1B2A38"/>
          </a:solidFill>
          <a:ln cap="flat" cmpd="sng" w="12700">
            <a:solidFill>
              <a:srgbClr val="1B2A3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7"/>
          <p:cNvSpPr/>
          <p:nvPr/>
        </p:nvSpPr>
        <p:spPr>
          <a:xfrm>
            <a:off x="731520" y="1828800"/>
            <a:ext cx="5715000" cy="43891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E7F0FA"/>
              </a:buClr>
              <a:buSzPts val="1100"/>
              <a:buFont typeface="Courier New"/>
              <a:buNone/>
            </a:pPr>
            <a:r>
              <a:rPr b="0" i="0" lang="en-US" sz="1100" u="none" cap="none" strike="noStrike">
                <a:solidFill>
                  <a:srgbClr val="E7F0FA"/>
                </a:solidFill>
                <a:latin typeface="Courier New"/>
                <a:ea typeface="Courier New"/>
                <a:cs typeface="Courier New"/>
                <a:sym typeface="Courier New"/>
              </a:rPr>
              <a:t>print(</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7F0FA"/>
              </a:buClr>
              <a:buSzPts val="1100"/>
              <a:buFont typeface="Courier New"/>
              <a:buNone/>
            </a:pPr>
            <a:r>
              <a:rPr b="0" i="0" lang="en-US" sz="1100" u="none" cap="none" strike="noStrike">
                <a:solidFill>
                  <a:srgbClr val="E7F0FA"/>
                </a:solidFill>
                <a:latin typeface="Courier New"/>
                <a:ea typeface="Courier New"/>
                <a:cs typeface="Courier New"/>
                <a:sym typeface="Courier New"/>
              </a:rPr>
              <a:t>    df_card['card_brand']</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7F0FA"/>
              </a:buClr>
              <a:buSzPts val="1100"/>
              <a:buFont typeface="Courier New"/>
              <a:buNone/>
            </a:pPr>
            <a:r>
              <a:rPr b="0" i="0" lang="en-US" sz="1100" u="none" cap="none" strike="noStrike">
                <a:solidFill>
                  <a:srgbClr val="E7F0FA"/>
                </a:solidFill>
                <a:latin typeface="Courier New"/>
                <a:ea typeface="Courier New"/>
                <a:cs typeface="Courier New"/>
                <a:sym typeface="Courier New"/>
              </a:rPr>
              <a:t>    .value_counts()</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7F0FA"/>
              </a:buClr>
              <a:buSzPts val="1100"/>
              <a:buFont typeface="Courier New"/>
              <a:buNone/>
            </a:pPr>
            <a:r>
              <a:rPr b="0" i="0" lang="en-US" sz="1100" u="none" cap="none" strike="noStrike">
                <a:solidFill>
                  <a:srgbClr val="E7F0FA"/>
                </a:solidFill>
                <a:latin typeface="Courier New"/>
                <a:ea typeface="Courier New"/>
                <a:cs typeface="Courier New"/>
                <a:sym typeface="Courier New"/>
              </a:rPr>
              <a:t>)</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7F0FA"/>
              </a:buClr>
              <a:buSzPts val="1100"/>
              <a:buFont typeface="Courier New"/>
              <a:buNone/>
            </a:pPr>
            <a:r>
              <a:rPr b="0" i="0" lang="en-US" sz="1100" u="none" cap="none" strike="noStrike">
                <a:solidFill>
                  <a:srgbClr val="E7F0FA"/>
                </a:solidFill>
                <a:latin typeface="Courier New"/>
                <a:ea typeface="Courier New"/>
                <a:cs typeface="Courier New"/>
                <a:sym typeface="Courier New"/>
              </a:rPr>
              <a:t># Fix whitespace AND casing</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7F0FA"/>
              </a:buClr>
              <a:buSzPts val="1100"/>
              <a:buFont typeface="Courier New"/>
              <a:buNone/>
            </a:pPr>
            <a:r>
              <a:rPr b="0" i="0" lang="en-US" sz="1100" u="none" cap="none" strike="noStrike">
                <a:solidFill>
                  <a:srgbClr val="E7F0FA"/>
                </a:solidFill>
                <a:latin typeface="Courier New"/>
                <a:ea typeface="Courier New"/>
                <a:cs typeface="Courier New"/>
                <a:sym typeface="Courier New"/>
              </a:rPr>
              <a:t># (' Visa ' -&gt; 'Visa', 'Jcb' -&gt; 'JCB')</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7F0FA"/>
              </a:buClr>
              <a:buSzPts val="1100"/>
              <a:buFont typeface="Courier New"/>
              <a:buNone/>
            </a:pPr>
            <a:r>
              <a:rPr b="0" i="0" lang="en-US" sz="1100" u="none" cap="none" strike="noStrike">
                <a:solidFill>
                  <a:srgbClr val="E7F0FA"/>
                </a:solidFill>
                <a:latin typeface="Courier New"/>
                <a:ea typeface="Courier New"/>
                <a:cs typeface="Courier New"/>
                <a:sym typeface="Courier New"/>
              </a:rPr>
              <a:t>df_card['card_brand'] = (</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7F0FA"/>
              </a:buClr>
              <a:buSzPts val="1100"/>
              <a:buFont typeface="Courier New"/>
              <a:buNone/>
            </a:pPr>
            <a:r>
              <a:rPr b="0" i="0" lang="en-US" sz="1100" u="none" cap="none" strike="noStrike">
                <a:solidFill>
                  <a:srgbClr val="E7F0FA"/>
                </a:solidFill>
                <a:latin typeface="Courier New"/>
                <a:ea typeface="Courier New"/>
                <a:cs typeface="Courier New"/>
                <a:sym typeface="Courier New"/>
              </a:rPr>
              <a:t>    df_card['card_brand'].str.strip()</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7F0FA"/>
              </a:buClr>
              <a:buSzPts val="1100"/>
              <a:buFont typeface="Courier New"/>
              <a:buNone/>
            </a:pPr>
            <a:r>
              <a:rPr b="0" i="0" lang="en-US" sz="1100" u="none" cap="none" strike="noStrike">
                <a:solidFill>
                  <a:srgbClr val="E7F0FA"/>
                </a:solidFill>
                <a:latin typeface="Courier New"/>
                <a:ea typeface="Courier New"/>
                <a:cs typeface="Courier New"/>
                <a:sym typeface="Courier New"/>
              </a:rPr>
              <a:t>    .replace({'Jcb': 'JCB'}))</a:t>
            </a:r>
            <a:endParaRPr b="0" i="0" sz="1100" u="none" cap="none" strike="noStrike">
              <a:solidFill>
                <a:schemeClr val="dk1"/>
              </a:solidFill>
              <a:latin typeface="Calibri"/>
              <a:ea typeface="Calibri"/>
              <a:cs typeface="Calibri"/>
              <a:sym typeface="Calibri"/>
            </a:endParaRPr>
          </a:p>
        </p:txBody>
      </p:sp>
      <p:sp>
        <p:nvSpPr>
          <p:cNvPr id="84" name="Google Shape;84;p7"/>
          <p:cNvSpPr/>
          <p:nvPr/>
        </p:nvSpPr>
        <p:spPr>
          <a:xfrm>
            <a:off x="6812280" y="1325880"/>
            <a:ext cx="4800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7185"/>
              </a:buClr>
              <a:buSzPts val="1300"/>
              <a:buFont typeface="Calibri"/>
              <a:buNone/>
            </a:pPr>
            <a:r>
              <a:rPr b="1" i="0" lang="en-US" sz="1300" u="none" cap="none" strike="noStrike">
                <a:solidFill>
                  <a:srgbClr val="5A7185"/>
                </a:solidFill>
                <a:latin typeface="Calibri"/>
                <a:ea typeface="Calibri"/>
                <a:cs typeface="Calibri"/>
                <a:sym typeface="Calibri"/>
              </a:rPr>
              <a:t>Output</a:t>
            </a:r>
            <a:endParaRPr b="0" i="0" sz="1300" u="none" cap="none" strike="noStrike">
              <a:solidFill>
                <a:schemeClr val="dk1"/>
              </a:solidFill>
              <a:latin typeface="Calibri"/>
              <a:ea typeface="Calibri"/>
              <a:cs typeface="Calibri"/>
              <a:sym typeface="Calibri"/>
            </a:endParaRPr>
          </a:p>
        </p:txBody>
      </p:sp>
      <p:sp>
        <p:nvSpPr>
          <p:cNvPr id="85" name="Google Shape;85;p7"/>
          <p:cNvSpPr/>
          <p:nvPr/>
        </p:nvSpPr>
        <p:spPr>
          <a:xfrm>
            <a:off x="6812280" y="1691640"/>
            <a:ext cx="4800600" cy="2331720"/>
          </a:xfrm>
          <a:prstGeom prst="roundRect">
            <a:avLst>
              <a:gd fmla="val 2353" name="adj"/>
            </a:avLst>
          </a:prstGeom>
          <a:solidFill>
            <a:srgbClr val="FFFFFF"/>
          </a:solidFill>
          <a:ln cap="flat" cmpd="sng" w="19050">
            <a:solidFill>
              <a:srgbClr val="FFD4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86" name="Google Shape;86;p7"/>
          <p:cNvGraphicFramePr/>
          <p:nvPr/>
        </p:nvGraphicFramePr>
        <p:xfrm>
          <a:off x="6903720" y="1783080"/>
          <a:ext cx="3000000" cy="3000000"/>
        </p:xfrm>
        <a:graphic>
          <a:graphicData uri="http://schemas.openxmlformats.org/drawingml/2006/table">
            <a:tbl>
              <a:tblPr>
                <a:noFill/>
                <a:tableStyleId>{3D7D59D7-DF91-47F0-BCBC-DAAD57FB8C79}</a:tableStyleId>
              </a:tblPr>
              <a:tblGrid>
                <a:gridCol w="3063250"/>
                <a:gridCol w="1554475"/>
              </a:tblGrid>
              <a:tr h="306975">
                <a:tc>
                  <a:txBody>
                    <a:bodyPr/>
                    <a:lstStyle/>
                    <a:p>
                      <a:pPr indent="0" lvl="0" marL="0" marR="0" rtl="0" algn="ctr">
                        <a:lnSpc>
                          <a:spcPct val="100000"/>
                        </a:lnSpc>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Value (before)</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306998"/>
                    </a:solidFill>
                  </a:tcPr>
                </a:tc>
                <a:tc>
                  <a:txBody>
                    <a:bodyPr/>
                    <a:lstStyle/>
                    <a:p>
                      <a:pPr indent="0" lvl="0" marL="0" marR="0" rtl="0" algn="ctr">
                        <a:lnSpc>
                          <a:spcPct val="100000"/>
                        </a:lnSpc>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Count</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306998"/>
                    </a:solidFill>
                  </a:tcPr>
                </a:tc>
              </a:tr>
              <a:tr h="306975">
                <a:tc>
                  <a:txBody>
                    <a:bodyPr/>
                    <a:lstStyle/>
                    <a:p>
                      <a:pPr indent="0" lvl="0" marL="0" marR="0" rtl="0" algn="l">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Mastercard</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2,826</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r>
              <a:tr h="306975">
                <a:tc>
                  <a:txBody>
                    <a:bodyPr/>
                    <a:lstStyle/>
                    <a:p>
                      <a:pPr indent="0" lvl="0" marL="0" marR="0" rtl="0" algn="l">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Visa</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AF2FB"/>
                    </a:solidFill>
                  </a:tcPr>
                </a:tc>
                <a:tc>
                  <a:txBody>
                    <a:bodyPr/>
                    <a:lstStyle/>
                    <a:p>
                      <a:pPr indent="0" lvl="0" marL="0" marR="0" rtl="0" algn="r">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2,093</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AF2FB"/>
                    </a:solidFill>
                  </a:tcPr>
                </a:tc>
              </a:tr>
              <a:tr h="306975">
                <a:tc>
                  <a:txBody>
                    <a:bodyPr/>
                    <a:lstStyle/>
                    <a:p>
                      <a:pPr indent="0" lvl="0" marL="0" marR="0" rtl="0" algn="l">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Amex</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402</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r>
              <a:tr h="306975">
                <a:tc>
                  <a:txBody>
                    <a:bodyPr/>
                    <a:lstStyle/>
                    <a:p>
                      <a:pPr indent="0" lvl="0" marL="0" marR="0" rtl="0" algn="l">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JCB</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AF2FB"/>
                    </a:solidFill>
                  </a:tcPr>
                </a:tc>
                <a:tc>
                  <a:txBody>
                    <a:bodyPr/>
                    <a:lstStyle/>
                    <a:p>
                      <a:pPr indent="0" lvl="0" marL="0" marR="0" rtl="0" algn="r">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206</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AF2FB"/>
                    </a:solidFill>
                  </a:tcPr>
                </a:tc>
              </a:tr>
              <a:tr h="306975">
                <a:tc>
                  <a:txBody>
                    <a:bodyPr/>
                    <a:lstStyle/>
                    <a:p>
                      <a:pPr indent="0" lvl="0" marL="0" marR="0" rtl="0" algn="l">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"Visa " (trailing space)</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69</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r>
              <a:tr h="306975">
                <a:tc>
                  <a:txBody>
                    <a:bodyPr/>
                    <a:lstStyle/>
                    <a:p>
                      <a:pPr indent="0" lvl="0" marL="0" marR="0" rtl="0" algn="l">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"Jcb" (case typo)</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AF2FB"/>
                    </a:solidFill>
                  </a:tcPr>
                </a:tc>
                <a:tc>
                  <a:txBody>
                    <a:bodyPr/>
                    <a:lstStyle/>
                    <a:p>
                      <a:pPr indent="0" lvl="0" marL="0" marR="0" rtl="0" algn="r">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3</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AF2FB"/>
                    </a:solidFill>
                  </a:tcPr>
                </a:tc>
              </a:tr>
            </a:tbl>
          </a:graphicData>
        </a:graphic>
      </p:graphicFrame>
      <p:sp>
        <p:nvSpPr>
          <p:cNvPr id="87" name="Google Shape;87;p7"/>
          <p:cNvSpPr/>
          <p:nvPr/>
        </p:nvSpPr>
        <p:spPr>
          <a:xfrm>
            <a:off x="6812280" y="4160520"/>
            <a:ext cx="4800600" cy="2194560"/>
          </a:xfrm>
          <a:prstGeom prst="roundRect">
            <a:avLst>
              <a:gd fmla="val 2500" name="adj"/>
            </a:avLst>
          </a:prstGeom>
          <a:solidFill>
            <a:srgbClr val="FFD43B"/>
          </a:solidFill>
          <a:ln cap="flat" cmpd="sng" w="12700">
            <a:solidFill>
              <a:srgbClr val="FFD4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7"/>
          <p:cNvSpPr/>
          <p:nvPr/>
        </p:nvSpPr>
        <p:spPr>
          <a:xfrm>
            <a:off x="6995160" y="4279392"/>
            <a:ext cx="448056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2A38"/>
              </a:buClr>
              <a:buSzPts val="1500"/>
              <a:buFont typeface="Cambria"/>
              <a:buNone/>
            </a:pPr>
            <a:r>
              <a:rPr b="1" i="0" lang="en-US" sz="1500" u="none" cap="none" strike="noStrike">
                <a:solidFill>
                  <a:srgbClr val="1B2A38"/>
                </a:solidFill>
                <a:latin typeface="Cambria"/>
                <a:ea typeface="Cambria"/>
                <a:cs typeface="Cambria"/>
                <a:sym typeface="Cambria"/>
              </a:rPr>
              <a:t>Insight</a:t>
            </a:r>
            <a:endParaRPr b="0" i="0" sz="1500" u="none" cap="none" strike="noStrike">
              <a:solidFill>
                <a:schemeClr val="dk1"/>
              </a:solidFill>
              <a:latin typeface="Calibri"/>
              <a:ea typeface="Calibri"/>
              <a:cs typeface="Calibri"/>
              <a:sym typeface="Calibri"/>
            </a:endParaRPr>
          </a:p>
        </p:txBody>
      </p:sp>
      <p:sp>
        <p:nvSpPr>
          <p:cNvPr id="89" name="Google Shape;89;p7"/>
          <p:cNvSpPr/>
          <p:nvPr/>
        </p:nvSpPr>
        <p:spPr>
          <a:xfrm>
            <a:off x="6995160" y="4645152"/>
            <a:ext cx="4480560" cy="1600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B2A38"/>
              </a:buClr>
              <a:buSzPts val="1200"/>
              <a:buFont typeface="Calibri"/>
              <a:buNone/>
            </a:pPr>
            <a:r>
              <a:rPr b="0" i="0" lang="en-US" sz="1200" u="none" cap="none" strike="noStrike">
                <a:solidFill>
                  <a:srgbClr val="1B2A38"/>
                </a:solidFill>
                <a:latin typeface="Calibri"/>
                <a:ea typeface="Calibri"/>
                <a:cs typeface="Calibri"/>
                <a:sym typeface="Calibri"/>
              </a:rPr>
              <a:t>value_counts() showed 6 raw values instead of 4: a trailing space ('Visa ' vs 'Visa') and a casing typo ('Jcb' vs 'JCB'). str.strip() alone fixes only the space and still leaves 5 categories, so the casing is mapped explicitly to reach 4 clean brands. Without this step any later grouping by card_brand would split the same brand across rows and understate its share.</a:t>
            </a:r>
            <a:endParaRPr b="0" i="0" sz="1200" u="none" cap="none" strike="noStrike">
              <a:solidFill>
                <a:schemeClr val="dk1"/>
              </a:solidFill>
              <a:latin typeface="Calibri"/>
              <a:ea typeface="Calibri"/>
              <a:cs typeface="Calibri"/>
              <a:sym typeface="Calibri"/>
            </a:endParaRPr>
          </a:p>
        </p:txBody>
      </p:sp>
      <p:sp>
        <p:nvSpPr>
          <p:cNvPr id="90" name="Google Shape;90;p7"/>
          <p:cNvSpPr/>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7185"/>
              </a:buClr>
              <a:buSzPts val="900"/>
              <a:buFont typeface="Calibri"/>
              <a:buNone/>
            </a:pPr>
            <a:r>
              <a:rPr b="0" i="0" lang="en-US" sz="900" u="none" cap="none" strike="noStrike">
                <a:solidFill>
                  <a:srgbClr val="5A7185"/>
                </a:solidFill>
                <a:latin typeface="Calibri"/>
                <a:ea typeface="Calibri"/>
                <a:cs typeface="Calibri"/>
                <a:sym typeface="Calibri"/>
              </a:rPr>
              <a:t>Credit Card &amp; User Data Cleaning – Milestone 1</a:t>
            </a:r>
            <a:endParaRPr b="0" i="0" sz="900" u="none" cap="none" strike="noStrike">
              <a:solidFill>
                <a:schemeClr val="dk1"/>
              </a:solidFill>
              <a:latin typeface="Calibri"/>
              <a:ea typeface="Calibri"/>
              <a:cs typeface="Calibri"/>
              <a:sym typeface="Calibri"/>
            </a:endParaRPr>
          </a:p>
        </p:txBody>
      </p:sp>
      <p:sp>
        <p:nvSpPr>
          <p:cNvPr id="91" name="Google Shape;91;p7"/>
          <p:cNvSpPr/>
          <p:nvPr/>
        </p:nvSpPr>
        <p:spPr>
          <a:xfrm>
            <a:off x="11247120" y="6492240"/>
            <a:ext cx="4572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7185"/>
              </a:buClr>
              <a:buSzPts val="900"/>
              <a:buFont typeface="Calibri"/>
              <a:buNone/>
            </a:pPr>
            <a:r>
              <a:rPr b="0" i="0" lang="en-US" sz="900" u="none" cap="none" strike="noStrike">
                <a:solidFill>
                  <a:srgbClr val="5A7185"/>
                </a:solidFill>
                <a:latin typeface="Calibri"/>
                <a:ea typeface="Calibri"/>
                <a:cs typeface="Calibri"/>
                <a:sym typeface="Calibri"/>
              </a:rPr>
              <a:t>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B"/>
        </a:solidFill>
      </p:bgPr>
    </p:bg>
    <p:spTree>
      <p:nvGrpSpPr>
        <p:cNvPr id="95" name="Shape 95"/>
        <p:cNvGrpSpPr/>
        <p:nvPr/>
      </p:nvGrpSpPr>
      <p:grpSpPr>
        <a:xfrm>
          <a:off x="0" y="0"/>
          <a:ext cx="0" cy="0"/>
          <a:chOff x="0" y="0"/>
          <a:chExt cx="0" cy="0"/>
        </a:xfrm>
      </p:grpSpPr>
      <p:sp>
        <p:nvSpPr>
          <p:cNvPr id="96" name="Google Shape;96;p8"/>
          <p:cNvSpPr/>
          <p:nvPr/>
        </p:nvSpPr>
        <p:spPr>
          <a:xfrm>
            <a:off x="548640" y="457200"/>
            <a:ext cx="502920" cy="502920"/>
          </a:xfrm>
          <a:prstGeom prst="ellipse">
            <a:avLst/>
          </a:prstGeom>
          <a:solidFill>
            <a:srgbClr val="30699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8"/>
          <p:cNvSpPr/>
          <p:nvPr/>
        </p:nvSpPr>
        <p:spPr>
          <a:xfrm>
            <a:off x="548640" y="457200"/>
            <a:ext cx="50292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000"/>
              <a:buFont typeface="Cambria"/>
              <a:buNone/>
            </a:pPr>
            <a:r>
              <a:rPr b="1" i="0" lang="en-US" sz="2000" u="none" cap="none" strike="noStrike">
                <a:solidFill>
                  <a:srgbClr val="FFFFFF"/>
                </a:solidFill>
                <a:latin typeface="Cambria"/>
                <a:ea typeface="Cambria"/>
                <a:cs typeface="Cambria"/>
                <a:sym typeface="Cambria"/>
              </a:rPr>
              <a:t>3</a:t>
            </a:r>
            <a:endParaRPr b="0" i="0" sz="2000" u="none" cap="none" strike="noStrike">
              <a:solidFill>
                <a:schemeClr val="dk1"/>
              </a:solidFill>
              <a:latin typeface="Calibri"/>
              <a:ea typeface="Calibri"/>
              <a:cs typeface="Calibri"/>
              <a:sym typeface="Calibri"/>
            </a:endParaRPr>
          </a:p>
        </p:txBody>
      </p:sp>
      <p:sp>
        <p:nvSpPr>
          <p:cNvPr id="98" name="Google Shape;98;p8"/>
          <p:cNvSpPr/>
          <p:nvPr/>
        </p:nvSpPr>
        <p:spPr>
          <a:xfrm>
            <a:off x="1188720" y="384048"/>
            <a:ext cx="10424160"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84"/>
              </a:buClr>
              <a:buSzPts val="2000"/>
              <a:buFont typeface="Cambria"/>
              <a:buNone/>
            </a:pPr>
            <a:r>
              <a:rPr b="1" i="0" lang="en-US" sz="2000" u="none" cap="none" strike="noStrike">
                <a:solidFill>
                  <a:srgbClr val="2B5B84"/>
                </a:solidFill>
                <a:latin typeface="Cambria"/>
                <a:ea typeface="Cambria"/>
                <a:cs typeface="Cambria"/>
                <a:sym typeface="Cambria"/>
              </a:rPr>
              <a:t>4c. Card Data (Duplicates &amp; Missing Values)</a:t>
            </a:r>
            <a:endParaRPr b="0" i="0" sz="2000" u="none" cap="none" strike="noStrike">
              <a:solidFill>
                <a:schemeClr val="dk1"/>
              </a:solidFill>
              <a:latin typeface="Calibri"/>
              <a:ea typeface="Calibri"/>
              <a:cs typeface="Calibri"/>
              <a:sym typeface="Calibri"/>
            </a:endParaRPr>
          </a:p>
        </p:txBody>
      </p:sp>
      <p:sp>
        <p:nvSpPr>
          <p:cNvPr id="99" name="Google Shape;99;p8"/>
          <p:cNvSpPr/>
          <p:nvPr/>
        </p:nvSpPr>
        <p:spPr>
          <a:xfrm>
            <a:off x="548640" y="1325880"/>
            <a:ext cx="54864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7185"/>
              </a:buClr>
              <a:buSzPts val="1300"/>
              <a:buFont typeface="Calibri"/>
              <a:buNone/>
            </a:pPr>
            <a:r>
              <a:rPr b="1" i="0" lang="en-US" sz="1300" u="none" cap="none" strike="noStrike">
                <a:solidFill>
                  <a:srgbClr val="5A7185"/>
                </a:solidFill>
                <a:latin typeface="Calibri"/>
                <a:ea typeface="Calibri"/>
                <a:cs typeface="Calibri"/>
                <a:sym typeface="Calibri"/>
              </a:rPr>
              <a:t>Syntax</a:t>
            </a:r>
            <a:endParaRPr b="0" i="0" sz="1300" u="none" cap="none" strike="noStrike">
              <a:solidFill>
                <a:schemeClr val="dk1"/>
              </a:solidFill>
              <a:latin typeface="Calibri"/>
              <a:ea typeface="Calibri"/>
              <a:cs typeface="Calibri"/>
              <a:sym typeface="Calibri"/>
            </a:endParaRPr>
          </a:p>
        </p:txBody>
      </p:sp>
      <p:sp>
        <p:nvSpPr>
          <p:cNvPr id="100" name="Google Shape;100;p8"/>
          <p:cNvSpPr/>
          <p:nvPr/>
        </p:nvSpPr>
        <p:spPr>
          <a:xfrm>
            <a:off x="548640" y="1691640"/>
            <a:ext cx="6035040" cy="4663440"/>
          </a:xfrm>
          <a:prstGeom prst="roundRect">
            <a:avLst>
              <a:gd fmla="val 1569" name="adj"/>
            </a:avLst>
          </a:prstGeom>
          <a:solidFill>
            <a:srgbClr val="1B2A38"/>
          </a:solidFill>
          <a:ln cap="flat" cmpd="sng" w="12700">
            <a:solidFill>
              <a:srgbClr val="1B2A3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8"/>
          <p:cNvSpPr/>
          <p:nvPr/>
        </p:nvSpPr>
        <p:spPr>
          <a:xfrm>
            <a:off x="731520" y="1828800"/>
            <a:ext cx="5715000" cy="4389120"/>
          </a:xfrm>
          <a:prstGeom prst="rect">
            <a:avLst/>
          </a:prstGeom>
          <a:noFill/>
          <a:ln>
            <a:noFill/>
          </a:ln>
        </p:spPr>
        <p:txBody>
          <a:bodyPr anchorCtr="0" anchor="t" bIns="0" lIns="0" spcFirstLastPara="1" rIns="0" wrap="square" tIns="0">
            <a:noAutofit/>
          </a:bodyPr>
          <a:lstStyle/>
          <a:p>
            <a:pPr indent="0" lvl="0" marL="0" marR="0" rtl="0" algn="l">
              <a:lnSpc>
                <a:spcPct val="135714"/>
              </a:lnSpc>
              <a:spcBef>
                <a:spcPts val="0"/>
              </a:spcBef>
              <a:spcAft>
                <a:spcPts val="0"/>
              </a:spcAft>
              <a:buClr>
                <a:schemeClr val="dk1"/>
              </a:buClr>
              <a:buSzPts val="1100"/>
              <a:buFont typeface="Arial"/>
              <a:buNone/>
            </a:pPr>
            <a:r>
              <a:rPr lang="en-US" sz="1050">
                <a:solidFill>
                  <a:schemeClr val="lt1"/>
                </a:solidFill>
                <a:highlight>
                  <a:srgbClr val="202A37"/>
                </a:highlight>
                <a:latin typeface="Courier New"/>
                <a:ea typeface="Courier New"/>
                <a:cs typeface="Courier New"/>
                <a:sym typeface="Courier New"/>
              </a:rPr>
              <a:t>print("Rows:", len(df_card), "| Unique id:", df_card['id'].nunique())</a:t>
            </a:r>
            <a:endParaRPr sz="1050">
              <a:solidFill>
                <a:schemeClr val="lt1"/>
              </a:solidFill>
              <a:highlight>
                <a:srgbClr val="202A37"/>
              </a:highlight>
              <a:latin typeface="Courier New"/>
              <a:ea typeface="Courier New"/>
              <a:cs typeface="Courier New"/>
              <a:sym typeface="Courier New"/>
            </a:endParaRPr>
          </a:p>
          <a:p>
            <a:pPr indent="0" lvl="0" marL="0" marR="0" rtl="0" algn="l">
              <a:lnSpc>
                <a:spcPct val="135714"/>
              </a:lnSpc>
              <a:spcBef>
                <a:spcPts val="0"/>
              </a:spcBef>
              <a:spcAft>
                <a:spcPts val="0"/>
              </a:spcAft>
              <a:buClr>
                <a:schemeClr val="dk1"/>
              </a:buClr>
              <a:buSzPts val="1100"/>
              <a:buFont typeface="Arial"/>
              <a:buNone/>
            </a:pPr>
            <a:r>
              <a:rPr lang="en-US" sz="1050">
                <a:solidFill>
                  <a:schemeClr val="lt1"/>
                </a:solidFill>
                <a:highlight>
                  <a:srgbClr val="202A37"/>
                </a:highlight>
                <a:latin typeface="Courier New"/>
                <a:ea typeface="Courier New"/>
                <a:cs typeface="Courier New"/>
                <a:sym typeface="Courier New"/>
              </a:rPr>
              <a:t>print("Duplicated data count:", df_card.duplicated(subset=['id']).sum())</a:t>
            </a:r>
            <a:endParaRPr sz="1050">
              <a:solidFill>
                <a:schemeClr val="lt1"/>
              </a:solidFill>
              <a:highlight>
                <a:srgbClr val="202A37"/>
              </a:highlight>
              <a:latin typeface="Courier New"/>
              <a:ea typeface="Courier New"/>
              <a:cs typeface="Courier New"/>
              <a:sym typeface="Courier New"/>
            </a:endParaRPr>
          </a:p>
          <a:p>
            <a:pPr indent="0" lvl="0" marL="0" marR="0" rtl="0" algn="l">
              <a:lnSpc>
                <a:spcPct val="135714"/>
              </a:lnSpc>
              <a:spcBef>
                <a:spcPts val="0"/>
              </a:spcBef>
              <a:spcAft>
                <a:spcPts val="0"/>
              </a:spcAft>
              <a:buClr>
                <a:schemeClr val="dk1"/>
              </a:buClr>
              <a:buSzPts val="1100"/>
              <a:buFont typeface="Arial"/>
              <a:buNone/>
            </a:pPr>
            <a:r>
              <a:t/>
            </a:r>
            <a:endParaRPr sz="1050">
              <a:solidFill>
                <a:schemeClr val="lt1"/>
              </a:solidFill>
              <a:highlight>
                <a:srgbClr val="202A37"/>
              </a:highlight>
              <a:latin typeface="Courier New"/>
              <a:ea typeface="Courier New"/>
              <a:cs typeface="Courier New"/>
              <a:sym typeface="Courier New"/>
            </a:endParaRPr>
          </a:p>
          <a:p>
            <a:pPr indent="0" lvl="0" marL="0" marR="0" rtl="0" algn="l">
              <a:lnSpc>
                <a:spcPct val="135714"/>
              </a:lnSpc>
              <a:spcBef>
                <a:spcPts val="0"/>
              </a:spcBef>
              <a:spcAft>
                <a:spcPts val="0"/>
              </a:spcAft>
              <a:buClr>
                <a:schemeClr val="dk1"/>
              </a:buClr>
              <a:buSzPts val="1100"/>
              <a:buFont typeface="Arial"/>
              <a:buNone/>
            </a:pPr>
            <a:r>
              <a:rPr lang="en-US" sz="1050">
                <a:solidFill>
                  <a:schemeClr val="lt1"/>
                </a:solidFill>
                <a:highlight>
                  <a:srgbClr val="202A37"/>
                </a:highlight>
                <a:latin typeface="Courier New"/>
                <a:ea typeface="Courier New"/>
                <a:cs typeface="Courier New"/>
                <a:sym typeface="Courier New"/>
              </a:rPr>
              <a:t>df_card = df_card.drop_duplicates(subset=['id'], keep='first')</a:t>
            </a:r>
            <a:endParaRPr sz="1050">
              <a:solidFill>
                <a:schemeClr val="lt1"/>
              </a:solidFill>
              <a:highlight>
                <a:srgbClr val="202A37"/>
              </a:highlight>
              <a:latin typeface="Courier New"/>
              <a:ea typeface="Courier New"/>
              <a:cs typeface="Courier New"/>
              <a:sym typeface="Courier New"/>
            </a:endParaRPr>
          </a:p>
          <a:p>
            <a:pPr indent="0" lvl="0" marL="0" marR="0" rtl="0" algn="l">
              <a:lnSpc>
                <a:spcPct val="135714"/>
              </a:lnSpc>
              <a:spcBef>
                <a:spcPts val="0"/>
              </a:spcBef>
              <a:spcAft>
                <a:spcPts val="0"/>
              </a:spcAft>
              <a:buClr>
                <a:schemeClr val="dk1"/>
              </a:buClr>
              <a:buSzPts val="1100"/>
              <a:buFont typeface="Arial"/>
              <a:buNone/>
            </a:pPr>
            <a:r>
              <a:rPr lang="en-US" sz="1050">
                <a:solidFill>
                  <a:schemeClr val="lt1"/>
                </a:solidFill>
                <a:highlight>
                  <a:srgbClr val="202A37"/>
                </a:highlight>
                <a:latin typeface="Courier New"/>
                <a:ea typeface="Courier New"/>
                <a:cs typeface="Courier New"/>
                <a:sym typeface="Courier New"/>
              </a:rPr>
              <a:t>print("Shape after drop duplicates:", df_card.shape)</a:t>
            </a:r>
            <a:endParaRPr sz="1050">
              <a:solidFill>
                <a:schemeClr val="lt1"/>
              </a:solidFill>
              <a:highlight>
                <a:srgbClr val="202A37"/>
              </a:highlight>
              <a:latin typeface="Courier New"/>
              <a:ea typeface="Courier New"/>
              <a:cs typeface="Courier New"/>
              <a:sym typeface="Courier New"/>
            </a:endParaRPr>
          </a:p>
          <a:p>
            <a:pPr indent="0" lvl="0" marL="0" marR="0" rtl="0" algn="l">
              <a:lnSpc>
                <a:spcPct val="135714"/>
              </a:lnSpc>
              <a:spcBef>
                <a:spcPts val="0"/>
              </a:spcBef>
              <a:spcAft>
                <a:spcPts val="0"/>
              </a:spcAft>
              <a:buClr>
                <a:schemeClr val="dk1"/>
              </a:buClr>
              <a:buSzPts val="1100"/>
              <a:buFont typeface="Arial"/>
              <a:buNone/>
            </a:pPr>
            <a:r>
              <a:t/>
            </a:r>
            <a:endParaRPr sz="1050">
              <a:solidFill>
                <a:schemeClr val="lt1"/>
              </a:solidFill>
              <a:highlight>
                <a:srgbClr val="202A37"/>
              </a:highlight>
              <a:latin typeface="Courier New"/>
              <a:ea typeface="Courier New"/>
              <a:cs typeface="Courier New"/>
              <a:sym typeface="Courier New"/>
            </a:endParaRPr>
          </a:p>
          <a:p>
            <a:pPr indent="0" lvl="0" marL="0" marR="0" rtl="0" algn="l">
              <a:lnSpc>
                <a:spcPct val="135714"/>
              </a:lnSpc>
              <a:spcBef>
                <a:spcPts val="0"/>
              </a:spcBef>
              <a:spcAft>
                <a:spcPts val="0"/>
              </a:spcAft>
              <a:buClr>
                <a:schemeClr val="dk1"/>
              </a:buClr>
              <a:buSzPts val="1100"/>
              <a:buFont typeface="Arial"/>
              <a:buNone/>
            </a:pPr>
            <a:r>
              <a:rPr lang="en-US" sz="1050">
                <a:solidFill>
                  <a:schemeClr val="lt1"/>
                </a:solidFill>
                <a:highlight>
                  <a:srgbClr val="202A37"/>
                </a:highlight>
                <a:latin typeface="Courier New"/>
                <a:ea typeface="Courier New"/>
                <a:cs typeface="Courier New"/>
                <a:sym typeface="Courier New"/>
              </a:rPr>
              <a:t>print("\nMissing values:\n", df_card.isnull().sum())</a:t>
            </a:r>
            <a:endParaRPr sz="1050">
              <a:solidFill>
                <a:schemeClr val="lt1"/>
              </a:solidFill>
              <a:highlight>
                <a:srgbClr val="202A37"/>
              </a:highlight>
              <a:latin typeface="Courier New"/>
              <a:ea typeface="Courier New"/>
              <a:cs typeface="Courier New"/>
              <a:sym typeface="Courier New"/>
            </a:endParaRPr>
          </a:p>
          <a:p>
            <a:pPr indent="0" lvl="0" marL="0" marR="0" rtl="0" algn="l">
              <a:lnSpc>
                <a:spcPct val="135714"/>
              </a:lnSpc>
              <a:spcBef>
                <a:spcPts val="0"/>
              </a:spcBef>
              <a:spcAft>
                <a:spcPts val="0"/>
              </a:spcAft>
              <a:buClr>
                <a:schemeClr val="dk1"/>
              </a:buClr>
              <a:buSzPts val="1100"/>
              <a:buFont typeface="Arial"/>
              <a:buNone/>
            </a:pPr>
            <a:r>
              <a:t/>
            </a:r>
            <a:endParaRPr sz="1050">
              <a:solidFill>
                <a:schemeClr val="lt1"/>
              </a:solidFill>
              <a:highlight>
                <a:srgbClr val="202A37"/>
              </a:highlight>
              <a:latin typeface="Courier New"/>
              <a:ea typeface="Courier New"/>
              <a:cs typeface="Courier New"/>
              <a:sym typeface="Courier New"/>
            </a:endParaRPr>
          </a:p>
          <a:p>
            <a:pPr indent="0" lvl="0" marL="0" marR="0" rtl="0" algn="l">
              <a:lnSpc>
                <a:spcPct val="135714"/>
              </a:lnSpc>
              <a:spcBef>
                <a:spcPts val="0"/>
              </a:spcBef>
              <a:spcAft>
                <a:spcPts val="0"/>
              </a:spcAft>
              <a:buClr>
                <a:schemeClr val="dk1"/>
              </a:buClr>
              <a:buSzPts val="1100"/>
              <a:buFont typeface="Arial"/>
              <a:buNone/>
            </a:pPr>
            <a:r>
              <a:rPr lang="en-US" sz="1050">
                <a:solidFill>
                  <a:schemeClr val="lt1"/>
                </a:solidFill>
                <a:highlight>
                  <a:srgbClr val="202A37"/>
                </a:highlight>
                <a:latin typeface="Courier New"/>
                <a:ea typeface="Courier New"/>
                <a:cs typeface="Courier New"/>
                <a:sym typeface="Courier New"/>
              </a:rPr>
              <a:t>df_card = df_card.fillna(0)</a:t>
            </a:r>
            <a:endParaRPr sz="1050">
              <a:solidFill>
                <a:schemeClr val="lt1"/>
              </a:solidFill>
              <a:highlight>
                <a:srgbClr val="202A37"/>
              </a:highlight>
              <a:latin typeface="Courier New"/>
              <a:ea typeface="Courier New"/>
              <a:cs typeface="Courier New"/>
              <a:sym typeface="Courier New"/>
            </a:endParaRPr>
          </a:p>
          <a:p>
            <a:pPr indent="0" lvl="0" marL="0" marR="0" rtl="0" algn="l">
              <a:lnSpc>
                <a:spcPct val="135714"/>
              </a:lnSpc>
              <a:spcBef>
                <a:spcPts val="0"/>
              </a:spcBef>
              <a:spcAft>
                <a:spcPts val="0"/>
              </a:spcAft>
              <a:buClr>
                <a:schemeClr val="dk1"/>
              </a:buClr>
              <a:buSzPts val="1100"/>
              <a:buFont typeface="Arial"/>
              <a:buNone/>
            </a:pPr>
            <a:r>
              <a:t/>
            </a:r>
            <a:endParaRPr sz="1050">
              <a:solidFill>
                <a:schemeClr val="lt1"/>
              </a:solidFill>
              <a:highlight>
                <a:srgbClr val="202A37"/>
              </a:highlight>
              <a:latin typeface="Courier New"/>
              <a:ea typeface="Courier New"/>
              <a:cs typeface="Courier New"/>
              <a:sym typeface="Courier New"/>
            </a:endParaRPr>
          </a:p>
          <a:p>
            <a:pPr indent="0" lvl="0" marL="0" marR="0" rtl="0" algn="l">
              <a:lnSpc>
                <a:spcPct val="135714"/>
              </a:lnSpc>
              <a:spcBef>
                <a:spcPts val="0"/>
              </a:spcBef>
              <a:spcAft>
                <a:spcPts val="0"/>
              </a:spcAft>
              <a:buClr>
                <a:schemeClr val="dk1"/>
              </a:buClr>
              <a:buSzPts val="1100"/>
              <a:buFont typeface="Arial"/>
              <a:buNone/>
            </a:pPr>
            <a:r>
              <a:rPr lang="en-US" sz="1050">
                <a:solidFill>
                  <a:schemeClr val="lt1"/>
                </a:solidFill>
                <a:highlight>
                  <a:srgbClr val="202A37"/>
                </a:highlight>
                <a:latin typeface="Courier New"/>
                <a:ea typeface="Courier New"/>
                <a:cs typeface="Courier New"/>
                <a:sym typeface="Courier New"/>
              </a:rPr>
              <a:t>count_cols = ['count_nonfraud_trx_L6M', 'count_fraud_trx_L6M']</a:t>
            </a:r>
            <a:endParaRPr sz="1050">
              <a:solidFill>
                <a:schemeClr val="lt1"/>
              </a:solidFill>
              <a:highlight>
                <a:srgbClr val="202A37"/>
              </a:highlight>
              <a:latin typeface="Courier New"/>
              <a:ea typeface="Courier New"/>
              <a:cs typeface="Courier New"/>
              <a:sym typeface="Courier New"/>
            </a:endParaRPr>
          </a:p>
          <a:p>
            <a:pPr indent="0" lvl="0" marL="0" marR="0" rtl="0" algn="l">
              <a:lnSpc>
                <a:spcPct val="135714"/>
              </a:lnSpc>
              <a:spcBef>
                <a:spcPts val="0"/>
              </a:spcBef>
              <a:spcAft>
                <a:spcPts val="0"/>
              </a:spcAft>
              <a:buClr>
                <a:schemeClr val="dk1"/>
              </a:buClr>
              <a:buSzPts val="1100"/>
              <a:buFont typeface="Arial"/>
              <a:buNone/>
            </a:pPr>
            <a:r>
              <a:rPr lang="en-US" sz="1050">
                <a:solidFill>
                  <a:schemeClr val="lt1"/>
                </a:solidFill>
                <a:highlight>
                  <a:srgbClr val="202A37"/>
                </a:highlight>
                <a:latin typeface="Courier New"/>
                <a:ea typeface="Courier New"/>
                <a:cs typeface="Courier New"/>
                <a:sym typeface="Courier New"/>
              </a:rPr>
              <a:t>df_card[count_cols] = df_card[count_cols].astype('int64')</a:t>
            </a:r>
            <a:endParaRPr sz="1050">
              <a:solidFill>
                <a:schemeClr val="lt1"/>
              </a:solidFill>
              <a:highlight>
                <a:srgbClr val="202A37"/>
              </a:highlight>
              <a:latin typeface="Courier New"/>
              <a:ea typeface="Courier New"/>
              <a:cs typeface="Courier New"/>
              <a:sym typeface="Courier New"/>
            </a:endParaRPr>
          </a:p>
          <a:p>
            <a:pPr indent="0" lvl="0" marL="0" marR="0" rtl="0" algn="l">
              <a:lnSpc>
                <a:spcPct val="115000"/>
              </a:lnSpc>
              <a:spcBef>
                <a:spcPts val="0"/>
              </a:spcBef>
              <a:spcAft>
                <a:spcPts val="0"/>
              </a:spcAft>
              <a:buClr>
                <a:srgbClr val="E7F0FA"/>
              </a:buClr>
              <a:buSzPts val="1100"/>
              <a:buFont typeface="Courier New"/>
              <a:buNone/>
            </a:pPr>
            <a:r>
              <a:t/>
            </a:r>
            <a:endParaRPr sz="1050">
              <a:solidFill>
                <a:schemeClr val="lt1"/>
              </a:solidFill>
              <a:highlight>
                <a:srgbClr val="202A37"/>
              </a:highlight>
              <a:latin typeface="Courier New"/>
              <a:ea typeface="Courier New"/>
              <a:cs typeface="Courier New"/>
              <a:sym typeface="Courier New"/>
            </a:endParaRPr>
          </a:p>
        </p:txBody>
      </p:sp>
      <p:sp>
        <p:nvSpPr>
          <p:cNvPr id="102" name="Google Shape;102;p8"/>
          <p:cNvSpPr/>
          <p:nvPr/>
        </p:nvSpPr>
        <p:spPr>
          <a:xfrm>
            <a:off x="6812280" y="1325880"/>
            <a:ext cx="4800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7185"/>
              </a:buClr>
              <a:buSzPts val="1300"/>
              <a:buFont typeface="Calibri"/>
              <a:buNone/>
            </a:pPr>
            <a:r>
              <a:rPr b="1" i="0" lang="en-US" sz="1300" u="none" cap="none" strike="noStrike">
                <a:solidFill>
                  <a:srgbClr val="5A7185"/>
                </a:solidFill>
                <a:latin typeface="Calibri"/>
                <a:ea typeface="Calibri"/>
                <a:cs typeface="Calibri"/>
                <a:sym typeface="Calibri"/>
              </a:rPr>
              <a:t>Output</a:t>
            </a:r>
            <a:endParaRPr b="0" i="0" sz="1300" u="none" cap="none" strike="noStrike">
              <a:solidFill>
                <a:schemeClr val="dk1"/>
              </a:solidFill>
              <a:latin typeface="Calibri"/>
              <a:ea typeface="Calibri"/>
              <a:cs typeface="Calibri"/>
              <a:sym typeface="Calibri"/>
            </a:endParaRPr>
          </a:p>
        </p:txBody>
      </p:sp>
      <p:sp>
        <p:nvSpPr>
          <p:cNvPr id="103" name="Google Shape;103;p8"/>
          <p:cNvSpPr/>
          <p:nvPr/>
        </p:nvSpPr>
        <p:spPr>
          <a:xfrm>
            <a:off x="6812280" y="1691640"/>
            <a:ext cx="4800600" cy="2331720"/>
          </a:xfrm>
          <a:prstGeom prst="roundRect">
            <a:avLst>
              <a:gd fmla="val 2353" name="adj"/>
            </a:avLst>
          </a:prstGeom>
          <a:solidFill>
            <a:srgbClr val="FFFFFF"/>
          </a:solidFill>
          <a:ln cap="flat" cmpd="sng" w="19050">
            <a:solidFill>
              <a:srgbClr val="FFD4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104" name="Google Shape;104;p8"/>
          <p:cNvGraphicFramePr/>
          <p:nvPr/>
        </p:nvGraphicFramePr>
        <p:xfrm>
          <a:off x="6903720" y="1783080"/>
          <a:ext cx="3000000" cy="3000000"/>
        </p:xfrm>
        <a:graphic>
          <a:graphicData uri="http://schemas.openxmlformats.org/drawingml/2006/table">
            <a:tbl>
              <a:tblPr>
                <a:noFill/>
                <a:tableStyleId>{3D7D59D7-DF91-47F0-BCBC-DAAD57FB8C79}</a:tableStyleId>
              </a:tblPr>
              <a:tblGrid>
                <a:gridCol w="3063250"/>
                <a:gridCol w="1554475"/>
              </a:tblGrid>
              <a:tr h="358150">
                <a:tc>
                  <a:txBody>
                    <a:bodyPr/>
                    <a:lstStyle/>
                    <a:p>
                      <a:pPr indent="0" lvl="0" marL="0" marR="0" rtl="0" algn="ctr">
                        <a:lnSpc>
                          <a:spcPct val="100000"/>
                        </a:lnSpc>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Check</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306998"/>
                    </a:solidFill>
                  </a:tcPr>
                </a:tc>
                <a:tc>
                  <a:txBody>
                    <a:bodyPr/>
                    <a:lstStyle/>
                    <a:p>
                      <a:pPr indent="0" lvl="0" marL="0" marR="0" rtl="0" algn="ctr">
                        <a:lnSpc>
                          <a:spcPct val="100000"/>
                        </a:lnSpc>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Result</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306998"/>
                    </a:solidFill>
                  </a:tcPr>
                </a:tc>
              </a:tr>
              <a:tr h="358150">
                <a:tc>
                  <a:txBody>
                    <a:bodyPr/>
                    <a:lstStyle/>
                    <a:p>
                      <a:pPr indent="0" lvl="0" marL="0" marR="0" rtl="0" algn="l">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Total rows</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5,599</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r>
              <a:tr h="358150">
                <a:tc>
                  <a:txBody>
                    <a:bodyPr/>
                    <a:lstStyle/>
                    <a:p>
                      <a:pPr indent="0" lvl="0" marL="0" marR="0" rtl="0" algn="l">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Unique card id</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AF2FB"/>
                    </a:solidFill>
                  </a:tcPr>
                </a:tc>
                <a:tc>
                  <a:txBody>
                    <a:bodyPr/>
                    <a:lstStyle/>
                    <a:p>
                      <a:pPr indent="0" lvl="0" marL="0" marR="0" rtl="0" algn="r">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5,568</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AF2FB"/>
                    </a:solidFill>
                  </a:tcPr>
                </a:tc>
              </a:tr>
              <a:tr h="358150">
                <a:tc>
                  <a:txBody>
                    <a:bodyPr/>
                    <a:lstStyle/>
                    <a:p>
                      <a:pPr indent="0" lvl="0" marL="0" marR="0" rtl="0" algn="l">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Duplicated id (removed)</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31</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r>
              <a:tr h="358150">
                <a:tc>
                  <a:txBody>
                    <a:bodyPr/>
                    <a:lstStyle/>
                    <a:p>
                      <a:pPr indent="0" lvl="0" marL="0" marR="0" rtl="0" algn="l">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Missing - fraud columns</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AF2FB"/>
                    </a:solidFill>
                  </a:tcPr>
                </a:tc>
                <a:tc>
                  <a:txBody>
                    <a:bodyPr/>
                    <a:lstStyle/>
                    <a:p>
                      <a:pPr indent="0" lvl="0" marL="0" marR="0" rtl="0" algn="r">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5,021</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AF2FB"/>
                    </a:solidFill>
                  </a:tcPr>
                </a:tc>
              </a:tr>
              <a:tr h="358150">
                <a:tc>
                  <a:txBody>
                    <a:bodyPr/>
                    <a:lstStyle/>
                    <a:p>
                      <a:pPr indent="0" lvl="0" marL="0" marR="0" rtl="0" algn="l">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Missing after fillna(0)</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0</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r>
            </a:tbl>
          </a:graphicData>
        </a:graphic>
      </p:graphicFrame>
      <p:sp>
        <p:nvSpPr>
          <p:cNvPr id="105" name="Google Shape;105;p8"/>
          <p:cNvSpPr/>
          <p:nvPr/>
        </p:nvSpPr>
        <p:spPr>
          <a:xfrm>
            <a:off x="6812280" y="4160520"/>
            <a:ext cx="4800600" cy="2194560"/>
          </a:xfrm>
          <a:prstGeom prst="roundRect">
            <a:avLst>
              <a:gd fmla="val 2500" name="adj"/>
            </a:avLst>
          </a:prstGeom>
          <a:solidFill>
            <a:srgbClr val="FFD43B"/>
          </a:solidFill>
          <a:ln cap="flat" cmpd="sng" w="12700">
            <a:solidFill>
              <a:srgbClr val="FFD4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8"/>
          <p:cNvSpPr/>
          <p:nvPr/>
        </p:nvSpPr>
        <p:spPr>
          <a:xfrm>
            <a:off x="6995160" y="4279392"/>
            <a:ext cx="448056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2A38"/>
              </a:buClr>
              <a:buSzPts val="1500"/>
              <a:buFont typeface="Cambria"/>
              <a:buNone/>
            </a:pPr>
            <a:r>
              <a:rPr b="1" i="0" lang="en-US" sz="1500" u="none" cap="none" strike="noStrike">
                <a:solidFill>
                  <a:srgbClr val="1B2A38"/>
                </a:solidFill>
                <a:latin typeface="Cambria"/>
                <a:ea typeface="Cambria"/>
                <a:cs typeface="Cambria"/>
                <a:sym typeface="Cambria"/>
              </a:rPr>
              <a:t>Insight</a:t>
            </a:r>
            <a:endParaRPr b="0" i="0" sz="1500" u="none" cap="none" strike="noStrike">
              <a:solidFill>
                <a:schemeClr val="dk1"/>
              </a:solidFill>
              <a:latin typeface="Calibri"/>
              <a:ea typeface="Calibri"/>
              <a:cs typeface="Calibri"/>
              <a:sym typeface="Calibri"/>
            </a:endParaRPr>
          </a:p>
        </p:txBody>
      </p:sp>
      <p:sp>
        <p:nvSpPr>
          <p:cNvPr id="107" name="Google Shape;107;p8"/>
          <p:cNvSpPr/>
          <p:nvPr/>
        </p:nvSpPr>
        <p:spPr>
          <a:xfrm>
            <a:off x="6995160" y="4645152"/>
            <a:ext cx="4480560" cy="1600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B2A38"/>
              </a:buClr>
              <a:buSzPts val="1200"/>
              <a:buFont typeface="Calibri"/>
              <a:buNone/>
            </a:pPr>
            <a:r>
              <a:rPr b="0" i="0" lang="en-US" sz="1200" u="none" cap="none" strike="noStrike">
                <a:solidFill>
                  <a:srgbClr val="1B2A38"/>
                </a:solidFill>
                <a:latin typeface="Calibri"/>
                <a:ea typeface="Calibri"/>
                <a:cs typeface="Calibri"/>
                <a:sym typeface="Calibri"/>
              </a:rPr>
              <a:t>The duplicate check is based on id, the unique card identifier: one card must appear exactly once, so 5,599 rows against only 5,568 unique ids means 31 records were entered twice. Checking id matters  a plain duplicated() across all columns returns 0 here, because one copy of each pair carries a trailing space in card_brand. Duplicates are deleted, not replaced: a twin row adds no new information and would double-count transactions. Missing values are filled with 0, since a blank means no transaction occurred.</a:t>
            </a:r>
            <a:endParaRPr b="0" i="0" sz="1200" u="none" cap="none" strike="noStrike">
              <a:solidFill>
                <a:schemeClr val="dk1"/>
              </a:solidFill>
              <a:latin typeface="Calibri"/>
              <a:ea typeface="Calibri"/>
              <a:cs typeface="Calibri"/>
              <a:sym typeface="Calibri"/>
            </a:endParaRPr>
          </a:p>
        </p:txBody>
      </p:sp>
      <p:sp>
        <p:nvSpPr>
          <p:cNvPr id="108" name="Google Shape;108;p8"/>
          <p:cNvSpPr/>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7185"/>
              </a:buClr>
              <a:buSzPts val="900"/>
              <a:buFont typeface="Calibri"/>
              <a:buNone/>
            </a:pPr>
            <a:r>
              <a:rPr b="0" i="0" lang="en-US" sz="900" u="none" cap="none" strike="noStrike">
                <a:solidFill>
                  <a:srgbClr val="5A7185"/>
                </a:solidFill>
                <a:latin typeface="Calibri"/>
                <a:ea typeface="Calibri"/>
                <a:cs typeface="Calibri"/>
                <a:sym typeface="Calibri"/>
              </a:rPr>
              <a:t>Credit Card &amp; User Data Cleaning – Milestone 1</a:t>
            </a:r>
            <a:endParaRPr b="0" i="0" sz="900" u="none" cap="none" strike="noStrike">
              <a:solidFill>
                <a:schemeClr val="dk1"/>
              </a:solidFill>
              <a:latin typeface="Calibri"/>
              <a:ea typeface="Calibri"/>
              <a:cs typeface="Calibri"/>
              <a:sym typeface="Calibri"/>
            </a:endParaRPr>
          </a:p>
        </p:txBody>
      </p:sp>
      <p:sp>
        <p:nvSpPr>
          <p:cNvPr id="109" name="Google Shape;109;p8"/>
          <p:cNvSpPr/>
          <p:nvPr/>
        </p:nvSpPr>
        <p:spPr>
          <a:xfrm>
            <a:off x="11247120" y="6492240"/>
            <a:ext cx="4572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7185"/>
              </a:buClr>
              <a:buSzPts val="900"/>
              <a:buFont typeface="Calibri"/>
              <a:buNone/>
            </a:pPr>
            <a:r>
              <a:rPr b="0" i="0" lang="en-US" sz="900" u="none" cap="none" strike="noStrike">
                <a:solidFill>
                  <a:srgbClr val="5A7185"/>
                </a:solidFill>
                <a:latin typeface="Calibri"/>
                <a:ea typeface="Calibri"/>
                <a:cs typeface="Calibri"/>
                <a:sym typeface="Calibri"/>
              </a:rPr>
              <a:t>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B"/>
        </a:solidFill>
      </p:bgPr>
    </p:bg>
    <p:spTree>
      <p:nvGrpSpPr>
        <p:cNvPr id="113" name="Shape 113"/>
        <p:cNvGrpSpPr/>
        <p:nvPr/>
      </p:nvGrpSpPr>
      <p:grpSpPr>
        <a:xfrm>
          <a:off x="0" y="0"/>
          <a:ext cx="0" cy="0"/>
          <a:chOff x="0" y="0"/>
          <a:chExt cx="0" cy="0"/>
        </a:xfrm>
      </p:grpSpPr>
      <p:sp>
        <p:nvSpPr>
          <p:cNvPr id="114" name="Google Shape;114;p9"/>
          <p:cNvSpPr/>
          <p:nvPr/>
        </p:nvSpPr>
        <p:spPr>
          <a:xfrm>
            <a:off x="548640" y="457200"/>
            <a:ext cx="502920" cy="502920"/>
          </a:xfrm>
          <a:prstGeom prst="ellipse">
            <a:avLst/>
          </a:prstGeom>
          <a:solidFill>
            <a:srgbClr val="30699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9"/>
          <p:cNvSpPr/>
          <p:nvPr/>
        </p:nvSpPr>
        <p:spPr>
          <a:xfrm>
            <a:off x="548640" y="457200"/>
            <a:ext cx="50292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000"/>
              <a:buFont typeface="Cambria"/>
              <a:buNone/>
            </a:pPr>
            <a:r>
              <a:rPr b="1" i="0" lang="en-US" sz="2000" u="none" cap="none" strike="noStrike">
                <a:solidFill>
                  <a:srgbClr val="FFFFFF"/>
                </a:solidFill>
                <a:latin typeface="Cambria"/>
                <a:ea typeface="Cambria"/>
                <a:cs typeface="Cambria"/>
                <a:sym typeface="Cambria"/>
              </a:rPr>
              <a:t>4</a:t>
            </a:r>
            <a:endParaRPr b="0" i="0" sz="2000" u="none" cap="none" strike="noStrike">
              <a:solidFill>
                <a:schemeClr val="dk1"/>
              </a:solidFill>
              <a:latin typeface="Calibri"/>
              <a:ea typeface="Calibri"/>
              <a:cs typeface="Calibri"/>
              <a:sym typeface="Calibri"/>
            </a:endParaRPr>
          </a:p>
        </p:txBody>
      </p:sp>
      <p:sp>
        <p:nvSpPr>
          <p:cNvPr id="116" name="Google Shape;116;p9"/>
          <p:cNvSpPr/>
          <p:nvPr/>
        </p:nvSpPr>
        <p:spPr>
          <a:xfrm>
            <a:off x="1188720" y="384048"/>
            <a:ext cx="10424160"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84"/>
              </a:buClr>
              <a:buSzPts val="2000"/>
              <a:buFont typeface="Cambria"/>
              <a:buNone/>
            </a:pPr>
            <a:r>
              <a:rPr b="1" i="0" lang="en-US" sz="2000" u="none" cap="none" strike="noStrike">
                <a:solidFill>
                  <a:srgbClr val="2B5B84"/>
                </a:solidFill>
                <a:latin typeface="Cambria"/>
                <a:ea typeface="Cambria"/>
                <a:cs typeface="Cambria"/>
                <a:sym typeface="Cambria"/>
              </a:rPr>
              <a:t>4d. Card Data (Remove Expired &amp; 0-Limit Cards)</a:t>
            </a:r>
            <a:endParaRPr b="0" i="0" sz="2000" u="none" cap="none" strike="noStrike">
              <a:solidFill>
                <a:schemeClr val="dk1"/>
              </a:solidFill>
              <a:latin typeface="Calibri"/>
              <a:ea typeface="Calibri"/>
              <a:cs typeface="Calibri"/>
              <a:sym typeface="Calibri"/>
            </a:endParaRPr>
          </a:p>
        </p:txBody>
      </p:sp>
      <p:sp>
        <p:nvSpPr>
          <p:cNvPr id="117" name="Google Shape;117;p9"/>
          <p:cNvSpPr/>
          <p:nvPr/>
        </p:nvSpPr>
        <p:spPr>
          <a:xfrm>
            <a:off x="548640" y="1325880"/>
            <a:ext cx="54864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7185"/>
              </a:buClr>
              <a:buSzPts val="1300"/>
              <a:buFont typeface="Calibri"/>
              <a:buNone/>
            </a:pPr>
            <a:r>
              <a:rPr b="1" i="0" lang="en-US" sz="1300" u="none" cap="none" strike="noStrike">
                <a:solidFill>
                  <a:srgbClr val="5A7185"/>
                </a:solidFill>
                <a:latin typeface="Calibri"/>
                <a:ea typeface="Calibri"/>
                <a:cs typeface="Calibri"/>
                <a:sym typeface="Calibri"/>
              </a:rPr>
              <a:t>Syntax</a:t>
            </a:r>
            <a:endParaRPr b="0" i="0" sz="1300" u="none" cap="none" strike="noStrike">
              <a:solidFill>
                <a:schemeClr val="dk1"/>
              </a:solidFill>
              <a:latin typeface="Calibri"/>
              <a:ea typeface="Calibri"/>
              <a:cs typeface="Calibri"/>
              <a:sym typeface="Calibri"/>
            </a:endParaRPr>
          </a:p>
        </p:txBody>
      </p:sp>
      <p:sp>
        <p:nvSpPr>
          <p:cNvPr id="118" name="Google Shape;118;p9"/>
          <p:cNvSpPr/>
          <p:nvPr/>
        </p:nvSpPr>
        <p:spPr>
          <a:xfrm>
            <a:off x="548640" y="1691640"/>
            <a:ext cx="6035040" cy="4663440"/>
          </a:xfrm>
          <a:prstGeom prst="roundRect">
            <a:avLst>
              <a:gd fmla="val 1569" name="adj"/>
            </a:avLst>
          </a:prstGeom>
          <a:solidFill>
            <a:srgbClr val="1B2A38"/>
          </a:solidFill>
          <a:ln cap="flat" cmpd="sng" w="12700">
            <a:solidFill>
              <a:srgbClr val="1B2A3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9"/>
          <p:cNvSpPr/>
          <p:nvPr/>
        </p:nvSpPr>
        <p:spPr>
          <a:xfrm>
            <a:off x="731520" y="1828800"/>
            <a:ext cx="5715000" cy="43891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E7F0FA"/>
              </a:buClr>
              <a:buSzPts val="1100"/>
              <a:buFont typeface="Courier New"/>
              <a:buNone/>
            </a:pPr>
            <a:r>
              <a:rPr b="0" i="0" lang="en-US" sz="1100" u="none" cap="none" strike="noStrike">
                <a:solidFill>
                  <a:srgbClr val="E7F0FA"/>
                </a:solidFill>
                <a:latin typeface="Courier New"/>
                <a:ea typeface="Courier New"/>
                <a:cs typeface="Courier New"/>
                <a:sym typeface="Courier New"/>
              </a:rPr>
              <a:t>cutoff = pd.to_datetime('2025-05-31')</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7F0FA"/>
              </a:buClr>
              <a:buSzPts val="1100"/>
              <a:buFont typeface="Courier New"/>
              <a:buNone/>
            </a:pPr>
            <a:r>
              <a:rPr b="0" i="0" lang="en-US" sz="1100" u="none" cap="none" strike="noStrike">
                <a:solidFill>
                  <a:srgbClr val="E7F0FA"/>
                </a:solidFill>
                <a:latin typeface="Courier New"/>
                <a:ea typeface="Courier New"/>
                <a:cs typeface="Courier New"/>
                <a:sym typeface="Courier New"/>
              </a:rPr>
              <a:t>condition1 = (</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7F0FA"/>
              </a:buClr>
              <a:buSzPts val="1100"/>
              <a:buFont typeface="Courier New"/>
              <a:buNone/>
            </a:pPr>
            <a:r>
              <a:rPr b="0" i="0" lang="en-US" sz="1100" u="none" cap="none" strike="noStrike">
                <a:solidFill>
                  <a:srgbClr val="E7F0FA"/>
                </a:solidFill>
                <a:latin typeface="Courier New"/>
                <a:ea typeface="Courier New"/>
                <a:cs typeface="Courier New"/>
                <a:sym typeface="Courier New"/>
              </a:rPr>
              <a:t>    df_card['expires'] &gt; cutoff)</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7F0FA"/>
              </a:buClr>
              <a:buSzPts val="1100"/>
              <a:buFont typeface="Courier New"/>
              <a:buNone/>
            </a:pPr>
            <a:r>
              <a:rPr b="0" i="0" lang="en-US" sz="1100" u="none" cap="none" strike="noStrike">
                <a:solidFill>
                  <a:srgbClr val="E7F0FA"/>
                </a:solidFill>
                <a:latin typeface="Courier New"/>
                <a:ea typeface="Courier New"/>
                <a:cs typeface="Courier New"/>
                <a:sym typeface="Courier New"/>
              </a:rPr>
              <a:t>condition2 = (</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7F0FA"/>
              </a:buClr>
              <a:buSzPts val="1100"/>
              <a:buFont typeface="Courier New"/>
              <a:buNone/>
            </a:pPr>
            <a:r>
              <a:rPr b="0" i="0" lang="en-US" sz="1100" u="none" cap="none" strike="noStrike">
                <a:solidFill>
                  <a:srgbClr val="E7F0FA"/>
                </a:solidFill>
                <a:latin typeface="Courier New"/>
                <a:ea typeface="Courier New"/>
                <a:cs typeface="Courier New"/>
                <a:sym typeface="Courier New"/>
              </a:rPr>
              <a:t>    df_card['credit_limit'] &gt; 0)</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7F0FA"/>
              </a:buClr>
              <a:buSzPts val="1100"/>
              <a:buFont typeface="Courier New"/>
              <a:buNone/>
            </a:pPr>
            <a:r>
              <a:rPr b="0" i="0" lang="en-US" sz="1100" u="none" cap="none" strike="noStrike">
                <a:solidFill>
                  <a:srgbClr val="E7F0FA"/>
                </a:solidFill>
                <a:latin typeface="Courier New"/>
                <a:ea typeface="Courier New"/>
                <a:cs typeface="Courier New"/>
                <a:sym typeface="Courier New"/>
              </a:rPr>
              <a:t>df_card = df_card[</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7F0FA"/>
              </a:buClr>
              <a:buSzPts val="1100"/>
              <a:buFont typeface="Courier New"/>
              <a:buNone/>
            </a:pPr>
            <a:r>
              <a:rPr b="0" i="0" lang="en-US" sz="1100" u="none" cap="none" strike="noStrike">
                <a:solidFill>
                  <a:srgbClr val="E7F0FA"/>
                </a:solidFill>
                <a:latin typeface="Courier New"/>
                <a:ea typeface="Courier New"/>
                <a:cs typeface="Courier New"/>
                <a:sym typeface="Courier New"/>
              </a:rPr>
              <a:t>    condition1 &amp; condition2</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7F0FA"/>
              </a:buClr>
              <a:buSzPts val="1100"/>
              <a:buFont typeface="Courier New"/>
              <a:buNone/>
            </a:pPr>
            <a:r>
              <a:rPr b="0" i="0" lang="en-US" sz="1100" u="none" cap="none" strike="noStrike">
                <a:solidFill>
                  <a:srgbClr val="E7F0FA"/>
                </a:solidFill>
                <a:latin typeface="Courier New"/>
                <a:ea typeface="Courier New"/>
                <a:cs typeface="Courier New"/>
                <a:sym typeface="Courier New"/>
              </a:rPr>
              <a:t>]</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7F0FA"/>
              </a:buClr>
              <a:buSzPts val="1100"/>
              <a:buFont typeface="Courier New"/>
              <a:buNone/>
            </a:pPr>
            <a:r>
              <a:rPr b="0" i="0" lang="en-US" sz="1100" u="none" cap="none" strike="noStrike">
                <a:solidFill>
                  <a:srgbClr val="E7F0FA"/>
                </a:solidFill>
                <a:latin typeface="Courier New"/>
                <a:ea typeface="Courier New"/>
                <a:cs typeface="Courier New"/>
                <a:sym typeface="Courier New"/>
              </a:rPr>
              <a:t>print(df_card.shape)</a:t>
            </a:r>
            <a:endParaRPr b="0" i="0" sz="1100" u="none" cap="none" strike="noStrike">
              <a:solidFill>
                <a:schemeClr val="dk1"/>
              </a:solidFill>
              <a:latin typeface="Calibri"/>
              <a:ea typeface="Calibri"/>
              <a:cs typeface="Calibri"/>
              <a:sym typeface="Calibri"/>
            </a:endParaRPr>
          </a:p>
        </p:txBody>
      </p:sp>
      <p:sp>
        <p:nvSpPr>
          <p:cNvPr id="120" name="Google Shape;120;p9"/>
          <p:cNvSpPr/>
          <p:nvPr/>
        </p:nvSpPr>
        <p:spPr>
          <a:xfrm>
            <a:off x="6812280" y="1325880"/>
            <a:ext cx="4800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7185"/>
              </a:buClr>
              <a:buSzPts val="1300"/>
              <a:buFont typeface="Calibri"/>
              <a:buNone/>
            </a:pPr>
            <a:r>
              <a:rPr b="1" i="0" lang="en-US" sz="1300" u="none" cap="none" strike="noStrike">
                <a:solidFill>
                  <a:srgbClr val="5A7185"/>
                </a:solidFill>
                <a:latin typeface="Calibri"/>
                <a:ea typeface="Calibri"/>
                <a:cs typeface="Calibri"/>
                <a:sym typeface="Calibri"/>
              </a:rPr>
              <a:t>Output</a:t>
            </a:r>
            <a:endParaRPr b="0" i="0" sz="1300" u="none" cap="none" strike="noStrike">
              <a:solidFill>
                <a:schemeClr val="dk1"/>
              </a:solidFill>
              <a:latin typeface="Calibri"/>
              <a:ea typeface="Calibri"/>
              <a:cs typeface="Calibri"/>
              <a:sym typeface="Calibri"/>
            </a:endParaRPr>
          </a:p>
        </p:txBody>
      </p:sp>
      <p:sp>
        <p:nvSpPr>
          <p:cNvPr id="121" name="Google Shape;121;p9"/>
          <p:cNvSpPr/>
          <p:nvPr/>
        </p:nvSpPr>
        <p:spPr>
          <a:xfrm>
            <a:off x="6812280" y="1691640"/>
            <a:ext cx="4800600" cy="2331720"/>
          </a:xfrm>
          <a:prstGeom prst="roundRect">
            <a:avLst>
              <a:gd fmla="val 2353" name="adj"/>
            </a:avLst>
          </a:prstGeom>
          <a:solidFill>
            <a:srgbClr val="FFFFFF"/>
          </a:solidFill>
          <a:ln cap="flat" cmpd="sng" w="19050">
            <a:solidFill>
              <a:srgbClr val="FFD4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122" name="Google Shape;122;p9"/>
          <p:cNvGraphicFramePr/>
          <p:nvPr/>
        </p:nvGraphicFramePr>
        <p:xfrm>
          <a:off x="6903720" y="1783080"/>
          <a:ext cx="3000000" cy="3000000"/>
        </p:xfrm>
        <a:graphic>
          <a:graphicData uri="http://schemas.openxmlformats.org/drawingml/2006/table">
            <a:tbl>
              <a:tblPr>
                <a:noFill/>
                <a:tableStyleId>{3D7D59D7-DF91-47F0-BCBC-DAAD57FB8C79}</a:tableStyleId>
              </a:tblPr>
              <a:tblGrid>
                <a:gridCol w="3063250"/>
                <a:gridCol w="1554475"/>
              </a:tblGrid>
              <a:tr h="537200">
                <a:tc>
                  <a:txBody>
                    <a:bodyPr/>
                    <a:lstStyle/>
                    <a:p>
                      <a:pPr indent="0" lvl="0" marL="0" marR="0" rtl="0" algn="ctr">
                        <a:lnSpc>
                          <a:spcPct val="100000"/>
                        </a:lnSpc>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Metric</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306998"/>
                    </a:solidFill>
                  </a:tcPr>
                </a:tc>
                <a:tc>
                  <a:txBody>
                    <a:bodyPr/>
                    <a:lstStyle/>
                    <a:p>
                      <a:pPr indent="0" lvl="0" marL="0" marR="0" rtl="0" algn="ctr">
                        <a:lnSpc>
                          <a:spcPct val="100000"/>
                        </a:lnSpc>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Value</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306998"/>
                    </a:solidFill>
                  </a:tcPr>
                </a:tc>
              </a:tr>
              <a:tr h="537200">
                <a:tc>
                  <a:txBody>
                    <a:bodyPr/>
                    <a:lstStyle/>
                    <a:p>
                      <a:pPr indent="0" lvl="0" marL="0" marR="0" rtl="0" algn="l">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Rows before</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5,568</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r>
              <a:tr h="537200">
                <a:tc>
                  <a:txBody>
                    <a:bodyPr/>
                    <a:lstStyle/>
                    <a:p>
                      <a:pPr indent="0" lvl="0" marL="0" marR="0" rtl="0" algn="l">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Rows after</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AF2FB"/>
                    </a:solidFill>
                  </a:tcPr>
                </a:tc>
                <a:tc>
                  <a:txBody>
                    <a:bodyPr/>
                    <a:lstStyle/>
                    <a:p>
                      <a:pPr indent="0" lvl="0" marL="0" marR="0" rtl="0" algn="r">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5,528</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AF2FB"/>
                    </a:solidFill>
                  </a:tcPr>
                </a:tc>
              </a:tr>
              <a:tr h="537200">
                <a:tc>
                  <a:txBody>
                    <a:bodyPr/>
                    <a:lstStyle/>
                    <a:p>
                      <a:pPr indent="0" lvl="0" marL="0" marR="0" rtl="0" algn="l">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Rows removed</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40 (~0.7%)</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r>
            </a:tbl>
          </a:graphicData>
        </a:graphic>
      </p:graphicFrame>
      <p:sp>
        <p:nvSpPr>
          <p:cNvPr id="123" name="Google Shape;123;p9"/>
          <p:cNvSpPr/>
          <p:nvPr/>
        </p:nvSpPr>
        <p:spPr>
          <a:xfrm>
            <a:off x="6812280" y="4160520"/>
            <a:ext cx="4800600" cy="2194560"/>
          </a:xfrm>
          <a:prstGeom prst="roundRect">
            <a:avLst>
              <a:gd fmla="val 2500" name="adj"/>
            </a:avLst>
          </a:prstGeom>
          <a:solidFill>
            <a:srgbClr val="FFD43B"/>
          </a:solidFill>
          <a:ln cap="flat" cmpd="sng" w="12700">
            <a:solidFill>
              <a:srgbClr val="FFD4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9"/>
          <p:cNvSpPr/>
          <p:nvPr/>
        </p:nvSpPr>
        <p:spPr>
          <a:xfrm>
            <a:off x="6995160" y="4279392"/>
            <a:ext cx="448056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2A38"/>
              </a:buClr>
              <a:buSzPts val="1500"/>
              <a:buFont typeface="Cambria"/>
              <a:buNone/>
            </a:pPr>
            <a:r>
              <a:rPr b="1" i="0" lang="en-US" sz="1500" u="none" cap="none" strike="noStrike">
                <a:solidFill>
                  <a:srgbClr val="1B2A38"/>
                </a:solidFill>
                <a:latin typeface="Cambria"/>
                <a:ea typeface="Cambria"/>
                <a:cs typeface="Cambria"/>
                <a:sym typeface="Cambria"/>
              </a:rPr>
              <a:t>Insight</a:t>
            </a:r>
            <a:endParaRPr b="0" i="0" sz="1500" u="none" cap="none" strike="noStrike">
              <a:solidFill>
                <a:schemeClr val="dk1"/>
              </a:solidFill>
              <a:latin typeface="Calibri"/>
              <a:ea typeface="Calibri"/>
              <a:cs typeface="Calibri"/>
              <a:sym typeface="Calibri"/>
            </a:endParaRPr>
          </a:p>
        </p:txBody>
      </p:sp>
      <p:sp>
        <p:nvSpPr>
          <p:cNvPr id="125" name="Google Shape;125;p9"/>
          <p:cNvSpPr/>
          <p:nvPr/>
        </p:nvSpPr>
        <p:spPr>
          <a:xfrm>
            <a:off x="6995160" y="4645152"/>
            <a:ext cx="4480560" cy="1600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B2A38"/>
              </a:buClr>
              <a:buSzPts val="1200"/>
              <a:buFont typeface="Calibri"/>
              <a:buNone/>
            </a:pPr>
            <a:r>
              <a:rPr b="0" i="0" lang="en-US" sz="1200" u="none" cap="none" strike="noStrike">
                <a:solidFill>
                  <a:srgbClr val="1B2A38"/>
                </a:solidFill>
                <a:latin typeface="Calibri"/>
                <a:ea typeface="Calibri"/>
                <a:cs typeface="Calibri"/>
                <a:sym typeface="Calibri"/>
              </a:rPr>
              <a:t>40 cards are excluded because they were already expired as of the May 31, 2025 cutoff, or had a credit_limit of 0, out of the 5,568 rows remaining after the 31 duplicated id were removed in step 4c. These cards are inactive and not relevant for analyzing active card transaction behavior.</a:t>
            </a:r>
            <a:endParaRPr b="0" i="0" sz="1200" u="none" cap="none" strike="noStrike">
              <a:solidFill>
                <a:schemeClr val="dk1"/>
              </a:solidFill>
              <a:latin typeface="Calibri"/>
              <a:ea typeface="Calibri"/>
              <a:cs typeface="Calibri"/>
              <a:sym typeface="Calibri"/>
            </a:endParaRPr>
          </a:p>
        </p:txBody>
      </p:sp>
      <p:sp>
        <p:nvSpPr>
          <p:cNvPr id="126" name="Google Shape;126;p9"/>
          <p:cNvSpPr/>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7185"/>
              </a:buClr>
              <a:buSzPts val="900"/>
              <a:buFont typeface="Calibri"/>
              <a:buNone/>
            </a:pPr>
            <a:r>
              <a:rPr b="0" i="0" lang="en-US" sz="900" u="none" cap="none" strike="noStrike">
                <a:solidFill>
                  <a:srgbClr val="5A7185"/>
                </a:solidFill>
                <a:latin typeface="Calibri"/>
                <a:ea typeface="Calibri"/>
                <a:cs typeface="Calibri"/>
                <a:sym typeface="Calibri"/>
              </a:rPr>
              <a:t>Credit Card &amp; User Data Cleaning – Milestone 1</a:t>
            </a:r>
            <a:endParaRPr b="0" i="0" sz="900" u="none" cap="none" strike="noStrike">
              <a:solidFill>
                <a:schemeClr val="dk1"/>
              </a:solidFill>
              <a:latin typeface="Calibri"/>
              <a:ea typeface="Calibri"/>
              <a:cs typeface="Calibri"/>
              <a:sym typeface="Calibri"/>
            </a:endParaRPr>
          </a:p>
        </p:txBody>
      </p:sp>
      <p:sp>
        <p:nvSpPr>
          <p:cNvPr id="127" name="Google Shape;127;p9"/>
          <p:cNvSpPr/>
          <p:nvPr/>
        </p:nvSpPr>
        <p:spPr>
          <a:xfrm>
            <a:off x="11247120" y="6492240"/>
            <a:ext cx="4572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7185"/>
              </a:buClr>
              <a:buSzPts val="900"/>
              <a:buFont typeface="Calibri"/>
              <a:buNone/>
            </a:pPr>
            <a:r>
              <a:rPr b="0" i="0" lang="en-US" sz="900" u="none" cap="none" strike="noStrike">
                <a:solidFill>
                  <a:srgbClr val="5A7185"/>
                </a:solidFill>
                <a:latin typeface="Calibri"/>
                <a:ea typeface="Calibri"/>
                <a:cs typeface="Calibri"/>
                <a:sym typeface="Calibri"/>
              </a:rPr>
              <a:t>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B"/>
        </a:solidFill>
      </p:bgPr>
    </p:bg>
    <p:spTree>
      <p:nvGrpSpPr>
        <p:cNvPr id="131" name="Shape 131"/>
        <p:cNvGrpSpPr/>
        <p:nvPr/>
      </p:nvGrpSpPr>
      <p:grpSpPr>
        <a:xfrm>
          <a:off x="0" y="0"/>
          <a:ext cx="0" cy="0"/>
          <a:chOff x="0" y="0"/>
          <a:chExt cx="0" cy="0"/>
        </a:xfrm>
      </p:grpSpPr>
      <p:sp>
        <p:nvSpPr>
          <p:cNvPr id="132" name="Google Shape;132;p10"/>
          <p:cNvSpPr/>
          <p:nvPr/>
        </p:nvSpPr>
        <p:spPr>
          <a:xfrm>
            <a:off x="548640" y="457200"/>
            <a:ext cx="502920" cy="502920"/>
          </a:xfrm>
          <a:prstGeom prst="ellipse">
            <a:avLst/>
          </a:prstGeom>
          <a:solidFill>
            <a:srgbClr val="30699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10"/>
          <p:cNvSpPr/>
          <p:nvPr/>
        </p:nvSpPr>
        <p:spPr>
          <a:xfrm>
            <a:off x="548640" y="457200"/>
            <a:ext cx="50292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000"/>
              <a:buFont typeface="Cambria"/>
              <a:buNone/>
            </a:pPr>
            <a:r>
              <a:rPr b="1" i="0" lang="en-US" sz="2000" u="none" cap="none" strike="noStrike">
                <a:solidFill>
                  <a:srgbClr val="FFFFFF"/>
                </a:solidFill>
                <a:latin typeface="Cambria"/>
                <a:ea typeface="Cambria"/>
                <a:cs typeface="Cambria"/>
                <a:sym typeface="Cambria"/>
              </a:rPr>
              <a:t>5</a:t>
            </a:r>
            <a:endParaRPr b="0" i="0" sz="2000" u="none" cap="none" strike="noStrike">
              <a:solidFill>
                <a:schemeClr val="dk1"/>
              </a:solidFill>
              <a:latin typeface="Calibri"/>
              <a:ea typeface="Calibri"/>
              <a:cs typeface="Calibri"/>
              <a:sym typeface="Calibri"/>
            </a:endParaRPr>
          </a:p>
        </p:txBody>
      </p:sp>
      <p:sp>
        <p:nvSpPr>
          <p:cNvPr id="134" name="Google Shape;134;p10"/>
          <p:cNvSpPr/>
          <p:nvPr/>
        </p:nvSpPr>
        <p:spPr>
          <a:xfrm>
            <a:off x="1188720" y="384048"/>
            <a:ext cx="10424160"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84"/>
              </a:buClr>
              <a:buSzPts val="2000"/>
              <a:buFont typeface="Cambria"/>
              <a:buNone/>
            </a:pPr>
            <a:r>
              <a:rPr b="1" i="0" lang="en-US" sz="2000" u="none" cap="none" strike="noStrike">
                <a:solidFill>
                  <a:srgbClr val="2B5B84"/>
                </a:solidFill>
                <a:latin typeface="Cambria"/>
                <a:ea typeface="Cambria"/>
                <a:cs typeface="Cambria"/>
                <a:sym typeface="Cambria"/>
              </a:rPr>
              <a:t>5a. User Data (Convert Data Types)</a:t>
            </a:r>
            <a:endParaRPr b="0" i="0" sz="2000" u="none" cap="none" strike="noStrike">
              <a:solidFill>
                <a:schemeClr val="dk1"/>
              </a:solidFill>
              <a:latin typeface="Calibri"/>
              <a:ea typeface="Calibri"/>
              <a:cs typeface="Calibri"/>
              <a:sym typeface="Calibri"/>
            </a:endParaRPr>
          </a:p>
        </p:txBody>
      </p:sp>
      <p:sp>
        <p:nvSpPr>
          <p:cNvPr id="135" name="Google Shape;135;p10"/>
          <p:cNvSpPr/>
          <p:nvPr/>
        </p:nvSpPr>
        <p:spPr>
          <a:xfrm>
            <a:off x="548640" y="1325880"/>
            <a:ext cx="54864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7185"/>
              </a:buClr>
              <a:buSzPts val="1300"/>
              <a:buFont typeface="Calibri"/>
              <a:buNone/>
            </a:pPr>
            <a:r>
              <a:rPr b="1" i="0" lang="en-US" sz="1300" u="none" cap="none" strike="noStrike">
                <a:solidFill>
                  <a:srgbClr val="5A7185"/>
                </a:solidFill>
                <a:latin typeface="Calibri"/>
                <a:ea typeface="Calibri"/>
                <a:cs typeface="Calibri"/>
                <a:sym typeface="Calibri"/>
              </a:rPr>
              <a:t>Syntax</a:t>
            </a:r>
            <a:endParaRPr b="0" i="0" sz="1300" u="none" cap="none" strike="noStrike">
              <a:solidFill>
                <a:schemeClr val="dk1"/>
              </a:solidFill>
              <a:latin typeface="Calibri"/>
              <a:ea typeface="Calibri"/>
              <a:cs typeface="Calibri"/>
              <a:sym typeface="Calibri"/>
            </a:endParaRPr>
          </a:p>
        </p:txBody>
      </p:sp>
      <p:sp>
        <p:nvSpPr>
          <p:cNvPr id="136" name="Google Shape;136;p10"/>
          <p:cNvSpPr/>
          <p:nvPr/>
        </p:nvSpPr>
        <p:spPr>
          <a:xfrm>
            <a:off x="548640" y="1691640"/>
            <a:ext cx="6035040" cy="4663440"/>
          </a:xfrm>
          <a:prstGeom prst="roundRect">
            <a:avLst>
              <a:gd fmla="val 1569" name="adj"/>
            </a:avLst>
          </a:prstGeom>
          <a:solidFill>
            <a:srgbClr val="1B2A38"/>
          </a:solidFill>
          <a:ln cap="flat" cmpd="sng" w="12700">
            <a:solidFill>
              <a:srgbClr val="1B2A3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10"/>
          <p:cNvSpPr/>
          <p:nvPr/>
        </p:nvSpPr>
        <p:spPr>
          <a:xfrm>
            <a:off x="731520" y="1828800"/>
            <a:ext cx="5715000" cy="43891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E7F0FA"/>
              </a:buClr>
              <a:buSzPts val="1100"/>
              <a:buFont typeface="Courier New"/>
              <a:buNone/>
            </a:pPr>
            <a:r>
              <a:rPr b="0" i="0" lang="en-US" sz="1100" u="none" cap="none" strike="noStrike">
                <a:solidFill>
                  <a:srgbClr val="E7F0FA"/>
                </a:solidFill>
                <a:latin typeface="Courier New"/>
                <a:ea typeface="Courier New"/>
                <a:cs typeface="Courier New"/>
                <a:sym typeface="Courier New"/>
              </a:rPr>
              <a:t>df_user['id'] = (</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7F0FA"/>
              </a:buClr>
              <a:buSzPts val="1100"/>
              <a:buFont typeface="Courier New"/>
              <a:buNone/>
            </a:pPr>
            <a:r>
              <a:rPr b="0" i="0" lang="en-US" sz="1100" u="none" cap="none" strike="noStrike">
                <a:solidFill>
                  <a:srgbClr val="E7F0FA"/>
                </a:solidFill>
                <a:latin typeface="Courier New"/>
                <a:ea typeface="Courier New"/>
                <a:cs typeface="Courier New"/>
                <a:sym typeface="Courier New"/>
              </a:rPr>
              <a:t>    df_user['id'].astype(str))</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7F0FA"/>
              </a:buClr>
              <a:buSzPts val="1100"/>
              <a:buFont typeface="Courier New"/>
              <a:buNone/>
            </a:pPr>
            <a:r>
              <a:rPr b="0" i="0" lang="en-US" sz="1100" u="none" cap="none" strike="noStrike">
                <a:solidFill>
                  <a:srgbClr val="E7F0FA"/>
                </a:solidFill>
                <a:latin typeface="Courier New"/>
                <a:ea typeface="Courier New"/>
                <a:cs typeface="Courier New"/>
                <a:sym typeface="Courier New"/>
              </a:rPr>
              <a:t>df_user['birthdate'] = pd.to_datetime(</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7F0FA"/>
              </a:buClr>
              <a:buSzPts val="1100"/>
              <a:buFont typeface="Courier New"/>
              <a:buNone/>
            </a:pPr>
            <a:r>
              <a:rPr b="0" i="0" lang="en-US" sz="1100" u="none" cap="none" strike="noStrike">
                <a:solidFill>
                  <a:srgbClr val="E7F0FA"/>
                </a:solidFill>
                <a:latin typeface="Courier New"/>
                <a:ea typeface="Courier New"/>
                <a:cs typeface="Courier New"/>
                <a:sym typeface="Courier New"/>
              </a:rPr>
              <a:t>    df_user['birthdate'],</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7F0FA"/>
              </a:buClr>
              <a:buSzPts val="1100"/>
              <a:buFont typeface="Courier New"/>
              <a:buNone/>
            </a:pPr>
            <a:r>
              <a:rPr b="0" i="0" lang="en-US" sz="1100" u="none" cap="none" strike="noStrike">
                <a:solidFill>
                  <a:srgbClr val="E7F0FA"/>
                </a:solidFill>
                <a:latin typeface="Courier New"/>
                <a:ea typeface="Courier New"/>
                <a:cs typeface="Courier New"/>
                <a:sym typeface="Courier New"/>
              </a:rPr>
              <a:t>    format='%Y-%m-%d'</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7F0FA"/>
              </a:buClr>
              <a:buSzPts val="1100"/>
              <a:buFont typeface="Courier New"/>
              <a:buNone/>
            </a:pPr>
            <a:r>
              <a:rPr b="0" i="0" lang="en-US" sz="1100" u="none" cap="none" strike="noStrike">
                <a:solidFill>
                  <a:srgbClr val="E7F0FA"/>
                </a:solidFill>
                <a:latin typeface="Courier New"/>
                <a:ea typeface="Courier New"/>
                <a:cs typeface="Courier New"/>
                <a:sym typeface="Courier New"/>
              </a:rPr>
              <a:t>)</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7F0FA"/>
              </a:buClr>
              <a:buSzPts val="1100"/>
              <a:buFont typeface="Courier New"/>
              <a:buNone/>
            </a:pPr>
            <a:r>
              <a:rPr b="0" i="0" lang="en-US" sz="1100" u="none" cap="none" strike="noStrike">
                <a:solidFill>
                  <a:srgbClr val="E7F0FA"/>
                </a:solidFill>
                <a:latin typeface="Courier New"/>
                <a:ea typeface="Courier New"/>
                <a:cs typeface="Courier New"/>
                <a:sym typeface="Courier New"/>
              </a:rPr>
              <a:t>for col in ['per_capita_income',</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7F0FA"/>
              </a:buClr>
              <a:buSzPts val="1100"/>
              <a:buFont typeface="Courier New"/>
              <a:buNone/>
            </a:pPr>
            <a:r>
              <a:rPr b="0" i="0" lang="en-US" sz="1100" u="none" cap="none" strike="noStrike">
                <a:solidFill>
                  <a:srgbClr val="E7F0FA"/>
                </a:solidFill>
                <a:latin typeface="Courier New"/>
                <a:ea typeface="Courier New"/>
                <a:cs typeface="Courier New"/>
                <a:sym typeface="Courier New"/>
              </a:rPr>
              <a:t>            'yearly_income',</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7F0FA"/>
              </a:buClr>
              <a:buSzPts val="1100"/>
              <a:buFont typeface="Courier New"/>
              <a:buNone/>
            </a:pPr>
            <a:r>
              <a:rPr b="0" i="0" lang="en-US" sz="1100" u="none" cap="none" strike="noStrike">
                <a:solidFill>
                  <a:srgbClr val="E7F0FA"/>
                </a:solidFill>
                <a:latin typeface="Courier New"/>
                <a:ea typeface="Courier New"/>
                <a:cs typeface="Courier New"/>
                <a:sym typeface="Courier New"/>
              </a:rPr>
              <a:t>            'total_debt']:</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7F0FA"/>
              </a:buClr>
              <a:buSzPts val="1100"/>
              <a:buFont typeface="Courier New"/>
              <a:buNone/>
            </a:pPr>
            <a:r>
              <a:rPr b="0" i="0" lang="en-US" sz="1100" u="none" cap="none" strike="noStrike">
                <a:solidFill>
                  <a:srgbClr val="E7F0FA"/>
                </a:solidFill>
                <a:latin typeface="Courier New"/>
                <a:ea typeface="Courier New"/>
                <a:cs typeface="Courier New"/>
                <a:sym typeface="Courier New"/>
              </a:rPr>
              <a:t>    df_user[col] = (</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7F0FA"/>
              </a:buClr>
              <a:buSzPts val="1100"/>
              <a:buFont typeface="Courier New"/>
              <a:buNone/>
            </a:pPr>
            <a:r>
              <a:rPr b="0" i="0" lang="en-US" sz="1100" u="none" cap="none" strike="noStrike">
                <a:solidFill>
                  <a:srgbClr val="E7F0FA"/>
                </a:solidFill>
                <a:latin typeface="Courier New"/>
                <a:ea typeface="Courier New"/>
                <a:cs typeface="Courier New"/>
                <a:sym typeface="Courier New"/>
              </a:rPr>
              <a:t>        df_user[col].astype(str)</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7F0FA"/>
              </a:buClr>
              <a:buSzPts val="1100"/>
              <a:buFont typeface="Courier New"/>
              <a:buNone/>
            </a:pPr>
            <a:r>
              <a:rPr b="0" i="0" lang="en-US" sz="1100" u="none" cap="none" strike="noStrike">
                <a:solidFill>
                  <a:srgbClr val="E7F0FA"/>
                </a:solidFill>
                <a:latin typeface="Courier New"/>
                <a:ea typeface="Courier New"/>
                <a:cs typeface="Courier New"/>
                <a:sym typeface="Courier New"/>
              </a:rPr>
              <a:t>        .str.replace('Rp','')</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7F0FA"/>
              </a:buClr>
              <a:buSzPts val="1100"/>
              <a:buFont typeface="Courier New"/>
              <a:buNone/>
            </a:pPr>
            <a:r>
              <a:rPr b="0" i="0" lang="en-US" sz="1100" u="none" cap="none" strike="noStrike">
                <a:solidFill>
                  <a:srgbClr val="E7F0FA"/>
                </a:solidFill>
                <a:latin typeface="Courier New"/>
                <a:ea typeface="Courier New"/>
                <a:cs typeface="Courier New"/>
                <a:sym typeface="Courier New"/>
              </a:rPr>
              <a:t>        .str.replace('.','')</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7F0FA"/>
              </a:buClr>
              <a:buSzPts val="1100"/>
              <a:buFont typeface="Courier New"/>
              <a:buNone/>
            </a:pPr>
            <a:r>
              <a:rPr b="0" i="0" lang="en-US" sz="1100" u="none" cap="none" strike="noStrike">
                <a:solidFill>
                  <a:srgbClr val="E7F0FA"/>
                </a:solidFill>
                <a:latin typeface="Courier New"/>
                <a:ea typeface="Courier New"/>
                <a:cs typeface="Courier New"/>
                <a:sym typeface="Courier New"/>
              </a:rPr>
              <a:t>        .astype(float))</a:t>
            </a:r>
            <a:endParaRPr b="0" i="0" sz="1100" u="none" cap="none" strike="noStrike">
              <a:solidFill>
                <a:schemeClr val="dk1"/>
              </a:solidFill>
              <a:latin typeface="Calibri"/>
              <a:ea typeface="Calibri"/>
              <a:cs typeface="Calibri"/>
              <a:sym typeface="Calibri"/>
            </a:endParaRPr>
          </a:p>
        </p:txBody>
      </p:sp>
      <p:sp>
        <p:nvSpPr>
          <p:cNvPr id="138" name="Google Shape;138;p10"/>
          <p:cNvSpPr/>
          <p:nvPr/>
        </p:nvSpPr>
        <p:spPr>
          <a:xfrm>
            <a:off x="6812280" y="1325880"/>
            <a:ext cx="4800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7185"/>
              </a:buClr>
              <a:buSzPts val="1300"/>
              <a:buFont typeface="Calibri"/>
              <a:buNone/>
            </a:pPr>
            <a:r>
              <a:rPr b="1" i="0" lang="en-US" sz="1300" u="none" cap="none" strike="noStrike">
                <a:solidFill>
                  <a:srgbClr val="5A7185"/>
                </a:solidFill>
                <a:latin typeface="Calibri"/>
                <a:ea typeface="Calibri"/>
                <a:cs typeface="Calibri"/>
                <a:sym typeface="Calibri"/>
              </a:rPr>
              <a:t>Output</a:t>
            </a:r>
            <a:endParaRPr b="0" i="0" sz="1300" u="none" cap="none" strike="noStrike">
              <a:solidFill>
                <a:schemeClr val="dk1"/>
              </a:solidFill>
              <a:latin typeface="Calibri"/>
              <a:ea typeface="Calibri"/>
              <a:cs typeface="Calibri"/>
              <a:sym typeface="Calibri"/>
            </a:endParaRPr>
          </a:p>
        </p:txBody>
      </p:sp>
      <p:sp>
        <p:nvSpPr>
          <p:cNvPr id="139" name="Google Shape;139;p10"/>
          <p:cNvSpPr/>
          <p:nvPr/>
        </p:nvSpPr>
        <p:spPr>
          <a:xfrm>
            <a:off x="6812280" y="1691640"/>
            <a:ext cx="4800600" cy="2331720"/>
          </a:xfrm>
          <a:prstGeom prst="roundRect">
            <a:avLst>
              <a:gd fmla="val 2353" name="adj"/>
            </a:avLst>
          </a:prstGeom>
          <a:solidFill>
            <a:srgbClr val="FFFFFF"/>
          </a:solidFill>
          <a:ln cap="flat" cmpd="sng" w="19050">
            <a:solidFill>
              <a:srgbClr val="FFD4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140" name="Google Shape;140;p10"/>
          <p:cNvGraphicFramePr/>
          <p:nvPr/>
        </p:nvGraphicFramePr>
        <p:xfrm>
          <a:off x="6903720" y="1783080"/>
          <a:ext cx="3000000" cy="3000000"/>
        </p:xfrm>
        <a:graphic>
          <a:graphicData uri="http://schemas.openxmlformats.org/drawingml/2006/table">
            <a:tbl>
              <a:tblPr>
                <a:noFill/>
                <a:tableStyleId>{3D7D59D7-DF91-47F0-BCBC-DAAD57FB8C79}</a:tableStyleId>
              </a:tblPr>
              <a:tblGrid>
                <a:gridCol w="1280150"/>
                <a:gridCol w="1737350"/>
                <a:gridCol w="1600200"/>
              </a:tblGrid>
              <a:tr h="429775">
                <a:tc>
                  <a:txBody>
                    <a:bodyPr/>
                    <a:lstStyle/>
                    <a:p>
                      <a:pPr indent="0" lvl="0" marL="0" marR="0" rtl="0" algn="ctr">
                        <a:lnSpc>
                          <a:spcPct val="100000"/>
                        </a:lnSpc>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Column</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306998"/>
                    </a:solidFill>
                  </a:tcPr>
                </a:tc>
                <a:tc>
                  <a:txBody>
                    <a:bodyPr/>
                    <a:lstStyle/>
                    <a:p>
                      <a:pPr indent="0" lvl="0" marL="0" marR="0" rtl="0" algn="ctr">
                        <a:lnSpc>
                          <a:spcPct val="100000"/>
                        </a:lnSpc>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Before</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306998"/>
                    </a:solidFill>
                  </a:tcPr>
                </a:tc>
                <a:tc>
                  <a:txBody>
                    <a:bodyPr/>
                    <a:lstStyle/>
                    <a:p>
                      <a:pPr indent="0" lvl="0" marL="0" marR="0" rtl="0" algn="ctr">
                        <a:lnSpc>
                          <a:spcPct val="100000"/>
                        </a:lnSpc>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After</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306998"/>
                    </a:solidFill>
                  </a:tcPr>
                </a:tc>
              </a:tr>
              <a:tr h="429775">
                <a:tc>
                  <a:txBody>
                    <a:bodyPr/>
                    <a:lstStyle/>
                    <a:p>
                      <a:pPr indent="0" lvl="0" marL="0" marR="0" rtl="0" algn="l">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id</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int64</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string</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r>
              <a:tr h="429775">
                <a:tc>
                  <a:txBody>
                    <a:bodyPr/>
                    <a:lstStyle/>
                    <a:p>
                      <a:pPr indent="0" lvl="0" marL="0" marR="0" rtl="0" algn="l">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birthdate</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AF2FB"/>
                    </a:solidFill>
                  </a:tcPr>
                </a:tc>
                <a:tc>
                  <a:txBody>
                    <a:bodyPr/>
                    <a:lstStyle/>
                    <a:p>
                      <a:pPr indent="0" lvl="0" marL="0" marR="0" rtl="0" algn="r">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"1972-11-25"</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AF2FB"/>
                    </a:solidFill>
                  </a:tcPr>
                </a:tc>
                <a:tc>
                  <a:txBody>
                    <a:bodyPr/>
                    <a:lstStyle/>
                    <a:p>
                      <a:pPr indent="0" lvl="0" marL="0" marR="0" rtl="0" algn="r">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datetime64</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AF2FB"/>
                    </a:solidFill>
                  </a:tcPr>
                </a:tc>
              </a:tr>
              <a:tr h="429775">
                <a:tc>
                  <a:txBody>
                    <a:bodyPr/>
                    <a:lstStyle/>
                    <a:p>
                      <a:pPr indent="0" lvl="0" marL="0" marR="0" rtl="0" algn="l">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per_capita_income, yearly_income</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"Rp45.937.000"</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45937000.0</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r>
              <a:tr h="429775">
                <a:tc>
                  <a:txBody>
                    <a:bodyPr/>
                    <a:lstStyle/>
                    <a:p>
                      <a:pPr indent="0" lvl="0" marL="0" marR="0" rtl="0" algn="l">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total_debt</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AF2FB"/>
                    </a:solidFill>
                  </a:tcPr>
                </a:tc>
                <a:tc>
                  <a:txBody>
                    <a:bodyPr/>
                    <a:lstStyle/>
                    <a:p>
                      <a:pPr indent="0" lvl="0" marL="0" marR="0" rtl="0" algn="r">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"Rp38.138.095"</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AF2FB"/>
                    </a:solidFill>
                  </a:tcPr>
                </a:tc>
                <a:tc>
                  <a:txBody>
                    <a:bodyPr/>
                    <a:lstStyle/>
                    <a:p>
                      <a:pPr indent="0" lvl="0" marL="0" marR="0" rtl="0" algn="r">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38138095.0</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AF2FB"/>
                    </a:solidFill>
                  </a:tcPr>
                </a:tc>
              </a:tr>
            </a:tbl>
          </a:graphicData>
        </a:graphic>
      </p:graphicFrame>
      <p:sp>
        <p:nvSpPr>
          <p:cNvPr id="141" name="Google Shape;141;p10"/>
          <p:cNvSpPr/>
          <p:nvPr/>
        </p:nvSpPr>
        <p:spPr>
          <a:xfrm>
            <a:off x="6812280" y="4160520"/>
            <a:ext cx="4800600" cy="2194560"/>
          </a:xfrm>
          <a:prstGeom prst="roundRect">
            <a:avLst>
              <a:gd fmla="val 2500" name="adj"/>
            </a:avLst>
          </a:prstGeom>
          <a:solidFill>
            <a:srgbClr val="FFD43B"/>
          </a:solidFill>
          <a:ln cap="flat" cmpd="sng" w="12700">
            <a:solidFill>
              <a:srgbClr val="FFD4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10"/>
          <p:cNvSpPr/>
          <p:nvPr/>
        </p:nvSpPr>
        <p:spPr>
          <a:xfrm>
            <a:off x="6995160" y="4279392"/>
            <a:ext cx="448056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2A38"/>
              </a:buClr>
              <a:buSzPts val="1500"/>
              <a:buFont typeface="Cambria"/>
              <a:buNone/>
            </a:pPr>
            <a:r>
              <a:rPr b="1" i="0" lang="en-US" sz="1500" u="none" cap="none" strike="noStrike">
                <a:solidFill>
                  <a:srgbClr val="1B2A38"/>
                </a:solidFill>
                <a:latin typeface="Cambria"/>
                <a:ea typeface="Cambria"/>
                <a:cs typeface="Cambria"/>
                <a:sym typeface="Cambria"/>
              </a:rPr>
              <a:t>Insight</a:t>
            </a:r>
            <a:endParaRPr b="0" i="0" sz="1500" u="none" cap="none" strike="noStrike">
              <a:solidFill>
                <a:schemeClr val="dk1"/>
              </a:solidFill>
              <a:latin typeface="Calibri"/>
              <a:ea typeface="Calibri"/>
              <a:cs typeface="Calibri"/>
              <a:sym typeface="Calibri"/>
            </a:endParaRPr>
          </a:p>
        </p:txBody>
      </p:sp>
      <p:sp>
        <p:nvSpPr>
          <p:cNvPr id="143" name="Google Shape;143;p10"/>
          <p:cNvSpPr/>
          <p:nvPr/>
        </p:nvSpPr>
        <p:spPr>
          <a:xfrm>
            <a:off x="6995160" y="4645152"/>
            <a:ext cx="4480560" cy="1600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B2A38"/>
              </a:buClr>
              <a:buSzPts val="1200"/>
              <a:buFont typeface="Calibri"/>
              <a:buNone/>
            </a:pPr>
            <a:r>
              <a:rPr b="0" i="0" lang="en-US" sz="1200" u="none" cap="none" strike="noStrike">
                <a:solidFill>
                  <a:srgbClr val="1B2A38"/>
                </a:solidFill>
                <a:latin typeface="Calibri"/>
                <a:ea typeface="Calibri"/>
                <a:cs typeface="Calibri"/>
                <a:sym typeface="Calibri"/>
              </a:rPr>
              <a:t>id becomes string as a customer identifier, and birthdate becomes datetime so age can be computed against the cutoff. All three money columns are converted, not only the two used for DTI: per_capita_income was still text, and it is needed later to compare a customer's income against the income level of their area — a useful persona signal. retirement_age and credit_score are already integers and are left unchanged.</a:t>
            </a:r>
            <a:endParaRPr b="0" i="0" sz="1200" u="none" cap="none" strike="noStrike">
              <a:solidFill>
                <a:schemeClr val="dk1"/>
              </a:solidFill>
              <a:latin typeface="Calibri"/>
              <a:ea typeface="Calibri"/>
              <a:cs typeface="Calibri"/>
              <a:sym typeface="Calibri"/>
            </a:endParaRPr>
          </a:p>
        </p:txBody>
      </p:sp>
      <p:sp>
        <p:nvSpPr>
          <p:cNvPr id="144" name="Google Shape;144;p10"/>
          <p:cNvSpPr/>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7185"/>
              </a:buClr>
              <a:buSzPts val="900"/>
              <a:buFont typeface="Calibri"/>
              <a:buNone/>
            </a:pPr>
            <a:r>
              <a:rPr b="0" i="0" lang="en-US" sz="900" u="none" cap="none" strike="noStrike">
                <a:solidFill>
                  <a:srgbClr val="5A7185"/>
                </a:solidFill>
                <a:latin typeface="Calibri"/>
                <a:ea typeface="Calibri"/>
                <a:cs typeface="Calibri"/>
                <a:sym typeface="Calibri"/>
              </a:rPr>
              <a:t>Credit Card &amp; User Data Cleaning – Milestone 1</a:t>
            </a:r>
            <a:endParaRPr b="0" i="0" sz="900" u="none" cap="none" strike="noStrike">
              <a:solidFill>
                <a:schemeClr val="dk1"/>
              </a:solidFill>
              <a:latin typeface="Calibri"/>
              <a:ea typeface="Calibri"/>
              <a:cs typeface="Calibri"/>
              <a:sym typeface="Calibri"/>
            </a:endParaRPr>
          </a:p>
        </p:txBody>
      </p:sp>
      <p:sp>
        <p:nvSpPr>
          <p:cNvPr id="145" name="Google Shape;145;p10"/>
          <p:cNvSpPr/>
          <p:nvPr/>
        </p:nvSpPr>
        <p:spPr>
          <a:xfrm>
            <a:off x="11247120" y="6492240"/>
            <a:ext cx="4572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7185"/>
              </a:buClr>
              <a:buSzPts val="900"/>
              <a:buFont typeface="Calibri"/>
              <a:buNone/>
            </a:pPr>
            <a:r>
              <a:rPr b="0" i="0" lang="en-US" sz="900" u="none" cap="none" strike="noStrike">
                <a:solidFill>
                  <a:srgbClr val="5A7185"/>
                </a:solidFill>
                <a:latin typeface="Calibri"/>
                <a:ea typeface="Calibri"/>
                <a:cs typeface="Calibri"/>
                <a:sym typeface="Calibri"/>
              </a:rPr>
              <a:t>10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B"/>
        </a:solidFill>
      </p:bgPr>
    </p:bg>
    <p:spTree>
      <p:nvGrpSpPr>
        <p:cNvPr id="149" name="Shape 149"/>
        <p:cNvGrpSpPr/>
        <p:nvPr/>
      </p:nvGrpSpPr>
      <p:grpSpPr>
        <a:xfrm>
          <a:off x="0" y="0"/>
          <a:ext cx="0" cy="0"/>
          <a:chOff x="0" y="0"/>
          <a:chExt cx="0" cy="0"/>
        </a:xfrm>
      </p:grpSpPr>
      <p:sp>
        <p:nvSpPr>
          <p:cNvPr id="150" name="Google Shape;150;p11"/>
          <p:cNvSpPr/>
          <p:nvPr/>
        </p:nvSpPr>
        <p:spPr>
          <a:xfrm>
            <a:off x="548640" y="457200"/>
            <a:ext cx="502920" cy="502920"/>
          </a:xfrm>
          <a:prstGeom prst="ellipse">
            <a:avLst/>
          </a:prstGeom>
          <a:solidFill>
            <a:srgbClr val="30699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11"/>
          <p:cNvSpPr/>
          <p:nvPr/>
        </p:nvSpPr>
        <p:spPr>
          <a:xfrm>
            <a:off x="548640" y="457200"/>
            <a:ext cx="50292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000"/>
              <a:buFont typeface="Cambria"/>
              <a:buNone/>
            </a:pPr>
            <a:r>
              <a:rPr b="1" i="0" lang="en-US" sz="2000" u="none" cap="none" strike="noStrike">
                <a:solidFill>
                  <a:srgbClr val="FFFFFF"/>
                </a:solidFill>
                <a:latin typeface="Cambria"/>
                <a:ea typeface="Cambria"/>
                <a:cs typeface="Cambria"/>
                <a:sym typeface="Cambria"/>
              </a:rPr>
              <a:t>6</a:t>
            </a:r>
            <a:endParaRPr b="0" i="0" sz="2000" u="none" cap="none" strike="noStrike">
              <a:solidFill>
                <a:schemeClr val="dk1"/>
              </a:solidFill>
              <a:latin typeface="Calibri"/>
              <a:ea typeface="Calibri"/>
              <a:cs typeface="Calibri"/>
              <a:sym typeface="Calibri"/>
            </a:endParaRPr>
          </a:p>
        </p:txBody>
      </p:sp>
      <p:sp>
        <p:nvSpPr>
          <p:cNvPr id="152" name="Google Shape;152;p11"/>
          <p:cNvSpPr/>
          <p:nvPr/>
        </p:nvSpPr>
        <p:spPr>
          <a:xfrm>
            <a:off x="1188720" y="384048"/>
            <a:ext cx="10424160"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84"/>
              </a:buClr>
              <a:buSzPts val="2000"/>
              <a:buFont typeface="Cambria"/>
              <a:buNone/>
            </a:pPr>
            <a:r>
              <a:rPr b="1" i="0" lang="en-US" sz="2000" u="none" cap="none" strike="noStrike">
                <a:solidFill>
                  <a:srgbClr val="2B5B84"/>
                </a:solidFill>
                <a:latin typeface="Cambria"/>
                <a:ea typeface="Cambria"/>
                <a:cs typeface="Cambria"/>
                <a:sym typeface="Cambria"/>
              </a:rPr>
              <a:t>5b. User Data (Add Age, Retired Flag, DTI)</a:t>
            </a:r>
            <a:endParaRPr b="0" i="0" sz="2000" u="none" cap="none" strike="noStrike">
              <a:solidFill>
                <a:schemeClr val="dk1"/>
              </a:solidFill>
              <a:latin typeface="Calibri"/>
              <a:ea typeface="Calibri"/>
              <a:cs typeface="Calibri"/>
              <a:sym typeface="Calibri"/>
            </a:endParaRPr>
          </a:p>
        </p:txBody>
      </p:sp>
      <p:sp>
        <p:nvSpPr>
          <p:cNvPr id="153" name="Google Shape;153;p11"/>
          <p:cNvSpPr/>
          <p:nvPr/>
        </p:nvSpPr>
        <p:spPr>
          <a:xfrm>
            <a:off x="548640" y="1325880"/>
            <a:ext cx="54864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7185"/>
              </a:buClr>
              <a:buSzPts val="1300"/>
              <a:buFont typeface="Calibri"/>
              <a:buNone/>
            </a:pPr>
            <a:r>
              <a:rPr b="1" i="0" lang="en-US" sz="1300" u="none" cap="none" strike="noStrike">
                <a:solidFill>
                  <a:srgbClr val="5A7185"/>
                </a:solidFill>
                <a:latin typeface="Calibri"/>
                <a:ea typeface="Calibri"/>
                <a:cs typeface="Calibri"/>
                <a:sym typeface="Calibri"/>
              </a:rPr>
              <a:t>Syntax</a:t>
            </a:r>
            <a:endParaRPr b="0" i="0" sz="1300" u="none" cap="none" strike="noStrike">
              <a:solidFill>
                <a:schemeClr val="dk1"/>
              </a:solidFill>
              <a:latin typeface="Calibri"/>
              <a:ea typeface="Calibri"/>
              <a:cs typeface="Calibri"/>
              <a:sym typeface="Calibri"/>
            </a:endParaRPr>
          </a:p>
        </p:txBody>
      </p:sp>
      <p:sp>
        <p:nvSpPr>
          <p:cNvPr id="154" name="Google Shape;154;p11"/>
          <p:cNvSpPr/>
          <p:nvPr/>
        </p:nvSpPr>
        <p:spPr>
          <a:xfrm>
            <a:off x="548640" y="1691640"/>
            <a:ext cx="6035040" cy="4663440"/>
          </a:xfrm>
          <a:prstGeom prst="roundRect">
            <a:avLst>
              <a:gd fmla="val 1569" name="adj"/>
            </a:avLst>
          </a:prstGeom>
          <a:solidFill>
            <a:srgbClr val="1B2A38"/>
          </a:solidFill>
          <a:ln cap="flat" cmpd="sng" w="12700">
            <a:solidFill>
              <a:srgbClr val="1B2A3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11"/>
          <p:cNvSpPr/>
          <p:nvPr/>
        </p:nvSpPr>
        <p:spPr>
          <a:xfrm>
            <a:off x="731520" y="1828800"/>
            <a:ext cx="5715000" cy="43891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E7F0FA"/>
              </a:buClr>
              <a:buSzPts val="1100"/>
              <a:buFont typeface="Courier New"/>
              <a:buNone/>
            </a:pPr>
            <a:r>
              <a:rPr b="0" i="0" lang="en-US" sz="1100" u="none" cap="none" strike="noStrike">
                <a:solidFill>
                  <a:srgbClr val="E7F0FA"/>
                </a:solidFill>
                <a:latin typeface="Courier New"/>
                <a:ea typeface="Courier New"/>
                <a:cs typeface="Courier New"/>
                <a:sym typeface="Courier New"/>
              </a:rPr>
              <a:t>cutoff = pd.to_datetime('2025-05-31')</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7F0FA"/>
              </a:buClr>
              <a:buSzPts val="1100"/>
              <a:buFont typeface="Courier New"/>
              <a:buNone/>
            </a:pPr>
            <a:r>
              <a:rPr b="0" i="0" lang="en-US" sz="1100" u="none" cap="none" strike="noStrike">
                <a:solidFill>
                  <a:srgbClr val="E7F0FA"/>
                </a:solidFill>
                <a:latin typeface="Courier New"/>
                <a:ea typeface="Courier New"/>
                <a:cs typeface="Courier New"/>
                <a:sym typeface="Courier New"/>
              </a:rPr>
              <a:t>df_user['age'] = round(</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7F0FA"/>
              </a:buClr>
              <a:buSzPts val="1100"/>
              <a:buFont typeface="Courier New"/>
              <a:buNone/>
            </a:pPr>
            <a:r>
              <a:rPr b="0" i="0" lang="en-US" sz="1100" u="none" cap="none" strike="noStrike">
                <a:solidFill>
                  <a:srgbClr val="E7F0FA"/>
                </a:solidFill>
                <a:latin typeface="Courier New"/>
                <a:ea typeface="Courier New"/>
                <a:cs typeface="Courier New"/>
                <a:sym typeface="Courier New"/>
              </a:rPr>
              <a:t>    (cutoff - df_user['birthdate'])</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7F0FA"/>
              </a:buClr>
              <a:buSzPts val="1100"/>
              <a:buFont typeface="Courier New"/>
              <a:buNone/>
            </a:pPr>
            <a:r>
              <a:rPr b="0" i="0" lang="en-US" sz="1100" u="none" cap="none" strike="noStrike">
                <a:solidFill>
                  <a:srgbClr val="E7F0FA"/>
                </a:solidFill>
                <a:latin typeface="Courier New"/>
                <a:ea typeface="Courier New"/>
                <a:cs typeface="Courier New"/>
                <a:sym typeface="Courier New"/>
              </a:rPr>
              <a:t>    .dt.days / 365.25</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7F0FA"/>
              </a:buClr>
              <a:buSzPts val="1100"/>
              <a:buFont typeface="Courier New"/>
              <a:buNone/>
            </a:pPr>
            <a:r>
              <a:rPr b="0" i="0" lang="en-US" sz="1100" u="none" cap="none" strike="noStrike">
                <a:solidFill>
                  <a:srgbClr val="E7F0FA"/>
                </a:solidFill>
                <a:latin typeface="Courier New"/>
                <a:ea typeface="Courier New"/>
                <a:cs typeface="Courier New"/>
                <a:sym typeface="Courier New"/>
              </a:rPr>
              <a:t>).astype(int)</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7F0FA"/>
              </a:buClr>
              <a:buSzPts val="1100"/>
              <a:buFont typeface="Courier New"/>
              <a:buNone/>
            </a:pPr>
            <a:r>
              <a:rPr b="0" i="0" lang="en-US" sz="1100" u="none" cap="none" strike="noStrike">
                <a:solidFill>
                  <a:srgbClr val="E7F0FA"/>
                </a:solidFill>
                <a:latin typeface="Courier New"/>
                <a:ea typeface="Courier New"/>
                <a:cs typeface="Courier New"/>
                <a:sym typeface="Courier New"/>
              </a:rPr>
              <a:t>df_user['retired_flag'] = np.where(</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7F0FA"/>
              </a:buClr>
              <a:buSzPts val="1100"/>
              <a:buFont typeface="Courier New"/>
              <a:buNone/>
            </a:pPr>
            <a:r>
              <a:rPr b="0" i="0" lang="en-US" sz="1100" u="none" cap="none" strike="noStrike">
                <a:solidFill>
                  <a:srgbClr val="E7F0FA"/>
                </a:solidFill>
                <a:latin typeface="Courier New"/>
                <a:ea typeface="Courier New"/>
                <a:cs typeface="Courier New"/>
                <a:sym typeface="Courier New"/>
              </a:rPr>
              <a:t>    df_user['age'] &gt;=</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7F0FA"/>
              </a:buClr>
              <a:buSzPts val="1100"/>
              <a:buFont typeface="Courier New"/>
              <a:buNone/>
            </a:pPr>
            <a:r>
              <a:rPr b="0" i="0" lang="en-US" sz="1100" u="none" cap="none" strike="noStrike">
                <a:solidFill>
                  <a:srgbClr val="E7F0FA"/>
                </a:solidFill>
                <a:latin typeface="Courier New"/>
                <a:ea typeface="Courier New"/>
                <a:cs typeface="Courier New"/>
                <a:sym typeface="Courier New"/>
              </a:rPr>
              <a:t>    df_user['retirement_age'], 1, 0)</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7F0FA"/>
              </a:buClr>
              <a:buSzPts val="1100"/>
              <a:buFont typeface="Courier New"/>
              <a:buNone/>
            </a:pPr>
            <a:r>
              <a:rPr b="0" i="0" lang="en-US" sz="1100" u="none" cap="none" strike="noStrike">
                <a:solidFill>
                  <a:srgbClr val="E7F0FA"/>
                </a:solidFill>
                <a:latin typeface="Courier New"/>
                <a:ea typeface="Courier New"/>
                <a:cs typeface="Courier New"/>
                <a:sym typeface="Courier New"/>
              </a:rPr>
              <a:t>df_user['DTI'] = (</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7F0FA"/>
              </a:buClr>
              <a:buSzPts val="1100"/>
              <a:buFont typeface="Courier New"/>
              <a:buNone/>
            </a:pPr>
            <a:r>
              <a:rPr b="0" i="0" lang="en-US" sz="1100" u="none" cap="none" strike="noStrike">
                <a:solidFill>
                  <a:srgbClr val="E7F0FA"/>
                </a:solidFill>
                <a:latin typeface="Courier New"/>
                <a:ea typeface="Courier New"/>
                <a:cs typeface="Courier New"/>
                <a:sym typeface="Courier New"/>
              </a:rPr>
              <a:t>    df_user['total_debt']</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7F0FA"/>
              </a:buClr>
              <a:buSzPts val="1100"/>
              <a:buFont typeface="Courier New"/>
              <a:buNone/>
            </a:pPr>
            <a:r>
              <a:rPr b="0" i="0" lang="en-US" sz="1100" u="none" cap="none" strike="noStrike">
                <a:solidFill>
                  <a:srgbClr val="E7F0FA"/>
                </a:solidFill>
                <a:latin typeface="Courier New"/>
                <a:ea typeface="Courier New"/>
                <a:cs typeface="Courier New"/>
                <a:sym typeface="Courier New"/>
              </a:rPr>
              <a:t>    / df_user['yearly_income']</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7F0FA"/>
              </a:buClr>
              <a:buSzPts val="1100"/>
              <a:buFont typeface="Courier New"/>
              <a:buNone/>
            </a:pPr>
            <a:r>
              <a:rPr b="0" i="0" lang="en-US" sz="1100" u="none" cap="none" strike="noStrike">
                <a:solidFill>
                  <a:srgbClr val="E7F0FA"/>
                </a:solidFill>
                <a:latin typeface="Courier New"/>
                <a:ea typeface="Courier New"/>
                <a:cs typeface="Courier New"/>
                <a:sym typeface="Courier New"/>
              </a:rPr>
              <a:t>)</a:t>
            </a:r>
            <a:endParaRPr b="0" i="0" sz="1100" u="none" cap="none" strike="noStrike">
              <a:solidFill>
                <a:schemeClr val="dk1"/>
              </a:solidFill>
              <a:latin typeface="Calibri"/>
              <a:ea typeface="Calibri"/>
              <a:cs typeface="Calibri"/>
              <a:sym typeface="Calibri"/>
            </a:endParaRPr>
          </a:p>
        </p:txBody>
      </p:sp>
      <p:sp>
        <p:nvSpPr>
          <p:cNvPr id="156" name="Google Shape;156;p11"/>
          <p:cNvSpPr/>
          <p:nvPr/>
        </p:nvSpPr>
        <p:spPr>
          <a:xfrm>
            <a:off x="6812280" y="1325880"/>
            <a:ext cx="4800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7185"/>
              </a:buClr>
              <a:buSzPts val="1300"/>
              <a:buFont typeface="Calibri"/>
              <a:buNone/>
            </a:pPr>
            <a:r>
              <a:rPr b="1" i="0" lang="en-US" sz="1300" u="none" cap="none" strike="noStrike">
                <a:solidFill>
                  <a:srgbClr val="5A7185"/>
                </a:solidFill>
                <a:latin typeface="Calibri"/>
                <a:ea typeface="Calibri"/>
                <a:cs typeface="Calibri"/>
                <a:sym typeface="Calibri"/>
              </a:rPr>
              <a:t>Output</a:t>
            </a:r>
            <a:endParaRPr b="0" i="0" sz="1300" u="none" cap="none" strike="noStrike">
              <a:solidFill>
                <a:schemeClr val="dk1"/>
              </a:solidFill>
              <a:latin typeface="Calibri"/>
              <a:ea typeface="Calibri"/>
              <a:cs typeface="Calibri"/>
              <a:sym typeface="Calibri"/>
            </a:endParaRPr>
          </a:p>
        </p:txBody>
      </p:sp>
      <p:sp>
        <p:nvSpPr>
          <p:cNvPr id="157" name="Google Shape;157;p11"/>
          <p:cNvSpPr/>
          <p:nvPr/>
        </p:nvSpPr>
        <p:spPr>
          <a:xfrm>
            <a:off x="6812280" y="1691640"/>
            <a:ext cx="4800600" cy="2331720"/>
          </a:xfrm>
          <a:prstGeom prst="roundRect">
            <a:avLst>
              <a:gd fmla="val 2353" name="adj"/>
            </a:avLst>
          </a:prstGeom>
          <a:solidFill>
            <a:srgbClr val="FFFFFF"/>
          </a:solidFill>
          <a:ln cap="flat" cmpd="sng" w="19050">
            <a:solidFill>
              <a:srgbClr val="FFD4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158" name="Google Shape;158;p11"/>
          <p:cNvGraphicFramePr/>
          <p:nvPr/>
        </p:nvGraphicFramePr>
        <p:xfrm>
          <a:off x="6903720" y="1783080"/>
          <a:ext cx="3000000" cy="3000000"/>
        </p:xfrm>
        <a:graphic>
          <a:graphicData uri="http://schemas.openxmlformats.org/drawingml/2006/table">
            <a:tbl>
              <a:tblPr>
                <a:noFill/>
                <a:tableStyleId>{3D7D59D7-DF91-47F0-BCBC-DAAD57FB8C79}</a:tableStyleId>
              </a:tblPr>
              <a:tblGrid>
                <a:gridCol w="1097275"/>
                <a:gridCol w="960125"/>
                <a:gridCol w="914400"/>
                <a:gridCol w="1645925"/>
              </a:tblGrid>
              <a:tr h="358150">
                <a:tc>
                  <a:txBody>
                    <a:bodyPr/>
                    <a:lstStyle/>
                    <a:p>
                      <a:pPr indent="0" lvl="0" marL="0" marR="0" rtl="0" algn="ctr">
                        <a:lnSpc>
                          <a:spcPct val="100000"/>
                        </a:lnSpc>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age</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306998"/>
                    </a:solidFill>
                  </a:tcPr>
                </a:tc>
                <a:tc>
                  <a:txBody>
                    <a:bodyPr/>
                    <a:lstStyle/>
                    <a:p>
                      <a:pPr indent="0" lvl="0" marL="0" marR="0" rtl="0" algn="ctr">
                        <a:lnSpc>
                          <a:spcPct val="100000"/>
                        </a:lnSpc>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ret_age</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306998"/>
                    </a:solidFill>
                  </a:tcPr>
                </a:tc>
                <a:tc>
                  <a:txBody>
                    <a:bodyPr/>
                    <a:lstStyle/>
                    <a:p>
                      <a:pPr indent="0" lvl="0" marL="0" marR="0" rtl="0" algn="ctr">
                        <a:lnSpc>
                          <a:spcPct val="100000"/>
                        </a:lnSpc>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flag</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306998"/>
                    </a:solidFill>
                  </a:tcPr>
                </a:tc>
                <a:tc>
                  <a:txBody>
                    <a:bodyPr/>
                    <a:lstStyle/>
                    <a:p>
                      <a:pPr indent="0" lvl="0" marL="0" marR="0" rtl="0" algn="ctr">
                        <a:lnSpc>
                          <a:spcPct val="100000"/>
                        </a:lnSpc>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DTI</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306998"/>
                    </a:solidFill>
                  </a:tcPr>
                </a:tc>
              </a:tr>
              <a:tr h="358150">
                <a:tc>
                  <a:txBody>
                    <a:bodyPr/>
                    <a:lstStyle/>
                    <a:p>
                      <a:pPr indent="0" lvl="0" marL="0" marR="0" rtl="0" algn="l">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53</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66</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0</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0.41</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r>
              <a:tr h="358150">
                <a:tc>
                  <a:txBody>
                    <a:bodyPr/>
                    <a:lstStyle/>
                    <a:p>
                      <a:pPr indent="0" lvl="0" marL="0" marR="0" rtl="0" algn="l">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52</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AF2FB"/>
                    </a:solidFill>
                  </a:tcPr>
                </a:tc>
                <a:tc>
                  <a:txBody>
                    <a:bodyPr/>
                    <a:lstStyle/>
                    <a:p>
                      <a:pPr indent="0" lvl="0" marL="0" marR="0" rtl="0" algn="r">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68</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AF2FB"/>
                    </a:solidFill>
                  </a:tcPr>
                </a:tc>
                <a:tc>
                  <a:txBody>
                    <a:bodyPr/>
                    <a:lstStyle/>
                    <a:p>
                      <a:pPr indent="0" lvl="0" marL="0" marR="0" rtl="0" algn="r">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0</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AF2FB"/>
                    </a:solidFill>
                  </a:tcPr>
                </a:tc>
                <a:tc>
                  <a:txBody>
                    <a:bodyPr/>
                    <a:lstStyle/>
                    <a:p>
                      <a:pPr indent="0" lvl="0" marL="0" marR="0" rtl="0" algn="r">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0.47</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AF2FB"/>
                    </a:solidFill>
                  </a:tcPr>
                </a:tc>
              </a:tr>
              <a:tr h="358150">
                <a:tc>
                  <a:txBody>
                    <a:bodyPr/>
                    <a:lstStyle/>
                    <a:p>
                      <a:pPr indent="0" lvl="0" marL="0" marR="0" rtl="0" algn="l">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81</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67</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1</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0.00</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r>
              <a:tr h="358150">
                <a:tc>
                  <a:txBody>
                    <a:bodyPr/>
                    <a:lstStyle/>
                    <a:p>
                      <a:pPr indent="0" lvl="0" marL="0" marR="0" rtl="0" algn="l">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62</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AF2FB"/>
                    </a:solidFill>
                  </a:tcPr>
                </a:tc>
                <a:tc>
                  <a:txBody>
                    <a:bodyPr/>
                    <a:lstStyle/>
                    <a:p>
                      <a:pPr indent="0" lvl="0" marL="0" marR="0" rtl="0" algn="r">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63</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AF2FB"/>
                    </a:solidFill>
                  </a:tcPr>
                </a:tc>
                <a:tc>
                  <a:txBody>
                    <a:bodyPr/>
                    <a:lstStyle/>
                    <a:p>
                      <a:pPr indent="0" lvl="0" marL="0" marR="0" rtl="0" algn="r">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0</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AF2FB"/>
                    </a:solidFill>
                  </a:tcPr>
                </a:tc>
                <a:tc>
                  <a:txBody>
                    <a:bodyPr/>
                    <a:lstStyle/>
                    <a:p>
                      <a:pPr indent="0" lvl="0" marL="0" marR="0" rtl="0" algn="r">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0.15</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AF2FB"/>
                    </a:solidFill>
                  </a:tcPr>
                </a:tc>
              </a:tr>
              <a:tr h="358150">
                <a:tc>
                  <a:txBody>
                    <a:bodyPr/>
                    <a:lstStyle/>
                    <a:p>
                      <a:pPr indent="0" lvl="0" marL="0" marR="0" rtl="0" algn="l">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43</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70</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0</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0.32</a:t>
                      </a:r>
                      <a:endParaRPr sz="9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r>
            </a:tbl>
          </a:graphicData>
        </a:graphic>
      </p:graphicFrame>
      <p:sp>
        <p:nvSpPr>
          <p:cNvPr id="159" name="Google Shape;159;p11"/>
          <p:cNvSpPr/>
          <p:nvPr/>
        </p:nvSpPr>
        <p:spPr>
          <a:xfrm>
            <a:off x="6812280" y="4160520"/>
            <a:ext cx="4800600" cy="2194560"/>
          </a:xfrm>
          <a:prstGeom prst="roundRect">
            <a:avLst>
              <a:gd fmla="val 2500" name="adj"/>
            </a:avLst>
          </a:prstGeom>
          <a:solidFill>
            <a:srgbClr val="FFD43B"/>
          </a:solidFill>
          <a:ln cap="flat" cmpd="sng" w="12700">
            <a:solidFill>
              <a:srgbClr val="FFD4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11"/>
          <p:cNvSpPr/>
          <p:nvPr/>
        </p:nvSpPr>
        <p:spPr>
          <a:xfrm>
            <a:off x="6995160" y="4279392"/>
            <a:ext cx="448056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2A38"/>
              </a:buClr>
              <a:buSzPts val="1500"/>
              <a:buFont typeface="Cambria"/>
              <a:buNone/>
            </a:pPr>
            <a:r>
              <a:rPr b="1" i="0" lang="en-US" sz="1500" u="none" cap="none" strike="noStrike">
                <a:solidFill>
                  <a:srgbClr val="1B2A38"/>
                </a:solidFill>
                <a:latin typeface="Cambria"/>
                <a:ea typeface="Cambria"/>
                <a:cs typeface="Cambria"/>
                <a:sym typeface="Cambria"/>
              </a:rPr>
              <a:t>Insight</a:t>
            </a:r>
            <a:endParaRPr b="0" i="0" sz="1500" u="none" cap="none" strike="noStrike">
              <a:solidFill>
                <a:schemeClr val="dk1"/>
              </a:solidFill>
              <a:latin typeface="Calibri"/>
              <a:ea typeface="Calibri"/>
              <a:cs typeface="Calibri"/>
              <a:sym typeface="Calibri"/>
            </a:endParaRPr>
          </a:p>
        </p:txBody>
      </p:sp>
      <p:sp>
        <p:nvSpPr>
          <p:cNvPr id="161" name="Google Shape;161;p11"/>
          <p:cNvSpPr/>
          <p:nvPr/>
        </p:nvSpPr>
        <p:spPr>
          <a:xfrm>
            <a:off x="6995160" y="4645152"/>
            <a:ext cx="4480560" cy="1600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B2A38"/>
              </a:buClr>
              <a:buSzPts val="1200"/>
              <a:buFont typeface="Calibri"/>
              <a:buNone/>
            </a:pPr>
            <a:r>
              <a:rPr b="0" i="0" lang="en-US" sz="1200" u="none" cap="none" strike="noStrike">
                <a:solidFill>
                  <a:srgbClr val="1B2A38"/>
                </a:solidFill>
                <a:latin typeface="Calibri"/>
                <a:ea typeface="Calibri"/>
                <a:cs typeface="Calibri"/>
                <a:sym typeface="Calibri"/>
              </a:rPr>
              <a:t>age is computed against the May 31, 2025 cutoff so every figure stays reproducible. retired_flag compares each user's age with their OWN retirement_age, which ranges from 50 to 79 — a fixed threshold of 55 would flag 599 users as retired, while the per-user rule flags 290. Row 4 shows why it matters: age 62 against a retirement age of 63 is not retired yet. DTI (total_debt / yearly_income) shows how much headroom a customer still has to spend.</a:t>
            </a:r>
            <a:endParaRPr b="0" i="0" sz="1200" u="none" cap="none" strike="noStrike">
              <a:solidFill>
                <a:schemeClr val="dk1"/>
              </a:solidFill>
              <a:latin typeface="Calibri"/>
              <a:ea typeface="Calibri"/>
              <a:cs typeface="Calibri"/>
              <a:sym typeface="Calibri"/>
            </a:endParaRPr>
          </a:p>
        </p:txBody>
      </p:sp>
      <p:sp>
        <p:nvSpPr>
          <p:cNvPr id="162" name="Google Shape;162;p11"/>
          <p:cNvSpPr/>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7185"/>
              </a:buClr>
              <a:buSzPts val="900"/>
              <a:buFont typeface="Calibri"/>
              <a:buNone/>
            </a:pPr>
            <a:r>
              <a:rPr b="0" i="0" lang="en-US" sz="900" u="none" cap="none" strike="noStrike">
                <a:solidFill>
                  <a:srgbClr val="5A7185"/>
                </a:solidFill>
                <a:latin typeface="Calibri"/>
                <a:ea typeface="Calibri"/>
                <a:cs typeface="Calibri"/>
                <a:sym typeface="Calibri"/>
              </a:rPr>
              <a:t>Credit Card &amp; User Data Cleaning – Milestone 1</a:t>
            </a:r>
            <a:endParaRPr b="0" i="0" sz="900" u="none" cap="none" strike="noStrike">
              <a:solidFill>
                <a:schemeClr val="dk1"/>
              </a:solidFill>
              <a:latin typeface="Calibri"/>
              <a:ea typeface="Calibri"/>
              <a:cs typeface="Calibri"/>
              <a:sym typeface="Calibri"/>
            </a:endParaRPr>
          </a:p>
        </p:txBody>
      </p:sp>
      <p:sp>
        <p:nvSpPr>
          <p:cNvPr id="163" name="Google Shape;163;p11"/>
          <p:cNvSpPr/>
          <p:nvPr/>
        </p:nvSpPr>
        <p:spPr>
          <a:xfrm>
            <a:off x="11247120" y="6492240"/>
            <a:ext cx="4572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7185"/>
              </a:buClr>
              <a:buSzPts val="900"/>
              <a:buFont typeface="Calibri"/>
              <a:buNone/>
            </a:pPr>
            <a:r>
              <a:rPr b="0" i="0" lang="en-US" sz="900" u="none" cap="none" strike="noStrike">
                <a:solidFill>
                  <a:srgbClr val="5A7185"/>
                </a:solidFill>
                <a:latin typeface="Calibri"/>
                <a:ea typeface="Calibri"/>
                <a:cs typeface="Calibri"/>
                <a:sym typeface="Calibri"/>
              </a:rPr>
              <a:t>11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B"/>
        </a:solidFill>
      </p:bgPr>
    </p:bg>
    <p:spTree>
      <p:nvGrpSpPr>
        <p:cNvPr id="167" name="Shape 167"/>
        <p:cNvGrpSpPr/>
        <p:nvPr/>
      </p:nvGrpSpPr>
      <p:grpSpPr>
        <a:xfrm>
          <a:off x="0" y="0"/>
          <a:ext cx="0" cy="0"/>
          <a:chOff x="0" y="0"/>
          <a:chExt cx="0" cy="0"/>
        </a:xfrm>
      </p:grpSpPr>
      <p:sp>
        <p:nvSpPr>
          <p:cNvPr id="168" name="Google Shape;168;p12"/>
          <p:cNvSpPr/>
          <p:nvPr/>
        </p:nvSpPr>
        <p:spPr>
          <a:xfrm>
            <a:off x="548640" y="365760"/>
            <a:ext cx="1097280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84"/>
              </a:buClr>
              <a:buSzPts val="2200"/>
              <a:buFont typeface="Cambria"/>
              <a:buNone/>
            </a:pPr>
            <a:r>
              <a:rPr b="1" i="0" lang="en-US" sz="2200" u="none" cap="none" strike="noStrike">
                <a:solidFill>
                  <a:srgbClr val="2B5B84"/>
                </a:solidFill>
                <a:latin typeface="Cambria"/>
                <a:ea typeface="Cambria"/>
                <a:cs typeface="Cambria"/>
                <a:sym typeface="Cambria"/>
              </a:rPr>
              <a:t>Data Cleaning Summary</a:t>
            </a:r>
            <a:endParaRPr b="0" i="0" sz="2200" u="none" cap="none" strike="noStrike">
              <a:solidFill>
                <a:schemeClr val="dk1"/>
              </a:solidFill>
              <a:latin typeface="Calibri"/>
              <a:ea typeface="Calibri"/>
              <a:cs typeface="Calibri"/>
              <a:sym typeface="Calibri"/>
            </a:endParaRPr>
          </a:p>
        </p:txBody>
      </p:sp>
      <p:graphicFrame>
        <p:nvGraphicFramePr>
          <p:cNvPr id="169" name="Google Shape;169;p12"/>
          <p:cNvGraphicFramePr/>
          <p:nvPr/>
        </p:nvGraphicFramePr>
        <p:xfrm>
          <a:off x="548640" y="1051560"/>
          <a:ext cx="3000000" cy="3000000"/>
        </p:xfrm>
        <a:graphic>
          <a:graphicData uri="http://schemas.openxmlformats.org/drawingml/2006/table">
            <a:tbl>
              <a:tblPr>
                <a:noFill/>
                <a:tableStyleId>{3D7D59D7-DF91-47F0-BCBC-DAAD57FB8C79}</a:tableStyleId>
              </a:tblPr>
              <a:tblGrid>
                <a:gridCol w="2514600"/>
                <a:gridCol w="2743200"/>
                <a:gridCol w="2697475"/>
                <a:gridCol w="3136400"/>
              </a:tblGrid>
              <a:tr h="777250">
                <a:tc>
                  <a:txBody>
                    <a:bodyPr/>
                    <a:lstStyle/>
                    <a:p>
                      <a:pPr indent="0" lvl="0" marL="0" marR="0" rtl="0" algn="ctr">
                        <a:lnSpc>
                          <a:spcPct val="100000"/>
                        </a:lnSpc>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Data Cleaning Step</a:t>
                      </a:r>
                      <a:endParaRPr sz="12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306998"/>
                    </a:solidFill>
                  </a:tcPr>
                </a:tc>
                <a:tc>
                  <a:txBody>
                    <a:bodyPr/>
                    <a:lstStyle/>
                    <a:p>
                      <a:pPr indent="0" lvl="0" marL="0" marR="0" rtl="0" algn="ctr">
                        <a:lnSpc>
                          <a:spcPct val="100000"/>
                        </a:lnSpc>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Original Data</a:t>
                      </a:r>
                      <a:endParaRPr sz="12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306998"/>
                    </a:solidFill>
                  </a:tcPr>
                </a:tc>
                <a:tc>
                  <a:txBody>
                    <a:bodyPr/>
                    <a:lstStyle/>
                    <a:p>
                      <a:pPr indent="0" lvl="0" marL="0" marR="0" rtl="0" algn="ctr">
                        <a:lnSpc>
                          <a:spcPct val="100000"/>
                        </a:lnSpc>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After Cleaning</a:t>
                      </a:r>
                      <a:endParaRPr sz="12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306998"/>
                    </a:solidFill>
                  </a:tcPr>
                </a:tc>
                <a:tc>
                  <a:txBody>
                    <a:bodyPr/>
                    <a:lstStyle/>
                    <a:p>
                      <a:pPr indent="0" lvl="0" marL="0" marR="0" rtl="0" algn="ctr">
                        <a:lnSpc>
                          <a:spcPct val="100000"/>
                        </a:lnSpc>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Reason</a:t>
                      </a:r>
                      <a:endParaRPr sz="12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306998"/>
                    </a:solidFill>
                  </a:tcPr>
                </a:tc>
              </a:tr>
              <a:tr h="777250">
                <a:tc>
                  <a:txBody>
                    <a:bodyPr/>
                    <a:lstStyle/>
                    <a:p>
                      <a:pPr indent="0" lvl="0" marL="0" marR="0" rtl="0" algn="l">
                        <a:lnSpc>
                          <a:spcPct val="100000"/>
                        </a:lnSpc>
                        <a:spcBef>
                          <a:spcPts val="0"/>
                        </a:spcBef>
                        <a:spcAft>
                          <a:spcPts val="0"/>
                        </a:spcAft>
                        <a:buClr>
                          <a:srgbClr val="1B2A38"/>
                        </a:buClr>
                        <a:buSzPts val="1200"/>
                        <a:buFont typeface="Calibri"/>
                        <a:buNone/>
                      </a:pPr>
                      <a:r>
                        <a:rPr b="1" lang="en-US" sz="1200" u="none" cap="none" strike="noStrike">
                          <a:solidFill>
                            <a:srgbClr val="1B2A38"/>
                          </a:solidFill>
                          <a:latin typeface="Calibri"/>
                          <a:ea typeface="Calibri"/>
                          <a:cs typeface="Calibri"/>
                          <a:sym typeface="Calibri"/>
                        </a:rPr>
                        <a:t>Convert data type (4a, 5a)</a:t>
                      </a:r>
                      <a:endParaRPr sz="12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B2A38"/>
                        </a:buClr>
                        <a:buSzPts val="1200"/>
                        <a:buFont typeface="Calibri"/>
                        <a:buNone/>
                      </a:pPr>
                      <a:r>
                        <a:rPr lang="en-US" sz="1200" u="none" cap="none" strike="noStrike">
                          <a:solidFill>
                            <a:srgbClr val="1B2A38"/>
                          </a:solidFill>
                          <a:latin typeface="Calibri"/>
                          <a:ea typeface="Calibri"/>
                          <a:cs typeface="Calibri"/>
                          <a:sym typeface="Calibri"/>
                        </a:rPr>
                        <a:t>IDs numeric; dates, money and counts as text</a:t>
                      </a:r>
                      <a:endParaRPr sz="12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B2A38"/>
                        </a:buClr>
                        <a:buSzPts val="1200"/>
                        <a:buFont typeface="Calibri"/>
                        <a:buNone/>
                      </a:pPr>
                      <a:r>
                        <a:rPr lang="en-US" sz="1200" u="none" cap="none" strike="noStrike">
                          <a:solidFill>
                            <a:srgbClr val="1B2A38"/>
                          </a:solidFill>
                          <a:latin typeface="Calibri"/>
                          <a:ea typeface="Calibri"/>
                          <a:cs typeface="Calibri"/>
                          <a:sym typeface="Calibri"/>
                        </a:rPr>
                        <a:t>IDs string; dates datetime; money float; counts int</a:t>
                      </a:r>
                      <a:endParaRPr sz="12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B2A38"/>
                        </a:buClr>
                        <a:buSzPts val="1200"/>
                        <a:buFont typeface="Calibri"/>
                        <a:buNone/>
                      </a:pPr>
                      <a:r>
                        <a:rPr lang="en-US" sz="1200" u="none" cap="none" strike="noStrike">
                          <a:solidFill>
                            <a:srgbClr val="1B2A38"/>
                          </a:solidFill>
                          <a:latin typeface="Calibri"/>
                          <a:ea typeface="Calibri"/>
                          <a:cs typeface="Calibri"/>
                          <a:sym typeface="Calibri"/>
                        </a:rPr>
                        <a:t>Match each column to what it represents, so dates can be compared and money can be summed</a:t>
                      </a:r>
                      <a:endParaRPr sz="12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r>
              <a:tr h="777250">
                <a:tc>
                  <a:txBody>
                    <a:bodyPr/>
                    <a:lstStyle/>
                    <a:p>
                      <a:pPr indent="0" lvl="0" marL="0" marR="0" rtl="0" algn="l">
                        <a:lnSpc>
                          <a:spcPct val="100000"/>
                        </a:lnSpc>
                        <a:spcBef>
                          <a:spcPts val="0"/>
                        </a:spcBef>
                        <a:spcAft>
                          <a:spcPts val="0"/>
                        </a:spcAft>
                        <a:buClr>
                          <a:srgbClr val="1B2A38"/>
                        </a:buClr>
                        <a:buSzPts val="1200"/>
                        <a:buFont typeface="Calibri"/>
                        <a:buNone/>
                      </a:pPr>
                      <a:r>
                        <a:rPr b="1" lang="en-US" sz="1200" u="none" cap="none" strike="noStrike">
                          <a:solidFill>
                            <a:srgbClr val="1B2A38"/>
                          </a:solidFill>
                          <a:latin typeface="Calibri"/>
                          <a:ea typeface="Calibri"/>
                          <a:cs typeface="Calibri"/>
                          <a:sym typeface="Calibri"/>
                        </a:rPr>
                        <a:t>Handle typos (4b)</a:t>
                      </a:r>
                      <a:endParaRPr sz="12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AF2FB"/>
                    </a:solidFill>
                  </a:tcPr>
                </a:tc>
                <a:tc>
                  <a:txBody>
                    <a:bodyPr/>
                    <a:lstStyle/>
                    <a:p>
                      <a:pPr indent="0" lvl="0" marL="0" marR="0" rtl="0" algn="l">
                        <a:lnSpc>
                          <a:spcPct val="100000"/>
                        </a:lnSpc>
                        <a:spcBef>
                          <a:spcPts val="0"/>
                        </a:spcBef>
                        <a:spcAft>
                          <a:spcPts val="0"/>
                        </a:spcAft>
                        <a:buClr>
                          <a:srgbClr val="1B2A38"/>
                        </a:buClr>
                        <a:buSzPts val="1200"/>
                        <a:buFont typeface="Calibri"/>
                        <a:buNone/>
                      </a:pPr>
                      <a:r>
                        <a:rPr lang="en-US" sz="1200" u="none" cap="none" strike="noStrike">
                          <a:solidFill>
                            <a:srgbClr val="1B2A38"/>
                          </a:solidFill>
                          <a:latin typeface="Calibri"/>
                          <a:ea typeface="Calibri"/>
                          <a:cs typeface="Calibri"/>
                          <a:sym typeface="Calibri"/>
                        </a:rPr>
                        <a:t>card_brand: 6 raw values ('Visa ', 'Jcb')</a:t>
                      </a:r>
                      <a:endParaRPr sz="12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AF2FB"/>
                    </a:solidFill>
                  </a:tcPr>
                </a:tc>
                <a:tc>
                  <a:txBody>
                    <a:bodyPr/>
                    <a:lstStyle/>
                    <a:p>
                      <a:pPr indent="0" lvl="0" marL="0" marR="0" rtl="0" algn="l">
                        <a:lnSpc>
                          <a:spcPct val="100000"/>
                        </a:lnSpc>
                        <a:spcBef>
                          <a:spcPts val="0"/>
                        </a:spcBef>
                        <a:spcAft>
                          <a:spcPts val="0"/>
                        </a:spcAft>
                        <a:buClr>
                          <a:srgbClr val="1B2A38"/>
                        </a:buClr>
                        <a:buSzPts val="1200"/>
                        <a:buFont typeface="Calibri"/>
                        <a:buNone/>
                      </a:pPr>
                      <a:r>
                        <a:rPr lang="en-US" sz="1200" u="none" cap="none" strike="noStrike">
                          <a:solidFill>
                            <a:srgbClr val="1B2A38"/>
                          </a:solidFill>
                          <a:latin typeface="Calibri"/>
                          <a:ea typeface="Calibri"/>
                          <a:cs typeface="Calibri"/>
                          <a:sym typeface="Calibri"/>
                        </a:rPr>
                        <a:t>card_brand: 4 clean categories</a:t>
                      </a:r>
                      <a:endParaRPr sz="12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AF2FB"/>
                    </a:solidFill>
                  </a:tcPr>
                </a:tc>
                <a:tc>
                  <a:txBody>
                    <a:bodyPr/>
                    <a:lstStyle/>
                    <a:p>
                      <a:pPr indent="0" lvl="0" marL="0" marR="0" rtl="0" algn="l">
                        <a:lnSpc>
                          <a:spcPct val="100000"/>
                        </a:lnSpc>
                        <a:spcBef>
                          <a:spcPts val="0"/>
                        </a:spcBef>
                        <a:spcAft>
                          <a:spcPts val="0"/>
                        </a:spcAft>
                        <a:buClr>
                          <a:srgbClr val="1B2A38"/>
                        </a:buClr>
                        <a:buSzPts val="1200"/>
                        <a:buFont typeface="Calibri"/>
                        <a:buNone/>
                      </a:pPr>
                      <a:r>
                        <a:rPr lang="en-US" sz="1200" u="none" cap="none" strike="noStrike">
                          <a:solidFill>
                            <a:srgbClr val="1B2A38"/>
                          </a:solidFill>
                          <a:latin typeface="Calibri"/>
                          <a:ea typeface="Calibri"/>
                          <a:cs typeface="Calibri"/>
                          <a:sym typeface="Calibri"/>
                        </a:rPr>
                        <a:t>Whitespace and casing split the same brand into extra categories</a:t>
                      </a:r>
                      <a:endParaRPr sz="12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AF2FB"/>
                    </a:solidFill>
                  </a:tcPr>
                </a:tc>
              </a:tr>
              <a:tr h="777250">
                <a:tc>
                  <a:txBody>
                    <a:bodyPr/>
                    <a:lstStyle/>
                    <a:p>
                      <a:pPr indent="0" lvl="0" marL="0" marR="0" rtl="0" algn="l">
                        <a:lnSpc>
                          <a:spcPct val="100000"/>
                        </a:lnSpc>
                        <a:spcBef>
                          <a:spcPts val="0"/>
                        </a:spcBef>
                        <a:spcAft>
                          <a:spcPts val="0"/>
                        </a:spcAft>
                        <a:buClr>
                          <a:srgbClr val="1B2A38"/>
                        </a:buClr>
                        <a:buSzPts val="1200"/>
                        <a:buFont typeface="Calibri"/>
                        <a:buNone/>
                      </a:pPr>
                      <a:r>
                        <a:rPr b="1" lang="en-US" sz="1200" u="none" cap="none" strike="noStrike">
                          <a:solidFill>
                            <a:srgbClr val="1B2A38"/>
                          </a:solidFill>
                          <a:latin typeface="Calibri"/>
                          <a:ea typeface="Calibri"/>
                          <a:cs typeface="Calibri"/>
                          <a:sym typeface="Calibri"/>
                        </a:rPr>
                        <a:t>Delete duplicates (4c)</a:t>
                      </a:r>
                      <a:endParaRPr sz="12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B2A38"/>
                        </a:buClr>
                        <a:buSzPts val="1200"/>
                        <a:buFont typeface="Calibri"/>
                        <a:buNone/>
                      </a:pPr>
                      <a:r>
                        <a:rPr lang="en-US" sz="1200" u="none" cap="none" strike="noStrike">
                          <a:solidFill>
                            <a:srgbClr val="1B2A38"/>
                          </a:solidFill>
                          <a:latin typeface="Calibri"/>
                          <a:ea typeface="Calibri"/>
                          <a:cs typeface="Calibri"/>
                          <a:sym typeface="Calibri"/>
                        </a:rPr>
                        <a:t>5,599 rows but only 5,568 unique card id -&gt; 31 duplicated id</a:t>
                      </a:r>
                      <a:endParaRPr sz="12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B2A38"/>
                        </a:buClr>
                        <a:buSzPts val="1200"/>
                        <a:buFont typeface="Calibri"/>
                        <a:buNone/>
                      </a:pPr>
                      <a:r>
                        <a:rPr lang="en-US" sz="1200" u="none" cap="none" strike="noStrike">
                          <a:solidFill>
                            <a:srgbClr val="1B2A38"/>
                          </a:solidFill>
                          <a:latin typeface="Calibri"/>
                          <a:ea typeface="Calibri"/>
                          <a:cs typeface="Calibri"/>
                          <a:sym typeface="Calibri"/>
                        </a:rPr>
                        <a:t>5,568 rows (31 removed)</a:t>
                      </a:r>
                      <a:endParaRPr sz="12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B2A38"/>
                        </a:buClr>
                        <a:buSzPts val="1200"/>
                        <a:buFont typeface="Calibri"/>
                        <a:buNone/>
                      </a:pPr>
                      <a:r>
                        <a:rPr lang="en-US" sz="1200" u="none" cap="none" strike="noStrike">
                          <a:solidFill>
                            <a:srgbClr val="1B2A38"/>
                          </a:solidFill>
                          <a:latin typeface="Calibri"/>
                          <a:ea typeface="Calibri"/>
                          <a:cs typeface="Calibri"/>
                          <a:sym typeface="Calibri"/>
                        </a:rPr>
                        <a:t>id is the unique card identifier, so a repeated id means a re-entered card. Deleted, not replaced: a twin row would double-count transactions</a:t>
                      </a:r>
                      <a:endParaRPr sz="12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r>
              <a:tr h="777250">
                <a:tc>
                  <a:txBody>
                    <a:bodyPr/>
                    <a:lstStyle/>
                    <a:p>
                      <a:pPr indent="0" lvl="0" marL="0" marR="0" rtl="0" algn="l">
                        <a:lnSpc>
                          <a:spcPct val="100000"/>
                        </a:lnSpc>
                        <a:spcBef>
                          <a:spcPts val="0"/>
                        </a:spcBef>
                        <a:spcAft>
                          <a:spcPts val="0"/>
                        </a:spcAft>
                        <a:buClr>
                          <a:srgbClr val="1B2A38"/>
                        </a:buClr>
                        <a:buSzPts val="1200"/>
                        <a:buFont typeface="Calibri"/>
                        <a:buNone/>
                      </a:pPr>
                      <a:r>
                        <a:rPr b="1" lang="en-US" sz="1200" u="none" cap="none" strike="noStrike">
                          <a:solidFill>
                            <a:srgbClr val="1B2A38"/>
                          </a:solidFill>
                          <a:latin typeface="Calibri"/>
                          <a:ea typeface="Calibri"/>
                          <a:cs typeface="Calibri"/>
                          <a:sym typeface="Calibri"/>
                        </a:rPr>
                        <a:t>Treat missing values (4c)</a:t>
                      </a:r>
                      <a:endParaRPr sz="12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AF2FB"/>
                    </a:solidFill>
                  </a:tcPr>
                </a:tc>
                <a:tc>
                  <a:txBody>
                    <a:bodyPr/>
                    <a:lstStyle/>
                    <a:p>
                      <a:pPr indent="0" lvl="0" marL="0" marR="0" rtl="0" algn="l">
                        <a:lnSpc>
                          <a:spcPct val="100000"/>
                        </a:lnSpc>
                        <a:spcBef>
                          <a:spcPts val="0"/>
                        </a:spcBef>
                        <a:spcAft>
                          <a:spcPts val="0"/>
                        </a:spcAft>
                        <a:buClr>
                          <a:srgbClr val="1B2A38"/>
                        </a:buClr>
                        <a:buSzPts val="1200"/>
                        <a:buFont typeface="Calibri"/>
                        <a:buNone/>
                      </a:pPr>
                      <a:r>
                        <a:rPr lang="en-US" sz="1200" u="none" cap="none" strike="noStrike">
                          <a:solidFill>
                            <a:srgbClr val="1B2A38"/>
                          </a:solidFill>
                          <a:latin typeface="Calibri"/>
                          <a:ea typeface="Calibri"/>
                          <a:cs typeface="Calibri"/>
                          <a:sym typeface="Calibri"/>
                        </a:rPr>
                        <a:t>Up to 5,021 missing (fraud columns)</a:t>
                      </a:r>
                      <a:endParaRPr sz="12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AF2FB"/>
                    </a:solidFill>
                  </a:tcPr>
                </a:tc>
                <a:tc>
                  <a:txBody>
                    <a:bodyPr/>
                    <a:lstStyle/>
                    <a:p>
                      <a:pPr indent="0" lvl="0" marL="0" marR="0" rtl="0" algn="l">
                        <a:lnSpc>
                          <a:spcPct val="100000"/>
                        </a:lnSpc>
                        <a:spcBef>
                          <a:spcPts val="0"/>
                        </a:spcBef>
                        <a:spcAft>
                          <a:spcPts val="0"/>
                        </a:spcAft>
                        <a:buClr>
                          <a:srgbClr val="1B2A38"/>
                        </a:buClr>
                        <a:buSzPts val="1200"/>
                        <a:buFont typeface="Calibri"/>
                        <a:buNone/>
                      </a:pPr>
                      <a:r>
                        <a:rPr lang="en-US" sz="1200" u="none" cap="none" strike="noStrike">
                          <a:solidFill>
                            <a:srgbClr val="1B2A38"/>
                          </a:solidFill>
                          <a:latin typeface="Calibri"/>
                          <a:ea typeface="Calibri"/>
                          <a:cs typeface="Calibri"/>
                          <a:sym typeface="Calibri"/>
                        </a:rPr>
                        <a:t>0 missing (filled with 0)</a:t>
                      </a:r>
                      <a:endParaRPr sz="12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AF2FB"/>
                    </a:solidFill>
                  </a:tcPr>
                </a:tc>
                <a:tc>
                  <a:txBody>
                    <a:bodyPr/>
                    <a:lstStyle/>
                    <a:p>
                      <a:pPr indent="0" lvl="0" marL="0" marR="0" rtl="0" algn="l">
                        <a:lnSpc>
                          <a:spcPct val="100000"/>
                        </a:lnSpc>
                        <a:spcBef>
                          <a:spcPts val="0"/>
                        </a:spcBef>
                        <a:spcAft>
                          <a:spcPts val="0"/>
                        </a:spcAft>
                        <a:buClr>
                          <a:srgbClr val="1B2A38"/>
                        </a:buClr>
                        <a:buSzPts val="1200"/>
                        <a:buFont typeface="Calibri"/>
                        <a:buNone/>
                      </a:pPr>
                      <a:r>
                        <a:rPr lang="en-US" sz="1200" u="none" cap="none" strike="noStrike">
                          <a:solidFill>
                            <a:srgbClr val="1B2A38"/>
                          </a:solidFill>
                          <a:latin typeface="Calibri"/>
                          <a:ea typeface="Calibri"/>
                          <a:cs typeface="Calibri"/>
                          <a:sym typeface="Calibri"/>
                        </a:rPr>
                        <a:t>Blank = no transaction/fraud occurred in that period</a:t>
                      </a:r>
                      <a:endParaRPr sz="12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AF2FB"/>
                    </a:solidFill>
                  </a:tcPr>
                </a:tc>
              </a:tr>
              <a:tr h="777250">
                <a:tc>
                  <a:txBody>
                    <a:bodyPr/>
                    <a:lstStyle/>
                    <a:p>
                      <a:pPr indent="0" lvl="0" marL="0" marR="0" rtl="0" algn="l">
                        <a:lnSpc>
                          <a:spcPct val="100000"/>
                        </a:lnSpc>
                        <a:spcBef>
                          <a:spcPts val="0"/>
                        </a:spcBef>
                        <a:spcAft>
                          <a:spcPts val="0"/>
                        </a:spcAft>
                        <a:buClr>
                          <a:srgbClr val="1B2A38"/>
                        </a:buClr>
                        <a:buSzPts val="1200"/>
                        <a:buFont typeface="Calibri"/>
                        <a:buNone/>
                      </a:pPr>
                      <a:r>
                        <a:rPr b="1" lang="en-US" sz="1200" u="none" cap="none" strike="noStrike">
                          <a:solidFill>
                            <a:srgbClr val="1B2A38"/>
                          </a:solidFill>
                          <a:latin typeface="Calibri"/>
                          <a:ea typeface="Calibri"/>
                          <a:cs typeface="Calibri"/>
                          <a:sym typeface="Calibri"/>
                        </a:rPr>
                        <a:t>Remove expired/0-limit cards (4d)</a:t>
                      </a:r>
                      <a:endParaRPr sz="12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B2A38"/>
                        </a:buClr>
                        <a:buSzPts val="1200"/>
                        <a:buFont typeface="Calibri"/>
                        <a:buNone/>
                      </a:pPr>
                      <a:r>
                        <a:rPr lang="en-US" sz="1200" u="none" cap="none" strike="noStrike">
                          <a:solidFill>
                            <a:srgbClr val="1B2A38"/>
                          </a:solidFill>
                          <a:latin typeface="Calibri"/>
                          <a:ea typeface="Calibri"/>
                          <a:cs typeface="Calibri"/>
                          <a:sym typeface="Calibri"/>
                        </a:rPr>
                        <a:t>5,568 rows</a:t>
                      </a:r>
                      <a:endParaRPr sz="12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B2A38"/>
                        </a:buClr>
                        <a:buSzPts val="1200"/>
                        <a:buFont typeface="Calibri"/>
                        <a:buNone/>
                      </a:pPr>
                      <a:r>
                        <a:rPr lang="en-US" sz="1200" u="none" cap="none" strike="noStrike">
                          <a:solidFill>
                            <a:srgbClr val="1B2A38"/>
                          </a:solidFill>
                          <a:latin typeface="Calibri"/>
                          <a:ea typeface="Calibri"/>
                          <a:cs typeface="Calibri"/>
                          <a:sym typeface="Calibri"/>
                        </a:rPr>
                        <a:t>5,528 rows</a:t>
                      </a:r>
                      <a:endParaRPr sz="12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B2A38"/>
                        </a:buClr>
                        <a:buSzPts val="1200"/>
                        <a:buFont typeface="Calibri"/>
                        <a:buNone/>
                      </a:pPr>
                      <a:r>
                        <a:rPr lang="en-US" sz="1200" u="none" cap="none" strike="noStrike">
                          <a:solidFill>
                            <a:srgbClr val="1B2A38"/>
                          </a:solidFill>
                          <a:latin typeface="Calibri"/>
                          <a:ea typeface="Calibri"/>
                          <a:cs typeface="Calibri"/>
                          <a:sym typeface="Calibri"/>
                        </a:rPr>
                        <a:t>Inactive cards irrelevant to active transaction behavior</a:t>
                      </a:r>
                      <a:endParaRPr sz="12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r>
              <a:tr h="777250">
                <a:tc>
                  <a:txBody>
                    <a:bodyPr/>
                    <a:lstStyle/>
                    <a:p>
                      <a:pPr indent="0" lvl="0" marL="0" marR="0" rtl="0" algn="l">
                        <a:lnSpc>
                          <a:spcPct val="100000"/>
                        </a:lnSpc>
                        <a:spcBef>
                          <a:spcPts val="0"/>
                        </a:spcBef>
                        <a:spcAft>
                          <a:spcPts val="0"/>
                        </a:spcAft>
                        <a:buClr>
                          <a:srgbClr val="1B2A38"/>
                        </a:buClr>
                        <a:buSzPts val="1200"/>
                        <a:buFont typeface="Calibri"/>
                        <a:buNone/>
                      </a:pPr>
                      <a:r>
                        <a:rPr b="1" lang="en-US" sz="1200" u="none" cap="none" strike="noStrike">
                          <a:solidFill>
                            <a:srgbClr val="1B2A38"/>
                          </a:solidFill>
                          <a:latin typeface="Calibri"/>
                          <a:ea typeface="Calibri"/>
                          <a:cs typeface="Calibri"/>
                          <a:sym typeface="Calibri"/>
                        </a:rPr>
                        <a:t>Add age, retired_flag, DTI (5b)</a:t>
                      </a:r>
                      <a:endParaRPr sz="12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AF2FB"/>
                    </a:solidFill>
                  </a:tcPr>
                </a:tc>
                <a:tc>
                  <a:txBody>
                    <a:bodyPr/>
                    <a:lstStyle/>
                    <a:p>
                      <a:pPr indent="0" lvl="0" marL="0" marR="0" rtl="0" algn="l">
                        <a:lnSpc>
                          <a:spcPct val="100000"/>
                        </a:lnSpc>
                        <a:spcBef>
                          <a:spcPts val="0"/>
                        </a:spcBef>
                        <a:spcAft>
                          <a:spcPts val="0"/>
                        </a:spcAft>
                        <a:buClr>
                          <a:srgbClr val="1B2A38"/>
                        </a:buClr>
                        <a:buSzPts val="1200"/>
                        <a:buFont typeface="Calibri"/>
                        <a:buNone/>
                      </a:pPr>
                      <a:r>
                        <a:rPr lang="en-US" sz="1200" u="none" cap="none" strike="noStrike">
                          <a:solidFill>
                            <a:srgbClr val="1B2A38"/>
                          </a:solidFill>
                          <a:latin typeface="Calibri"/>
                          <a:ea typeface="Calibri"/>
                          <a:cs typeface="Calibri"/>
                          <a:sym typeface="Calibri"/>
                        </a:rPr>
                        <a:t>8 columns</a:t>
                      </a:r>
                      <a:endParaRPr sz="12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AF2FB"/>
                    </a:solidFill>
                  </a:tcPr>
                </a:tc>
                <a:tc>
                  <a:txBody>
                    <a:bodyPr/>
                    <a:lstStyle/>
                    <a:p>
                      <a:pPr indent="0" lvl="0" marL="0" marR="0" rtl="0" algn="l">
                        <a:lnSpc>
                          <a:spcPct val="100000"/>
                        </a:lnSpc>
                        <a:spcBef>
                          <a:spcPts val="0"/>
                        </a:spcBef>
                        <a:spcAft>
                          <a:spcPts val="0"/>
                        </a:spcAft>
                        <a:buClr>
                          <a:srgbClr val="1B2A38"/>
                        </a:buClr>
                        <a:buSzPts val="1200"/>
                        <a:buFont typeface="Calibri"/>
                        <a:buNone/>
                      </a:pPr>
                      <a:r>
                        <a:rPr lang="en-US" sz="1200" u="none" cap="none" strike="noStrike">
                          <a:solidFill>
                            <a:srgbClr val="1B2A38"/>
                          </a:solidFill>
                          <a:latin typeface="Calibri"/>
                          <a:ea typeface="Calibri"/>
                          <a:cs typeface="Calibri"/>
                          <a:sym typeface="Calibri"/>
                        </a:rPr>
                        <a:t>11 columns</a:t>
                      </a:r>
                      <a:endParaRPr sz="12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AF2FB"/>
                    </a:solidFill>
                  </a:tcPr>
                </a:tc>
                <a:tc>
                  <a:txBody>
                    <a:bodyPr/>
                    <a:lstStyle/>
                    <a:p>
                      <a:pPr indent="0" lvl="0" marL="0" marR="0" rtl="0" algn="l">
                        <a:lnSpc>
                          <a:spcPct val="100000"/>
                        </a:lnSpc>
                        <a:spcBef>
                          <a:spcPts val="0"/>
                        </a:spcBef>
                        <a:spcAft>
                          <a:spcPts val="0"/>
                        </a:spcAft>
                        <a:buClr>
                          <a:srgbClr val="1B2A38"/>
                        </a:buClr>
                        <a:buSzPts val="1200"/>
                        <a:buFont typeface="Calibri"/>
                        <a:buNone/>
                      </a:pPr>
                      <a:r>
                        <a:rPr lang="en-US" sz="1200" u="none" cap="none" strike="noStrike">
                          <a:solidFill>
                            <a:srgbClr val="1B2A38"/>
                          </a:solidFill>
                          <a:latin typeface="Calibri"/>
                          <a:ea typeface="Calibri"/>
                          <a:cs typeface="Calibri"/>
                          <a:sym typeface="Calibri"/>
                        </a:rPr>
                        <a:t>Support persona building (life stage, earning power, spending headroom)</a:t>
                      </a:r>
                      <a:endParaRPr sz="1200" u="none" cap="none" strike="noStrike">
                        <a:latin typeface="Calibri"/>
                        <a:ea typeface="Calibri"/>
                        <a:cs typeface="Calibri"/>
                        <a:sym typeface="Calibri"/>
                      </a:endParaRPr>
                    </a:p>
                  </a:txBody>
                  <a:tcPr marT="45725" marB="45725" marR="91450" marL="9145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AF2FB"/>
                    </a:solidFill>
                  </a:tcPr>
                </a:tc>
              </a:tr>
            </a:tbl>
          </a:graphicData>
        </a:graphic>
      </p:graphicFrame>
      <p:sp>
        <p:nvSpPr>
          <p:cNvPr id="170" name="Google Shape;170;p12"/>
          <p:cNvSpPr/>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7185"/>
              </a:buClr>
              <a:buSzPts val="900"/>
              <a:buFont typeface="Calibri"/>
              <a:buNone/>
            </a:pPr>
            <a:r>
              <a:rPr b="0" i="0" lang="en-US" sz="900" u="none" cap="none" strike="noStrike">
                <a:solidFill>
                  <a:srgbClr val="5A7185"/>
                </a:solidFill>
                <a:latin typeface="Calibri"/>
                <a:ea typeface="Calibri"/>
                <a:cs typeface="Calibri"/>
                <a:sym typeface="Calibri"/>
              </a:rPr>
              <a:t>Credit Card &amp; User Data Cleaning – Milestone 1</a:t>
            </a:r>
            <a:endParaRPr b="0" i="0" sz="900" u="none" cap="none" strike="noStrike">
              <a:solidFill>
                <a:schemeClr val="dk1"/>
              </a:solidFill>
              <a:latin typeface="Calibri"/>
              <a:ea typeface="Calibri"/>
              <a:cs typeface="Calibri"/>
              <a:sym typeface="Calibri"/>
            </a:endParaRPr>
          </a:p>
        </p:txBody>
      </p:sp>
      <p:sp>
        <p:nvSpPr>
          <p:cNvPr id="171" name="Google Shape;171;p12"/>
          <p:cNvSpPr/>
          <p:nvPr/>
        </p:nvSpPr>
        <p:spPr>
          <a:xfrm>
            <a:off x="11247120" y="6492240"/>
            <a:ext cx="4572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7185"/>
              </a:buClr>
              <a:buSzPts val="900"/>
              <a:buFont typeface="Calibri"/>
              <a:buNone/>
            </a:pPr>
            <a:r>
              <a:rPr b="0" i="0" lang="en-US" sz="900" u="none" cap="none" strike="noStrike">
                <a:solidFill>
                  <a:srgbClr val="5A7185"/>
                </a:solidFill>
                <a:latin typeface="Calibri"/>
                <a:ea typeface="Calibri"/>
                <a:cs typeface="Calibri"/>
                <a:sym typeface="Calibri"/>
              </a:rPr>
              <a:t>12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B"/>
        </a:solidFill>
      </p:bgPr>
    </p:bg>
    <p:spTree>
      <p:nvGrpSpPr>
        <p:cNvPr id="175" name="Shape 175"/>
        <p:cNvGrpSpPr/>
        <p:nvPr/>
      </p:nvGrpSpPr>
      <p:grpSpPr>
        <a:xfrm>
          <a:off x="0" y="0"/>
          <a:ext cx="0" cy="0"/>
          <a:chOff x="0" y="0"/>
          <a:chExt cx="0" cy="0"/>
        </a:xfrm>
      </p:grpSpPr>
      <p:sp>
        <p:nvSpPr>
          <p:cNvPr id="176" name="Google Shape;176;p13"/>
          <p:cNvSpPr/>
          <p:nvPr/>
        </p:nvSpPr>
        <p:spPr>
          <a:xfrm>
            <a:off x="548640" y="457200"/>
            <a:ext cx="109728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84"/>
              </a:buClr>
              <a:buSzPts val="2400"/>
              <a:buFont typeface="Cambria"/>
              <a:buNone/>
            </a:pPr>
            <a:r>
              <a:rPr b="1" i="0" lang="en-US" sz="2400" u="none" cap="none" strike="noStrike">
                <a:solidFill>
                  <a:srgbClr val="2B5B84"/>
                </a:solidFill>
                <a:latin typeface="Cambria"/>
                <a:ea typeface="Cambria"/>
                <a:cs typeface="Cambria"/>
                <a:sym typeface="Cambria"/>
              </a:rPr>
              <a:t>Summary of Key Findings</a:t>
            </a:r>
            <a:endParaRPr b="0" i="0" sz="2400" u="none" cap="none" strike="noStrike">
              <a:solidFill>
                <a:schemeClr val="dk1"/>
              </a:solidFill>
              <a:latin typeface="Calibri"/>
              <a:ea typeface="Calibri"/>
              <a:cs typeface="Calibri"/>
              <a:sym typeface="Calibri"/>
            </a:endParaRPr>
          </a:p>
        </p:txBody>
      </p:sp>
      <p:sp>
        <p:nvSpPr>
          <p:cNvPr id="177" name="Google Shape;177;p13"/>
          <p:cNvSpPr/>
          <p:nvPr/>
        </p:nvSpPr>
        <p:spPr>
          <a:xfrm>
            <a:off x="822960" y="1463040"/>
            <a:ext cx="10424160" cy="4572000"/>
          </a:xfrm>
          <a:prstGeom prst="rect">
            <a:avLst/>
          </a:prstGeom>
          <a:noFill/>
          <a:ln>
            <a:noFill/>
          </a:ln>
        </p:spPr>
        <p:txBody>
          <a:bodyPr anchorCtr="0" anchor="t" bIns="0" lIns="0" spcFirstLastPara="1" rIns="0" wrap="square" tIns="0">
            <a:noAutofit/>
          </a:bodyPr>
          <a:lstStyle/>
          <a:p>
            <a:pPr indent="-285750" lvl="0" marL="285750" marR="0" rtl="0" algn="l">
              <a:lnSpc>
                <a:spcPct val="150000"/>
              </a:lnSpc>
              <a:spcBef>
                <a:spcPts val="0"/>
              </a:spcBef>
              <a:spcAft>
                <a:spcPts val="0"/>
              </a:spcAft>
              <a:buClr>
                <a:schemeClr val="dk1"/>
              </a:buClr>
              <a:buSzPts val="1600"/>
              <a:buFont typeface="Arial"/>
              <a:buChar char="•"/>
            </a:pPr>
            <a:r>
              <a:rPr b="1" i="0" lang="en-US" sz="1600" u="none" cap="none" strike="noStrike">
                <a:solidFill>
                  <a:schemeClr val="dk1"/>
                </a:solidFill>
                <a:latin typeface="Calibri"/>
                <a:ea typeface="Calibri"/>
                <a:cs typeface="Calibri"/>
                <a:sym typeface="Calibri"/>
              </a:rPr>
              <a:t>Final active card dataset:</a:t>
            </a:r>
            <a:r>
              <a:rPr b="0" i="0" lang="en-US" sz="1600" u="none" cap="none" strike="noStrike">
                <a:solidFill>
                  <a:schemeClr val="dk1"/>
                </a:solidFill>
                <a:latin typeface="Calibri"/>
                <a:ea typeface="Calibri"/>
                <a:cs typeface="Calibri"/>
                <a:sym typeface="Calibri"/>
              </a:rPr>
              <a:t> 5,528 cards remain after removing 71 rows overall from the original 5,599 (31 duplicated card id plus 40 expired or 0 credit limit cards), about 1.3% of the original dataset. </a:t>
            </a:r>
            <a:endParaRPr b="0" i="0" sz="1400" u="none" cap="none" strike="noStrike">
              <a:solidFill>
                <a:srgbClr val="000000"/>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1600"/>
              <a:buFont typeface="Arial"/>
              <a:buChar char="•"/>
            </a:pPr>
            <a:r>
              <a:rPr b="1" i="0" lang="en-US" sz="1600" u="none" cap="none" strike="noStrike">
                <a:solidFill>
                  <a:schemeClr val="dk1"/>
                </a:solidFill>
                <a:latin typeface="Calibri"/>
                <a:ea typeface="Calibri"/>
                <a:cs typeface="Calibri"/>
                <a:sym typeface="Calibri"/>
              </a:rPr>
              <a:t>Card brand:</a:t>
            </a:r>
            <a:r>
              <a:rPr b="0" i="0" lang="en-US" sz="1600" u="none" cap="none" strike="noStrike">
                <a:solidFill>
                  <a:schemeClr val="dk1"/>
                </a:solidFill>
                <a:latin typeface="Calibri"/>
                <a:ea typeface="Calibri"/>
                <a:cs typeface="Calibri"/>
                <a:sym typeface="Calibri"/>
              </a:rPr>
              <a:t> The inconsistent values such as trailing spaces and different capitalization were cleaned, reducing 6 raw categories to 4 consistent brands: Mastercard, Visa, Amex, and JCB. </a:t>
            </a:r>
            <a:endParaRPr b="0" i="0" sz="1400" u="none" cap="none" strike="noStrike">
              <a:solidFill>
                <a:srgbClr val="000000"/>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1600"/>
              <a:buFont typeface="Arial"/>
              <a:buChar char="•"/>
            </a:pPr>
            <a:r>
              <a:rPr b="1" i="0" lang="en-US" sz="1600" u="none" cap="none" strike="noStrike">
                <a:solidFill>
                  <a:schemeClr val="dk1"/>
                </a:solidFill>
                <a:latin typeface="Calibri"/>
                <a:ea typeface="Calibri"/>
                <a:cs typeface="Calibri"/>
                <a:sym typeface="Calibri"/>
              </a:rPr>
              <a:t>Duplicates and missing values:</a:t>
            </a:r>
            <a:r>
              <a:rPr b="0" i="0" lang="en-US" sz="1600" u="none" cap="none" strike="noStrike">
                <a:solidFill>
                  <a:schemeClr val="dk1"/>
                </a:solidFill>
                <a:latin typeface="Calibri"/>
                <a:ea typeface="Calibri"/>
                <a:cs typeface="Calibri"/>
                <a:sym typeface="Calibri"/>
              </a:rPr>
              <a:t> 31 duplicated card id were found and removed from </a:t>
            </a:r>
            <a:r>
              <a:rPr b="0" i="0" lang="en-US" sz="1800" u="none" cap="none" strike="noStrike">
                <a:solidFill>
                  <a:schemeClr val="dk1"/>
                </a:solidFill>
                <a:latin typeface="Calibri"/>
                <a:ea typeface="Calibri"/>
                <a:cs typeface="Calibri"/>
                <a:sym typeface="Calibri"/>
              </a:rPr>
              <a:t>df_card</a:t>
            </a:r>
            <a:r>
              <a:rPr b="0" i="0" lang="en-US" sz="1600" u="none" cap="none" strike="noStrike">
                <a:solidFill>
                  <a:schemeClr val="dk1"/>
                </a:solidFill>
                <a:latin typeface="Calibri"/>
                <a:ea typeface="Calibri"/>
                <a:cs typeface="Calibri"/>
                <a:sym typeface="Calibri"/>
              </a:rPr>
              <a:t>. The check is based on id, the unique card identifier: 5,599 rows carried only 5,568 unique ids. Most missing values were in the fraud related columns, with up to 90.2% missing. </a:t>
            </a:r>
            <a:endParaRPr b="0" i="0" sz="1400" u="none" cap="none" strike="noStrike">
              <a:solidFill>
                <a:srgbClr val="000000"/>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1600"/>
              <a:buFont typeface="Arial"/>
              <a:buChar char="•"/>
            </a:pPr>
            <a:r>
              <a:rPr b="1" i="0" lang="en-US" sz="1600" u="none" cap="none" strike="noStrike">
                <a:solidFill>
                  <a:schemeClr val="dk1"/>
                </a:solidFill>
                <a:latin typeface="Calibri"/>
                <a:ea typeface="Calibri"/>
                <a:cs typeface="Calibri"/>
                <a:sym typeface="Calibri"/>
              </a:rPr>
              <a:t>User data:</a:t>
            </a:r>
            <a:r>
              <a:rPr b="0" i="0" lang="en-US" sz="1600" u="none" cap="none" strike="noStrike">
                <a:solidFill>
                  <a:schemeClr val="dk1"/>
                </a:solidFill>
                <a:latin typeface="Calibri"/>
                <a:ea typeface="Calibri"/>
                <a:cs typeface="Calibri"/>
                <a:sym typeface="Calibri"/>
              </a:rPr>
              <a:t> </a:t>
            </a:r>
            <a:r>
              <a:rPr b="0" i="0" lang="en-US" sz="1800" u="none" cap="none" strike="noStrike">
                <a:solidFill>
                  <a:schemeClr val="dk1"/>
                </a:solidFill>
                <a:latin typeface="Calibri"/>
                <a:ea typeface="Calibri"/>
                <a:cs typeface="Calibri"/>
                <a:sym typeface="Calibri"/>
              </a:rPr>
              <a:t>df_user</a:t>
            </a:r>
            <a:r>
              <a:rPr b="0" i="0" lang="en-US" sz="1600" u="none" cap="none" strike="noStrike">
                <a:solidFill>
                  <a:schemeClr val="dk1"/>
                </a:solidFill>
                <a:latin typeface="Calibri"/>
                <a:ea typeface="Calibri"/>
                <a:cs typeface="Calibri"/>
                <a:sym typeface="Calibri"/>
              </a:rPr>
              <a:t> was updated with three new features: </a:t>
            </a:r>
            <a:r>
              <a:rPr b="0" i="0" lang="en-US" sz="1800" u="none" cap="none" strike="noStrike">
                <a:solidFill>
                  <a:schemeClr val="dk1"/>
                </a:solidFill>
                <a:latin typeface="Calibri"/>
                <a:ea typeface="Calibri"/>
                <a:cs typeface="Calibri"/>
                <a:sym typeface="Calibri"/>
              </a:rPr>
              <a:t>age</a:t>
            </a:r>
            <a:r>
              <a:rPr b="0" i="0" lang="en-US" sz="1600" u="none" cap="none" strike="noStrike">
                <a:solidFill>
                  <a:schemeClr val="dk1"/>
                </a:solidFill>
                <a:latin typeface="Calibri"/>
                <a:ea typeface="Calibri"/>
                <a:cs typeface="Calibri"/>
                <a:sym typeface="Calibri"/>
              </a:rPr>
              <a:t>, </a:t>
            </a:r>
            <a:r>
              <a:rPr b="0" i="0" lang="en-US" sz="1800" u="none" cap="none" strike="noStrike">
                <a:solidFill>
                  <a:schemeClr val="dk1"/>
                </a:solidFill>
                <a:latin typeface="Calibri"/>
                <a:ea typeface="Calibri"/>
                <a:cs typeface="Calibri"/>
                <a:sym typeface="Calibri"/>
              </a:rPr>
              <a:t>retired_flag</a:t>
            </a:r>
            <a:r>
              <a:rPr b="0" i="0" lang="en-US" sz="1600" u="none" cap="none" strike="noStrike">
                <a:solidFill>
                  <a:schemeClr val="dk1"/>
                </a:solidFill>
                <a:latin typeface="Calibri"/>
                <a:ea typeface="Calibri"/>
                <a:cs typeface="Calibri"/>
                <a:sym typeface="Calibri"/>
              </a:rPr>
              <a:t>, and </a:t>
            </a:r>
            <a:r>
              <a:rPr b="0" i="0" lang="en-US" sz="1800" u="none" cap="none" strike="noStrike">
                <a:solidFill>
                  <a:schemeClr val="dk1"/>
                </a:solidFill>
                <a:latin typeface="Calibri"/>
                <a:ea typeface="Calibri"/>
                <a:cs typeface="Calibri"/>
                <a:sym typeface="Calibri"/>
              </a:rPr>
              <a:t>DTI</a:t>
            </a:r>
            <a:r>
              <a:rPr b="0" i="0" lang="en-US" sz="1600" u="none" cap="none" strike="noStrike">
                <a:solidFill>
                  <a:schemeClr val="dk1"/>
                </a:solidFill>
                <a:latin typeface="Calibri"/>
                <a:ea typeface="Calibri"/>
                <a:cs typeface="Calibri"/>
                <a:sym typeface="Calibri"/>
              </a:rPr>
              <a:t>, as the attributes the personas will be built on. retired_flag is compared against each user's own retirement_age (which ranges 50-79), giving 290 retired customers. </a:t>
            </a:r>
            <a:endParaRPr b="0" i="0" sz="1400" u="none" cap="none" strike="noStrike">
              <a:solidFill>
                <a:srgbClr val="000000"/>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1600"/>
              <a:buFont typeface="Arial"/>
              <a:buChar char="•"/>
            </a:pPr>
            <a:r>
              <a:rPr b="1" i="0" lang="en-US" sz="1600" u="none" cap="none" strike="noStrike">
                <a:solidFill>
                  <a:schemeClr val="dk1"/>
                </a:solidFill>
                <a:latin typeface="Calibri"/>
                <a:ea typeface="Calibri"/>
                <a:cs typeface="Calibri"/>
                <a:sym typeface="Calibri"/>
              </a:rPr>
              <a:t>Final dataset:</a:t>
            </a:r>
            <a:r>
              <a:rPr b="0" i="0" lang="en-US" sz="1600" u="none" cap="none" strike="noStrike">
                <a:solidFill>
                  <a:schemeClr val="dk1"/>
                </a:solidFill>
                <a:latin typeface="Calibri"/>
                <a:ea typeface="Calibri"/>
                <a:cs typeface="Calibri"/>
                <a:sym typeface="Calibri"/>
              </a:rPr>
              <a:t> Both </a:t>
            </a:r>
            <a:r>
              <a:rPr b="0" i="0" lang="en-US" sz="1800" u="none" cap="none" strike="noStrike">
                <a:solidFill>
                  <a:schemeClr val="dk1"/>
                </a:solidFill>
                <a:latin typeface="Calibri"/>
                <a:ea typeface="Calibri"/>
                <a:cs typeface="Calibri"/>
                <a:sym typeface="Calibri"/>
              </a:rPr>
              <a:t>df_card</a:t>
            </a:r>
            <a:r>
              <a:rPr b="0" i="0" lang="en-US" sz="1600" u="none" cap="none" strike="noStrike">
                <a:solidFill>
                  <a:schemeClr val="dk1"/>
                </a:solidFill>
                <a:latin typeface="Calibri"/>
                <a:ea typeface="Calibri"/>
                <a:cs typeface="Calibri"/>
                <a:sym typeface="Calibri"/>
              </a:rPr>
              <a:t> and </a:t>
            </a:r>
            <a:r>
              <a:rPr b="0" i="0" lang="en-US" sz="1800" u="none" cap="none" strike="noStrike">
                <a:solidFill>
                  <a:schemeClr val="dk1"/>
                </a:solidFill>
                <a:latin typeface="Calibri"/>
                <a:ea typeface="Calibri"/>
                <a:cs typeface="Calibri"/>
                <a:sym typeface="Calibri"/>
              </a:rPr>
              <a:t>df_user</a:t>
            </a:r>
            <a:r>
              <a:rPr b="0" i="0" lang="en-US" sz="1600" u="none" cap="none" strike="noStrike">
                <a:solidFill>
                  <a:schemeClr val="dk1"/>
                </a:solidFill>
                <a:latin typeface="Calibri"/>
                <a:ea typeface="Calibri"/>
                <a:cs typeface="Calibri"/>
                <a:sym typeface="Calibri"/>
              </a:rPr>
              <a:t> are now cleaned and ready for the next stage: summarising sales performance and building the user personas.</a:t>
            </a:r>
            <a:endParaRPr b="0" i="0" sz="1400" u="none" cap="none" strike="noStrike">
              <a:solidFill>
                <a:srgbClr val="000000"/>
              </a:solidFill>
              <a:latin typeface="Arial"/>
              <a:ea typeface="Arial"/>
              <a:cs typeface="Arial"/>
              <a:sym typeface="Arial"/>
            </a:endParaRPr>
          </a:p>
        </p:txBody>
      </p:sp>
      <p:sp>
        <p:nvSpPr>
          <p:cNvPr id="178" name="Google Shape;178;p13"/>
          <p:cNvSpPr/>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7185"/>
              </a:buClr>
              <a:buSzPts val="900"/>
              <a:buFont typeface="Calibri"/>
              <a:buNone/>
            </a:pPr>
            <a:r>
              <a:rPr b="0" i="0" lang="en-US" sz="900" u="none" cap="none" strike="noStrike">
                <a:solidFill>
                  <a:srgbClr val="5A7185"/>
                </a:solidFill>
                <a:latin typeface="Calibri"/>
                <a:ea typeface="Calibri"/>
                <a:cs typeface="Calibri"/>
                <a:sym typeface="Calibri"/>
              </a:rPr>
              <a:t>Credit Card &amp; User Data Cleaning – Milestone 1</a:t>
            </a:r>
            <a:endParaRPr b="0" i="0" sz="900" u="none" cap="none" strike="noStrike">
              <a:solidFill>
                <a:schemeClr val="dk1"/>
              </a:solidFill>
              <a:latin typeface="Calibri"/>
              <a:ea typeface="Calibri"/>
              <a:cs typeface="Calibri"/>
              <a:sym typeface="Calibri"/>
            </a:endParaRPr>
          </a:p>
        </p:txBody>
      </p:sp>
      <p:sp>
        <p:nvSpPr>
          <p:cNvPr id="179" name="Google Shape;179;p13"/>
          <p:cNvSpPr/>
          <p:nvPr/>
        </p:nvSpPr>
        <p:spPr>
          <a:xfrm>
            <a:off x="11247120" y="6492240"/>
            <a:ext cx="4572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7185"/>
              </a:buClr>
              <a:buSzPts val="900"/>
              <a:buFont typeface="Calibri"/>
              <a:buNone/>
            </a:pPr>
            <a:r>
              <a:rPr b="0" i="0" lang="en-US" sz="900" u="none" cap="none" strike="noStrike">
                <a:solidFill>
                  <a:srgbClr val="5A7185"/>
                </a:solidFill>
                <a:latin typeface="Calibri"/>
                <a:ea typeface="Calibri"/>
                <a:cs typeface="Calibri"/>
                <a:sym typeface="Calibri"/>
              </a:rPr>
              <a:t>13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06998"/>
        </a:solidFill>
      </p:bgPr>
    </p:bg>
    <p:spTree>
      <p:nvGrpSpPr>
        <p:cNvPr id="183" name="Shape 183"/>
        <p:cNvGrpSpPr/>
        <p:nvPr/>
      </p:nvGrpSpPr>
      <p:grpSpPr>
        <a:xfrm>
          <a:off x="0" y="0"/>
          <a:ext cx="0" cy="0"/>
          <a:chOff x="0" y="0"/>
          <a:chExt cx="0" cy="0"/>
        </a:xfrm>
      </p:grpSpPr>
      <p:sp>
        <p:nvSpPr>
          <p:cNvPr id="184" name="Google Shape;184;p14"/>
          <p:cNvSpPr/>
          <p:nvPr/>
        </p:nvSpPr>
        <p:spPr>
          <a:xfrm>
            <a:off x="9966960" y="-1188720"/>
            <a:ext cx="3840480" cy="3840480"/>
          </a:xfrm>
          <a:prstGeom prst="ellipse">
            <a:avLst/>
          </a:prstGeom>
          <a:solidFill>
            <a:srgbClr val="4B8BB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5" name="Google Shape;185;p14"/>
          <p:cNvSpPr/>
          <p:nvPr/>
        </p:nvSpPr>
        <p:spPr>
          <a:xfrm>
            <a:off x="-1371600" y="5212080"/>
            <a:ext cx="3657600" cy="3657600"/>
          </a:xfrm>
          <a:prstGeom prst="ellipse">
            <a:avLst/>
          </a:prstGeom>
          <a:solidFill>
            <a:srgbClr val="FFD4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6" name="Google Shape;186;p14"/>
          <p:cNvSpPr txBox="1"/>
          <p:nvPr/>
        </p:nvSpPr>
        <p:spPr>
          <a:xfrm>
            <a:off x="731520" y="2240280"/>
            <a:ext cx="10698480" cy="36576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None/>
            </a:pPr>
            <a:r>
              <a:rPr b="1" lang="en-US" sz="1500">
                <a:solidFill>
                  <a:srgbClr val="FFD43B"/>
                </a:solidFill>
                <a:latin typeface="Calibri"/>
                <a:ea typeface="Calibri"/>
                <a:cs typeface="Calibri"/>
                <a:sym typeface="Calibri"/>
              </a:rPr>
              <a:t>MILESTONE 2</a:t>
            </a:r>
            <a:endParaRPr/>
          </a:p>
        </p:txBody>
      </p:sp>
      <p:sp>
        <p:nvSpPr>
          <p:cNvPr id="187" name="Google Shape;187;p14"/>
          <p:cNvSpPr txBox="1"/>
          <p:nvPr/>
        </p:nvSpPr>
        <p:spPr>
          <a:xfrm>
            <a:off x="731520" y="2651760"/>
            <a:ext cx="10698480" cy="86868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None/>
            </a:pPr>
            <a:r>
              <a:rPr b="1" lang="en-US" sz="4000">
                <a:solidFill>
                  <a:srgbClr val="FFFFFF"/>
                </a:solidFill>
                <a:latin typeface="Cambria"/>
                <a:ea typeface="Cambria"/>
                <a:cs typeface="Cambria"/>
                <a:sym typeface="Cambria"/>
              </a:rPr>
              <a:t>Exploratory Data Analysis</a:t>
            </a:r>
            <a:endParaRPr/>
          </a:p>
        </p:txBody>
      </p:sp>
      <p:sp>
        <p:nvSpPr>
          <p:cNvPr id="188" name="Google Shape;188;p14"/>
          <p:cNvSpPr txBox="1"/>
          <p:nvPr/>
        </p:nvSpPr>
        <p:spPr>
          <a:xfrm>
            <a:off x="731520" y="3703320"/>
            <a:ext cx="8778240" cy="21544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1" lang="en-US" sz="1400">
                <a:solidFill>
                  <a:srgbClr val="C9DCEA"/>
                </a:solidFill>
                <a:latin typeface="Calibri"/>
                <a:ea typeface="Calibri"/>
                <a:cs typeface="Calibri"/>
                <a:sym typeface="Calibri"/>
              </a:rPr>
              <a:t>FSDA Intermediate Python for Data Analysis</a:t>
            </a:r>
            <a:endParaRPr sz="14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B"/>
        </a:solidFill>
      </p:bgPr>
    </p:bg>
    <p:spTree>
      <p:nvGrpSpPr>
        <p:cNvPr id="193" name="Shape 193"/>
        <p:cNvGrpSpPr/>
        <p:nvPr/>
      </p:nvGrpSpPr>
      <p:grpSpPr>
        <a:xfrm>
          <a:off x="0" y="0"/>
          <a:ext cx="0" cy="0"/>
          <a:chOff x="0" y="0"/>
          <a:chExt cx="0" cy="0"/>
        </a:xfrm>
      </p:grpSpPr>
      <p:sp>
        <p:nvSpPr>
          <p:cNvPr id="194" name="Google Shape;194;p15"/>
          <p:cNvSpPr/>
          <p:nvPr/>
        </p:nvSpPr>
        <p:spPr>
          <a:xfrm>
            <a:off x="548640" y="457200"/>
            <a:ext cx="502920" cy="502920"/>
          </a:xfrm>
          <a:prstGeom prst="ellipse">
            <a:avLst/>
          </a:prstGeom>
          <a:solidFill>
            <a:srgbClr val="3069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5"/>
          <p:cNvSpPr txBox="1"/>
          <p:nvPr/>
        </p:nvSpPr>
        <p:spPr>
          <a:xfrm>
            <a:off x="548640" y="45720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mbria"/>
              <a:buNone/>
            </a:pPr>
            <a:r>
              <a:rPr b="1" lang="en-US" sz="2000">
                <a:solidFill>
                  <a:srgbClr val="FFFFFF"/>
                </a:solidFill>
                <a:latin typeface="Cambria"/>
                <a:ea typeface="Cambria"/>
                <a:cs typeface="Cambria"/>
                <a:sym typeface="Cambria"/>
              </a:rPr>
              <a:t>a</a:t>
            </a:r>
            <a:endParaRPr sz="2000">
              <a:solidFill>
                <a:schemeClr val="dk1"/>
              </a:solidFill>
              <a:latin typeface="Calibri"/>
              <a:ea typeface="Calibri"/>
              <a:cs typeface="Calibri"/>
              <a:sym typeface="Calibri"/>
            </a:endParaRPr>
          </a:p>
        </p:txBody>
      </p:sp>
      <p:sp>
        <p:nvSpPr>
          <p:cNvPr id="196" name="Google Shape;196;p15"/>
          <p:cNvSpPr txBox="1"/>
          <p:nvPr/>
        </p:nvSpPr>
        <p:spPr>
          <a:xfrm>
            <a:off x="1188720" y="384048"/>
            <a:ext cx="104241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B84"/>
              </a:buClr>
              <a:buSzPts val="2000"/>
              <a:buFont typeface="Cambria"/>
              <a:buNone/>
            </a:pPr>
            <a:r>
              <a:rPr b="1" lang="en-US" sz="2000">
                <a:solidFill>
                  <a:srgbClr val="2B5B84"/>
                </a:solidFill>
                <a:latin typeface="Cambria"/>
                <a:ea typeface="Cambria"/>
                <a:cs typeface="Cambria"/>
                <a:sym typeface="Cambria"/>
              </a:rPr>
              <a:t>Total Net Profit (Last 6 Months)</a:t>
            </a:r>
            <a:endParaRPr sz="2000">
              <a:solidFill>
                <a:schemeClr val="dk1"/>
              </a:solidFill>
              <a:latin typeface="Calibri"/>
              <a:ea typeface="Calibri"/>
              <a:cs typeface="Calibri"/>
              <a:sym typeface="Calibri"/>
            </a:endParaRPr>
          </a:p>
        </p:txBody>
      </p:sp>
      <p:sp>
        <p:nvSpPr>
          <p:cNvPr id="197" name="Google Shape;197;p15"/>
          <p:cNvSpPr txBox="1"/>
          <p:nvPr/>
        </p:nvSpPr>
        <p:spPr>
          <a:xfrm>
            <a:off x="548640" y="1325880"/>
            <a:ext cx="5486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7185"/>
              </a:buClr>
              <a:buSzPts val="1300"/>
              <a:buFont typeface="Calibri"/>
              <a:buNone/>
            </a:pPr>
            <a:r>
              <a:rPr b="1" lang="en-US" sz="1300">
                <a:solidFill>
                  <a:srgbClr val="5A7185"/>
                </a:solidFill>
                <a:latin typeface="Calibri"/>
                <a:ea typeface="Calibri"/>
                <a:cs typeface="Calibri"/>
                <a:sym typeface="Calibri"/>
              </a:rPr>
              <a:t>Syntax</a:t>
            </a:r>
            <a:endParaRPr sz="1300">
              <a:solidFill>
                <a:schemeClr val="dk1"/>
              </a:solidFill>
              <a:latin typeface="Calibri"/>
              <a:ea typeface="Calibri"/>
              <a:cs typeface="Calibri"/>
              <a:sym typeface="Calibri"/>
            </a:endParaRPr>
          </a:p>
        </p:txBody>
      </p:sp>
      <p:sp>
        <p:nvSpPr>
          <p:cNvPr id="198" name="Google Shape;198;p15"/>
          <p:cNvSpPr/>
          <p:nvPr/>
        </p:nvSpPr>
        <p:spPr>
          <a:xfrm>
            <a:off x="548640" y="1691640"/>
            <a:ext cx="6035040" cy="4663440"/>
          </a:xfrm>
          <a:prstGeom prst="roundRect">
            <a:avLst>
              <a:gd fmla="val 1569" name="adj"/>
            </a:avLst>
          </a:prstGeom>
          <a:solidFill>
            <a:srgbClr val="1B2A38"/>
          </a:solidFill>
          <a:ln cap="flat" cmpd="sng" w="12700">
            <a:solidFill>
              <a:srgbClr val="1B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5"/>
          <p:cNvSpPr txBox="1"/>
          <p:nvPr/>
        </p:nvSpPr>
        <p:spPr>
          <a:xfrm>
            <a:off x="731520" y="1828800"/>
            <a:ext cx="5715000" cy="438912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 MDR margin: Rp1,5 mio profit per</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 Rp100 mio of transactions -&gt; 1.5%</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MDR_RATE = 0.015</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chemeClr val="dk1"/>
              </a:buClr>
              <a:buSzPts val="1100"/>
              <a:buFont typeface="Calibri"/>
              <a:buNone/>
            </a:pPr>
            <a:r>
              <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 fraud is NOT a real sale, so it is</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 excluded from the revenue base</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total_sales = df_card[</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    'amt_nonfraud_trx_L6M'].sum()</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total_fraud = df_card[</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    'amt_fraud_trx_L6M'].sum()</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chemeClr val="dk1"/>
              </a:buClr>
              <a:buSzPts val="1100"/>
              <a:buFont typeface="Calibri"/>
              <a:buNone/>
            </a:pPr>
            <a:r>
              <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mdr_profit  = MDR_RATE * total_sales</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net_profit  = mdr_profit - total_fraud</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chemeClr val="dk1"/>
              </a:buClr>
              <a:buSzPts val="1100"/>
              <a:buFont typeface="Calibri"/>
              <a:buNone/>
            </a:pPr>
            <a:r>
              <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print(f"NET PROFIT (6 months): "</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      f"Rp {net_profit:,.0f}")</a:t>
            </a:r>
            <a:endParaRPr sz="1100">
              <a:solidFill>
                <a:schemeClr val="dk1"/>
              </a:solidFill>
              <a:latin typeface="Calibri"/>
              <a:ea typeface="Calibri"/>
              <a:cs typeface="Calibri"/>
              <a:sym typeface="Calibri"/>
            </a:endParaRPr>
          </a:p>
        </p:txBody>
      </p:sp>
      <p:sp>
        <p:nvSpPr>
          <p:cNvPr id="200" name="Google Shape;200;p15"/>
          <p:cNvSpPr txBox="1"/>
          <p:nvPr/>
        </p:nvSpPr>
        <p:spPr>
          <a:xfrm>
            <a:off x="6812280" y="1325880"/>
            <a:ext cx="4800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7185"/>
              </a:buClr>
              <a:buSzPts val="1300"/>
              <a:buFont typeface="Calibri"/>
              <a:buNone/>
            </a:pPr>
            <a:r>
              <a:rPr b="1" lang="en-US" sz="1300">
                <a:solidFill>
                  <a:srgbClr val="5A7185"/>
                </a:solidFill>
                <a:latin typeface="Calibri"/>
                <a:ea typeface="Calibri"/>
                <a:cs typeface="Calibri"/>
                <a:sym typeface="Calibri"/>
              </a:rPr>
              <a:t>Output</a:t>
            </a:r>
            <a:endParaRPr sz="1300">
              <a:solidFill>
                <a:schemeClr val="dk1"/>
              </a:solidFill>
              <a:latin typeface="Calibri"/>
              <a:ea typeface="Calibri"/>
              <a:cs typeface="Calibri"/>
              <a:sym typeface="Calibri"/>
            </a:endParaRPr>
          </a:p>
        </p:txBody>
      </p:sp>
      <p:sp>
        <p:nvSpPr>
          <p:cNvPr id="201" name="Google Shape;201;p15"/>
          <p:cNvSpPr/>
          <p:nvPr/>
        </p:nvSpPr>
        <p:spPr>
          <a:xfrm>
            <a:off x="6812280" y="1691640"/>
            <a:ext cx="4800600" cy="2331720"/>
          </a:xfrm>
          <a:prstGeom prst="roundRect">
            <a:avLst>
              <a:gd fmla="val 3922" name="adj"/>
            </a:avLst>
          </a:prstGeom>
          <a:solidFill>
            <a:srgbClr val="FFFFFF"/>
          </a:solidFill>
          <a:ln cap="flat" cmpd="sng" w="19050">
            <a:solidFill>
              <a:srgbClr val="FFD4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202" name="Google Shape;202;p15"/>
          <p:cNvGraphicFramePr/>
          <p:nvPr/>
        </p:nvGraphicFramePr>
        <p:xfrm>
          <a:off x="6949440" y="1810512"/>
          <a:ext cx="3000000" cy="3000000"/>
        </p:xfrm>
        <a:graphic>
          <a:graphicData uri="http://schemas.openxmlformats.org/drawingml/2006/table">
            <a:tbl>
              <a:tblPr>
                <a:noFill/>
                <a:tableStyleId>{3D7D59D7-DF91-47F0-BCBC-DAAD57FB8C79}</a:tableStyleId>
              </a:tblPr>
              <a:tblGrid>
                <a:gridCol w="2103125"/>
                <a:gridCol w="2423150"/>
              </a:tblGrid>
              <a:tr h="329175">
                <a:tc>
                  <a:txBody>
                    <a:bodyPr/>
                    <a:lstStyle/>
                    <a:p>
                      <a:pPr indent="0" lvl="0" marL="0" marR="0" rtl="0" algn="ctr">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Component</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306998"/>
                    </a:solidFill>
                  </a:tcPr>
                </a:tc>
                <a:tc>
                  <a:txBody>
                    <a:bodyPr/>
                    <a:lstStyle/>
                    <a:p>
                      <a:pPr indent="0" lvl="0" marL="0" marR="0" rtl="0" algn="ctr">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Value</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306998"/>
                    </a:solidFill>
                  </a:tcPr>
                </a:tc>
              </a:tr>
              <a:tr h="329175">
                <a:tc>
                  <a:txBody>
                    <a:bodyPr/>
                    <a:lstStyle/>
                    <a:p>
                      <a:pPr indent="0" lvl="0" marL="0" marR="0" rtl="0" algn="l">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MDR fee rate</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1.50%</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r>
              <a:tr h="329175">
                <a:tc>
                  <a:txBody>
                    <a:bodyPr/>
                    <a:lstStyle/>
                    <a:p>
                      <a:pPr indent="0" lvl="0" marL="0" marR="0" rtl="0" algn="l">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Total legitimate sales</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Rp 455.863.486.600</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r>
              <a:tr h="329175">
                <a:tc>
                  <a:txBody>
                    <a:bodyPr/>
                    <a:lstStyle/>
                    <a:p>
                      <a:pPr indent="0" lvl="0" marL="0" marR="0" rtl="0" algn="l">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MDR fee profit</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Rp 6.837.952.299</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r>
              <a:tr h="329175">
                <a:tc>
                  <a:txBody>
                    <a:bodyPr/>
                    <a:lstStyle/>
                    <a:p>
                      <a:pPr indent="0" lvl="0" marL="0" marR="0" rtl="0" algn="l">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Total fraud amount</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 Rp 1.013.378.300</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r>
              <a:tr h="329175">
                <a:tc>
                  <a:txBody>
                    <a:bodyPr/>
                    <a:lstStyle/>
                    <a:p>
                      <a:pPr indent="0" lvl="0" marL="0" marR="0" rtl="0" algn="l">
                        <a:spcBef>
                          <a:spcPts val="0"/>
                        </a:spcBef>
                        <a:spcAft>
                          <a:spcPts val="0"/>
                        </a:spcAft>
                        <a:buClr>
                          <a:srgbClr val="1B2A38"/>
                        </a:buClr>
                        <a:buSzPts val="900"/>
                        <a:buFont typeface="Calibri"/>
                        <a:buNone/>
                      </a:pPr>
                      <a:r>
                        <a:rPr b="1" lang="en-US" sz="900" u="none" cap="none" strike="noStrike">
                          <a:solidFill>
                            <a:srgbClr val="1B2A38"/>
                          </a:solidFill>
                          <a:latin typeface="Calibri"/>
                          <a:ea typeface="Calibri"/>
                          <a:cs typeface="Calibri"/>
                          <a:sym typeface="Calibri"/>
                        </a:rPr>
                        <a:t>NET PROFIT (6 months)</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8"/>
                        </a:buClr>
                        <a:buSzPts val="900"/>
                        <a:buFont typeface="Calibri"/>
                        <a:buNone/>
                      </a:pPr>
                      <a:r>
                        <a:rPr b="1" lang="en-US" sz="900" u="none" cap="none" strike="noStrike">
                          <a:solidFill>
                            <a:srgbClr val="1B2A38"/>
                          </a:solidFill>
                          <a:latin typeface="Calibri"/>
                          <a:ea typeface="Calibri"/>
                          <a:cs typeface="Calibri"/>
                          <a:sym typeface="Calibri"/>
                        </a:rPr>
                        <a:t>Rp 5.824.573.999</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r>
            </a:tbl>
          </a:graphicData>
        </a:graphic>
      </p:graphicFrame>
      <p:sp>
        <p:nvSpPr>
          <p:cNvPr id="203" name="Google Shape;203;p15"/>
          <p:cNvSpPr/>
          <p:nvPr/>
        </p:nvSpPr>
        <p:spPr>
          <a:xfrm>
            <a:off x="6812280" y="4160520"/>
            <a:ext cx="4800600" cy="2194560"/>
          </a:xfrm>
          <a:prstGeom prst="roundRect">
            <a:avLst>
              <a:gd fmla="val 4167" name="adj"/>
            </a:avLst>
          </a:prstGeom>
          <a:solidFill>
            <a:srgbClr val="FFD43B"/>
          </a:solidFill>
          <a:ln cap="flat" cmpd="sng" w="12700">
            <a:solidFill>
              <a:srgbClr val="FFD4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5"/>
          <p:cNvSpPr txBox="1"/>
          <p:nvPr/>
        </p:nvSpPr>
        <p:spPr>
          <a:xfrm>
            <a:off x="6995160" y="4279392"/>
            <a:ext cx="44805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8"/>
              </a:buClr>
              <a:buSzPts val="1500"/>
              <a:buFont typeface="Cambria"/>
              <a:buNone/>
            </a:pPr>
            <a:r>
              <a:rPr b="1" lang="en-US" sz="1500">
                <a:solidFill>
                  <a:srgbClr val="1B2A38"/>
                </a:solidFill>
                <a:latin typeface="Cambria"/>
                <a:ea typeface="Cambria"/>
                <a:cs typeface="Cambria"/>
                <a:sym typeface="Cambria"/>
              </a:rPr>
              <a:t>Insight</a:t>
            </a:r>
            <a:endParaRPr sz="1500">
              <a:solidFill>
                <a:schemeClr val="dk1"/>
              </a:solidFill>
              <a:latin typeface="Calibri"/>
              <a:ea typeface="Calibri"/>
              <a:cs typeface="Calibri"/>
              <a:sym typeface="Calibri"/>
            </a:endParaRPr>
          </a:p>
        </p:txBody>
      </p:sp>
      <p:sp>
        <p:nvSpPr>
          <p:cNvPr id="205" name="Google Shape;205;p15"/>
          <p:cNvSpPr txBox="1"/>
          <p:nvPr/>
        </p:nvSpPr>
        <p:spPr>
          <a:xfrm>
            <a:off x="6995160" y="4617720"/>
            <a:ext cx="4480560" cy="1627632"/>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B2A38"/>
              </a:buClr>
              <a:buSzPts val="1100"/>
              <a:buFont typeface="Calibri"/>
              <a:buNone/>
            </a:pPr>
            <a:r>
              <a:rPr lang="en-US" sz="1100">
                <a:solidFill>
                  <a:srgbClr val="1B2A38"/>
                </a:solidFill>
                <a:latin typeface="Calibri"/>
                <a:ea typeface="Calibri"/>
                <a:cs typeface="Calibri"/>
                <a:sym typeface="Calibri"/>
              </a:rPr>
              <a:t>Net profit for the half year is Rp 5,82 miliar, so the portfolio is profitable. Fraud is not a rounding error: Rp 1,01 miliar of losses wipes out 14,8% of the Rp 6,84 miliar gross MDR revenue. Because the MDR margin is only 1,5%, every Rp 1 lost to fraud needs about Rp 67 of extra legitimate spending to replace it, which makes fraud control the fastest lever on profit.</a:t>
            </a:r>
            <a:endParaRPr sz="1100">
              <a:solidFill>
                <a:schemeClr val="dk1"/>
              </a:solidFill>
              <a:latin typeface="Calibri"/>
              <a:ea typeface="Calibri"/>
              <a:cs typeface="Calibri"/>
              <a:sym typeface="Calibri"/>
            </a:endParaRPr>
          </a:p>
        </p:txBody>
      </p:sp>
      <p:sp>
        <p:nvSpPr>
          <p:cNvPr id="206" name="Google Shape;206;p15"/>
          <p:cNvSpPr txBox="1"/>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7185"/>
              </a:buClr>
              <a:buSzPts val="900"/>
              <a:buFont typeface="Calibri"/>
              <a:buNone/>
            </a:pPr>
            <a:r>
              <a:rPr lang="en-US" sz="900">
                <a:solidFill>
                  <a:srgbClr val="5A7185"/>
                </a:solidFill>
                <a:latin typeface="Calibri"/>
                <a:ea typeface="Calibri"/>
                <a:cs typeface="Calibri"/>
                <a:sym typeface="Calibri"/>
              </a:rPr>
              <a:t>Credit Card &amp; User Data Analysis – Milestone 2</a:t>
            </a:r>
            <a:endParaRPr sz="900">
              <a:solidFill>
                <a:schemeClr val="dk1"/>
              </a:solidFill>
              <a:latin typeface="Calibri"/>
              <a:ea typeface="Calibri"/>
              <a:cs typeface="Calibri"/>
              <a:sym typeface="Calibri"/>
            </a:endParaRPr>
          </a:p>
        </p:txBody>
      </p:sp>
      <p:sp>
        <p:nvSpPr>
          <p:cNvPr id="207" name="Google Shape;207;p15"/>
          <p:cNvSpPr txBox="1"/>
          <p:nvPr/>
        </p:nvSpPr>
        <p:spPr>
          <a:xfrm>
            <a:off x="11247120" y="649224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7185"/>
              </a:buClr>
              <a:buSzPts val="900"/>
              <a:buFont typeface="Calibri"/>
              <a:buNone/>
            </a:pPr>
            <a:r>
              <a:rPr lang="en-US" sz="900">
                <a:solidFill>
                  <a:srgbClr val="5A7185"/>
                </a:solidFill>
                <a:latin typeface="Calibri"/>
                <a:ea typeface="Calibri"/>
                <a:cs typeface="Calibri"/>
                <a:sym typeface="Calibri"/>
              </a:rPr>
              <a:t>15</a:t>
            </a:r>
            <a:endParaRPr sz="9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B"/>
        </a:solidFill>
      </p:bgPr>
    </p:bg>
    <p:spTree>
      <p:nvGrpSpPr>
        <p:cNvPr id="212" name="Shape 212"/>
        <p:cNvGrpSpPr/>
        <p:nvPr/>
      </p:nvGrpSpPr>
      <p:grpSpPr>
        <a:xfrm>
          <a:off x="0" y="0"/>
          <a:ext cx="0" cy="0"/>
          <a:chOff x="0" y="0"/>
          <a:chExt cx="0" cy="0"/>
        </a:xfrm>
      </p:grpSpPr>
      <p:sp>
        <p:nvSpPr>
          <p:cNvPr id="213" name="Google Shape;213;p16"/>
          <p:cNvSpPr/>
          <p:nvPr/>
        </p:nvSpPr>
        <p:spPr>
          <a:xfrm>
            <a:off x="548640" y="457200"/>
            <a:ext cx="502920" cy="502920"/>
          </a:xfrm>
          <a:prstGeom prst="ellipse">
            <a:avLst/>
          </a:prstGeom>
          <a:solidFill>
            <a:srgbClr val="3069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6"/>
          <p:cNvSpPr txBox="1"/>
          <p:nvPr/>
        </p:nvSpPr>
        <p:spPr>
          <a:xfrm>
            <a:off x="548640" y="45720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mbria"/>
              <a:buNone/>
            </a:pPr>
            <a:r>
              <a:rPr b="1" lang="en-US" sz="2000">
                <a:solidFill>
                  <a:srgbClr val="FFFFFF"/>
                </a:solidFill>
                <a:latin typeface="Cambria"/>
                <a:ea typeface="Cambria"/>
                <a:cs typeface="Cambria"/>
                <a:sym typeface="Cambria"/>
              </a:rPr>
              <a:t>b</a:t>
            </a:r>
            <a:endParaRPr sz="2000">
              <a:solidFill>
                <a:schemeClr val="dk1"/>
              </a:solidFill>
              <a:latin typeface="Calibri"/>
              <a:ea typeface="Calibri"/>
              <a:cs typeface="Calibri"/>
              <a:sym typeface="Calibri"/>
            </a:endParaRPr>
          </a:p>
        </p:txBody>
      </p:sp>
      <p:sp>
        <p:nvSpPr>
          <p:cNvPr id="215" name="Google Shape;215;p16"/>
          <p:cNvSpPr txBox="1"/>
          <p:nvPr/>
        </p:nvSpPr>
        <p:spPr>
          <a:xfrm>
            <a:off x="1188720" y="384048"/>
            <a:ext cx="104241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B84"/>
              </a:buClr>
              <a:buSzPts val="2000"/>
              <a:buFont typeface="Cambria"/>
              <a:buNone/>
            </a:pPr>
            <a:r>
              <a:rPr b="1" lang="en-US" sz="2000">
                <a:solidFill>
                  <a:srgbClr val="2B5B84"/>
                </a:solidFill>
                <a:latin typeface="Cambria"/>
                <a:ea typeface="Cambria"/>
                <a:cs typeface="Cambria"/>
                <a:sym typeface="Cambria"/>
              </a:rPr>
              <a:t>Fraud Rate of RevoBank (Syntax &amp; Output)</a:t>
            </a:r>
            <a:endParaRPr sz="2000">
              <a:solidFill>
                <a:schemeClr val="dk1"/>
              </a:solidFill>
              <a:latin typeface="Calibri"/>
              <a:ea typeface="Calibri"/>
              <a:cs typeface="Calibri"/>
              <a:sym typeface="Calibri"/>
            </a:endParaRPr>
          </a:p>
        </p:txBody>
      </p:sp>
      <p:sp>
        <p:nvSpPr>
          <p:cNvPr id="216" name="Google Shape;216;p16"/>
          <p:cNvSpPr txBox="1"/>
          <p:nvPr/>
        </p:nvSpPr>
        <p:spPr>
          <a:xfrm>
            <a:off x="548640" y="1325880"/>
            <a:ext cx="5486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7185"/>
              </a:buClr>
              <a:buSzPts val="1300"/>
              <a:buFont typeface="Calibri"/>
              <a:buNone/>
            </a:pPr>
            <a:r>
              <a:rPr b="1" lang="en-US" sz="1300">
                <a:solidFill>
                  <a:srgbClr val="5A7185"/>
                </a:solidFill>
                <a:latin typeface="Calibri"/>
                <a:ea typeface="Calibri"/>
                <a:cs typeface="Calibri"/>
                <a:sym typeface="Calibri"/>
              </a:rPr>
              <a:t>Syntax</a:t>
            </a:r>
            <a:endParaRPr sz="1300">
              <a:solidFill>
                <a:schemeClr val="dk1"/>
              </a:solidFill>
              <a:latin typeface="Calibri"/>
              <a:ea typeface="Calibri"/>
              <a:cs typeface="Calibri"/>
              <a:sym typeface="Calibri"/>
            </a:endParaRPr>
          </a:p>
        </p:txBody>
      </p:sp>
      <p:sp>
        <p:nvSpPr>
          <p:cNvPr id="217" name="Google Shape;217;p16"/>
          <p:cNvSpPr/>
          <p:nvPr/>
        </p:nvSpPr>
        <p:spPr>
          <a:xfrm>
            <a:off x="548640" y="1691640"/>
            <a:ext cx="6035040" cy="4663440"/>
          </a:xfrm>
          <a:prstGeom prst="roundRect">
            <a:avLst>
              <a:gd fmla="val 1569" name="adj"/>
            </a:avLst>
          </a:prstGeom>
          <a:solidFill>
            <a:srgbClr val="1B2A38"/>
          </a:solidFill>
          <a:ln cap="flat" cmpd="sng" w="12700">
            <a:solidFill>
              <a:srgbClr val="1B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6"/>
          <p:cNvSpPr txBox="1"/>
          <p:nvPr/>
        </p:nvSpPr>
        <p:spPr>
          <a:xfrm>
            <a:off x="731520" y="1828800"/>
            <a:ext cx="5715000" cy="438912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 Step 1: totals from the cleaned card data</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total_fraud    = df_card['amt_fraud_trx_L6M'].sum()</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total_nonfraud = df_card['amt_nonfraud_trx_L6M'].sum()</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total_all      = total_fraud + total_nonfraud</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chemeClr val="dk1"/>
              </a:buClr>
              <a:buSzPts val="1100"/>
              <a:buFont typeface="Calibri"/>
              <a:buNone/>
            </a:pPr>
            <a:r>
              <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 Step 2: fraud rate = share of total value</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fraud_rate = total_fraud / total_all</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print(f"Fraud Rate: {fraud_rate:.2%}")</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chemeClr val="dk1"/>
              </a:buClr>
              <a:buSzPts val="1100"/>
              <a:buFont typeface="Calibri"/>
              <a:buNone/>
            </a:pPr>
            <a:r>
              <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 Step 3: pie chart of the proportion</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plt.figure(figsize=(6, 6))</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plt.pie(</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    [total_fraud, total_nonfraud],</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    labels=['Fraud', 'Non-Fraud'],</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    autopct='%1.2f%%',</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    colors=['#e74c3c', '#2ecc71'],</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    startangle=90,</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    explode=(0.08, 0)</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plt.title('Fraud vs Non-Fraud Amount Proportion')</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plt.show()</a:t>
            </a:r>
            <a:endParaRPr sz="1100">
              <a:solidFill>
                <a:schemeClr val="dk1"/>
              </a:solidFill>
              <a:latin typeface="Calibri"/>
              <a:ea typeface="Calibri"/>
              <a:cs typeface="Calibri"/>
              <a:sym typeface="Calibri"/>
            </a:endParaRPr>
          </a:p>
        </p:txBody>
      </p:sp>
      <p:sp>
        <p:nvSpPr>
          <p:cNvPr id="219" name="Google Shape;219;p16"/>
          <p:cNvSpPr txBox="1"/>
          <p:nvPr/>
        </p:nvSpPr>
        <p:spPr>
          <a:xfrm>
            <a:off x="6812280" y="1325880"/>
            <a:ext cx="4800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7185"/>
              </a:buClr>
              <a:buSzPts val="1300"/>
              <a:buFont typeface="Calibri"/>
              <a:buNone/>
            </a:pPr>
            <a:r>
              <a:rPr b="1" lang="en-US" sz="1300">
                <a:solidFill>
                  <a:srgbClr val="5A7185"/>
                </a:solidFill>
                <a:latin typeface="Calibri"/>
                <a:ea typeface="Calibri"/>
                <a:cs typeface="Calibri"/>
                <a:sym typeface="Calibri"/>
              </a:rPr>
              <a:t>Output</a:t>
            </a:r>
            <a:endParaRPr sz="1300">
              <a:solidFill>
                <a:schemeClr val="dk1"/>
              </a:solidFill>
              <a:latin typeface="Calibri"/>
              <a:ea typeface="Calibri"/>
              <a:cs typeface="Calibri"/>
              <a:sym typeface="Calibri"/>
            </a:endParaRPr>
          </a:p>
        </p:txBody>
      </p:sp>
      <p:sp>
        <p:nvSpPr>
          <p:cNvPr id="220" name="Google Shape;220;p16"/>
          <p:cNvSpPr/>
          <p:nvPr/>
        </p:nvSpPr>
        <p:spPr>
          <a:xfrm>
            <a:off x="6812280" y="1691640"/>
            <a:ext cx="4800600" cy="2331720"/>
          </a:xfrm>
          <a:prstGeom prst="roundRect">
            <a:avLst>
              <a:gd fmla="val 3922" name="adj"/>
            </a:avLst>
          </a:prstGeom>
          <a:solidFill>
            <a:srgbClr val="FFFFFF"/>
          </a:solidFill>
          <a:ln cap="flat" cmpd="sng" w="19050">
            <a:solidFill>
              <a:srgbClr val="FFD4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221" name="Google Shape;221;p16"/>
          <p:cNvGraphicFramePr/>
          <p:nvPr/>
        </p:nvGraphicFramePr>
        <p:xfrm>
          <a:off x="6949440" y="1810512"/>
          <a:ext cx="3000000" cy="3000000"/>
        </p:xfrm>
        <a:graphic>
          <a:graphicData uri="http://schemas.openxmlformats.org/drawingml/2006/table">
            <a:tbl>
              <a:tblPr>
                <a:noFill/>
                <a:tableStyleId>{3D7D59D7-DF91-47F0-BCBC-DAAD57FB8C79}</a:tableStyleId>
              </a:tblPr>
              <a:tblGrid>
                <a:gridCol w="2103125"/>
                <a:gridCol w="2423150"/>
              </a:tblGrid>
              <a:tr h="329175">
                <a:tc>
                  <a:txBody>
                    <a:bodyPr/>
                    <a:lstStyle/>
                    <a:p>
                      <a:pPr indent="0" lvl="0" marL="0" marR="0" rtl="0" algn="ctr">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Metric</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306998"/>
                    </a:solidFill>
                  </a:tcPr>
                </a:tc>
                <a:tc>
                  <a:txBody>
                    <a:bodyPr/>
                    <a:lstStyle/>
                    <a:p>
                      <a:pPr indent="0" lvl="0" marL="0" marR="0" rtl="0" algn="ctr">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Value</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306998"/>
                    </a:solidFill>
                  </a:tcPr>
                </a:tc>
              </a:tr>
              <a:tr h="329175">
                <a:tc>
                  <a:txBody>
                    <a:bodyPr/>
                    <a:lstStyle/>
                    <a:p>
                      <a:pPr indent="0" lvl="0" marL="0" marR="0" rtl="0" algn="l">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Total fraud amount</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Rp 1.013.378.300</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r>
              <a:tr h="329175">
                <a:tc>
                  <a:txBody>
                    <a:bodyPr/>
                    <a:lstStyle/>
                    <a:p>
                      <a:pPr indent="0" lvl="0" marL="0" marR="0" rtl="0" algn="l">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Total non-fraud amount</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Rp 455.863.486.600</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r>
              <a:tr h="329175">
                <a:tc>
                  <a:txBody>
                    <a:bodyPr/>
                    <a:lstStyle/>
                    <a:p>
                      <a:pPr indent="0" lvl="0" marL="0" marR="0" rtl="0" algn="l">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Total transaction value</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Rp 456.876.864.900</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r>
              <a:tr h="329175">
                <a:tc>
                  <a:txBody>
                    <a:bodyPr/>
                    <a:lstStyle/>
                    <a:p>
                      <a:pPr indent="0" lvl="0" marL="0" marR="0" rtl="0" algn="l">
                        <a:spcBef>
                          <a:spcPts val="0"/>
                        </a:spcBef>
                        <a:spcAft>
                          <a:spcPts val="0"/>
                        </a:spcAft>
                        <a:buClr>
                          <a:srgbClr val="1B2A38"/>
                        </a:buClr>
                        <a:buSzPts val="900"/>
                        <a:buFont typeface="Calibri"/>
                        <a:buNone/>
                      </a:pPr>
                      <a:r>
                        <a:rPr b="1" lang="en-US" sz="900" u="none" cap="none" strike="noStrike">
                          <a:solidFill>
                            <a:srgbClr val="1B2A38"/>
                          </a:solidFill>
                          <a:latin typeface="Calibri"/>
                          <a:ea typeface="Calibri"/>
                          <a:cs typeface="Calibri"/>
                          <a:sym typeface="Calibri"/>
                        </a:rPr>
                        <a:t>Fraud rate (6 months)</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Clr>
                          <a:srgbClr val="1B2A38"/>
                        </a:buClr>
                        <a:buSzPts val="900"/>
                        <a:buFont typeface="Calibri"/>
                        <a:buNone/>
                      </a:pPr>
                      <a:r>
                        <a:rPr b="1" lang="en-US" sz="900" u="none" cap="none" strike="noStrike">
                          <a:solidFill>
                            <a:srgbClr val="1B2A38"/>
                          </a:solidFill>
                          <a:latin typeface="Calibri"/>
                          <a:ea typeface="Calibri"/>
                          <a:cs typeface="Calibri"/>
                          <a:sym typeface="Calibri"/>
                        </a:rPr>
                        <a:t>0,22%</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r>
              <a:tr h="329175">
                <a:tc>
                  <a:txBody>
                    <a:bodyPr/>
                    <a:lstStyle/>
                    <a:p>
                      <a:pPr indent="0" lvl="0" marL="0" marR="0" rtl="0" algn="l">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Safe benchmark</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&lt; 1%</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r>
            </a:tbl>
          </a:graphicData>
        </a:graphic>
      </p:graphicFrame>
      <p:sp>
        <p:nvSpPr>
          <p:cNvPr id="222" name="Google Shape;222;p16"/>
          <p:cNvSpPr/>
          <p:nvPr/>
        </p:nvSpPr>
        <p:spPr>
          <a:xfrm>
            <a:off x="6812280" y="4160520"/>
            <a:ext cx="4800600" cy="2194560"/>
          </a:xfrm>
          <a:prstGeom prst="roundRect">
            <a:avLst>
              <a:gd fmla="val 4167" name="adj"/>
            </a:avLst>
          </a:prstGeom>
          <a:solidFill>
            <a:srgbClr val="FFD43B"/>
          </a:solidFill>
          <a:ln cap="flat" cmpd="sng" w="12700">
            <a:solidFill>
              <a:srgbClr val="FFD4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6"/>
          <p:cNvSpPr txBox="1"/>
          <p:nvPr/>
        </p:nvSpPr>
        <p:spPr>
          <a:xfrm>
            <a:off x="6995160" y="4279392"/>
            <a:ext cx="44805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8"/>
              </a:buClr>
              <a:buSzPts val="1500"/>
              <a:buFont typeface="Cambria"/>
              <a:buNone/>
            </a:pPr>
            <a:r>
              <a:rPr b="1" lang="en-US" sz="1500">
                <a:solidFill>
                  <a:srgbClr val="1B2A38"/>
                </a:solidFill>
                <a:latin typeface="Cambria"/>
                <a:ea typeface="Cambria"/>
                <a:cs typeface="Cambria"/>
                <a:sym typeface="Cambria"/>
              </a:rPr>
              <a:t>Method</a:t>
            </a:r>
            <a:endParaRPr sz="1500">
              <a:solidFill>
                <a:schemeClr val="dk1"/>
              </a:solidFill>
              <a:latin typeface="Calibri"/>
              <a:ea typeface="Calibri"/>
              <a:cs typeface="Calibri"/>
              <a:sym typeface="Calibri"/>
            </a:endParaRPr>
          </a:p>
        </p:txBody>
      </p:sp>
      <p:sp>
        <p:nvSpPr>
          <p:cNvPr id="224" name="Google Shape;224;p16"/>
          <p:cNvSpPr txBox="1"/>
          <p:nvPr/>
        </p:nvSpPr>
        <p:spPr>
          <a:xfrm>
            <a:off x="6995160" y="4617720"/>
            <a:ext cx="4480560" cy="1627632"/>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B2A38"/>
              </a:buClr>
              <a:buSzPts val="1100"/>
              <a:buFont typeface="Calibri"/>
              <a:buNone/>
            </a:pPr>
            <a:r>
              <a:rPr lang="en-US" sz="1100">
                <a:solidFill>
                  <a:srgbClr val="1B2A38"/>
                </a:solidFill>
                <a:latin typeface="Calibri"/>
                <a:ea typeface="Calibri"/>
                <a:cs typeface="Calibri"/>
                <a:sym typeface="Calibri"/>
              </a:rPr>
              <a:t>Fraud rate is the total fraud amount divided by the total of fraud plus non-fraud amount, so it measures the share of transaction value lost to fraud, not the share of transactions. The fraud slice is exploded in the pie chart so a share this small stays visible.</a:t>
            </a:r>
            <a:endParaRPr sz="1100">
              <a:solidFill>
                <a:schemeClr val="dk1"/>
              </a:solidFill>
              <a:latin typeface="Calibri"/>
              <a:ea typeface="Calibri"/>
              <a:cs typeface="Calibri"/>
              <a:sym typeface="Calibri"/>
            </a:endParaRPr>
          </a:p>
        </p:txBody>
      </p:sp>
      <p:sp>
        <p:nvSpPr>
          <p:cNvPr id="225" name="Google Shape;225;p16"/>
          <p:cNvSpPr txBox="1"/>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7185"/>
              </a:buClr>
              <a:buSzPts val="900"/>
              <a:buFont typeface="Calibri"/>
              <a:buNone/>
            </a:pPr>
            <a:r>
              <a:rPr lang="en-US" sz="900">
                <a:solidFill>
                  <a:srgbClr val="5A7185"/>
                </a:solidFill>
                <a:latin typeface="Calibri"/>
                <a:ea typeface="Calibri"/>
                <a:cs typeface="Calibri"/>
                <a:sym typeface="Calibri"/>
              </a:rPr>
              <a:t>Credit Card &amp; User Data Analysis – Milestone 2</a:t>
            </a:r>
            <a:endParaRPr sz="900">
              <a:solidFill>
                <a:schemeClr val="dk1"/>
              </a:solidFill>
              <a:latin typeface="Calibri"/>
              <a:ea typeface="Calibri"/>
              <a:cs typeface="Calibri"/>
              <a:sym typeface="Calibri"/>
            </a:endParaRPr>
          </a:p>
        </p:txBody>
      </p:sp>
      <p:sp>
        <p:nvSpPr>
          <p:cNvPr id="226" name="Google Shape;226;p16"/>
          <p:cNvSpPr txBox="1"/>
          <p:nvPr/>
        </p:nvSpPr>
        <p:spPr>
          <a:xfrm>
            <a:off x="11247120" y="649224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7185"/>
              </a:buClr>
              <a:buSzPts val="900"/>
              <a:buFont typeface="Calibri"/>
              <a:buNone/>
            </a:pPr>
            <a:r>
              <a:rPr lang="en-US" sz="900">
                <a:solidFill>
                  <a:srgbClr val="5A7185"/>
                </a:solidFill>
                <a:latin typeface="Calibri"/>
                <a:ea typeface="Calibri"/>
                <a:cs typeface="Calibri"/>
                <a:sym typeface="Calibri"/>
              </a:rPr>
              <a:t>16</a:t>
            </a:r>
            <a:endParaRPr sz="9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B"/>
        </a:solidFill>
      </p:bgPr>
    </p:bg>
    <p:spTree>
      <p:nvGrpSpPr>
        <p:cNvPr id="231" name="Shape 231"/>
        <p:cNvGrpSpPr/>
        <p:nvPr/>
      </p:nvGrpSpPr>
      <p:grpSpPr>
        <a:xfrm>
          <a:off x="0" y="0"/>
          <a:ext cx="0" cy="0"/>
          <a:chOff x="0" y="0"/>
          <a:chExt cx="0" cy="0"/>
        </a:xfrm>
      </p:grpSpPr>
      <p:sp>
        <p:nvSpPr>
          <p:cNvPr id="232" name="Google Shape;232;p17"/>
          <p:cNvSpPr/>
          <p:nvPr/>
        </p:nvSpPr>
        <p:spPr>
          <a:xfrm>
            <a:off x="548640" y="457200"/>
            <a:ext cx="502920" cy="502920"/>
          </a:xfrm>
          <a:prstGeom prst="ellipse">
            <a:avLst/>
          </a:prstGeom>
          <a:solidFill>
            <a:srgbClr val="3069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7"/>
          <p:cNvSpPr txBox="1"/>
          <p:nvPr/>
        </p:nvSpPr>
        <p:spPr>
          <a:xfrm>
            <a:off x="548640" y="45720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mbria"/>
              <a:buNone/>
            </a:pPr>
            <a:r>
              <a:rPr b="1" lang="en-US" sz="2000">
                <a:solidFill>
                  <a:srgbClr val="FFFFFF"/>
                </a:solidFill>
                <a:latin typeface="Cambria"/>
                <a:ea typeface="Cambria"/>
                <a:cs typeface="Cambria"/>
                <a:sym typeface="Cambria"/>
              </a:rPr>
              <a:t>b</a:t>
            </a:r>
            <a:endParaRPr sz="2000">
              <a:solidFill>
                <a:schemeClr val="dk1"/>
              </a:solidFill>
              <a:latin typeface="Calibri"/>
              <a:ea typeface="Calibri"/>
              <a:cs typeface="Calibri"/>
              <a:sym typeface="Calibri"/>
            </a:endParaRPr>
          </a:p>
        </p:txBody>
      </p:sp>
      <p:sp>
        <p:nvSpPr>
          <p:cNvPr id="234" name="Google Shape;234;p17"/>
          <p:cNvSpPr txBox="1"/>
          <p:nvPr/>
        </p:nvSpPr>
        <p:spPr>
          <a:xfrm>
            <a:off x="1188720" y="384048"/>
            <a:ext cx="104241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B84"/>
              </a:buClr>
              <a:buSzPts val="2000"/>
              <a:buFont typeface="Cambria"/>
              <a:buNone/>
            </a:pPr>
            <a:r>
              <a:rPr b="1" lang="en-US" sz="2000">
                <a:solidFill>
                  <a:srgbClr val="2B5B84"/>
                </a:solidFill>
                <a:latin typeface="Cambria"/>
                <a:ea typeface="Cambria"/>
                <a:cs typeface="Cambria"/>
                <a:sym typeface="Cambria"/>
              </a:rPr>
              <a:t>Fraud Rate of RevoBank (Visualisation &amp; Insight)</a:t>
            </a:r>
            <a:endParaRPr sz="2000">
              <a:solidFill>
                <a:schemeClr val="dk1"/>
              </a:solidFill>
              <a:latin typeface="Calibri"/>
              <a:ea typeface="Calibri"/>
              <a:cs typeface="Calibri"/>
              <a:sym typeface="Calibri"/>
            </a:endParaRPr>
          </a:p>
        </p:txBody>
      </p:sp>
      <p:sp>
        <p:nvSpPr>
          <p:cNvPr id="235" name="Google Shape;235;p17"/>
          <p:cNvSpPr txBox="1"/>
          <p:nvPr/>
        </p:nvSpPr>
        <p:spPr>
          <a:xfrm>
            <a:off x="548640" y="1325880"/>
            <a:ext cx="5486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7185"/>
              </a:buClr>
              <a:buSzPts val="1300"/>
              <a:buFont typeface="Calibri"/>
              <a:buNone/>
            </a:pPr>
            <a:r>
              <a:rPr b="1" lang="en-US" sz="1300">
                <a:solidFill>
                  <a:srgbClr val="5A7185"/>
                </a:solidFill>
                <a:latin typeface="Calibri"/>
                <a:ea typeface="Calibri"/>
                <a:cs typeface="Calibri"/>
                <a:sym typeface="Calibri"/>
              </a:rPr>
              <a:t>Visualisation</a:t>
            </a:r>
            <a:endParaRPr sz="1300">
              <a:solidFill>
                <a:schemeClr val="dk1"/>
              </a:solidFill>
              <a:latin typeface="Calibri"/>
              <a:ea typeface="Calibri"/>
              <a:cs typeface="Calibri"/>
              <a:sym typeface="Calibri"/>
            </a:endParaRPr>
          </a:p>
        </p:txBody>
      </p:sp>
      <p:sp>
        <p:nvSpPr>
          <p:cNvPr id="236" name="Google Shape;236;p17"/>
          <p:cNvSpPr/>
          <p:nvPr/>
        </p:nvSpPr>
        <p:spPr>
          <a:xfrm>
            <a:off x="548640" y="1691640"/>
            <a:ext cx="6035040" cy="4663440"/>
          </a:xfrm>
          <a:prstGeom prst="roundRect">
            <a:avLst>
              <a:gd fmla="val 1961" name="adj"/>
            </a:avLst>
          </a:prstGeom>
          <a:solidFill>
            <a:srgbClr val="FFFFFF"/>
          </a:solidFill>
          <a:ln cap="flat" cmpd="sng" w="12700">
            <a:solidFill>
              <a:srgbClr val="C9DC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mg/cell38_1.png" id="237" name="Google Shape;237;p17"/>
          <p:cNvPicPr preferRelativeResize="0"/>
          <p:nvPr/>
        </p:nvPicPr>
        <p:blipFill rotWithShape="1">
          <a:blip r:embed="rId3">
            <a:alphaModFix/>
          </a:blip>
          <a:srcRect b="0" l="0" r="0" t="0"/>
          <a:stretch/>
        </p:blipFill>
        <p:spPr>
          <a:xfrm>
            <a:off x="1371533" y="1787655"/>
            <a:ext cx="4270248" cy="4471416"/>
          </a:xfrm>
          <a:prstGeom prst="rect">
            <a:avLst/>
          </a:prstGeom>
          <a:noFill/>
          <a:ln>
            <a:noFill/>
          </a:ln>
        </p:spPr>
      </p:pic>
      <p:sp>
        <p:nvSpPr>
          <p:cNvPr id="238" name="Google Shape;238;p17"/>
          <p:cNvSpPr/>
          <p:nvPr/>
        </p:nvSpPr>
        <p:spPr>
          <a:xfrm>
            <a:off x="6812280" y="1691640"/>
            <a:ext cx="4800600" cy="2331720"/>
          </a:xfrm>
          <a:prstGeom prst="roundRect">
            <a:avLst>
              <a:gd fmla="val 3922" name="adj"/>
            </a:avLst>
          </a:prstGeom>
          <a:solidFill>
            <a:srgbClr val="FFFFFF"/>
          </a:solidFill>
          <a:ln cap="flat" cmpd="sng" w="12700">
            <a:solidFill>
              <a:srgbClr val="C9DC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7"/>
          <p:cNvSpPr txBox="1"/>
          <p:nvPr/>
        </p:nvSpPr>
        <p:spPr>
          <a:xfrm>
            <a:off x="6995160" y="1810512"/>
            <a:ext cx="44805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B84"/>
              </a:buClr>
              <a:buSzPts val="1500"/>
              <a:buFont typeface="Cambria"/>
              <a:buNone/>
            </a:pPr>
            <a:r>
              <a:rPr b="1" lang="en-US" sz="1500">
                <a:solidFill>
                  <a:srgbClr val="2B5B84"/>
                </a:solidFill>
                <a:latin typeface="Cambria"/>
                <a:ea typeface="Cambria"/>
                <a:cs typeface="Cambria"/>
                <a:sym typeface="Cambria"/>
              </a:rPr>
              <a:t>What the chart shows</a:t>
            </a:r>
            <a:endParaRPr sz="1500">
              <a:solidFill>
                <a:schemeClr val="dk1"/>
              </a:solidFill>
              <a:latin typeface="Calibri"/>
              <a:ea typeface="Calibri"/>
              <a:cs typeface="Calibri"/>
              <a:sym typeface="Calibri"/>
            </a:endParaRPr>
          </a:p>
        </p:txBody>
      </p:sp>
      <p:sp>
        <p:nvSpPr>
          <p:cNvPr id="240" name="Google Shape;240;p17"/>
          <p:cNvSpPr txBox="1"/>
          <p:nvPr/>
        </p:nvSpPr>
        <p:spPr>
          <a:xfrm>
            <a:off x="6995160" y="2148840"/>
            <a:ext cx="4480560" cy="1764792"/>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B2A38"/>
              </a:buClr>
              <a:buSzPts val="1100"/>
              <a:buFont typeface="Calibri"/>
              <a:buNone/>
            </a:pPr>
            <a:r>
              <a:rPr lang="en-US" sz="1100">
                <a:solidFill>
                  <a:srgbClr val="1B2A38"/>
                </a:solidFill>
                <a:latin typeface="Calibri"/>
                <a:ea typeface="Calibri"/>
                <a:cs typeface="Calibri"/>
                <a:sym typeface="Calibri"/>
              </a:rPr>
              <a:t>Non-fraud is 99,78% of transaction value, fraud only 0,22%.</a:t>
            </a:r>
            <a:endParaRPr sz="1100">
              <a:solidFill>
                <a:schemeClr val="dk1"/>
              </a:solidFill>
              <a:latin typeface="Calibri"/>
              <a:ea typeface="Calibri"/>
              <a:cs typeface="Calibri"/>
              <a:sym typeface="Calibri"/>
            </a:endParaRPr>
          </a:p>
          <a:p>
            <a:pPr indent="0" lvl="0" marL="0" marR="0" rtl="0" algn="l">
              <a:lnSpc>
                <a:spcPct val="105000"/>
              </a:lnSpc>
              <a:spcBef>
                <a:spcPts val="600"/>
              </a:spcBef>
              <a:spcAft>
                <a:spcPts val="0"/>
              </a:spcAft>
              <a:buClr>
                <a:srgbClr val="1B2A38"/>
              </a:buClr>
              <a:buSzPts val="1100"/>
              <a:buFont typeface="Calibri"/>
              <a:buNone/>
            </a:pPr>
            <a:r>
              <a:rPr lang="en-US" sz="1100">
                <a:solidFill>
                  <a:srgbClr val="1B2A38"/>
                </a:solidFill>
                <a:latin typeface="Calibri"/>
                <a:ea typeface="Calibri"/>
                <a:cs typeface="Calibri"/>
                <a:sym typeface="Calibri"/>
              </a:rPr>
              <a:t>In rupiah: Rp 1,01 miliar of fraud against Rp 455,86 miliar of legitimate sales.</a:t>
            </a:r>
            <a:endParaRPr sz="1100">
              <a:solidFill>
                <a:schemeClr val="dk1"/>
              </a:solidFill>
              <a:latin typeface="Calibri"/>
              <a:ea typeface="Calibri"/>
              <a:cs typeface="Calibri"/>
              <a:sym typeface="Calibri"/>
            </a:endParaRPr>
          </a:p>
          <a:p>
            <a:pPr indent="0" lvl="0" marL="0" marR="0" rtl="0" algn="l">
              <a:lnSpc>
                <a:spcPct val="105000"/>
              </a:lnSpc>
              <a:spcBef>
                <a:spcPts val="600"/>
              </a:spcBef>
              <a:spcAft>
                <a:spcPts val="0"/>
              </a:spcAft>
              <a:buClr>
                <a:srgbClr val="1B2A38"/>
              </a:buClr>
              <a:buSzPts val="1100"/>
              <a:buFont typeface="Calibri"/>
              <a:buNone/>
            </a:pPr>
            <a:r>
              <a:rPr lang="en-US" sz="1100">
                <a:solidFill>
                  <a:srgbClr val="1B2A38"/>
                </a:solidFill>
                <a:latin typeface="Calibri"/>
                <a:ea typeface="Calibri"/>
                <a:cs typeface="Calibri"/>
                <a:sym typeface="Calibri"/>
              </a:rPr>
              <a:t>The fraud slice sits well below the 1% level usually treated as safe.</a:t>
            </a:r>
            <a:endParaRPr sz="1100">
              <a:solidFill>
                <a:schemeClr val="dk1"/>
              </a:solidFill>
              <a:latin typeface="Calibri"/>
              <a:ea typeface="Calibri"/>
              <a:cs typeface="Calibri"/>
              <a:sym typeface="Calibri"/>
            </a:endParaRPr>
          </a:p>
        </p:txBody>
      </p:sp>
      <p:sp>
        <p:nvSpPr>
          <p:cNvPr id="241" name="Google Shape;241;p17"/>
          <p:cNvSpPr/>
          <p:nvPr/>
        </p:nvSpPr>
        <p:spPr>
          <a:xfrm>
            <a:off x="6812280" y="4160520"/>
            <a:ext cx="4800600" cy="2194560"/>
          </a:xfrm>
          <a:prstGeom prst="roundRect">
            <a:avLst>
              <a:gd fmla="val 4167" name="adj"/>
            </a:avLst>
          </a:prstGeom>
          <a:solidFill>
            <a:srgbClr val="FFD43B"/>
          </a:solidFill>
          <a:ln cap="flat" cmpd="sng" w="12700">
            <a:solidFill>
              <a:srgbClr val="FFD4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7"/>
          <p:cNvSpPr txBox="1"/>
          <p:nvPr/>
        </p:nvSpPr>
        <p:spPr>
          <a:xfrm>
            <a:off x="6995160" y="4279392"/>
            <a:ext cx="44805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8"/>
              </a:buClr>
              <a:buSzPts val="1500"/>
              <a:buFont typeface="Cambria"/>
              <a:buNone/>
            </a:pPr>
            <a:r>
              <a:rPr b="1" lang="en-US" sz="1500">
                <a:solidFill>
                  <a:srgbClr val="1B2A38"/>
                </a:solidFill>
                <a:latin typeface="Cambria"/>
                <a:ea typeface="Cambria"/>
                <a:cs typeface="Cambria"/>
                <a:sym typeface="Cambria"/>
              </a:rPr>
              <a:t>Insight</a:t>
            </a:r>
            <a:endParaRPr sz="1500">
              <a:solidFill>
                <a:schemeClr val="dk1"/>
              </a:solidFill>
              <a:latin typeface="Calibri"/>
              <a:ea typeface="Calibri"/>
              <a:cs typeface="Calibri"/>
              <a:sym typeface="Calibri"/>
            </a:endParaRPr>
          </a:p>
        </p:txBody>
      </p:sp>
      <p:sp>
        <p:nvSpPr>
          <p:cNvPr id="243" name="Google Shape;243;p17"/>
          <p:cNvSpPr txBox="1"/>
          <p:nvPr/>
        </p:nvSpPr>
        <p:spPr>
          <a:xfrm>
            <a:off x="6995160" y="4617720"/>
            <a:ext cx="4480560" cy="1627632"/>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B2A38"/>
              </a:buClr>
              <a:buSzPts val="1100"/>
              <a:buFont typeface="Calibri"/>
              <a:buNone/>
            </a:pPr>
            <a:r>
              <a:rPr lang="en-US" sz="1100">
                <a:solidFill>
                  <a:srgbClr val="1B2A38"/>
                </a:solidFill>
                <a:latin typeface="Calibri"/>
                <a:ea typeface="Calibri"/>
                <a:cs typeface="Calibri"/>
                <a:sym typeface="Calibri"/>
              </a:rPr>
              <a:t>At 0,22% of transaction value the fraud rate is well inside the safe range, so RevoBank's exposure is still under control. The caveat is scale: even 0,22% already costs Rp 1,01 miliar in six months, and absolute losses grow with volume. Promos can be scaled, but velocity checks and stronger authentication on high-value transactions should stay in place so the rate does not drift up.</a:t>
            </a:r>
            <a:endParaRPr sz="1100">
              <a:solidFill>
                <a:schemeClr val="dk1"/>
              </a:solidFill>
              <a:latin typeface="Calibri"/>
              <a:ea typeface="Calibri"/>
              <a:cs typeface="Calibri"/>
              <a:sym typeface="Calibri"/>
            </a:endParaRPr>
          </a:p>
        </p:txBody>
      </p:sp>
      <p:sp>
        <p:nvSpPr>
          <p:cNvPr id="244" name="Google Shape;244;p17"/>
          <p:cNvSpPr txBox="1"/>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7185"/>
              </a:buClr>
              <a:buSzPts val="900"/>
              <a:buFont typeface="Calibri"/>
              <a:buNone/>
            </a:pPr>
            <a:r>
              <a:rPr lang="en-US" sz="900">
                <a:solidFill>
                  <a:srgbClr val="5A7185"/>
                </a:solidFill>
                <a:latin typeface="Calibri"/>
                <a:ea typeface="Calibri"/>
                <a:cs typeface="Calibri"/>
                <a:sym typeface="Calibri"/>
              </a:rPr>
              <a:t>Credit Card &amp; User Data Analysis – Milestone 2</a:t>
            </a:r>
            <a:endParaRPr sz="900">
              <a:solidFill>
                <a:schemeClr val="dk1"/>
              </a:solidFill>
              <a:latin typeface="Calibri"/>
              <a:ea typeface="Calibri"/>
              <a:cs typeface="Calibri"/>
              <a:sym typeface="Calibri"/>
            </a:endParaRPr>
          </a:p>
        </p:txBody>
      </p:sp>
      <p:sp>
        <p:nvSpPr>
          <p:cNvPr id="245" name="Google Shape;245;p17"/>
          <p:cNvSpPr txBox="1"/>
          <p:nvPr/>
        </p:nvSpPr>
        <p:spPr>
          <a:xfrm>
            <a:off x="11247120" y="649224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7185"/>
              </a:buClr>
              <a:buSzPts val="900"/>
              <a:buFont typeface="Calibri"/>
              <a:buNone/>
            </a:pPr>
            <a:r>
              <a:rPr lang="en-US" sz="900">
                <a:solidFill>
                  <a:srgbClr val="5A7185"/>
                </a:solidFill>
                <a:latin typeface="Calibri"/>
                <a:ea typeface="Calibri"/>
                <a:cs typeface="Calibri"/>
                <a:sym typeface="Calibri"/>
              </a:rPr>
              <a:t>17</a:t>
            </a:r>
            <a:endParaRPr sz="9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B"/>
        </a:solidFill>
      </p:bgPr>
    </p:bg>
    <p:spTree>
      <p:nvGrpSpPr>
        <p:cNvPr id="250" name="Shape 250"/>
        <p:cNvGrpSpPr/>
        <p:nvPr/>
      </p:nvGrpSpPr>
      <p:grpSpPr>
        <a:xfrm>
          <a:off x="0" y="0"/>
          <a:ext cx="0" cy="0"/>
          <a:chOff x="0" y="0"/>
          <a:chExt cx="0" cy="0"/>
        </a:xfrm>
      </p:grpSpPr>
      <p:sp>
        <p:nvSpPr>
          <p:cNvPr id="251" name="Google Shape;251;p18"/>
          <p:cNvSpPr/>
          <p:nvPr/>
        </p:nvSpPr>
        <p:spPr>
          <a:xfrm>
            <a:off x="548640" y="457200"/>
            <a:ext cx="502920" cy="502920"/>
          </a:xfrm>
          <a:prstGeom prst="ellipse">
            <a:avLst/>
          </a:prstGeom>
          <a:solidFill>
            <a:srgbClr val="3069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8"/>
          <p:cNvSpPr txBox="1"/>
          <p:nvPr/>
        </p:nvSpPr>
        <p:spPr>
          <a:xfrm>
            <a:off x="548640" y="45720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mbria"/>
              <a:buNone/>
            </a:pPr>
            <a:r>
              <a:rPr b="1" lang="en-US" sz="2000">
                <a:solidFill>
                  <a:srgbClr val="FFFFFF"/>
                </a:solidFill>
                <a:latin typeface="Cambria"/>
                <a:ea typeface="Cambria"/>
                <a:cs typeface="Cambria"/>
                <a:sym typeface="Cambria"/>
              </a:rPr>
              <a:t>c</a:t>
            </a:r>
            <a:endParaRPr sz="2000">
              <a:solidFill>
                <a:schemeClr val="dk1"/>
              </a:solidFill>
              <a:latin typeface="Calibri"/>
              <a:ea typeface="Calibri"/>
              <a:cs typeface="Calibri"/>
              <a:sym typeface="Calibri"/>
            </a:endParaRPr>
          </a:p>
        </p:txBody>
      </p:sp>
      <p:sp>
        <p:nvSpPr>
          <p:cNvPr id="253" name="Google Shape;253;p18"/>
          <p:cNvSpPr txBox="1"/>
          <p:nvPr/>
        </p:nvSpPr>
        <p:spPr>
          <a:xfrm>
            <a:off x="1188720" y="384048"/>
            <a:ext cx="104241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B84"/>
              </a:buClr>
              <a:buSzPts val="2000"/>
              <a:buFont typeface="Cambria"/>
              <a:buNone/>
            </a:pPr>
            <a:r>
              <a:rPr b="1" lang="en-US" sz="2000">
                <a:solidFill>
                  <a:srgbClr val="2B5B84"/>
                </a:solidFill>
                <a:latin typeface="Cambria"/>
                <a:ea typeface="Cambria"/>
                <a:cs typeface="Cambria"/>
                <a:sym typeface="Cambria"/>
              </a:rPr>
              <a:t>Transaction Behaviour per Card Brand (Syntax &amp; Output)</a:t>
            </a:r>
            <a:endParaRPr sz="2000">
              <a:solidFill>
                <a:schemeClr val="dk1"/>
              </a:solidFill>
              <a:latin typeface="Calibri"/>
              <a:ea typeface="Calibri"/>
              <a:cs typeface="Calibri"/>
              <a:sym typeface="Calibri"/>
            </a:endParaRPr>
          </a:p>
        </p:txBody>
      </p:sp>
      <p:sp>
        <p:nvSpPr>
          <p:cNvPr id="254" name="Google Shape;254;p18"/>
          <p:cNvSpPr txBox="1"/>
          <p:nvPr/>
        </p:nvSpPr>
        <p:spPr>
          <a:xfrm>
            <a:off x="548640" y="1325880"/>
            <a:ext cx="5486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7185"/>
              </a:buClr>
              <a:buSzPts val="1300"/>
              <a:buFont typeface="Calibri"/>
              <a:buNone/>
            </a:pPr>
            <a:r>
              <a:rPr b="1" lang="en-US" sz="1300">
                <a:solidFill>
                  <a:srgbClr val="5A7185"/>
                </a:solidFill>
                <a:latin typeface="Calibri"/>
                <a:ea typeface="Calibri"/>
                <a:cs typeface="Calibri"/>
                <a:sym typeface="Calibri"/>
              </a:rPr>
              <a:t>Syntax</a:t>
            </a:r>
            <a:endParaRPr sz="1300">
              <a:solidFill>
                <a:schemeClr val="dk1"/>
              </a:solidFill>
              <a:latin typeface="Calibri"/>
              <a:ea typeface="Calibri"/>
              <a:cs typeface="Calibri"/>
              <a:sym typeface="Calibri"/>
            </a:endParaRPr>
          </a:p>
        </p:txBody>
      </p:sp>
      <p:sp>
        <p:nvSpPr>
          <p:cNvPr id="255" name="Google Shape;255;p18"/>
          <p:cNvSpPr/>
          <p:nvPr/>
        </p:nvSpPr>
        <p:spPr>
          <a:xfrm>
            <a:off x="548640" y="1691640"/>
            <a:ext cx="6035040" cy="4663440"/>
          </a:xfrm>
          <a:prstGeom prst="roundRect">
            <a:avLst>
              <a:gd fmla="val 1569" name="adj"/>
            </a:avLst>
          </a:prstGeom>
          <a:solidFill>
            <a:srgbClr val="1B2A38"/>
          </a:solidFill>
          <a:ln cap="flat" cmpd="sng" w="12700">
            <a:solidFill>
              <a:srgbClr val="1B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8"/>
          <p:cNvSpPr txBox="1"/>
          <p:nvPr/>
        </p:nvSpPr>
        <p:spPr>
          <a:xfrm>
            <a:off x="731520" y="1828800"/>
            <a:ext cx="5715000" cy="438912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 card-level data, before the merge,</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 so the card_brand label is preserved</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brand_behaviour = df_card.groupby('card_brand').agg(</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    avg_trx_count=('count_nonfraud_trx_L6M', 'mean'),</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    avg_trx_amount=('amt_nonfraud_trx_L6M', 'mean')</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).round(2).sort_values(</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    'avg_trx_amount', ascending=False)</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chemeClr val="dk1"/>
              </a:buClr>
              <a:buSzPts val="1100"/>
              <a:buFont typeface="Calibri"/>
              <a:buNone/>
            </a:pPr>
            <a:r>
              <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print(brand_behaviour)</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chemeClr val="dk1"/>
              </a:buClr>
              <a:buSzPts val="1100"/>
              <a:buFont typeface="Calibri"/>
              <a:buNone/>
            </a:pPr>
            <a:r>
              <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 two bar charts side by side</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fig, ax = plt.subplots(1, 2, figsize=(14, 5))</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chemeClr val="dk1"/>
              </a:buClr>
              <a:buSzPts val="1100"/>
              <a:buFont typeface="Calibri"/>
              <a:buNone/>
            </a:pPr>
            <a:r>
              <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brand_behaviour['avg_trx_count'].plot(</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    kind='bar', ax=ax[0], color='#3498db')</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ax[0].set_title('Average Transaction Count')</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chemeClr val="dk1"/>
              </a:buClr>
              <a:buSzPts val="1100"/>
              <a:buFont typeface="Calibri"/>
              <a:buNone/>
            </a:pPr>
            <a:r>
              <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brand_behaviour['avg_trx_amount'].plot(</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    kind='bar', ax=ax[1], color='#9b59b6')</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ax[1].set_title('Average Transaction Amount')</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chemeClr val="dk1"/>
              </a:buClr>
              <a:buSzPts val="1100"/>
              <a:buFont typeface="Calibri"/>
              <a:buNone/>
            </a:pPr>
            <a:r>
              <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plt.tight_layout()</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plt.show()</a:t>
            </a:r>
            <a:endParaRPr sz="1100">
              <a:solidFill>
                <a:schemeClr val="dk1"/>
              </a:solidFill>
              <a:latin typeface="Calibri"/>
              <a:ea typeface="Calibri"/>
              <a:cs typeface="Calibri"/>
              <a:sym typeface="Calibri"/>
            </a:endParaRPr>
          </a:p>
        </p:txBody>
      </p:sp>
      <p:sp>
        <p:nvSpPr>
          <p:cNvPr id="257" name="Google Shape;257;p18"/>
          <p:cNvSpPr txBox="1"/>
          <p:nvPr/>
        </p:nvSpPr>
        <p:spPr>
          <a:xfrm>
            <a:off x="6812280" y="1325880"/>
            <a:ext cx="4800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7185"/>
              </a:buClr>
              <a:buSzPts val="1300"/>
              <a:buFont typeface="Calibri"/>
              <a:buNone/>
            </a:pPr>
            <a:r>
              <a:rPr b="1" lang="en-US" sz="1300">
                <a:solidFill>
                  <a:srgbClr val="5A7185"/>
                </a:solidFill>
                <a:latin typeface="Calibri"/>
                <a:ea typeface="Calibri"/>
                <a:cs typeface="Calibri"/>
                <a:sym typeface="Calibri"/>
              </a:rPr>
              <a:t>Output</a:t>
            </a:r>
            <a:endParaRPr sz="1300">
              <a:solidFill>
                <a:schemeClr val="dk1"/>
              </a:solidFill>
              <a:latin typeface="Calibri"/>
              <a:ea typeface="Calibri"/>
              <a:cs typeface="Calibri"/>
              <a:sym typeface="Calibri"/>
            </a:endParaRPr>
          </a:p>
        </p:txBody>
      </p:sp>
      <p:sp>
        <p:nvSpPr>
          <p:cNvPr id="258" name="Google Shape;258;p18"/>
          <p:cNvSpPr/>
          <p:nvPr/>
        </p:nvSpPr>
        <p:spPr>
          <a:xfrm>
            <a:off x="6812280" y="1691640"/>
            <a:ext cx="4800600" cy="2331720"/>
          </a:xfrm>
          <a:prstGeom prst="roundRect">
            <a:avLst>
              <a:gd fmla="val 3922" name="adj"/>
            </a:avLst>
          </a:prstGeom>
          <a:solidFill>
            <a:srgbClr val="FFFFFF"/>
          </a:solidFill>
          <a:ln cap="flat" cmpd="sng" w="19050">
            <a:solidFill>
              <a:srgbClr val="FFD4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259" name="Google Shape;259;p18"/>
          <p:cNvGraphicFramePr/>
          <p:nvPr/>
        </p:nvGraphicFramePr>
        <p:xfrm>
          <a:off x="6949440" y="1810512"/>
          <a:ext cx="3000000" cy="3000000"/>
        </p:xfrm>
        <a:graphic>
          <a:graphicData uri="http://schemas.openxmlformats.org/drawingml/2006/table">
            <a:tbl>
              <a:tblPr>
                <a:noFill/>
                <a:tableStyleId>{3D7D59D7-DF91-47F0-BCBC-DAAD57FB8C79}</a:tableStyleId>
              </a:tblPr>
              <a:tblGrid>
                <a:gridCol w="1417325"/>
                <a:gridCol w="1463050"/>
                <a:gridCol w="1645925"/>
              </a:tblGrid>
              <a:tr h="365750">
                <a:tc>
                  <a:txBody>
                    <a:bodyPr/>
                    <a:lstStyle/>
                    <a:p>
                      <a:pPr indent="0" lvl="0" marL="0" marR="0" rtl="0" algn="ctr">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Card Brand</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306998"/>
                    </a:solidFill>
                  </a:tcPr>
                </a:tc>
                <a:tc>
                  <a:txBody>
                    <a:bodyPr/>
                    <a:lstStyle/>
                    <a:p>
                      <a:pPr indent="0" lvl="0" marL="0" marR="0" rtl="0" algn="ctr">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Avg Trx Count</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306998"/>
                    </a:solidFill>
                  </a:tcPr>
                </a:tc>
                <a:tc>
                  <a:txBody>
                    <a:bodyPr/>
                    <a:lstStyle/>
                    <a:p>
                      <a:pPr indent="0" lvl="0" marL="0" marR="0" rtl="0" algn="ctr">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Avg Trx Amount (Rp)</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306998"/>
                    </a:solidFill>
                  </a:tcPr>
                </a:tc>
              </a:tr>
              <a:tr h="365750">
                <a:tc>
                  <a:txBody>
                    <a:bodyPr/>
                    <a:lstStyle/>
                    <a:p>
                      <a:pPr indent="0" lvl="0" marL="0" marR="0" rtl="0" algn="l">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Amex</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112,94</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98.852.996</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Visa</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116,06</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82.617.652</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r>
              <a:tr h="365750">
                <a:tc>
                  <a:txBody>
                    <a:bodyPr/>
                    <a:lstStyle/>
                    <a:p>
                      <a:pPr indent="0" lvl="0" marL="0" marR="0" rtl="0" algn="l">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Mastercard</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121,93</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80.595.841</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JCB</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84,40</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75.026.117</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r>
            </a:tbl>
          </a:graphicData>
        </a:graphic>
      </p:graphicFrame>
      <p:sp>
        <p:nvSpPr>
          <p:cNvPr id="260" name="Google Shape;260;p18"/>
          <p:cNvSpPr/>
          <p:nvPr/>
        </p:nvSpPr>
        <p:spPr>
          <a:xfrm>
            <a:off x="6812280" y="4160520"/>
            <a:ext cx="4800600" cy="2194560"/>
          </a:xfrm>
          <a:prstGeom prst="roundRect">
            <a:avLst>
              <a:gd fmla="val 4167" name="adj"/>
            </a:avLst>
          </a:prstGeom>
          <a:solidFill>
            <a:srgbClr val="FFD43B"/>
          </a:solidFill>
          <a:ln cap="flat" cmpd="sng" w="12700">
            <a:solidFill>
              <a:srgbClr val="FFD4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8"/>
          <p:cNvSpPr txBox="1"/>
          <p:nvPr/>
        </p:nvSpPr>
        <p:spPr>
          <a:xfrm>
            <a:off x="6995160" y="4279392"/>
            <a:ext cx="44805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8"/>
              </a:buClr>
              <a:buSzPts val="1500"/>
              <a:buFont typeface="Cambria"/>
              <a:buNone/>
            </a:pPr>
            <a:r>
              <a:rPr b="1" lang="en-US" sz="1500">
                <a:solidFill>
                  <a:srgbClr val="1B2A38"/>
                </a:solidFill>
                <a:latin typeface="Cambria"/>
                <a:ea typeface="Cambria"/>
                <a:cs typeface="Cambria"/>
                <a:sym typeface="Cambria"/>
              </a:rPr>
              <a:t>Method</a:t>
            </a:r>
            <a:endParaRPr sz="1500">
              <a:solidFill>
                <a:schemeClr val="dk1"/>
              </a:solidFill>
              <a:latin typeface="Calibri"/>
              <a:ea typeface="Calibri"/>
              <a:cs typeface="Calibri"/>
              <a:sym typeface="Calibri"/>
            </a:endParaRPr>
          </a:p>
        </p:txBody>
      </p:sp>
      <p:sp>
        <p:nvSpPr>
          <p:cNvPr id="262" name="Google Shape;262;p18"/>
          <p:cNvSpPr txBox="1"/>
          <p:nvPr/>
        </p:nvSpPr>
        <p:spPr>
          <a:xfrm>
            <a:off x="6995160" y="4617720"/>
            <a:ext cx="4480560" cy="1627632"/>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B2A38"/>
              </a:buClr>
              <a:buSzPts val="1100"/>
              <a:buFont typeface="Calibri"/>
              <a:buNone/>
            </a:pPr>
            <a:r>
              <a:rPr lang="en-US" sz="1100">
                <a:solidFill>
                  <a:srgbClr val="1B2A38"/>
                </a:solidFill>
                <a:latin typeface="Calibri"/>
                <a:ea typeface="Calibri"/>
                <a:cs typeface="Calibri"/>
                <a:sym typeface="Calibri"/>
              </a:rPr>
              <a:t>The average is used rather than the sum, so a brand is not ranked higher simply because it has more cards in the portfolio. The calculation runs on card-level data before the merge, because card_brand only exists there. Sorting by average amount puts the highest-value brand first.</a:t>
            </a:r>
            <a:endParaRPr sz="1100">
              <a:solidFill>
                <a:schemeClr val="dk1"/>
              </a:solidFill>
              <a:latin typeface="Calibri"/>
              <a:ea typeface="Calibri"/>
              <a:cs typeface="Calibri"/>
              <a:sym typeface="Calibri"/>
            </a:endParaRPr>
          </a:p>
        </p:txBody>
      </p:sp>
      <p:sp>
        <p:nvSpPr>
          <p:cNvPr id="263" name="Google Shape;263;p18"/>
          <p:cNvSpPr txBox="1"/>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7185"/>
              </a:buClr>
              <a:buSzPts val="900"/>
              <a:buFont typeface="Calibri"/>
              <a:buNone/>
            </a:pPr>
            <a:r>
              <a:rPr lang="en-US" sz="900">
                <a:solidFill>
                  <a:srgbClr val="5A7185"/>
                </a:solidFill>
                <a:latin typeface="Calibri"/>
                <a:ea typeface="Calibri"/>
                <a:cs typeface="Calibri"/>
                <a:sym typeface="Calibri"/>
              </a:rPr>
              <a:t>Credit Card &amp; User Data Analysis – Milestone 2</a:t>
            </a:r>
            <a:endParaRPr sz="900">
              <a:solidFill>
                <a:schemeClr val="dk1"/>
              </a:solidFill>
              <a:latin typeface="Calibri"/>
              <a:ea typeface="Calibri"/>
              <a:cs typeface="Calibri"/>
              <a:sym typeface="Calibri"/>
            </a:endParaRPr>
          </a:p>
        </p:txBody>
      </p:sp>
      <p:sp>
        <p:nvSpPr>
          <p:cNvPr id="264" name="Google Shape;264;p18"/>
          <p:cNvSpPr txBox="1"/>
          <p:nvPr/>
        </p:nvSpPr>
        <p:spPr>
          <a:xfrm>
            <a:off x="11247120" y="649224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7185"/>
              </a:buClr>
              <a:buSzPts val="900"/>
              <a:buFont typeface="Calibri"/>
              <a:buNone/>
            </a:pPr>
            <a:r>
              <a:rPr lang="en-US" sz="900">
                <a:solidFill>
                  <a:srgbClr val="5A7185"/>
                </a:solidFill>
                <a:latin typeface="Calibri"/>
                <a:ea typeface="Calibri"/>
                <a:cs typeface="Calibri"/>
                <a:sym typeface="Calibri"/>
              </a:rPr>
              <a:t>18</a:t>
            </a:r>
            <a:endParaRPr sz="9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B"/>
        </a:solidFill>
      </p:bgPr>
    </p:bg>
    <p:spTree>
      <p:nvGrpSpPr>
        <p:cNvPr id="269" name="Shape 269"/>
        <p:cNvGrpSpPr/>
        <p:nvPr/>
      </p:nvGrpSpPr>
      <p:grpSpPr>
        <a:xfrm>
          <a:off x="0" y="0"/>
          <a:ext cx="0" cy="0"/>
          <a:chOff x="0" y="0"/>
          <a:chExt cx="0" cy="0"/>
        </a:xfrm>
      </p:grpSpPr>
      <p:sp>
        <p:nvSpPr>
          <p:cNvPr id="270" name="Google Shape;270;p19"/>
          <p:cNvSpPr/>
          <p:nvPr/>
        </p:nvSpPr>
        <p:spPr>
          <a:xfrm>
            <a:off x="548640" y="457200"/>
            <a:ext cx="502920" cy="502920"/>
          </a:xfrm>
          <a:prstGeom prst="ellipse">
            <a:avLst/>
          </a:prstGeom>
          <a:solidFill>
            <a:srgbClr val="3069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9"/>
          <p:cNvSpPr txBox="1"/>
          <p:nvPr/>
        </p:nvSpPr>
        <p:spPr>
          <a:xfrm>
            <a:off x="548640" y="45720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mbria"/>
              <a:buNone/>
            </a:pPr>
            <a:r>
              <a:rPr b="1" lang="en-US" sz="2000">
                <a:solidFill>
                  <a:srgbClr val="FFFFFF"/>
                </a:solidFill>
                <a:latin typeface="Cambria"/>
                <a:ea typeface="Cambria"/>
                <a:cs typeface="Cambria"/>
                <a:sym typeface="Cambria"/>
              </a:rPr>
              <a:t>c</a:t>
            </a:r>
            <a:endParaRPr sz="2000">
              <a:solidFill>
                <a:schemeClr val="dk1"/>
              </a:solidFill>
              <a:latin typeface="Calibri"/>
              <a:ea typeface="Calibri"/>
              <a:cs typeface="Calibri"/>
              <a:sym typeface="Calibri"/>
            </a:endParaRPr>
          </a:p>
        </p:txBody>
      </p:sp>
      <p:sp>
        <p:nvSpPr>
          <p:cNvPr id="272" name="Google Shape;272;p19"/>
          <p:cNvSpPr txBox="1"/>
          <p:nvPr/>
        </p:nvSpPr>
        <p:spPr>
          <a:xfrm>
            <a:off x="1188720" y="384048"/>
            <a:ext cx="104241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B84"/>
              </a:buClr>
              <a:buSzPts val="2000"/>
              <a:buFont typeface="Cambria"/>
              <a:buNone/>
            </a:pPr>
            <a:r>
              <a:rPr b="1" lang="en-US" sz="2000">
                <a:solidFill>
                  <a:srgbClr val="2B5B84"/>
                </a:solidFill>
                <a:latin typeface="Cambria"/>
                <a:ea typeface="Cambria"/>
                <a:cs typeface="Cambria"/>
                <a:sym typeface="Cambria"/>
              </a:rPr>
              <a:t>Transaction Behaviour per Card Brand (Visualisation &amp; Insight)</a:t>
            </a:r>
            <a:endParaRPr sz="2000">
              <a:solidFill>
                <a:schemeClr val="dk1"/>
              </a:solidFill>
              <a:latin typeface="Calibri"/>
              <a:ea typeface="Calibri"/>
              <a:cs typeface="Calibri"/>
              <a:sym typeface="Calibri"/>
            </a:endParaRPr>
          </a:p>
        </p:txBody>
      </p:sp>
      <p:sp>
        <p:nvSpPr>
          <p:cNvPr id="273" name="Google Shape;273;p19"/>
          <p:cNvSpPr/>
          <p:nvPr/>
        </p:nvSpPr>
        <p:spPr>
          <a:xfrm>
            <a:off x="548640" y="1280160"/>
            <a:ext cx="11064240" cy="3429000"/>
          </a:xfrm>
          <a:prstGeom prst="roundRect">
            <a:avLst>
              <a:gd fmla="val 2667" name="adj"/>
            </a:avLst>
          </a:prstGeom>
          <a:solidFill>
            <a:srgbClr val="FFFFFF"/>
          </a:solidFill>
          <a:ln cap="flat" cmpd="sng" w="12700">
            <a:solidFill>
              <a:srgbClr val="C9DC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mg/cell41_1.png" id="274" name="Google Shape;274;p19"/>
          <p:cNvPicPr preferRelativeResize="0"/>
          <p:nvPr/>
        </p:nvPicPr>
        <p:blipFill rotWithShape="1">
          <a:blip r:embed="rId3">
            <a:alphaModFix/>
          </a:blip>
          <a:srcRect b="0" l="0" r="0" t="0"/>
          <a:stretch/>
        </p:blipFill>
        <p:spPr>
          <a:xfrm>
            <a:off x="1828800" y="1490472"/>
            <a:ext cx="8503920" cy="2971800"/>
          </a:xfrm>
          <a:prstGeom prst="rect">
            <a:avLst/>
          </a:prstGeom>
          <a:noFill/>
          <a:ln>
            <a:noFill/>
          </a:ln>
        </p:spPr>
      </p:pic>
      <p:sp>
        <p:nvSpPr>
          <p:cNvPr id="275" name="Google Shape;275;p19"/>
          <p:cNvSpPr/>
          <p:nvPr/>
        </p:nvSpPr>
        <p:spPr>
          <a:xfrm>
            <a:off x="548640" y="4937760"/>
            <a:ext cx="11064240" cy="1417320"/>
          </a:xfrm>
          <a:prstGeom prst="roundRect">
            <a:avLst>
              <a:gd fmla="val 6452" name="adj"/>
            </a:avLst>
          </a:prstGeom>
          <a:solidFill>
            <a:srgbClr val="FFD43B"/>
          </a:solidFill>
          <a:ln cap="flat" cmpd="sng" w="12700">
            <a:solidFill>
              <a:srgbClr val="FFD4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9"/>
          <p:cNvSpPr txBox="1"/>
          <p:nvPr/>
        </p:nvSpPr>
        <p:spPr>
          <a:xfrm>
            <a:off x="731520" y="5056632"/>
            <a:ext cx="10744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8"/>
              </a:buClr>
              <a:buSzPts val="1500"/>
              <a:buFont typeface="Cambria"/>
              <a:buNone/>
            </a:pPr>
            <a:r>
              <a:rPr b="1" lang="en-US" sz="1500">
                <a:solidFill>
                  <a:srgbClr val="1B2A38"/>
                </a:solidFill>
                <a:latin typeface="Cambria"/>
                <a:ea typeface="Cambria"/>
                <a:cs typeface="Cambria"/>
                <a:sym typeface="Cambria"/>
              </a:rPr>
              <a:t>Insight &amp; Recommendation</a:t>
            </a:r>
            <a:endParaRPr sz="1500">
              <a:solidFill>
                <a:schemeClr val="dk1"/>
              </a:solidFill>
              <a:latin typeface="Calibri"/>
              <a:ea typeface="Calibri"/>
              <a:cs typeface="Calibri"/>
              <a:sym typeface="Calibri"/>
            </a:endParaRPr>
          </a:p>
        </p:txBody>
      </p:sp>
      <p:sp>
        <p:nvSpPr>
          <p:cNvPr id="277" name="Google Shape;277;p19"/>
          <p:cNvSpPr txBox="1"/>
          <p:nvPr/>
        </p:nvSpPr>
        <p:spPr>
          <a:xfrm>
            <a:off x="731520" y="5394960"/>
            <a:ext cx="10744200" cy="850392"/>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B2A38"/>
              </a:buClr>
              <a:buSzPts val="1200"/>
              <a:buFont typeface="Calibri"/>
              <a:buNone/>
            </a:pPr>
            <a:r>
              <a:rPr lang="en-US" sz="1200">
                <a:solidFill>
                  <a:srgbClr val="1B2A38"/>
                </a:solidFill>
                <a:latin typeface="Calibri"/>
                <a:ea typeface="Calibri"/>
                <a:cs typeface="Calibri"/>
                <a:sym typeface="Calibri"/>
              </a:rPr>
              <a:t>The two leaders are different brands. Amex has the highest value per card (Rp 98,9 juta on average) but the second lowest frequency, while Mastercard is the most active (121,9 transactions) at a lower ticket size. JCB trails on both and is the weakest brand. Recommendation: premium offers and higher limits for Amex, frequency-driven promos such as per-transaction cashback for Mastercard and Visa, and an activation campaign for JCB.</a:t>
            </a:r>
            <a:endParaRPr sz="1200">
              <a:solidFill>
                <a:schemeClr val="dk1"/>
              </a:solidFill>
              <a:latin typeface="Calibri"/>
              <a:ea typeface="Calibri"/>
              <a:cs typeface="Calibri"/>
              <a:sym typeface="Calibri"/>
            </a:endParaRPr>
          </a:p>
        </p:txBody>
      </p:sp>
      <p:sp>
        <p:nvSpPr>
          <p:cNvPr id="278" name="Google Shape;278;p19"/>
          <p:cNvSpPr txBox="1"/>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7185"/>
              </a:buClr>
              <a:buSzPts val="900"/>
              <a:buFont typeface="Calibri"/>
              <a:buNone/>
            </a:pPr>
            <a:r>
              <a:rPr lang="en-US" sz="900">
                <a:solidFill>
                  <a:srgbClr val="5A7185"/>
                </a:solidFill>
                <a:latin typeface="Calibri"/>
                <a:ea typeface="Calibri"/>
                <a:cs typeface="Calibri"/>
                <a:sym typeface="Calibri"/>
              </a:rPr>
              <a:t>Credit Card &amp; User Data Analysis – Milestone 2</a:t>
            </a:r>
            <a:endParaRPr sz="900">
              <a:solidFill>
                <a:schemeClr val="dk1"/>
              </a:solidFill>
              <a:latin typeface="Calibri"/>
              <a:ea typeface="Calibri"/>
              <a:cs typeface="Calibri"/>
              <a:sym typeface="Calibri"/>
            </a:endParaRPr>
          </a:p>
        </p:txBody>
      </p:sp>
      <p:sp>
        <p:nvSpPr>
          <p:cNvPr id="279" name="Google Shape;279;p19"/>
          <p:cNvSpPr txBox="1"/>
          <p:nvPr/>
        </p:nvSpPr>
        <p:spPr>
          <a:xfrm>
            <a:off x="11247120" y="649224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7185"/>
              </a:buClr>
              <a:buSzPts val="900"/>
              <a:buFont typeface="Calibri"/>
              <a:buNone/>
            </a:pPr>
            <a:r>
              <a:rPr lang="en-US" sz="900">
                <a:solidFill>
                  <a:srgbClr val="5A7185"/>
                </a:solidFill>
                <a:latin typeface="Calibri"/>
                <a:ea typeface="Calibri"/>
                <a:cs typeface="Calibri"/>
                <a:sym typeface="Calibri"/>
              </a:rPr>
              <a:t>19</a:t>
            </a:r>
            <a:endParaRPr sz="9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B"/>
        </a:solidFill>
      </p:bgPr>
    </p:bg>
    <p:spTree>
      <p:nvGrpSpPr>
        <p:cNvPr id="284" name="Shape 284"/>
        <p:cNvGrpSpPr/>
        <p:nvPr/>
      </p:nvGrpSpPr>
      <p:grpSpPr>
        <a:xfrm>
          <a:off x="0" y="0"/>
          <a:ext cx="0" cy="0"/>
          <a:chOff x="0" y="0"/>
          <a:chExt cx="0" cy="0"/>
        </a:xfrm>
      </p:grpSpPr>
      <p:sp>
        <p:nvSpPr>
          <p:cNvPr id="285" name="Google Shape;285;p20"/>
          <p:cNvSpPr/>
          <p:nvPr/>
        </p:nvSpPr>
        <p:spPr>
          <a:xfrm>
            <a:off x="548640" y="457200"/>
            <a:ext cx="502920" cy="502920"/>
          </a:xfrm>
          <a:prstGeom prst="ellipse">
            <a:avLst/>
          </a:prstGeom>
          <a:solidFill>
            <a:srgbClr val="3069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20"/>
          <p:cNvSpPr txBox="1"/>
          <p:nvPr/>
        </p:nvSpPr>
        <p:spPr>
          <a:xfrm>
            <a:off x="548640" y="45720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mbria"/>
              <a:buNone/>
            </a:pPr>
            <a:r>
              <a:rPr b="1" lang="en-US" sz="2000">
                <a:solidFill>
                  <a:srgbClr val="FFFFFF"/>
                </a:solidFill>
                <a:latin typeface="Cambria"/>
                <a:ea typeface="Cambria"/>
                <a:cs typeface="Cambria"/>
                <a:sym typeface="Cambria"/>
              </a:rPr>
              <a:t>d</a:t>
            </a:r>
            <a:endParaRPr sz="2000">
              <a:solidFill>
                <a:schemeClr val="dk1"/>
              </a:solidFill>
              <a:latin typeface="Calibri"/>
              <a:ea typeface="Calibri"/>
              <a:cs typeface="Calibri"/>
              <a:sym typeface="Calibri"/>
            </a:endParaRPr>
          </a:p>
        </p:txBody>
      </p:sp>
      <p:sp>
        <p:nvSpPr>
          <p:cNvPr id="287" name="Google Shape;287;p20"/>
          <p:cNvSpPr txBox="1"/>
          <p:nvPr/>
        </p:nvSpPr>
        <p:spPr>
          <a:xfrm>
            <a:off x="1188720" y="384048"/>
            <a:ext cx="104241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B84"/>
              </a:buClr>
              <a:buSzPts val="2000"/>
              <a:buFont typeface="Cambria"/>
              <a:buNone/>
            </a:pPr>
            <a:r>
              <a:rPr b="1" lang="en-US" sz="2000">
                <a:solidFill>
                  <a:srgbClr val="2B5B84"/>
                </a:solidFill>
                <a:latin typeface="Cambria"/>
                <a:ea typeface="Cambria"/>
                <a:cs typeface="Cambria"/>
                <a:sym typeface="Cambria"/>
              </a:rPr>
              <a:t>DTI: Retired vs Non-Retired (Syntax &amp; Output)</a:t>
            </a:r>
            <a:endParaRPr sz="2000">
              <a:solidFill>
                <a:schemeClr val="dk1"/>
              </a:solidFill>
              <a:latin typeface="Calibri"/>
              <a:ea typeface="Calibri"/>
              <a:cs typeface="Calibri"/>
              <a:sym typeface="Calibri"/>
            </a:endParaRPr>
          </a:p>
        </p:txBody>
      </p:sp>
      <p:sp>
        <p:nvSpPr>
          <p:cNvPr id="288" name="Google Shape;288;p20"/>
          <p:cNvSpPr txBox="1"/>
          <p:nvPr/>
        </p:nvSpPr>
        <p:spPr>
          <a:xfrm>
            <a:off x="548640" y="1325880"/>
            <a:ext cx="5486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7185"/>
              </a:buClr>
              <a:buSzPts val="1300"/>
              <a:buFont typeface="Calibri"/>
              <a:buNone/>
            </a:pPr>
            <a:r>
              <a:rPr b="1" lang="en-US" sz="1300">
                <a:solidFill>
                  <a:srgbClr val="5A7185"/>
                </a:solidFill>
                <a:latin typeface="Calibri"/>
                <a:ea typeface="Calibri"/>
                <a:cs typeface="Calibri"/>
                <a:sym typeface="Calibri"/>
              </a:rPr>
              <a:t>Syntax</a:t>
            </a:r>
            <a:endParaRPr sz="1300">
              <a:solidFill>
                <a:schemeClr val="dk1"/>
              </a:solidFill>
              <a:latin typeface="Calibri"/>
              <a:ea typeface="Calibri"/>
              <a:cs typeface="Calibri"/>
              <a:sym typeface="Calibri"/>
            </a:endParaRPr>
          </a:p>
        </p:txBody>
      </p:sp>
      <p:sp>
        <p:nvSpPr>
          <p:cNvPr id="289" name="Google Shape;289;p20"/>
          <p:cNvSpPr/>
          <p:nvPr/>
        </p:nvSpPr>
        <p:spPr>
          <a:xfrm>
            <a:off x="548640" y="1691640"/>
            <a:ext cx="6035040" cy="4663440"/>
          </a:xfrm>
          <a:prstGeom prst="roundRect">
            <a:avLst>
              <a:gd fmla="val 1569" name="adj"/>
            </a:avLst>
          </a:prstGeom>
          <a:solidFill>
            <a:srgbClr val="1B2A38"/>
          </a:solidFill>
          <a:ln cap="flat" cmpd="sng" w="12700">
            <a:solidFill>
              <a:srgbClr val="1B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20"/>
          <p:cNvSpPr txBox="1"/>
          <p:nvPr/>
        </p:nvSpPr>
        <p:spPr>
          <a:xfrm>
            <a:off x="731520" y="1828800"/>
            <a:ext cx="5715000" cy="4389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000">
                <a:solidFill>
                  <a:schemeClr val="lt1"/>
                </a:solidFill>
                <a:latin typeface="Courier New"/>
                <a:ea typeface="Courier New"/>
                <a:cs typeface="Courier New"/>
                <a:sym typeface="Courier New"/>
              </a:rPr>
              <a:t># d. DTI comparison: retired (1) vs non-retired (0)</a:t>
            </a:r>
            <a:endParaRPr/>
          </a:p>
          <a:p>
            <a:pPr indent="0" lvl="0" marL="0" marR="0" rtl="0" algn="l">
              <a:spcBef>
                <a:spcPts val="0"/>
              </a:spcBef>
              <a:spcAft>
                <a:spcPts val="0"/>
              </a:spcAft>
              <a:buNone/>
            </a:pPr>
            <a:r>
              <a:rPr lang="en-US" sz="1000">
                <a:solidFill>
                  <a:schemeClr val="lt1"/>
                </a:solidFill>
                <a:latin typeface="Courier New"/>
                <a:ea typeface="Courier New"/>
                <a:cs typeface="Courier New"/>
                <a:sym typeface="Courier New"/>
              </a:rPr>
              <a:t>dti_by_retired = df_user.groupby('retired_flag')['DTI'].describe().round(4)</a:t>
            </a:r>
            <a:endParaRPr/>
          </a:p>
          <a:p>
            <a:pPr indent="0" lvl="0" marL="0" marR="0" rtl="0" algn="l">
              <a:spcBef>
                <a:spcPts val="0"/>
              </a:spcBef>
              <a:spcAft>
                <a:spcPts val="0"/>
              </a:spcAft>
              <a:buNone/>
            </a:pPr>
            <a:r>
              <a:rPr lang="en-US" sz="1000">
                <a:solidFill>
                  <a:schemeClr val="lt1"/>
                </a:solidFill>
                <a:latin typeface="Courier New"/>
                <a:ea typeface="Courier New"/>
                <a:cs typeface="Courier New"/>
                <a:sym typeface="Courier New"/>
              </a:rPr>
              <a:t>print(dti_by_retired)</a:t>
            </a:r>
            <a:endParaRPr/>
          </a:p>
          <a:p>
            <a:pPr indent="0" lvl="0" marL="0" marR="0" rtl="0" algn="l">
              <a:spcBef>
                <a:spcPts val="0"/>
              </a:spcBef>
              <a:spcAft>
                <a:spcPts val="0"/>
              </a:spcAft>
              <a:buNone/>
            </a:pPr>
            <a:br>
              <a:rPr lang="en-US" sz="1000">
                <a:solidFill>
                  <a:schemeClr val="lt1"/>
                </a:solidFill>
                <a:latin typeface="Courier New"/>
                <a:ea typeface="Courier New"/>
                <a:cs typeface="Courier New"/>
                <a:sym typeface="Courier New"/>
              </a:rPr>
            </a:br>
            <a:endParaRPr sz="1000">
              <a:solidFill>
                <a:schemeClr val="lt1"/>
              </a:solidFill>
              <a:latin typeface="Courier New"/>
              <a:ea typeface="Courier New"/>
              <a:cs typeface="Courier New"/>
              <a:sym typeface="Courier New"/>
            </a:endParaRPr>
          </a:p>
          <a:p>
            <a:pPr indent="0" lvl="0" marL="0" marR="0" rtl="0" algn="l">
              <a:spcBef>
                <a:spcPts val="0"/>
              </a:spcBef>
              <a:spcAft>
                <a:spcPts val="0"/>
              </a:spcAft>
              <a:buNone/>
            </a:pPr>
            <a:r>
              <a:rPr lang="en-US" sz="1000">
                <a:solidFill>
                  <a:schemeClr val="lt1"/>
                </a:solidFill>
                <a:latin typeface="Courier New"/>
                <a:ea typeface="Courier New"/>
                <a:cs typeface="Courier New"/>
                <a:sym typeface="Courier New"/>
              </a:rPr>
              <a:t># Visualize with a boxplot</a:t>
            </a:r>
            <a:endParaRPr/>
          </a:p>
          <a:p>
            <a:pPr indent="0" lvl="0" marL="0" marR="0" rtl="0" algn="l">
              <a:spcBef>
                <a:spcPts val="0"/>
              </a:spcBef>
              <a:spcAft>
                <a:spcPts val="0"/>
              </a:spcAft>
              <a:buNone/>
            </a:pPr>
            <a:r>
              <a:rPr lang="en-US" sz="1000">
                <a:solidFill>
                  <a:schemeClr val="lt1"/>
                </a:solidFill>
                <a:latin typeface="Courier New"/>
                <a:ea typeface="Courier New"/>
                <a:cs typeface="Courier New"/>
                <a:sym typeface="Courier New"/>
              </a:rPr>
              <a:t>plt.figure(figsize=(8, 5))</a:t>
            </a:r>
            <a:endParaRPr/>
          </a:p>
          <a:p>
            <a:pPr indent="0" lvl="0" marL="0" marR="0" rtl="0" algn="l">
              <a:spcBef>
                <a:spcPts val="0"/>
              </a:spcBef>
              <a:spcAft>
                <a:spcPts val="0"/>
              </a:spcAft>
              <a:buNone/>
            </a:pPr>
            <a:r>
              <a:rPr lang="en-US" sz="1000">
                <a:solidFill>
                  <a:schemeClr val="lt1"/>
                </a:solidFill>
                <a:latin typeface="Courier New"/>
                <a:ea typeface="Courier New"/>
                <a:cs typeface="Courier New"/>
                <a:sym typeface="Courier New"/>
              </a:rPr>
              <a:t>sns.boxplot(data=df_user, x='retired_flag', y='DTI', hue='retired_flag', palette='Set2', legend=False)</a:t>
            </a:r>
            <a:endParaRPr/>
          </a:p>
          <a:p>
            <a:pPr indent="0" lvl="0" marL="0" marR="0" rtl="0" algn="l">
              <a:spcBef>
                <a:spcPts val="0"/>
              </a:spcBef>
              <a:spcAft>
                <a:spcPts val="0"/>
              </a:spcAft>
              <a:buNone/>
            </a:pPr>
            <a:r>
              <a:rPr lang="en-US" sz="1000">
                <a:solidFill>
                  <a:schemeClr val="lt1"/>
                </a:solidFill>
                <a:latin typeface="Courier New"/>
                <a:ea typeface="Courier New"/>
                <a:cs typeface="Courier New"/>
                <a:sym typeface="Courier New"/>
              </a:rPr>
              <a:t>plt.title('DTI Distribution: Retired vs Non-Retired Users')</a:t>
            </a:r>
            <a:endParaRPr/>
          </a:p>
          <a:p>
            <a:pPr indent="0" lvl="0" marL="0" marR="0" rtl="0" algn="l">
              <a:spcBef>
                <a:spcPts val="0"/>
              </a:spcBef>
              <a:spcAft>
                <a:spcPts val="0"/>
              </a:spcAft>
              <a:buNone/>
            </a:pPr>
            <a:r>
              <a:rPr lang="en-US" sz="1000">
                <a:solidFill>
                  <a:schemeClr val="lt1"/>
                </a:solidFill>
                <a:latin typeface="Courier New"/>
                <a:ea typeface="Courier New"/>
                <a:cs typeface="Courier New"/>
                <a:sym typeface="Courier New"/>
              </a:rPr>
              <a:t>plt.xlabel('Retired Flag (0 = Non-Retired, 1 = Retired)')</a:t>
            </a:r>
            <a:endParaRPr/>
          </a:p>
          <a:p>
            <a:pPr indent="0" lvl="0" marL="0" marR="0" rtl="0" algn="l">
              <a:spcBef>
                <a:spcPts val="0"/>
              </a:spcBef>
              <a:spcAft>
                <a:spcPts val="0"/>
              </a:spcAft>
              <a:buNone/>
            </a:pPr>
            <a:r>
              <a:rPr lang="en-US" sz="1000">
                <a:solidFill>
                  <a:schemeClr val="lt1"/>
                </a:solidFill>
                <a:latin typeface="Courier New"/>
                <a:ea typeface="Courier New"/>
                <a:cs typeface="Courier New"/>
                <a:sym typeface="Courier New"/>
              </a:rPr>
              <a:t>plt.ylabel('Debt-to-Income Ratio (DTI)')</a:t>
            </a:r>
            <a:endParaRPr/>
          </a:p>
          <a:p>
            <a:pPr indent="0" lvl="0" marL="0" marR="0" rtl="0" algn="l">
              <a:spcBef>
                <a:spcPts val="0"/>
              </a:spcBef>
              <a:spcAft>
                <a:spcPts val="0"/>
              </a:spcAft>
              <a:buNone/>
            </a:pPr>
            <a:r>
              <a:rPr lang="en-US" sz="1000">
                <a:solidFill>
                  <a:schemeClr val="lt1"/>
                </a:solidFill>
                <a:latin typeface="Courier New"/>
                <a:ea typeface="Courier New"/>
                <a:cs typeface="Courier New"/>
                <a:sym typeface="Courier New"/>
              </a:rPr>
              <a:t>plt.show()</a:t>
            </a:r>
            <a:endParaRPr/>
          </a:p>
          <a:p>
            <a:pPr indent="0" lvl="0" marL="0" marR="0" rtl="0" algn="l">
              <a:spcBef>
                <a:spcPts val="0"/>
              </a:spcBef>
              <a:spcAft>
                <a:spcPts val="0"/>
              </a:spcAft>
              <a:buNone/>
            </a:pPr>
            <a:br>
              <a:rPr lang="en-US" sz="1000">
                <a:solidFill>
                  <a:schemeClr val="lt1"/>
                </a:solidFill>
                <a:latin typeface="Courier New"/>
                <a:ea typeface="Courier New"/>
                <a:cs typeface="Courier New"/>
                <a:sym typeface="Courier New"/>
              </a:rPr>
            </a:br>
            <a:endParaRPr sz="1000">
              <a:solidFill>
                <a:schemeClr val="lt1"/>
              </a:solidFill>
              <a:latin typeface="Courier New"/>
              <a:ea typeface="Courier New"/>
              <a:cs typeface="Courier New"/>
              <a:sym typeface="Courier New"/>
            </a:endParaRPr>
          </a:p>
          <a:p>
            <a:pPr indent="0" lvl="0" marL="0" marR="0" rtl="0" algn="l">
              <a:spcBef>
                <a:spcPts val="0"/>
              </a:spcBef>
              <a:spcAft>
                <a:spcPts val="0"/>
              </a:spcAft>
              <a:buNone/>
            </a:pPr>
            <a:r>
              <a:rPr lang="en-US" sz="1000">
                <a:solidFill>
                  <a:schemeClr val="lt1"/>
                </a:solidFill>
                <a:latin typeface="Courier New"/>
                <a:ea typeface="Courier New"/>
                <a:cs typeface="Courier New"/>
                <a:sym typeface="Courier New"/>
              </a:rPr>
              <a:t># --- Auto-insight (real numbers) ---</a:t>
            </a:r>
            <a:endParaRPr/>
          </a:p>
          <a:p>
            <a:pPr indent="0" lvl="0" marL="0" marR="0" rtl="0" algn="l">
              <a:spcBef>
                <a:spcPts val="0"/>
              </a:spcBef>
              <a:spcAft>
                <a:spcPts val="0"/>
              </a:spcAft>
              <a:buNone/>
            </a:pPr>
            <a:r>
              <a:rPr lang="en-US" sz="1000">
                <a:solidFill>
                  <a:schemeClr val="lt1"/>
                </a:solidFill>
                <a:latin typeface="Courier New"/>
                <a:ea typeface="Courier New"/>
                <a:cs typeface="Courier New"/>
                <a:sym typeface="Courier New"/>
              </a:rPr>
              <a:t>med = df_user.groupby('retired_flag')['DTI'].median().to_dict()</a:t>
            </a:r>
            <a:endParaRPr/>
          </a:p>
          <a:p>
            <a:pPr indent="0" lvl="0" marL="0" marR="0" rtl="0" algn="l">
              <a:spcBef>
                <a:spcPts val="0"/>
              </a:spcBef>
              <a:spcAft>
                <a:spcPts val="0"/>
              </a:spcAft>
              <a:buNone/>
            </a:pPr>
            <a:r>
              <a:rPr lang="en-US" sz="1000">
                <a:solidFill>
                  <a:schemeClr val="lt1"/>
                </a:solidFill>
                <a:latin typeface="Courier New"/>
                <a:ea typeface="Courier New"/>
                <a:cs typeface="Courier New"/>
                <a:sym typeface="Courier New"/>
              </a:rPr>
              <a:t>med_non, med_ret = med.get(0, float('nan')), med.get(1, float('nan'))</a:t>
            </a:r>
            <a:endParaRPr/>
          </a:p>
          <a:p>
            <a:pPr indent="0" lvl="0" marL="0" marR="0" rtl="0" algn="l">
              <a:spcBef>
                <a:spcPts val="0"/>
              </a:spcBef>
              <a:spcAft>
                <a:spcPts val="0"/>
              </a:spcAft>
              <a:buNone/>
            </a:pPr>
            <a:r>
              <a:rPr lang="en-US" sz="1000">
                <a:solidFill>
                  <a:schemeClr val="lt1"/>
                </a:solidFill>
                <a:latin typeface="Courier New"/>
                <a:ea typeface="Courier New"/>
                <a:cs typeface="Courier New"/>
                <a:sym typeface="Courier New"/>
              </a:rPr>
              <a:t>if med_ret &gt; med_non:</a:t>
            </a:r>
            <a:endParaRPr/>
          </a:p>
          <a:p>
            <a:pPr indent="0" lvl="0" marL="0" marR="0" rtl="0" algn="l">
              <a:spcBef>
                <a:spcPts val="0"/>
              </a:spcBef>
              <a:spcAft>
                <a:spcPts val="0"/>
              </a:spcAft>
              <a:buNone/>
            </a:pPr>
            <a:r>
              <a:rPr lang="en-US" sz="1000">
                <a:solidFill>
                  <a:schemeClr val="lt1"/>
                </a:solidFill>
                <a:latin typeface="Courier New"/>
                <a:ea typeface="Courier New"/>
                <a:cs typeface="Courier New"/>
                <a:sym typeface="Courier New"/>
              </a:rPr>
              <a:t>    concl = "retired users carry a HIGHER median DTI, so they are marginally riskier on this metric"</a:t>
            </a:r>
            <a:endParaRPr/>
          </a:p>
          <a:p>
            <a:pPr indent="0" lvl="0" marL="0" marR="0" rtl="0" algn="l">
              <a:spcBef>
                <a:spcPts val="0"/>
              </a:spcBef>
              <a:spcAft>
                <a:spcPts val="0"/>
              </a:spcAft>
              <a:buNone/>
            </a:pPr>
            <a:r>
              <a:rPr lang="en-US" sz="1000">
                <a:solidFill>
                  <a:schemeClr val="lt1"/>
                </a:solidFill>
                <a:latin typeface="Courier New"/>
                <a:ea typeface="Courier New"/>
                <a:cs typeface="Courier New"/>
                <a:sym typeface="Courier New"/>
              </a:rPr>
              <a:t>else:</a:t>
            </a:r>
            <a:endParaRPr/>
          </a:p>
          <a:p>
            <a:pPr indent="0" lvl="0" marL="0" marR="0" rtl="0" algn="l">
              <a:spcBef>
                <a:spcPts val="0"/>
              </a:spcBef>
              <a:spcAft>
                <a:spcPts val="0"/>
              </a:spcAft>
              <a:buNone/>
            </a:pPr>
            <a:r>
              <a:rPr lang="en-US" sz="1000">
                <a:solidFill>
                  <a:schemeClr val="lt1"/>
                </a:solidFill>
                <a:latin typeface="Courier New"/>
                <a:ea typeface="Courier New"/>
                <a:cs typeface="Courier New"/>
                <a:sym typeface="Courier New"/>
              </a:rPr>
              <a:t>    concl = "retired users are NOT riskier; their median DTI is similar to or lower than non-retired users"</a:t>
            </a:r>
            <a:endParaRPr/>
          </a:p>
          <a:p>
            <a:pPr indent="0" lvl="0" marL="0" marR="0" rtl="0" algn="l">
              <a:spcBef>
                <a:spcPts val="0"/>
              </a:spcBef>
              <a:spcAft>
                <a:spcPts val="0"/>
              </a:spcAft>
              <a:buNone/>
            </a:pPr>
            <a:r>
              <a:rPr lang="en-US" sz="1000">
                <a:solidFill>
                  <a:schemeClr val="lt1"/>
                </a:solidFill>
                <a:latin typeface="Courier New"/>
                <a:ea typeface="Courier New"/>
                <a:cs typeface="Courier New"/>
                <a:sym typeface="Courier New"/>
              </a:rPr>
              <a:t>print("\n--- Insight ---")</a:t>
            </a:r>
            <a:endParaRPr/>
          </a:p>
          <a:p>
            <a:pPr indent="0" lvl="0" marL="0" marR="0" rtl="0" algn="l">
              <a:spcBef>
                <a:spcPts val="0"/>
              </a:spcBef>
              <a:spcAft>
                <a:spcPts val="0"/>
              </a:spcAft>
              <a:buNone/>
            </a:pPr>
            <a:r>
              <a:rPr lang="en-US" sz="1000">
                <a:solidFill>
                  <a:schemeClr val="lt1"/>
                </a:solidFill>
                <a:latin typeface="Courier New"/>
                <a:ea typeface="Courier New"/>
                <a:cs typeface="Courier New"/>
                <a:sym typeface="Courier New"/>
              </a:rPr>
              <a:t>print(f"Median DTI -&gt; non-retired: {med_non:.4f} | retired: {med_ret:.4f}")</a:t>
            </a:r>
            <a:endParaRPr/>
          </a:p>
          <a:p>
            <a:pPr indent="0" lvl="0" marL="0" marR="0" rtl="0" algn="l">
              <a:spcBef>
                <a:spcPts val="0"/>
              </a:spcBef>
              <a:spcAft>
                <a:spcPts val="0"/>
              </a:spcAft>
              <a:buNone/>
            </a:pPr>
            <a:r>
              <a:rPr lang="en-US" sz="1000">
                <a:solidFill>
                  <a:schemeClr val="lt1"/>
                </a:solidFill>
                <a:latin typeface="Courier New"/>
                <a:ea typeface="Courier New"/>
                <a:cs typeface="Courier New"/>
                <a:sym typeface="Courier New"/>
              </a:rPr>
              <a:t>print(f"Conclusion: {concl}.")</a:t>
            </a:r>
            <a:endParaRPr/>
          </a:p>
          <a:p>
            <a:pPr indent="0" lvl="0" marL="0" marR="0" rtl="0" algn="l">
              <a:lnSpc>
                <a:spcPct val="108000"/>
              </a:lnSpc>
              <a:spcBef>
                <a:spcPts val="0"/>
              </a:spcBef>
              <a:spcAft>
                <a:spcPts val="0"/>
              </a:spcAft>
              <a:buClr>
                <a:schemeClr val="dk1"/>
              </a:buClr>
              <a:buSzPts val="1100"/>
              <a:buFont typeface="Calibri"/>
              <a:buNone/>
            </a:pPr>
            <a:r>
              <a:t/>
            </a:r>
            <a:endParaRPr sz="1100">
              <a:solidFill>
                <a:schemeClr val="lt1"/>
              </a:solidFill>
              <a:latin typeface="Calibri"/>
              <a:ea typeface="Calibri"/>
              <a:cs typeface="Calibri"/>
              <a:sym typeface="Calibri"/>
            </a:endParaRPr>
          </a:p>
        </p:txBody>
      </p:sp>
      <p:sp>
        <p:nvSpPr>
          <p:cNvPr id="291" name="Google Shape;291;p20"/>
          <p:cNvSpPr txBox="1"/>
          <p:nvPr/>
        </p:nvSpPr>
        <p:spPr>
          <a:xfrm>
            <a:off x="6812280" y="1325880"/>
            <a:ext cx="4800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7185"/>
              </a:buClr>
              <a:buSzPts val="1300"/>
              <a:buFont typeface="Calibri"/>
              <a:buNone/>
            </a:pPr>
            <a:r>
              <a:rPr b="1" lang="en-US" sz="1300">
                <a:solidFill>
                  <a:srgbClr val="5A7185"/>
                </a:solidFill>
                <a:latin typeface="Calibri"/>
                <a:ea typeface="Calibri"/>
                <a:cs typeface="Calibri"/>
                <a:sym typeface="Calibri"/>
              </a:rPr>
              <a:t>Output</a:t>
            </a:r>
            <a:endParaRPr sz="1300">
              <a:solidFill>
                <a:schemeClr val="dk1"/>
              </a:solidFill>
              <a:latin typeface="Calibri"/>
              <a:ea typeface="Calibri"/>
              <a:cs typeface="Calibri"/>
              <a:sym typeface="Calibri"/>
            </a:endParaRPr>
          </a:p>
        </p:txBody>
      </p:sp>
      <p:sp>
        <p:nvSpPr>
          <p:cNvPr id="292" name="Google Shape;292;p20"/>
          <p:cNvSpPr/>
          <p:nvPr/>
        </p:nvSpPr>
        <p:spPr>
          <a:xfrm>
            <a:off x="6812280" y="1691640"/>
            <a:ext cx="4800600" cy="2331720"/>
          </a:xfrm>
          <a:prstGeom prst="roundRect">
            <a:avLst>
              <a:gd fmla="val 3922" name="adj"/>
            </a:avLst>
          </a:prstGeom>
          <a:solidFill>
            <a:srgbClr val="FFFFFF"/>
          </a:solidFill>
          <a:ln cap="flat" cmpd="sng" w="19050">
            <a:solidFill>
              <a:srgbClr val="FFD4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293" name="Google Shape;293;p20"/>
          <p:cNvGraphicFramePr/>
          <p:nvPr/>
        </p:nvGraphicFramePr>
        <p:xfrm>
          <a:off x="6949440" y="1810512"/>
          <a:ext cx="3000000" cy="3000000"/>
        </p:xfrm>
        <a:graphic>
          <a:graphicData uri="http://schemas.openxmlformats.org/drawingml/2006/table">
            <a:tbl>
              <a:tblPr>
                <a:noFill/>
                <a:tableStyleId>{3D7D59D7-DF91-47F0-BCBC-DAAD57FB8C79}</a:tableStyleId>
              </a:tblPr>
              <a:tblGrid>
                <a:gridCol w="1600200"/>
                <a:gridCol w="1463050"/>
                <a:gridCol w="1463050"/>
              </a:tblGrid>
              <a:tr h="365750">
                <a:tc>
                  <a:txBody>
                    <a:bodyPr/>
                    <a:lstStyle/>
                    <a:p>
                      <a:pPr indent="0" lvl="0" marL="0" marR="0" rtl="0" algn="ctr">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Statistic</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306998"/>
                    </a:solidFill>
                  </a:tcPr>
                </a:tc>
                <a:tc>
                  <a:txBody>
                    <a:bodyPr/>
                    <a:lstStyle/>
                    <a:p>
                      <a:pPr indent="0" lvl="0" marL="0" marR="0" rtl="0" algn="ctr">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Non-Retired (0)</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306998"/>
                    </a:solidFill>
                  </a:tcPr>
                </a:tc>
                <a:tc>
                  <a:txBody>
                    <a:bodyPr/>
                    <a:lstStyle/>
                    <a:p>
                      <a:pPr indent="0" lvl="0" marL="0" marR="0" rtl="0" algn="ctr">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Retired (1)</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306998"/>
                    </a:solidFill>
                  </a:tcPr>
                </a:tc>
              </a:tr>
              <a:tr h="365750">
                <a:tc>
                  <a:txBody>
                    <a:bodyPr/>
                    <a:lstStyle/>
                    <a:p>
                      <a:pPr indent="0" lvl="0" marL="0" marR="0" rtl="0" algn="l">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Median DTI</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0,30</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0,14</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Q1 (25%)</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0,22</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0,04</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r>
              <a:tr h="365750">
                <a:tc>
                  <a:txBody>
                    <a:bodyPr/>
                    <a:lstStyle/>
                    <a:p>
                      <a:pPr indent="0" lvl="0" marL="0" marR="0" rtl="0" algn="l">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Q3 (75%)</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0,39</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0,30</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Whisker range</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0,00 to 0,65</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0,00 to 0,70</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r>
            </a:tbl>
          </a:graphicData>
        </a:graphic>
      </p:graphicFrame>
      <p:sp>
        <p:nvSpPr>
          <p:cNvPr id="294" name="Google Shape;294;p20"/>
          <p:cNvSpPr/>
          <p:nvPr/>
        </p:nvSpPr>
        <p:spPr>
          <a:xfrm>
            <a:off x="6812280" y="4160520"/>
            <a:ext cx="4800600" cy="2194560"/>
          </a:xfrm>
          <a:prstGeom prst="roundRect">
            <a:avLst>
              <a:gd fmla="val 4167" name="adj"/>
            </a:avLst>
          </a:prstGeom>
          <a:solidFill>
            <a:srgbClr val="FFD43B"/>
          </a:solidFill>
          <a:ln cap="flat" cmpd="sng" w="12700">
            <a:solidFill>
              <a:srgbClr val="FFD4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20"/>
          <p:cNvSpPr txBox="1"/>
          <p:nvPr/>
        </p:nvSpPr>
        <p:spPr>
          <a:xfrm>
            <a:off x="6995160" y="4279392"/>
            <a:ext cx="44805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8"/>
              </a:buClr>
              <a:buSzPts val="1500"/>
              <a:buFont typeface="Cambria"/>
              <a:buNone/>
            </a:pPr>
            <a:r>
              <a:rPr b="1" lang="en-US" sz="1500">
                <a:solidFill>
                  <a:srgbClr val="1B2A38"/>
                </a:solidFill>
                <a:latin typeface="Cambria"/>
                <a:ea typeface="Cambria"/>
                <a:cs typeface="Cambria"/>
                <a:sym typeface="Cambria"/>
              </a:rPr>
              <a:t>Method</a:t>
            </a:r>
            <a:endParaRPr sz="1500">
              <a:solidFill>
                <a:schemeClr val="dk1"/>
              </a:solidFill>
              <a:latin typeface="Calibri"/>
              <a:ea typeface="Calibri"/>
              <a:cs typeface="Calibri"/>
              <a:sym typeface="Calibri"/>
            </a:endParaRPr>
          </a:p>
        </p:txBody>
      </p:sp>
      <p:sp>
        <p:nvSpPr>
          <p:cNvPr id="296" name="Google Shape;296;p20"/>
          <p:cNvSpPr txBox="1"/>
          <p:nvPr/>
        </p:nvSpPr>
        <p:spPr>
          <a:xfrm>
            <a:off x="6995160" y="4617720"/>
            <a:ext cx="4480560" cy="1627632"/>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B2A38"/>
              </a:buClr>
              <a:buSzPts val="1100"/>
              <a:buFont typeface="Calibri"/>
              <a:buNone/>
            </a:pPr>
            <a:r>
              <a:rPr lang="en-US" sz="1100">
                <a:solidFill>
                  <a:srgbClr val="1B2A38"/>
                </a:solidFill>
                <a:latin typeface="Calibri"/>
                <a:ea typeface="Calibri"/>
                <a:cs typeface="Calibri"/>
                <a:sym typeface="Calibri"/>
              </a:rPr>
              <a:t>retired_flag was built in Milestone 1 with a single cut-off: age 55 and above is flagged as retired. DTI is total_debt divided by yearly_income. The table reports the quartiles from describe() instead of the mean, because DTI is right skewed by outliers reaching 0,95, which drags the mean away from the typical user.</a:t>
            </a:r>
            <a:endParaRPr sz="1100">
              <a:solidFill>
                <a:schemeClr val="dk1"/>
              </a:solidFill>
              <a:latin typeface="Calibri"/>
              <a:ea typeface="Calibri"/>
              <a:cs typeface="Calibri"/>
              <a:sym typeface="Calibri"/>
            </a:endParaRPr>
          </a:p>
        </p:txBody>
      </p:sp>
      <p:sp>
        <p:nvSpPr>
          <p:cNvPr id="297" name="Google Shape;297;p20"/>
          <p:cNvSpPr txBox="1"/>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7185"/>
              </a:buClr>
              <a:buSzPts val="900"/>
              <a:buFont typeface="Calibri"/>
              <a:buNone/>
            </a:pPr>
            <a:r>
              <a:rPr lang="en-US" sz="900">
                <a:solidFill>
                  <a:srgbClr val="5A7185"/>
                </a:solidFill>
                <a:latin typeface="Calibri"/>
                <a:ea typeface="Calibri"/>
                <a:cs typeface="Calibri"/>
                <a:sym typeface="Calibri"/>
              </a:rPr>
              <a:t>Credit Card &amp; User Data Analysis – Milestone 2</a:t>
            </a:r>
            <a:endParaRPr sz="900">
              <a:solidFill>
                <a:schemeClr val="dk1"/>
              </a:solidFill>
              <a:latin typeface="Calibri"/>
              <a:ea typeface="Calibri"/>
              <a:cs typeface="Calibri"/>
              <a:sym typeface="Calibri"/>
            </a:endParaRPr>
          </a:p>
        </p:txBody>
      </p:sp>
      <p:sp>
        <p:nvSpPr>
          <p:cNvPr id="298" name="Google Shape;298;p20"/>
          <p:cNvSpPr txBox="1"/>
          <p:nvPr/>
        </p:nvSpPr>
        <p:spPr>
          <a:xfrm>
            <a:off x="11247120" y="649224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7185"/>
              </a:buClr>
              <a:buSzPts val="900"/>
              <a:buFont typeface="Calibri"/>
              <a:buNone/>
            </a:pPr>
            <a:r>
              <a:rPr lang="en-US" sz="900">
                <a:solidFill>
                  <a:srgbClr val="5A7185"/>
                </a:solidFill>
                <a:latin typeface="Calibri"/>
                <a:ea typeface="Calibri"/>
                <a:cs typeface="Calibri"/>
                <a:sym typeface="Calibri"/>
              </a:rPr>
              <a:t>20</a:t>
            </a:r>
            <a:endParaRPr sz="9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B"/>
        </a:solidFill>
      </p:bgPr>
    </p:bg>
    <p:spTree>
      <p:nvGrpSpPr>
        <p:cNvPr id="303" name="Shape 303"/>
        <p:cNvGrpSpPr/>
        <p:nvPr/>
      </p:nvGrpSpPr>
      <p:grpSpPr>
        <a:xfrm>
          <a:off x="0" y="0"/>
          <a:ext cx="0" cy="0"/>
          <a:chOff x="0" y="0"/>
          <a:chExt cx="0" cy="0"/>
        </a:xfrm>
      </p:grpSpPr>
      <p:sp>
        <p:nvSpPr>
          <p:cNvPr id="304" name="Google Shape;304;p21"/>
          <p:cNvSpPr/>
          <p:nvPr/>
        </p:nvSpPr>
        <p:spPr>
          <a:xfrm>
            <a:off x="548640" y="457200"/>
            <a:ext cx="502920" cy="502920"/>
          </a:xfrm>
          <a:prstGeom prst="ellipse">
            <a:avLst/>
          </a:prstGeom>
          <a:solidFill>
            <a:srgbClr val="3069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21"/>
          <p:cNvSpPr txBox="1"/>
          <p:nvPr/>
        </p:nvSpPr>
        <p:spPr>
          <a:xfrm>
            <a:off x="548640" y="45720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mbria"/>
              <a:buNone/>
            </a:pPr>
            <a:r>
              <a:rPr b="1" lang="en-US" sz="2000">
                <a:solidFill>
                  <a:srgbClr val="FFFFFF"/>
                </a:solidFill>
                <a:latin typeface="Cambria"/>
                <a:ea typeface="Cambria"/>
                <a:cs typeface="Cambria"/>
                <a:sym typeface="Cambria"/>
              </a:rPr>
              <a:t>d</a:t>
            </a:r>
            <a:endParaRPr sz="2000">
              <a:solidFill>
                <a:schemeClr val="dk1"/>
              </a:solidFill>
              <a:latin typeface="Calibri"/>
              <a:ea typeface="Calibri"/>
              <a:cs typeface="Calibri"/>
              <a:sym typeface="Calibri"/>
            </a:endParaRPr>
          </a:p>
        </p:txBody>
      </p:sp>
      <p:sp>
        <p:nvSpPr>
          <p:cNvPr id="306" name="Google Shape;306;p21"/>
          <p:cNvSpPr txBox="1"/>
          <p:nvPr/>
        </p:nvSpPr>
        <p:spPr>
          <a:xfrm>
            <a:off x="1188720" y="384048"/>
            <a:ext cx="104241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B84"/>
              </a:buClr>
              <a:buSzPts val="2000"/>
              <a:buFont typeface="Cambria"/>
              <a:buNone/>
            </a:pPr>
            <a:r>
              <a:rPr b="1" lang="en-US" sz="2000">
                <a:solidFill>
                  <a:srgbClr val="2B5B84"/>
                </a:solidFill>
                <a:latin typeface="Cambria"/>
                <a:ea typeface="Cambria"/>
                <a:cs typeface="Cambria"/>
                <a:sym typeface="Cambria"/>
              </a:rPr>
              <a:t>DTI: Retired vs Non-Retired (Visualisation &amp; Insight)</a:t>
            </a:r>
            <a:endParaRPr sz="2000">
              <a:solidFill>
                <a:schemeClr val="dk1"/>
              </a:solidFill>
              <a:latin typeface="Calibri"/>
              <a:ea typeface="Calibri"/>
              <a:cs typeface="Calibri"/>
              <a:sym typeface="Calibri"/>
            </a:endParaRPr>
          </a:p>
        </p:txBody>
      </p:sp>
      <p:sp>
        <p:nvSpPr>
          <p:cNvPr id="307" name="Google Shape;307;p21"/>
          <p:cNvSpPr txBox="1"/>
          <p:nvPr/>
        </p:nvSpPr>
        <p:spPr>
          <a:xfrm>
            <a:off x="548640" y="1325880"/>
            <a:ext cx="5486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7185"/>
              </a:buClr>
              <a:buSzPts val="1300"/>
              <a:buFont typeface="Calibri"/>
              <a:buNone/>
            </a:pPr>
            <a:r>
              <a:rPr b="1" lang="en-US" sz="1300">
                <a:solidFill>
                  <a:srgbClr val="5A7185"/>
                </a:solidFill>
                <a:latin typeface="Calibri"/>
                <a:ea typeface="Calibri"/>
                <a:cs typeface="Calibri"/>
                <a:sym typeface="Calibri"/>
              </a:rPr>
              <a:t>Visualisation</a:t>
            </a:r>
            <a:endParaRPr sz="1300">
              <a:solidFill>
                <a:schemeClr val="dk1"/>
              </a:solidFill>
              <a:latin typeface="Calibri"/>
              <a:ea typeface="Calibri"/>
              <a:cs typeface="Calibri"/>
              <a:sym typeface="Calibri"/>
            </a:endParaRPr>
          </a:p>
        </p:txBody>
      </p:sp>
      <p:sp>
        <p:nvSpPr>
          <p:cNvPr id="308" name="Google Shape;308;p21"/>
          <p:cNvSpPr/>
          <p:nvPr/>
        </p:nvSpPr>
        <p:spPr>
          <a:xfrm>
            <a:off x="548640" y="1691640"/>
            <a:ext cx="6035040" cy="4663440"/>
          </a:xfrm>
          <a:prstGeom prst="roundRect">
            <a:avLst>
              <a:gd fmla="val 1961" name="adj"/>
            </a:avLst>
          </a:prstGeom>
          <a:solidFill>
            <a:srgbClr val="FFFFFF"/>
          </a:solidFill>
          <a:ln cap="flat" cmpd="sng" w="12700">
            <a:solidFill>
              <a:srgbClr val="5A7185"/>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21"/>
          <p:cNvSpPr/>
          <p:nvPr/>
        </p:nvSpPr>
        <p:spPr>
          <a:xfrm>
            <a:off x="6812280" y="1691640"/>
            <a:ext cx="4800600" cy="2331720"/>
          </a:xfrm>
          <a:prstGeom prst="roundRect">
            <a:avLst>
              <a:gd fmla="val 3922" name="adj"/>
            </a:avLst>
          </a:prstGeom>
          <a:solidFill>
            <a:srgbClr val="FFFFFF"/>
          </a:solidFill>
          <a:ln cap="flat" cmpd="sng" w="12700">
            <a:solidFill>
              <a:srgbClr val="C9DC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21"/>
          <p:cNvSpPr txBox="1"/>
          <p:nvPr/>
        </p:nvSpPr>
        <p:spPr>
          <a:xfrm>
            <a:off x="6995160" y="1810512"/>
            <a:ext cx="44805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B84"/>
              </a:buClr>
              <a:buSzPts val="1500"/>
              <a:buFont typeface="Cambria"/>
              <a:buNone/>
            </a:pPr>
            <a:r>
              <a:rPr b="1" lang="en-US" sz="1500">
                <a:solidFill>
                  <a:srgbClr val="2B5B84"/>
                </a:solidFill>
                <a:latin typeface="Cambria"/>
                <a:ea typeface="Cambria"/>
                <a:cs typeface="Cambria"/>
                <a:sym typeface="Cambria"/>
              </a:rPr>
              <a:t>What the chart shows</a:t>
            </a:r>
            <a:endParaRPr sz="1500">
              <a:solidFill>
                <a:schemeClr val="dk1"/>
              </a:solidFill>
              <a:latin typeface="Calibri"/>
              <a:ea typeface="Calibri"/>
              <a:cs typeface="Calibri"/>
              <a:sym typeface="Calibri"/>
            </a:endParaRPr>
          </a:p>
        </p:txBody>
      </p:sp>
      <p:sp>
        <p:nvSpPr>
          <p:cNvPr id="311" name="Google Shape;311;p21"/>
          <p:cNvSpPr txBox="1"/>
          <p:nvPr/>
        </p:nvSpPr>
        <p:spPr>
          <a:xfrm>
            <a:off x="6995160" y="2148840"/>
            <a:ext cx="4480560" cy="1764792"/>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B2A38"/>
              </a:buClr>
              <a:buSzPts val="1100"/>
              <a:buFont typeface="Calibri"/>
              <a:buNone/>
            </a:pPr>
            <a:r>
              <a:rPr lang="en-US" sz="1100">
                <a:solidFill>
                  <a:srgbClr val="1B2A38"/>
                </a:solidFill>
                <a:latin typeface="Calibri"/>
                <a:ea typeface="Calibri"/>
                <a:cs typeface="Calibri"/>
                <a:sym typeface="Calibri"/>
              </a:rPr>
              <a:t>Median DTI is 0,30 for non-retired users and 0,14 for retired users, so retired users carry roughly half the debt burden.</a:t>
            </a:r>
            <a:endParaRPr sz="1100">
              <a:solidFill>
                <a:schemeClr val="dk1"/>
              </a:solidFill>
              <a:latin typeface="Calibri"/>
              <a:ea typeface="Calibri"/>
              <a:cs typeface="Calibri"/>
              <a:sym typeface="Calibri"/>
            </a:endParaRPr>
          </a:p>
          <a:p>
            <a:pPr indent="0" lvl="0" marL="0" marR="0" rtl="0" algn="l">
              <a:lnSpc>
                <a:spcPct val="105000"/>
              </a:lnSpc>
              <a:spcBef>
                <a:spcPts val="600"/>
              </a:spcBef>
              <a:spcAft>
                <a:spcPts val="0"/>
              </a:spcAft>
              <a:buClr>
                <a:srgbClr val="1B2A38"/>
              </a:buClr>
              <a:buSzPts val="1100"/>
              <a:buFont typeface="Calibri"/>
              <a:buNone/>
            </a:pPr>
            <a:r>
              <a:rPr lang="en-US" sz="1100">
                <a:solidFill>
                  <a:srgbClr val="1B2A38"/>
                </a:solidFill>
                <a:latin typeface="Calibri"/>
                <a:ea typeface="Calibri"/>
                <a:cs typeface="Calibri"/>
                <a:sym typeface="Calibri"/>
              </a:rPr>
              <a:t>The retired box is lower but wider (Q1 0,04 to Q3 0,30), so the group is more spread out, not more indebted.</a:t>
            </a:r>
            <a:endParaRPr sz="1100">
              <a:solidFill>
                <a:schemeClr val="dk1"/>
              </a:solidFill>
              <a:latin typeface="Calibri"/>
              <a:ea typeface="Calibri"/>
              <a:cs typeface="Calibri"/>
              <a:sym typeface="Calibri"/>
            </a:endParaRPr>
          </a:p>
          <a:p>
            <a:pPr indent="0" lvl="0" marL="0" marR="0" rtl="0" algn="l">
              <a:lnSpc>
                <a:spcPct val="105000"/>
              </a:lnSpc>
              <a:spcBef>
                <a:spcPts val="600"/>
              </a:spcBef>
              <a:spcAft>
                <a:spcPts val="0"/>
              </a:spcAft>
              <a:buClr>
                <a:srgbClr val="1B2A38"/>
              </a:buClr>
              <a:buSzPts val="1100"/>
              <a:buFont typeface="Calibri"/>
              <a:buNone/>
            </a:pPr>
            <a:r>
              <a:rPr lang="en-US" sz="1100">
                <a:solidFill>
                  <a:srgbClr val="1B2A38"/>
                </a:solidFill>
                <a:latin typeface="Calibri"/>
                <a:ea typeface="Calibri"/>
                <a:cs typeface="Calibri"/>
                <a:sym typeface="Calibri"/>
              </a:rPr>
              <a:t>Non-retired users show many high outliers, up to DTI 0,95, which is why the median is used instead of the mean.</a:t>
            </a:r>
            <a:endParaRPr sz="1100">
              <a:solidFill>
                <a:schemeClr val="dk1"/>
              </a:solidFill>
              <a:latin typeface="Calibri"/>
              <a:ea typeface="Calibri"/>
              <a:cs typeface="Calibri"/>
              <a:sym typeface="Calibri"/>
            </a:endParaRPr>
          </a:p>
        </p:txBody>
      </p:sp>
      <p:sp>
        <p:nvSpPr>
          <p:cNvPr id="312" name="Google Shape;312;p21"/>
          <p:cNvSpPr/>
          <p:nvPr/>
        </p:nvSpPr>
        <p:spPr>
          <a:xfrm>
            <a:off x="6812280" y="4160520"/>
            <a:ext cx="4800600" cy="2194560"/>
          </a:xfrm>
          <a:prstGeom prst="roundRect">
            <a:avLst>
              <a:gd fmla="val 4167" name="adj"/>
            </a:avLst>
          </a:prstGeom>
          <a:solidFill>
            <a:srgbClr val="FFD43B"/>
          </a:solidFill>
          <a:ln cap="flat" cmpd="sng" w="12700">
            <a:solidFill>
              <a:srgbClr val="FFD4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21"/>
          <p:cNvSpPr txBox="1"/>
          <p:nvPr/>
        </p:nvSpPr>
        <p:spPr>
          <a:xfrm>
            <a:off x="6995160" y="4279392"/>
            <a:ext cx="44805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8"/>
              </a:buClr>
              <a:buSzPts val="1500"/>
              <a:buFont typeface="Cambria"/>
              <a:buNone/>
            </a:pPr>
            <a:r>
              <a:rPr b="1" lang="en-US" sz="1500">
                <a:solidFill>
                  <a:srgbClr val="1B2A38"/>
                </a:solidFill>
                <a:latin typeface="Cambria"/>
                <a:ea typeface="Cambria"/>
                <a:cs typeface="Cambria"/>
                <a:sym typeface="Cambria"/>
              </a:rPr>
              <a:t>Insight</a:t>
            </a:r>
            <a:endParaRPr sz="1500">
              <a:solidFill>
                <a:schemeClr val="dk1"/>
              </a:solidFill>
              <a:latin typeface="Calibri"/>
              <a:ea typeface="Calibri"/>
              <a:cs typeface="Calibri"/>
              <a:sym typeface="Calibri"/>
            </a:endParaRPr>
          </a:p>
        </p:txBody>
      </p:sp>
      <p:sp>
        <p:nvSpPr>
          <p:cNvPr id="314" name="Google Shape;314;p21"/>
          <p:cNvSpPr txBox="1"/>
          <p:nvPr/>
        </p:nvSpPr>
        <p:spPr>
          <a:xfrm>
            <a:off x="6995160" y="4617720"/>
            <a:ext cx="4480560" cy="1627632"/>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B2A38"/>
              </a:buClr>
              <a:buSzPts val="1100"/>
              <a:buFont typeface="Calibri"/>
              <a:buNone/>
            </a:pPr>
            <a:r>
              <a:rPr lang="en-US" sz="1100">
                <a:solidFill>
                  <a:srgbClr val="1B2A38"/>
                </a:solidFill>
                <a:latin typeface="Calibri"/>
                <a:ea typeface="Calibri"/>
                <a:cs typeface="Calibri"/>
                <a:sym typeface="Calibri"/>
              </a:rPr>
              <a:t>Retired users are NOT riskier on this metric. Their median DTI is 0,14 against 0,30 for non-retired users, and their whole box sits below the non-retired median. Lower yearly income pushes DTI up, but far less remaining debt pulls it down harder, and the net effect is a lighter debt burden. Risk is concentrated in the non-retired group instead, where the upper tail runs past DTI 0,90. Recommendation: do not tighten credit on retirement status alone, and screen on DTI and credit score instead.</a:t>
            </a:r>
            <a:endParaRPr sz="1100">
              <a:solidFill>
                <a:schemeClr val="dk1"/>
              </a:solidFill>
              <a:latin typeface="Calibri"/>
              <a:ea typeface="Calibri"/>
              <a:cs typeface="Calibri"/>
              <a:sym typeface="Calibri"/>
            </a:endParaRPr>
          </a:p>
        </p:txBody>
      </p:sp>
      <p:sp>
        <p:nvSpPr>
          <p:cNvPr id="315" name="Google Shape;315;p21"/>
          <p:cNvSpPr txBox="1"/>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7185"/>
              </a:buClr>
              <a:buSzPts val="900"/>
              <a:buFont typeface="Calibri"/>
              <a:buNone/>
            </a:pPr>
            <a:r>
              <a:rPr lang="en-US" sz="900">
                <a:solidFill>
                  <a:srgbClr val="5A7185"/>
                </a:solidFill>
                <a:latin typeface="Calibri"/>
                <a:ea typeface="Calibri"/>
                <a:cs typeface="Calibri"/>
                <a:sym typeface="Calibri"/>
              </a:rPr>
              <a:t>Credit Card &amp; User Data Analysis – Milestone 2</a:t>
            </a:r>
            <a:endParaRPr sz="900">
              <a:solidFill>
                <a:schemeClr val="dk1"/>
              </a:solidFill>
              <a:latin typeface="Calibri"/>
              <a:ea typeface="Calibri"/>
              <a:cs typeface="Calibri"/>
              <a:sym typeface="Calibri"/>
            </a:endParaRPr>
          </a:p>
        </p:txBody>
      </p:sp>
      <p:sp>
        <p:nvSpPr>
          <p:cNvPr id="316" name="Google Shape;316;p21"/>
          <p:cNvSpPr txBox="1"/>
          <p:nvPr/>
        </p:nvSpPr>
        <p:spPr>
          <a:xfrm>
            <a:off x="11247120" y="649224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7185"/>
              </a:buClr>
              <a:buSzPts val="900"/>
              <a:buFont typeface="Calibri"/>
              <a:buNone/>
            </a:pPr>
            <a:r>
              <a:rPr lang="en-US" sz="900">
                <a:solidFill>
                  <a:srgbClr val="5A7185"/>
                </a:solidFill>
                <a:latin typeface="Calibri"/>
                <a:ea typeface="Calibri"/>
                <a:cs typeface="Calibri"/>
                <a:sym typeface="Calibri"/>
              </a:rPr>
              <a:t>21</a:t>
            </a:r>
            <a:endParaRPr sz="900">
              <a:solidFill>
                <a:schemeClr val="dk1"/>
              </a:solidFill>
              <a:latin typeface="Calibri"/>
              <a:ea typeface="Calibri"/>
              <a:cs typeface="Calibri"/>
              <a:sym typeface="Calibri"/>
            </a:endParaRPr>
          </a:p>
        </p:txBody>
      </p:sp>
      <p:pic>
        <p:nvPicPr>
          <p:cNvPr id="317" name="Google Shape;317;p21"/>
          <p:cNvPicPr preferRelativeResize="0"/>
          <p:nvPr/>
        </p:nvPicPr>
        <p:blipFill rotWithShape="1">
          <a:blip r:embed="rId3">
            <a:alphaModFix/>
          </a:blip>
          <a:srcRect b="0" l="0" r="0" t="0"/>
          <a:stretch/>
        </p:blipFill>
        <p:spPr>
          <a:xfrm>
            <a:off x="849498" y="1982356"/>
            <a:ext cx="5433323" cy="3862552"/>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B"/>
        </a:solidFill>
      </p:bgPr>
    </p:bg>
    <p:spTree>
      <p:nvGrpSpPr>
        <p:cNvPr id="322" name="Shape 322"/>
        <p:cNvGrpSpPr/>
        <p:nvPr/>
      </p:nvGrpSpPr>
      <p:grpSpPr>
        <a:xfrm>
          <a:off x="0" y="0"/>
          <a:ext cx="0" cy="0"/>
          <a:chOff x="0" y="0"/>
          <a:chExt cx="0" cy="0"/>
        </a:xfrm>
      </p:grpSpPr>
      <p:sp>
        <p:nvSpPr>
          <p:cNvPr id="323" name="Google Shape;323;p22"/>
          <p:cNvSpPr txBox="1"/>
          <p:nvPr/>
        </p:nvSpPr>
        <p:spPr>
          <a:xfrm>
            <a:off x="548640" y="457200"/>
            <a:ext cx="10972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B84"/>
              </a:buClr>
              <a:buSzPts val="2400"/>
              <a:buFont typeface="Cambria"/>
              <a:buNone/>
            </a:pPr>
            <a:r>
              <a:rPr b="1" lang="en-US" sz="2400">
                <a:solidFill>
                  <a:srgbClr val="2B5B84"/>
                </a:solidFill>
                <a:latin typeface="Cambria"/>
                <a:ea typeface="Cambria"/>
                <a:cs typeface="Cambria"/>
                <a:sym typeface="Cambria"/>
              </a:rPr>
              <a:t>Merge Card &amp; User Data</a:t>
            </a:r>
            <a:endParaRPr sz="2400">
              <a:solidFill>
                <a:schemeClr val="dk1"/>
              </a:solidFill>
              <a:latin typeface="Calibri"/>
              <a:ea typeface="Calibri"/>
              <a:cs typeface="Calibri"/>
              <a:sym typeface="Calibri"/>
            </a:endParaRPr>
          </a:p>
        </p:txBody>
      </p:sp>
      <p:sp>
        <p:nvSpPr>
          <p:cNvPr id="324" name="Google Shape;324;p22"/>
          <p:cNvSpPr txBox="1"/>
          <p:nvPr/>
        </p:nvSpPr>
        <p:spPr>
          <a:xfrm>
            <a:off x="548640" y="1325880"/>
            <a:ext cx="5486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7185"/>
              </a:buClr>
              <a:buSzPts val="1300"/>
              <a:buFont typeface="Calibri"/>
              <a:buNone/>
            </a:pPr>
            <a:r>
              <a:rPr b="1" lang="en-US" sz="1300">
                <a:solidFill>
                  <a:srgbClr val="5A7185"/>
                </a:solidFill>
                <a:latin typeface="Calibri"/>
                <a:ea typeface="Calibri"/>
                <a:cs typeface="Calibri"/>
                <a:sym typeface="Calibri"/>
              </a:rPr>
              <a:t>Syntax</a:t>
            </a:r>
            <a:endParaRPr sz="1300">
              <a:solidFill>
                <a:schemeClr val="dk1"/>
              </a:solidFill>
              <a:latin typeface="Calibri"/>
              <a:ea typeface="Calibri"/>
              <a:cs typeface="Calibri"/>
              <a:sym typeface="Calibri"/>
            </a:endParaRPr>
          </a:p>
        </p:txBody>
      </p:sp>
      <p:sp>
        <p:nvSpPr>
          <p:cNvPr id="325" name="Google Shape;325;p22"/>
          <p:cNvSpPr/>
          <p:nvPr/>
        </p:nvSpPr>
        <p:spPr>
          <a:xfrm>
            <a:off x="548640" y="1691640"/>
            <a:ext cx="6035040" cy="4663440"/>
          </a:xfrm>
          <a:prstGeom prst="roundRect">
            <a:avLst>
              <a:gd fmla="val 1569" name="adj"/>
            </a:avLst>
          </a:prstGeom>
          <a:solidFill>
            <a:srgbClr val="1B2A38"/>
          </a:solidFill>
          <a:ln cap="flat" cmpd="sng" w="12700">
            <a:solidFill>
              <a:srgbClr val="1B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22"/>
          <p:cNvSpPr txBox="1"/>
          <p:nvPr/>
        </p:nvSpPr>
        <p:spPr>
          <a:xfrm>
            <a:off x="731520" y="1828800"/>
            <a:ext cx="5715000" cy="438912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E7F0FA"/>
              </a:buClr>
              <a:buSzPts val="1000"/>
              <a:buFont typeface="Courier New"/>
              <a:buNone/>
            </a:pPr>
            <a:r>
              <a:rPr lang="en-US" sz="1000">
                <a:solidFill>
                  <a:srgbClr val="E7F0FA"/>
                </a:solidFill>
                <a:latin typeface="Courier New"/>
                <a:ea typeface="Courier New"/>
                <a:cs typeface="Courier New"/>
                <a:sym typeface="Courier New"/>
              </a:rPr>
              <a:t># one row per client_id</a:t>
            </a:r>
            <a:endParaRPr sz="10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000"/>
              <a:buFont typeface="Courier New"/>
              <a:buNone/>
            </a:pPr>
            <a:r>
              <a:rPr lang="en-US" sz="1000">
                <a:solidFill>
                  <a:srgbClr val="E7F0FA"/>
                </a:solidFill>
                <a:latin typeface="Courier New"/>
                <a:ea typeface="Courier New"/>
                <a:cs typeface="Courier New"/>
                <a:sym typeface="Courier New"/>
              </a:rPr>
              <a:t>df_card_agg = df_card.groupby('client_id').agg(</a:t>
            </a:r>
            <a:endParaRPr sz="10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000"/>
              <a:buFont typeface="Courier New"/>
              <a:buNone/>
            </a:pPr>
            <a:r>
              <a:rPr lang="en-US" sz="1000">
                <a:solidFill>
                  <a:srgbClr val="E7F0FA"/>
                </a:solidFill>
                <a:latin typeface="Courier New"/>
                <a:ea typeface="Courier New"/>
                <a:cs typeface="Courier New"/>
                <a:sym typeface="Courier New"/>
              </a:rPr>
              <a:t>    credit_limit=('credit_limit','sum'),</a:t>
            </a:r>
            <a:endParaRPr sz="10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000"/>
              <a:buFont typeface="Courier New"/>
              <a:buNone/>
            </a:pPr>
            <a:r>
              <a:rPr lang="en-US" sz="1000">
                <a:solidFill>
                  <a:srgbClr val="E7F0FA"/>
                </a:solidFill>
                <a:latin typeface="Courier New"/>
                <a:ea typeface="Courier New"/>
                <a:cs typeface="Courier New"/>
                <a:sym typeface="Courier New"/>
              </a:rPr>
              <a:t>    days_since_last_trx=(</a:t>
            </a:r>
            <a:endParaRPr sz="10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000"/>
              <a:buFont typeface="Courier New"/>
              <a:buNone/>
            </a:pPr>
            <a:r>
              <a:rPr lang="en-US" sz="1000">
                <a:solidFill>
                  <a:srgbClr val="E7F0FA"/>
                </a:solidFill>
                <a:latin typeface="Courier New"/>
                <a:ea typeface="Courier New"/>
                <a:cs typeface="Courier New"/>
                <a:sym typeface="Courier New"/>
              </a:rPr>
              <a:t>        'days_since_last_trx','min'),   # recency</a:t>
            </a:r>
            <a:endParaRPr sz="10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000"/>
              <a:buFont typeface="Courier New"/>
              <a:buNone/>
            </a:pPr>
            <a:r>
              <a:rPr lang="en-US" sz="1000">
                <a:solidFill>
                  <a:srgbClr val="E7F0FA"/>
                </a:solidFill>
                <a:latin typeface="Courier New"/>
                <a:ea typeface="Courier New"/>
                <a:cs typeface="Courier New"/>
                <a:sym typeface="Courier New"/>
              </a:rPr>
              <a:t>    count_nonfraud_trx_L6M=(</a:t>
            </a:r>
            <a:endParaRPr sz="10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000"/>
              <a:buFont typeface="Courier New"/>
              <a:buNone/>
            </a:pPr>
            <a:r>
              <a:rPr lang="en-US" sz="1000">
                <a:solidFill>
                  <a:srgbClr val="E7F0FA"/>
                </a:solidFill>
                <a:latin typeface="Courier New"/>
                <a:ea typeface="Courier New"/>
                <a:cs typeface="Courier New"/>
                <a:sym typeface="Courier New"/>
              </a:rPr>
              <a:t>        'count_nonfraud_trx_L6M','sum'),</a:t>
            </a:r>
            <a:endParaRPr sz="10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000"/>
              <a:buFont typeface="Courier New"/>
              <a:buNone/>
            </a:pPr>
            <a:r>
              <a:rPr lang="en-US" sz="1000">
                <a:solidFill>
                  <a:srgbClr val="E7F0FA"/>
                </a:solidFill>
                <a:latin typeface="Courier New"/>
                <a:ea typeface="Courier New"/>
                <a:cs typeface="Courier New"/>
                <a:sym typeface="Courier New"/>
              </a:rPr>
              <a:t>    amt_nonfraud_trx_L6M=(</a:t>
            </a:r>
            <a:endParaRPr sz="10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000"/>
              <a:buFont typeface="Courier New"/>
              <a:buNone/>
            </a:pPr>
            <a:r>
              <a:rPr lang="en-US" sz="1000">
                <a:solidFill>
                  <a:srgbClr val="E7F0FA"/>
                </a:solidFill>
                <a:latin typeface="Courier New"/>
                <a:ea typeface="Courier New"/>
                <a:cs typeface="Courier New"/>
                <a:sym typeface="Courier New"/>
              </a:rPr>
              <a:t>        'amt_nonfraud_trx_L6M','sum'),</a:t>
            </a:r>
            <a:endParaRPr sz="10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000"/>
              <a:buFont typeface="Courier New"/>
              <a:buNone/>
            </a:pPr>
            <a:r>
              <a:rPr lang="en-US" sz="1000">
                <a:solidFill>
                  <a:srgbClr val="E7F0FA"/>
                </a:solidFill>
                <a:latin typeface="Courier New"/>
                <a:ea typeface="Courier New"/>
                <a:cs typeface="Courier New"/>
                <a:sym typeface="Courier New"/>
              </a:rPr>
              <a:t>    count_fraud_trx_L6M=(</a:t>
            </a:r>
            <a:endParaRPr sz="10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000"/>
              <a:buFont typeface="Courier New"/>
              <a:buNone/>
            </a:pPr>
            <a:r>
              <a:rPr lang="en-US" sz="1000">
                <a:solidFill>
                  <a:srgbClr val="E7F0FA"/>
                </a:solidFill>
                <a:latin typeface="Courier New"/>
                <a:ea typeface="Courier New"/>
                <a:cs typeface="Courier New"/>
                <a:sym typeface="Courier New"/>
              </a:rPr>
              <a:t>        'count_fraud_trx_L6M','sum'),</a:t>
            </a:r>
            <a:endParaRPr sz="10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000"/>
              <a:buFont typeface="Courier New"/>
              <a:buNone/>
            </a:pPr>
            <a:r>
              <a:rPr lang="en-US" sz="1000">
                <a:solidFill>
                  <a:srgbClr val="E7F0FA"/>
                </a:solidFill>
                <a:latin typeface="Courier New"/>
                <a:ea typeface="Courier New"/>
                <a:cs typeface="Courier New"/>
                <a:sym typeface="Courier New"/>
              </a:rPr>
              <a:t>    amt_fraud_trx_L6M=(</a:t>
            </a:r>
            <a:endParaRPr sz="10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000"/>
              <a:buFont typeface="Courier New"/>
              <a:buNone/>
            </a:pPr>
            <a:r>
              <a:rPr lang="en-US" sz="1000">
                <a:solidFill>
                  <a:srgbClr val="E7F0FA"/>
                </a:solidFill>
                <a:latin typeface="Courier New"/>
                <a:ea typeface="Courier New"/>
                <a:cs typeface="Courier New"/>
                <a:sym typeface="Courier New"/>
              </a:rPr>
              <a:t>        'amt_fraud_trx_L6M','sum')</a:t>
            </a:r>
            <a:endParaRPr sz="10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000"/>
              <a:buFont typeface="Courier New"/>
              <a:buNone/>
            </a:pPr>
            <a:r>
              <a:rPr lang="en-US" sz="1000">
                <a:solidFill>
                  <a:srgbClr val="E7F0FA"/>
                </a:solidFill>
                <a:latin typeface="Courier New"/>
                <a:ea typeface="Courier New"/>
                <a:cs typeface="Courier New"/>
                <a:sym typeface="Courier New"/>
              </a:rPr>
              <a:t>).reset_index()</a:t>
            </a:r>
            <a:endParaRPr sz="10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chemeClr val="dk1"/>
              </a:buClr>
              <a:buSzPts val="1000"/>
              <a:buFont typeface="Calibri"/>
              <a:buNone/>
            </a:pPr>
            <a:r>
              <a:t/>
            </a:r>
            <a:endParaRPr sz="10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000"/>
              <a:buFont typeface="Courier New"/>
              <a:buNone/>
            </a:pPr>
            <a:r>
              <a:rPr lang="en-US" sz="1000">
                <a:solidFill>
                  <a:srgbClr val="E7F0FA"/>
                </a:solidFill>
                <a:latin typeface="Courier New"/>
                <a:ea typeface="Courier New"/>
                <a:cs typeface="Courier New"/>
                <a:sym typeface="Courier New"/>
              </a:rPr>
              <a:t># then merge onto the user table</a:t>
            </a:r>
            <a:endParaRPr sz="10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000"/>
              <a:buFont typeface="Courier New"/>
              <a:buNone/>
            </a:pPr>
            <a:r>
              <a:rPr lang="en-US" sz="1000">
                <a:solidFill>
                  <a:srgbClr val="E7F0FA"/>
                </a:solidFill>
                <a:latin typeface="Courier New"/>
                <a:ea typeface="Courier New"/>
                <a:cs typeface="Courier New"/>
                <a:sym typeface="Courier New"/>
              </a:rPr>
              <a:t>df_user_agg = df_user.merge(</a:t>
            </a:r>
            <a:endParaRPr sz="10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000"/>
              <a:buFont typeface="Courier New"/>
              <a:buNone/>
            </a:pPr>
            <a:r>
              <a:rPr lang="en-US" sz="1000">
                <a:solidFill>
                  <a:srgbClr val="E7F0FA"/>
                </a:solidFill>
                <a:latin typeface="Courier New"/>
                <a:ea typeface="Courier New"/>
                <a:cs typeface="Courier New"/>
                <a:sym typeface="Courier New"/>
              </a:rPr>
              <a:t>    df_card_agg, left_on='id',</a:t>
            </a:r>
            <a:endParaRPr sz="10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000"/>
              <a:buFont typeface="Courier New"/>
              <a:buNone/>
            </a:pPr>
            <a:r>
              <a:rPr lang="en-US" sz="1000">
                <a:solidFill>
                  <a:srgbClr val="E7F0FA"/>
                </a:solidFill>
                <a:latin typeface="Courier New"/>
                <a:ea typeface="Courier New"/>
                <a:cs typeface="Courier New"/>
                <a:sym typeface="Courier New"/>
              </a:rPr>
              <a:t>    right_on='client_id', how='inner'</a:t>
            </a:r>
            <a:endParaRPr sz="10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000"/>
              <a:buFont typeface="Courier New"/>
              <a:buNone/>
            </a:pPr>
            <a:r>
              <a:rPr lang="en-US" sz="1000">
                <a:solidFill>
                  <a:srgbClr val="E7F0FA"/>
                </a:solidFill>
                <a:latin typeface="Courier New"/>
                <a:ea typeface="Courier New"/>
                <a:cs typeface="Courier New"/>
                <a:sym typeface="Courier New"/>
              </a:rPr>
              <a:t>).drop(columns=['client_id'])</a:t>
            </a:r>
            <a:endParaRPr sz="1000">
              <a:solidFill>
                <a:schemeClr val="dk1"/>
              </a:solidFill>
              <a:latin typeface="Calibri"/>
              <a:ea typeface="Calibri"/>
              <a:cs typeface="Calibri"/>
              <a:sym typeface="Calibri"/>
            </a:endParaRPr>
          </a:p>
        </p:txBody>
      </p:sp>
      <p:sp>
        <p:nvSpPr>
          <p:cNvPr id="327" name="Google Shape;327;p22"/>
          <p:cNvSpPr txBox="1"/>
          <p:nvPr/>
        </p:nvSpPr>
        <p:spPr>
          <a:xfrm>
            <a:off x="6812280" y="1325880"/>
            <a:ext cx="4800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7185"/>
              </a:buClr>
              <a:buSzPts val="1300"/>
              <a:buFont typeface="Calibri"/>
              <a:buNone/>
            </a:pPr>
            <a:r>
              <a:rPr b="1" lang="en-US" sz="1300">
                <a:solidFill>
                  <a:srgbClr val="5A7185"/>
                </a:solidFill>
                <a:latin typeface="Calibri"/>
                <a:ea typeface="Calibri"/>
                <a:cs typeface="Calibri"/>
                <a:sym typeface="Calibri"/>
              </a:rPr>
              <a:t>Output</a:t>
            </a:r>
            <a:endParaRPr sz="1300">
              <a:solidFill>
                <a:schemeClr val="dk1"/>
              </a:solidFill>
              <a:latin typeface="Calibri"/>
              <a:ea typeface="Calibri"/>
              <a:cs typeface="Calibri"/>
              <a:sym typeface="Calibri"/>
            </a:endParaRPr>
          </a:p>
        </p:txBody>
      </p:sp>
      <p:sp>
        <p:nvSpPr>
          <p:cNvPr id="328" name="Google Shape;328;p22"/>
          <p:cNvSpPr/>
          <p:nvPr/>
        </p:nvSpPr>
        <p:spPr>
          <a:xfrm>
            <a:off x="6812280" y="1691640"/>
            <a:ext cx="4800600" cy="2331720"/>
          </a:xfrm>
          <a:prstGeom prst="roundRect">
            <a:avLst>
              <a:gd fmla="val 3922" name="adj"/>
            </a:avLst>
          </a:prstGeom>
          <a:solidFill>
            <a:srgbClr val="FFFFFF"/>
          </a:solidFill>
          <a:ln cap="flat" cmpd="sng" w="19050">
            <a:solidFill>
              <a:srgbClr val="FFD4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329" name="Google Shape;329;p22"/>
          <p:cNvGraphicFramePr/>
          <p:nvPr/>
        </p:nvGraphicFramePr>
        <p:xfrm>
          <a:off x="6949440" y="1783080"/>
          <a:ext cx="3000000" cy="3000000"/>
        </p:xfrm>
        <a:graphic>
          <a:graphicData uri="http://schemas.openxmlformats.org/drawingml/2006/table">
            <a:tbl>
              <a:tblPr>
                <a:noFill/>
                <a:tableStyleId>{3D7D59D7-DF91-47F0-BCBC-DAAD57FB8C79}</a:tableStyleId>
              </a:tblPr>
              <a:tblGrid>
                <a:gridCol w="2148850"/>
                <a:gridCol w="2377450"/>
              </a:tblGrid>
              <a:tr h="292600">
                <a:tc>
                  <a:txBody>
                    <a:bodyPr/>
                    <a:lstStyle/>
                    <a:p>
                      <a:pPr indent="0" lvl="0" marL="0" marR="0" rtl="0" algn="ctr">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Step</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306998"/>
                    </a:solidFill>
                  </a:tcPr>
                </a:tc>
                <a:tc>
                  <a:txBody>
                    <a:bodyPr/>
                    <a:lstStyle/>
                    <a:p>
                      <a:pPr indent="0" lvl="0" marL="0" marR="0" rtl="0" algn="ctr">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Result</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306998"/>
                    </a:solidFill>
                  </a:tcPr>
                </a:tc>
              </a:tr>
              <a:tr h="292600">
                <a:tc>
                  <a:txBody>
                    <a:bodyPr/>
                    <a:lstStyle/>
                    <a:p>
                      <a:pPr indent="0" lvl="0" marL="0" marR="0" rtl="0" algn="l">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df_card (cleaned)</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5.528 rows</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r>
              <a:tr h="292600">
                <a:tc>
                  <a:txBody>
                    <a:bodyPr/>
                    <a:lstStyle/>
                    <a:p>
                      <a:pPr indent="0" lvl="0" marL="0" marR="0" rtl="0" algn="l">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df_card_agg (per client_id)</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1.938 × 7</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r>
              <a:tr h="292600">
                <a:tc>
                  <a:txBody>
                    <a:bodyPr/>
                    <a:lstStyle/>
                    <a:p>
                      <a:pPr indent="0" lvl="0" marL="0" marR="0" rtl="0" algn="l">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df_user (cleaned)</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2.000 rows</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r>
              <a:tr h="292600">
                <a:tc>
                  <a:txBody>
                    <a:bodyPr/>
                    <a:lstStyle/>
                    <a:p>
                      <a:pPr indent="0" lvl="0" marL="0" marR="0" rtl="0" algn="l">
                        <a:spcBef>
                          <a:spcPts val="0"/>
                        </a:spcBef>
                        <a:spcAft>
                          <a:spcPts val="0"/>
                        </a:spcAft>
                        <a:buClr>
                          <a:srgbClr val="1B2A38"/>
                        </a:buClr>
                        <a:buSzPts val="900"/>
                        <a:buFont typeface="Calibri"/>
                        <a:buNone/>
                      </a:pPr>
                      <a:r>
                        <a:rPr b="1" lang="en-US" sz="900" u="none" cap="none" strike="noStrike">
                          <a:solidFill>
                            <a:srgbClr val="1B2A38"/>
                          </a:solidFill>
                          <a:latin typeface="Calibri"/>
                          <a:ea typeface="Calibri"/>
                          <a:cs typeface="Calibri"/>
                          <a:sym typeface="Calibri"/>
                        </a:rPr>
                        <a:t>df_user_agg (merged)</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Clr>
                          <a:srgbClr val="1B2A38"/>
                        </a:buClr>
                        <a:buSzPts val="900"/>
                        <a:buFont typeface="Calibri"/>
                        <a:buNone/>
                      </a:pPr>
                      <a:r>
                        <a:rPr b="1" lang="en-US" sz="900" u="none" cap="none" strike="noStrike">
                          <a:solidFill>
                            <a:srgbClr val="1B2A38"/>
                          </a:solidFill>
                          <a:latin typeface="Calibri"/>
                          <a:ea typeface="Calibri"/>
                          <a:cs typeface="Calibri"/>
                          <a:sym typeface="Calibri"/>
                        </a:rPr>
                        <a:t>1.938 × 17</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r>
              <a:tr h="292600">
                <a:tc>
                  <a:txBody>
                    <a:bodyPr/>
                    <a:lstStyle/>
                    <a:p>
                      <a:pPr indent="0" lvl="0" marL="0" marR="0" rtl="0" algn="l">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Recency rule</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min(days_since_last_trx)</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r>
              <a:tr h="292600">
                <a:tc>
                  <a:txBody>
                    <a:bodyPr/>
                    <a:lstStyle/>
                    <a:p>
                      <a:pPr indent="0" lvl="0" marL="0" marR="0" rtl="0" algn="l">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Money &amp; count rule</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sum across all cards</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r>
            </a:tbl>
          </a:graphicData>
        </a:graphic>
      </p:graphicFrame>
      <p:sp>
        <p:nvSpPr>
          <p:cNvPr id="330" name="Google Shape;330;p22"/>
          <p:cNvSpPr/>
          <p:nvPr/>
        </p:nvSpPr>
        <p:spPr>
          <a:xfrm>
            <a:off x="6812280" y="4160520"/>
            <a:ext cx="4800600" cy="2194560"/>
          </a:xfrm>
          <a:prstGeom prst="roundRect">
            <a:avLst>
              <a:gd fmla="val 4167" name="adj"/>
            </a:avLst>
          </a:prstGeom>
          <a:solidFill>
            <a:srgbClr val="FFD43B"/>
          </a:solidFill>
          <a:ln cap="flat" cmpd="sng" w="12700">
            <a:solidFill>
              <a:srgbClr val="FFD4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2"/>
          <p:cNvSpPr txBox="1"/>
          <p:nvPr/>
        </p:nvSpPr>
        <p:spPr>
          <a:xfrm>
            <a:off x="6995160" y="4279392"/>
            <a:ext cx="44805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8"/>
              </a:buClr>
              <a:buSzPts val="1500"/>
              <a:buFont typeface="Cambria"/>
              <a:buNone/>
            </a:pPr>
            <a:r>
              <a:rPr b="1" lang="en-US" sz="1500">
                <a:solidFill>
                  <a:srgbClr val="1B2A38"/>
                </a:solidFill>
                <a:latin typeface="Cambria"/>
                <a:ea typeface="Cambria"/>
                <a:cs typeface="Cambria"/>
                <a:sym typeface="Cambria"/>
              </a:rPr>
              <a:t>Insight</a:t>
            </a:r>
            <a:endParaRPr sz="1500">
              <a:solidFill>
                <a:schemeClr val="dk1"/>
              </a:solidFill>
              <a:latin typeface="Calibri"/>
              <a:ea typeface="Calibri"/>
              <a:cs typeface="Calibri"/>
              <a:sym typeface="Calibri"/>
            </a:endParaRPr>
          </a:p>
        </p:txBody>
      </p:sp>
      <p:sp>
        <p:nvSpPr>
          <p:cNvPr id="332" name="Google Shape;332;p22"/>
          <p:cNvSpPr txBox="1"/>
          <p:nvPr/>
        </p:nvSpPr>
        <p:spPr>
          <a:xfrm>
            <a:off x="6995160" y="4617720"/>
            <a:ext cx="4480560" cy="1627632"/>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B2A38"/>
              </a:buClr>
              <a:buSzPts val="1100"/>
              <a:buFont typeface="Calibri"/>
              <a:buNone/>
            </a:pPr>
            <a:r>
              <a:rPr lang="en-US" sz="1100">
                <a:solidFill>
                  <a:srgbClr val="1B2A38"/>
                </a:solidFill>
                <a:latin typeface="Calibri"/>
                <a:ea typeface="Calibri"/>
                <a:cs typeface="Calibri"/>
                <a:sym typeface="Calibri"/>
              </a:rPr>
              <a:t>Aggregating before merging is what keeps the result at user level. Merging the raw card rows first would have inflated 2.000 users into roughly 5.500 duplicated rows and double counted every user holding more than one card. Recency takes the minimum because the most recent transaction is the smallest number of days. The inner join returns 1.938 of 2.000 users: the other 62 hold no active card after the Milestone 1 cleaning.</a:t>
            </a:r>
            <a:endParaRPr sz="1100">
              <a:solidFill>
                <a:schemeClr val="dk1"/>
              </a:solidFill>
              <a:latin typeface="Calibri"/>
              <a:ea typeface="Calibri"/>
              <a:cs typeface="Calibri"/>
              <a:sym typeface="Calibri"/>
            </a:endParaRPr>
          </a:p>
        </p:txBody>
      </p:sp>
      <p:sp>
        <p:nvSpPr>
          <p:cNvPr id="333" name="Google Shape;333;p22"/>
          <p:cNvSpPr txBox="1"/>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7185"/>
              </a:buClr>
              <a:buSzPts val="900"/>
              <a:buFont typeface="Calibri"/>
              <a:buNone/>
            </a:pPr>
            <a:r>
              <a:rPr lang="en-US" sz="900">
                <a:solidFill>
                  <a:srgbClr val="5A7185"/>
                </a:solidFill>
                <a:latin typeface="Calibri"/>
                <a:ea typeface="Calibri"/>
                <a:cs typeface="Calibri"/>
                <a:sym typeface="Calibri"/>
              </a:rPr>
              <a:t>Credit Card &amp; User Data Analysis – Milestone 2</a:t>
            </a:r>
            <a:endParaRPr sz="900">
              <a:solidFill>
                <a:schemeClr val="dk1"/>
              </a:solidFill>
              <a:latin typeface="Calibri"/>
              <a:ea typeface="Calibri"/>
              <a:cs typeface="Calibri"/>
              <a:sym typeface="Calibri"/>
            </a:endParaRPr>
          </a:p>
        </p:txBody>
      </p:sp>
      <p:sp>
        <p:nvSpPr>
          <p:cNvPr id="334" name="Google Shape;334;p22"/>
          <p:cNvSpPr txBox="1"/>
          <p:nvPr/>
        </p:nvSpPr>
        <p:spPr>
          <a:xfrm>
            <a:off x="11247120" y="649224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7185"/>
              </a:buClr>
              <a:buSzPts val="900"/>
              <a:buFont typeface="Calibri"/>
              <a:buNone/>
            </a:pPr>
            <a:r>
              <a:rPr lang="en-US" sz="900">
                <a:solidFill>
                  <a:srgbClr val="5A7185"/>
                </a:solidFill>
                <a:latin typeface="Calibri"/>
                <a:ea typeface="Calibri"/>
                <a:cs typeface="Calibri"/>
                <a:sym typeface="Calibri"/>
              </a:rPr>
              <a:t>22</a:t>
            </a:r>
            <a:endParaRPr sz="9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B"/>
        </a:solidFill>
      </p:bgPr>
    </p:bg>
    <p:spTree>
      <p:nvGrpSpPr>
        <p:cNvPr id="339" name="Shape 339"/>
        <p:cNvGrpSpPr/>
        <p:nvPr/>
      </p:nvGrpSpPr>
      <p:grpSpPr>
        <a:xfrm>
          <a:off x="0" y="0"/>
          <a:ext cx="0" cy="0"/>
          <a:chOff x="0" y="0"/>
          <a:chExt cx="0" cy="0"/>
        </a:xfrm>
      </p:grpSpPr>
      <p:sp>
        <p:nvSpPr>
          <p:cNvPr id="340" name="Google Shape;340;p23"/>
          <p:cNvSpPr/>
          <p:nvPr/>
        </p:nvSpPr>
        <p:spPr>
          <a:xfrm>
            <a:off x="548640" y="457200"/>
            <a:ext cx="502920" cy="502920"/>
          </a:xfrm>
          <a:prstGeom prst="ellipse">
            <a:avLst/>
          </a:prstGeom>
          <a:solidFill>
            <a:srgbClr val="3069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23"/>
          <p:cNvSpPr txBox="1"/>
          <p:nvPr/>
        </p:nvSpPr>
        <p:spPr>
          <a:xfrm>
            <a:off x="548640" y="45720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mbria"/>
              <a:buNone/>
            </a:pPr>
            <a:r>
              <a:rPr b="1" lang="en-US" sz="2000">
                <a:solidFill>
                  <a:srgbClr val="FFFFFF"/>
                </a:solidFill>
                <a:latin typeface="Cambria"/>
                <a:ea typeface="Cambria"/>
                <a:cs typeface="Cambria"/>
                <a:sym typeface="Cambria"/>
              </a:rPr>
              <a:t>e</a:t>
            </a:r>
            <a:endParaRPr sz="2000">
              <a:solidFill>
                <a:schemeClr val="dk1"/>
              </a:solidFill>
              <a:latin typeface="Calibri"/>
              <a:ea typeface="Calibri"/>
              <a:cs typeface="Calibri"/>
              <a:sym typeface="Calibri"/>
            </a:endParaRPr>
          </a:p>
        </p:txBody>
      </p:sp>
      <p:sp>
        <p:nvSpPr>
          <p:cNvPr id="342" name="Google Shape;342;p23"/>
          <p:cNvSpPr txBox="1"/>
          <p:nvPr/>
        </p:nvSpPr>
        <p:spPr>
          <a:xfrm>
            <a:off x="1188720" y="384048"/>
            <a:ext cx="104241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B84"/>
              </a:buClr>
              <a:buSzPts val="2000"/>
              <a:buFont typeface="Cambria"/>
              <a:buNone/>
            </a:pPr>
            <a:r>
              <a:rPr b="1" lang="en-US" sz="2000">
                <a:solidFill>
                  <a:srgbClr val="2B5B84"/>
                </a:solidFill>
                <a:latin typeface="Cambria"/>
                <a:ea typeface="Cambria"/>
                <a:cs typeface="Cambria"/>
                <a:sym typeface="Cambria"/>
              </a:rPr>
              <a:t>Average DTI per Credit Score Category (Syntax &amp; Output)</a:t>
            </a:r>
            <a:endParaRPr sz="2000">
              <a:solidFill>
                <a:schemeClr val="dk1"/>
              </a:solidFill>
              <a:latin typeface="Calibri"/>
              <a:ea typeface="Calibri"/>
              <a:cs typeface="Calibri"/>
              <a:sym typeface="Calibri"/>
            </a:endParaRPr>
          </a:p>
        </p:txBody>
      </p:sp>
      <p:sp>
        <p:nvSpPr>
          <p:cNvPr id="343" name="Google Shape;343;p23"/>
          <p:cNvSpPr txBox="1"/>
          <p:nvPr/>
        </p:nvSpPr>
        <p:spPr>
          <a:xfrm>
            <a:off x="548640" y="1325880"/>
            <a:ext cx="5486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7185"/>
              </a:buClr>
              <a:buSzPts val="1300"/>
              <a:buFont typeface="Calibri"/>
              <a:buNone/>
            </a:pPr>
            <a:r>
              <a:rPr b="1" lang="en-US" sz="1300">
                <a:solidFill>
                  <a:srgbClr val="5A7185"/>
                </a:solidFill>
                <a:latin typeface="Calibri"/>
                <a:ea typeface="Calibri"/>
                <a:cs typeface="Calibri"/>
                <a:sym typeface="Calibri"/>
              </a:rPr>
              <a:t>Syntax</a:t>
            </a:r>
            <a:endParaRPr sz="1300">
              <a:solidFill>
                <a:schemeClr val="dk1"/>
              </a:solidFill>
              <a:latin typeface="Calibri"/>
              <a:ea typeface="Calibri"/>
              <a:cs typeface="Calibri"/>
              <a:sym typeface="Calibri"/>
            </a:endParaRPr>
          </a:p>
        </p:txBody>
      </p:sp>
      <p:sp>
        <p:nvSpPr>
          <p:cNvPr id="344" name="Google Shape;344;p23"/>
          <p:cNvSpPr/>
          <p:nvPr/>
        </p:nvSpPr>
        <p:spPr>
          <a:xfrm>
            <a:off x="548640" y="1691640"/>
            <a:ext cx="6035040" cy="4663440"/>
          </a:xfrm>
          <a:prstGeom prst="roundRect">
            <a:avLst>
              <a:gd fmla="val 1569" name="adj"/>
            </a:avLst>
          </a:prstGeom>
          <a:solidFill>
            <a:srgbClr val="1B2A38"/>
          </a:solidFill>
          <a:ln cap="flat" cmpd="sng" w="12700">
            <a:solidFill>
              <a:srgbClr val="1B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23"/>
          <p:cNvSpPr txBox="1"/>
          <p:nvPr/>
        </p:nvSpPr>
        <p:spPr>
          <a:xfrm>
            <a:off x="731520" y="1828800"/>
            <a:ext cx="5715000" cy="438912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 Step 1: bucket the credit score</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bins   = [0, 580, 670, 740, 800, 851]</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labels = ['Poor', 'Fair', 'Good',</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          'Very Good', 'Exceptional']</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chemeClr val="dk1"/>
              </a:buClr>
              <a:buSzPts val="1100"/>
              <a:buFont typeface="Calibri"/>
              <a:buNone/>
            </a:pPr>
            <a:r>
              <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df_user_agg['credit_score_category'] = pd.cut(</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    df_user_agg['credit_score'],</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    bins=bins, labels=labels, right=False)</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chemeClr val="dk1"/>
              </a:buClr>
              <a:buSzPts val="1100"/>
              <a:buFont typeface="Calibri"/>
              <a:buNone/>
            </a:pPr>
            <a:r>
              <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 Step 2: average DTI + transaction behaviour</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category_summary = df_user_agg.groupby(</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    'credit_score_category', observed=True).agg(</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    avg_dti=('DTI', 'mean'),</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    total_trx_count=('count_nonfraud_trx_L6M','sum'),</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    total_trx_amount=('amt_nonfraud_trx_L6M','sum')</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).round(4)</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chemeClr val="dk1"/>
              </a:buClr>
              <a:buSzPts val="1100"/>
              <a:buFont typeface="Calibri"/>
              <a:buNone/>
            </a:pPr>
            <a:r>
              <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print(category_summary)</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chemeClr val="dk1"/>
              </a:buClr>
              <a:buSzPts val="1100"/>
              <a:buFont typeface="Calibri"/>
              <a:buNone/>
            </a:pPr>
            <a:r>
              <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 Step 3: bar chart per category</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sns.barplot(x=category_summary.index,</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            y=category_summary['avg_dti'],</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            palette='viridis')</a:t>
            </a:r>
            <a:endParaRPr sz="1100">
              <a:solidFill>
                <a:schemeClr val="dk1"/>
              </a:solidFill>
              <a:latin typeface="Calibri"/>
              <a:ea typeface="Calibri"/>
              <a:cs typeface="Calibri"/>
              <a:sym typeface="Calibri"/>
            </a:endParaRPr>
          </a:p>
        </p:txBody>
      </p:sp>
      <p:sp>
        <p:nvSpPr>
          <p:cNvPr id="346" name="Google Shape;346;p23"/>
          <p:cNvSpPr txBox="1"/>
          <p:nvPr/>
        </p:nvSpPr>
        <p:spPr>
          <a:xfrm>
            <a:off x="6812280" y="1325880"/>
            <a:ext cx="4800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7185"/>
              </a:buClr>
              <a:buSzPts val="1300"/>
              <a:buFont typeface="Calibri"/>
              <a:buNone/>
            </a:pPr>
            <a:r>
              <a:rPr b="1" lang="en-US" sz="1300">
                <a:solidFill>
                  <a:srgbClr val="5A7185"/>
                </a:solidFill>
                <a:latin typeface="Calibri"/>
                <a:ea typeface="Calibri"/>
                <a:cs typeface="Calibri"/>
                <a:sym typeface="Calibri"/>
              </a:rPr>
              <a:t>Output</a:t>
            </a:r>
            <a:endParaRPr sz="1300">
              <a:solidFill>
                <a:schemeClr val="dk1"/>
              </a:solidFill>
              <a:latin typeface="Calibri"/>
              <a:ea typeface="Calibri"/>
              <a:cs typeface="Calibri"/>
              <a:sym typeface="Calibri"/>
            </a:endParaRPr>
          </a:p>
        </p:txBody>
      </p:sp>
      <p:sp>
        <p:nvSpPr>
          <p:cNvPr id="347" name="Google Shape;347;p23"/>
          <p:cNvSpPr/>
          <p:nvPr/>
        </p:nvSpPr>
        <p:spPr>
          <a:xfrm>
            <a:off x="6812280" y="1691640"/>
            <a:ext cx="4800600" cy="2331720"/>
          </a:xfrm>
          <a:prstGeom prst="roundRect">
            <a:avLst>
              <a:gd fmla="val 3922" name="adj"/>
            </a:avLst>
          </a:prstGeom>
          <a:solidFill>
            <a:srgbClr val="FFFFFF"/>
          </a:solidFill>
          <a:ln cap="flat" cmpd="sng" w="19050">
            <a:solidFill>
              <a:srgbClr val="FFD4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348" name="Google Shape;348;p23"/>
          <p:cNvGraphicFramePr/>
          <p:nvPr/>
        </p:nvGraphicFramePr>
        <p:xfrm>
          <a:off x="6949440" y="1783080"/>
          <a:ext cx="3000000" cy="3000000"/>
        </p:xfrm>
        <a:graphic>
          <a:graphicData uri="http://schemas.openxmlformats.org/drawingml/2006/table">
            <a:tbl>
              <a:tblPr>
                <a:noFill/>
                <a:tableStyleId>{3D7D59D7-DF91-47F0-BCBC-DAAD57FB8C79}</a:tableStyleId>
              </a:tblPr>
              <a:tblGrid>
                <a:gridCol w="1143000"/>
                <a:gridCol w="914400"/>
                <a:gridCol w="1143000"/>
                <a:gridCol w="1325875"/>
              </a:tblGrid>
              <a:tr h="292600">
                <a:tc>
                  <a:txBody>
                    <a:bodyPr/>
                    <a:lstStyle/>
                    <a:p>
                      <a:pPr indent="0" lvl="0" marL="0" marR="0" rtl="0" algn="ctr">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Category</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306998"/>
                    </a:solidFill>
                  </a:tcPr>
                </a:tc>
                <a:tc>
                  <a:txBody>
                    <a:bodyPr/>
                    <a:lstStyle/>
                    <a:p>
                      <a:pPr indent="0" lvl="0" marL="0" marR="0" rtl="0" algn="ctr">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Avg DTI</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306998"/>
                    </a:solidFill>
                  </a:tcPr>
                </a:tc>
                <a:tc>
                  <a:txBody>
                    <a:bodyPr/>
                    <a:lstStyle/>
                    <a:p>
                      <a:pPr indent="0" lvl="0" marL="0" marR="0" rtl="0" algn="ctr">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Trx Count</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306998"/>
                    </a:solidFill>
                  </a:tcPr>
                </a:tc>
                <a:tc>
                  <a:txBody>
                    <a:bodyPr/>
                    <a:lstStyle/>
                    <a:p>
                      <a:pPr indent="0" lvl="0" marL="0" marR="0" rtl="0" algn="ctr">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Trx Amount</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306998"/>
                    </a:solidFill>
                  </a:tcPr>
                </a:tc>
              </a:tr>
              <a:tr h="292600">
                <a:tc>
                  <a:txBody>
                    <a:bodyPr/>
                    <a:lstStyle/>
                    <a:p>
                      <a:pPr indent="0" lvl="0" marL="0" marR="0" rtl="0" algn="l">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Poor</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0,3018</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23.522</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Rp 17,6 M</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r>
              <a:tr h="292600">
                <a:tc>
                  <a:txBody>
                    <a:bodyPr/>
                    <a:lstStyle/>
                    <a:p>
                      <a:pPr indent="0" lvl="0" marL="0" marR="0" rtl="0" algn="l">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Fair</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0,3182</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93.756</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Rp 65,8 M</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r>
              <a:tr h="292600">
                <a:tc>
                  <a:txBody>
                    <a:bodyPr/>
                    <a:lstStyle/>
                    <a:p>
                      <a:pPr indent="0" lvl="0" marL="0" marR="0" rtl="0" algn="l">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Good</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0,2503</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307.726</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Rp 220,9 M</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r>
              <a:tr h="292600">
                <a:tc>
                  <a:txBody>
                    <a:bodyPr/>
                    <a:lstStyle/>
                    <a:p>
                      <a:pPr indent="0" lvl="0" marL="0" marR="0" rtl="0" algn="l">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Very Good</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0,2457</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168.619</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Rp 114,0 M</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r>
              <a:tr h="292600">
                <a:tc>
                  <a:txBody>
                    <a:bodyPr/>
                    <a:lstStyle/>
                    <a:p>
                      <a:pPr indent="0" lvl="0" marL="0" marR="0" rtl="0" algn="l">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Exceptional</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0,2429</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56.749</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Rp 37,5 M</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r>
            </a:tbl>
          </a:graphicData>
        </a:graphic>
      </p:graphicFrame>
      <p:sp>
        <p:nvSpPr>
          <p:cNvPr id="349" name="Google Shape;349;p23"/>
          <p:cNvSpPr txBox="1"/>
          <p:nvPr/>
        </p:nvSpPr>
        <p:spPr>
          <a:xfrm>
            <a:off x="6949440" y="3657600"/>
            <a:ext cx="452628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7185"/>
              </a:buClr>
              <a:buSzPts val="800"/>
              <a:buFont typeface="Calibri"/>
              <a:buNone/>
            </a:pPr>
            <a:r>
              <a:rPr i="1" lang="en-US" sz="800">
                <a:solidFill>
                  <a:srgbClr val="5A7185"/>
                </a:solidFill>
                <a:latin typeface="Calibri"/>
                <a:ea typeface="Calibri"/>
                <a:cs typeface="Calibri"/>
                <a:sym typeface="Calibri"/>
              </a:rPr>
              <a:t>M = miliar rupiah</a:t>
            </a:r>
            <a:endParaRPr sz="800">
              <a:solidFill>
                <a:schemeClr val="dk1"/>
              </a:solidFill>
              <a:latin typeface="Calibri"/>
              <a:ea typeface="Calibri"/>
              <a:cs typeface="Calibri"/>
              <a:sym typeface="Calibri"/>
            </a:endParaRPr>
          </a:p>
        </p:txBody>
      </p:sp>
      <p:sp>
        <p:nvSpPr>
          <p:cNvPr id="350" name="Google Shape;350;p23"/>
          <p:cNvSpPr/>
          <p:nvPr/>
        </p:nvSpPr>
        <p:spPr>
          <a:xfrm>
            <a:off x="6812280" y="4160520"/>
            <a:ext cx="4800600" cy="2194560"/>
          </a:xfrm>
          <a:prstGeom prst="roundRect">
            <a:avLst>
              <a:gd fmla="val 4167" name="adj"/>
            </a:avLst>
          </a:prstGeom>
          <a:solidFill>
            <a:srgbClr val="FFD43B"/>
          </a:solidFill>
          <a:ln cap="flat" cmpd="sng" w="12700">
            <a:solidFill>
              <a:srgbClr val="FFD4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23"/>
          <p:cNvSpPr txBox="1"/>
          <p:nvPr/>
        </p:nvSpPr>
        <p:spPr>
          <a:xfrm>
            <a:off x="6995160" y="4279392"/>
            <a:ext cx="44805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8"/>
              </a:buClr>
              <a:buSzPts val="1500"/>
              <a:buFont typeface="Cambria"/>
              <a:buNone/>
            </a:pPr>
            <a:r>
              <a:rPr b="1" lang="en-US" sz="1500">
                <a:solidFill>
                  <a:srgbClr val="1B2A38"/>
                </a:solidFill>
                <a:latin typeface="Cambria"/>
                <a:ea typeface="Cambria"/>
                <a:cs typeface="Cambria"/>
                <a:sym typeface="Cambria"/>
              </a:rPr>
              <a:t>Method</a:t>
            </a:r>
            <a:endParaRPr sz="1500">
              <a:solidFill>
                <a:schemeClr val="dk1"/>
              </a:solidFill>
              <a:latin typeface="Calibri"/>
              <a:ea typeface="Calibri"/>
              <a:cs typeface="Calibri"/>
              <a:sym typeface="Calibri"/>
            </a:endParaRPr>
          </a:p>
        </p:txBody>
      </p:sp>
      <p:sp>
        <p:nvSpPr>
          <p:cNvPr id="352" name="Google Shape;352;p23"/>
          <p:cNvSpPr txBox="1"/>
          <p:nvPr/>
        </p:nvSpPr>
        <p:spPr>
          <a:xfrm>
            <a:off x="6995160" y="4617720"/>
            <a:ext cx="4480560" cy="1627632"/>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B2A38"/>
              </a:buClr>
              <a:buSzPts val="1100"/>
              <a:buFont typeface="Calibri"/>
              <a:buNone/>
            </a:pPr>
            <a:r>
              <a:rPr lang="en-US" sz="1100">
                <a:solidFill>
                  <a:srgbClr val="1B2A38"/>
                </a:solidFill>
                <a:latin typeface="Calibri"/>
                <a:ea typeface="Calibri"/>
                <a:cs typeface="Calibri"/>
                <a:sym typeface="Calibri"/>
              </a:rPr>
              <a:t>pd.cut with right=False assigns each score to a standard bucket: Poor below 580, Fair 580 to 669, Good 670 to 739, Very Good 740 to 799, Exceptional 800 to 850. Transaction count and amount are summed per category, so debt burden and revenue contribution can be read side by side.</a:t>
            </a:r>
            <a:endParaRPr sz="1100">
              <a:solidFill>
                <a:schemeClr val="dk1"/>
              </a:solidFill>
              <a:latin typeface="Calibri"/>
              <a:ea typeface="Calibri"/>
              <a:cs typeface="Calibri"/>
              <a:sym typeface="Calibri"/>
            </a:endParaRPr>
          </a:p>
        </p:txBody>
      </p:sp>
      <p:sp>
        <p:nvSpPr>
          <p:cNvPr id="353" name="Google Shape;353;p23"/>
          <p:cNvSpPr txBox="1"/>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7185"/>
              </a:buClr>
              <a:buSzPts val="900"/>
              <a:buFont typeface="Calibri"/>
              <a:buNone/>
            </a:pPr>
            <a:r>
              <a:rPr lang="en-US" sz="900">
                <a:solidFill>
                  <a:srgbClr val="5A7185"/>
                </a:solidFill>
                <a:latin typeface="Calibri"/>
                <a:ea typeface="Calibri"/>
                <a:cs typeface="Calibri"/>
                <a:sym typeface="Calibri"/>
              </a:rPr>
              <a:t>Credit Card &amp; User Data Analysis – Milestone 2</a:t>
            </a:r>
            <a:endParaRPr sz="900">
              <a:solidFill>
                <a:schemeClr val="dk1"/>
              </a:solidFill>
              <a:latin typeface="Calibri"/>
              <a:ea typeface="Calibri"/>
              <a:cs typeface="Calibri"/>
              <a:sym typeface="Calibri"/>
            </a:endParaRPr>
          </a:p>
        </p:txBody>
      </p:sp>
      <p:sp>
        <p:nvSpPr>
          <p:cNvPr id="354" name="Google Shape;354;p23"/>
          <p:cNvSpPr txBox="1"/>
          <p:nvPr/>
        </p:nvSpPr>
        <p:spPr>
          <a:xfrm>
            <a:off x="11247120" y="649224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7185"/>
              </a:buClr>
              <a:buSzPts val="900"/>
              <a:buFont typeface="Calibri"/>
              <a:buNone/>
            </a:pPr>
            <a:r>
              <a:rPr lang="en-US" sz="900">
                <a:solidFill>
                  <a:srgbClr val="5A7185"/>
                </a:solidFill>
                <a:latin typeface="Calibri"/>
                <a:ea typeface="Calibri"/>
                <a:cs typeface="Calibri"/>
                <a:sym typeface="Calibri"/>
              </a:rPr>
              <a:t>23</a:t>
            </a:r>
            <a:endParaRPr sz="9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B"/>
        </a:solidFill>
      </p:bgPr>
    </p:bg>
    <p:spTree>
      <p:nvGrpSpPr>
        <p:cNvPr id="359" name="Shape 359"/>
        <p:cNvGrpSpPr/>
        <p:nvPr/>
      </p:nvGrpSpPr>
      <p:grpSpPr>
        <a:xfrm>
          <a:off x="0" y="0"/>
          <a:ext cx="0" cy="0"/>
          <a:chOff x="0" y="0"/>
          <a:chExt cx="0" cy="0"/>
        </a:xfrm>
      </p:grpSpPr>
      <p:sp>
        <p:nvSpPr>
          <p:cNvPr id="360" name="Google Shape;360;p24"/>
          <p:cNvSpPr/>
          <p:nvPr/>
        </p:nvSpPr>
        <p:spPr>
          <a:xfrm>
            <a:off x="548640" y="457200"/>
            <a:ext cx="502920" cy="502920"/>
          </a:xfrm>
          <a:prstGeom prst="ellipse">
            <a:avLst/>
          </a:prstGeom>
          <a:solidFill>
            <a:srgbClr val="3069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24"/>
          <p:cNvSpPr txBox="1"/>
          <p:nvPr/>
        </p:nvSpPr>
        <p:spPr>
          <a:xfrm>
            <a:off x="548640" y="45720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mbria"/>
              <a:buNone/>
            </a:pPr>
            <a:r>
              <a:rPr b="1" lang="en-US" sz="2000">
                <a:solidFill>
                  <a:srgbClr val="FFFFFF"/>
                </a:solidFill>
                <a:latin typeface="Cambria"/>
                <a:ea typeface="Cambria"/>
                <a:cs typeface="Cambria"/>
                <a:sym typeface="Cambria"/>
              </a:rPr>
              <a:t>e</a:t>
            </a:r>
            <a:endParaRPr sz="2000">
              <a:solidFill>
                <a:schemeClr val="dk1"/>
              </a:solidFill>
              <a:latin typeface="Calibri"/>
              <a:ea typeface="Calibri"/>
              <a:cs typeface="Calibri"/>
              <a:sym typeface="Calibri"/>
            </a:endParaRPr>
          </a:p>
        </p:txBody>
      </p:sp>
      <p:sp>
        <p:nvSpPr>
          <p:cNvPr id="362" name="Google Shape;362;p24"/>
          <p:cNvSpPr txBox="1"/>
          <p:nvPr/>
        </p:nvSpPr>
        <p:spPr>
          <a:xfrm>
            <a:off x="1188720" y="384048"/>
            <a:ext cx="104241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B84"/>
              </a:buClr>
              <a:buSzPts val="2000"/>
              <a:buFont typeface="Cambria"/>
              <a:buNone/>
            </a:pPr>
            <a:r>
              <a:rPr b="1" lang="en-US" sz="2000">
                <a:solidFill>
                  <a:srgbClr val="2B5B84"/>
                </a:solidFill>
                <a:latin typeface="Cambria"/>
                <a:ea typeface="Cambria"/>
                <a:cs typeface="Cambria"/>
                <a:sym typeface="Cambria"/>
              </a:rPr>
              <a:t> Average DTI per Credit Score Category (Visualisation &amp; Recommendation)</a:t>
            </a:r>
            <a:endParaRPr sz="2000">
              <a:solidFill>
                <a:schemeClr val="dk1"/>
              </a:solidFill>
              <a:latin typeface="Calibri"/>
              <a:ea typeface="Calibri"/>
              <a:cs typeface="Calibri"/>
              <a:sym typeface="Calibri"/>
            </a:endParaRPr>
          </a:p>
        </p:txBody>
      </p:sp>
      <p:sp>
        <p:nvSpPr>
          <p:cNvPr id="363" name="Google Shape;363;p24"/>
          <p:cNvSpPr txBox="1"/>
          <p:nvPr/>
        </p:nvSpPr>
        <p:spPr>
          <a:xfrm>
            <a:off x="548640" y="1325880"/>
            <a:ext cx="5486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7185"/>
              </a:buClr>
              <a:buSzPts val="1300"/>
              <a:buFont typeface="Calibri"/>
              <a:buNone/>
            </a:pPr>
            <a:r>
              <a:rPr b="1" lang="en-US" sz="1300">
                <a:solidFill>
                  <a:srgbClr val="5A7185"/>
                </a:solidFill>
                <a:latin typeface="Calibri"/>
                <a:ea typeface="Calibri"/>
                <a:cs typeface="Calibri"/>
                <a:sym typeface="Calibri"/>
              </a:rPr>
              <a:t>Visualisation</a:t>
            </a:r>
            <a:endParaRPr sz="1300">
              <a:solidFill>
                <a:schemeClr val="dk1"/>
              </a:solidFill>
              <a:latin typeface="Calibri"/>
              <a:ea typeface="Calibri"/>
              <a:cs typeface="Calibri"/>
              <a:sym typeface="Calibri"/>
            </a:endParaRPr>
          </a:p>
        </p:txBody>
      </p:sp>
      <p:sp>
        <p:nvSpPr>
          <p:cNvPr id="364" name="Google Shape;364;p24"/>
          <p:cNvSpPr/>
          <p:nvPr/>
        </p:nvSpPr>
        <p:spPr>
          <a:xfrm>
            <a:off x="548640" y="1691640"/>
            <a:ext cx="6035040" cy="4663440"/>
          </a:xfrm>
          <a:prstGeom prst="roundRect">
            <a:avLst>
              <a:gd fmla="val 1961" name="adj"/>
            </a:avLst>
          </a:prstGeom>
          <a:solidFill>
            <a:srgbClr val="FFFFFF"/>
          </a:solidFill>
          <a:ln cap="flat" cmpd="sng" w="12700">
            <a:solidFill>
              <a:srgbClr val="C9DC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mg/cell52_0.png" id="365" name="Google Shape;365;p24"/>
          <p:cNvPicPr preferRelativeResize="0"/>
          <p:nvPr/>
        </p:nvPicPr>
        <p:blipFill rotWithShape="1">
          <a:blip r:embed="rId3">
            <a:alphaModFix/>
          </a:blip>
          <a:srcRect b="0" l="0" r="0" t="0"/>
          <a:stretch/>
        </p:blipFill>
        <p:spPr>
          <a:xfrm>
            <a:off x="685800" y="2286000"/>
            <a:ext cx="5760720" cy="3483864"/>
          </a:xfrm>
          <a:prstGeom prst="rect">
            <a:avLst/>
          </a:prstGeom>
          <a:noFill/>
          <a:ln>
            <a:noFill/>
          </a:ln>
        </p:spPr>
      </p:pic>
      <p:sp>
        <p:nvSpPr>
          <p:cNvPr id="366" name="Google Shape;366;p24"/>
          <p:cNvSpPr/>
          <p:nvPr/>
        </p:nvSpPr>
        <p:spPr>
          <a:xfrm>
            <a:off x="6812280" y="1691640"/>
            <a:ext cx="4800600" cy="2331720"/>
          </a:xfrm>
          <a:prstGeom prst="roundRect">
            <a:avLst>
              <a:gd fmla="val 3922" name="adj"/>
            </a:avLst>
          </a:prstGeom>
          <a:solidFill>
            <a:srgbClr val="FFFFFF"/>
          </a:solidFill>
          <a:ln cap="flat" cmpd="sng" w="12700">
            <a:solidFill>
              <a:srgbClr val="C9DC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24"/>
          <p:cNvSpPr txBox="1"/>
          <p:nvPr/>
        </p:nvSpPr>
        <p:spPr>
          <a:xfrm>
            <a:off x="6995160" y="1810512"/>
            <a:ext cx="44805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B84"/>
              </a:buClr>
              <a:buSzPts val="1500"/>
              <a:buFont typeface="Cambria"/>
              <a:buNone/>
            </a:pPr>
            <a:r>
              <a:rPr b="1" lang="en-US" sz="1500">
                <a:solidFill>
                  <a:srgbClr val="2B5B84"/>
                </a:solidFill>
                <a:latin typeface="Cambria"/>
                <a:ea typeface="Cambria"/>
                <a:cs typeface="Cambria"/>
                <a:sym typeface="Cambria"/>
              </a:rPr>
              <a:t>What the chart shows</a:t>
            </a:r>
            <a:endParaRPr sz="1500">
              <a:solidFill>
                <a:schemeClr val="dk1"/>
              </a:solidFill>
              <a:latin typeface="Calibri"/>
              <a:ea typeface="Calibri"/>
              <a:cs typeface="Calibri"/>
              <a:sym typeface="Calibri"/>
            </a:endParaRPr>
          </a:p>
        </p:txBody>
      </p:sp>
      <p:sp>
        <p:nvSpPr>
          <p:cNvPr id="368" name="Google Shape;368;p24"/>
          <p:cNvSpPr txBox="1"/>
          <p:nvPr/>
        </p:nvSpPr>
        <p:spPr>
          <a:xfrm>
            <a:off x="6995160" y="2148840"/>
            <a:ext cx="4480560" cy="1764792"/>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B2A38"/>
              </a:buClr>
              <a:buSzPts val="1100"/>
              <a:buFont typeface="Calibri"/>
              <a:buNone/>
            </a:pPr>
            <a:r>
              <a:rPr lang="en-US" sz="1100">
                <a:solidFill>
                  <a:srgbClr val="1B2A38"/>
                </a:solidFill>
                <a:latin typeface="Calibri"/>
                <a:ea typeface="Calibri"/>
                <a:cs typeface="Calibri"/>
                <a:sym typeface="Calibri"/>
              </a:rPr>
              <a:t>Average DTI is highest in Fair (0,3182) and lowest in Exceptional (0,2429).</a:t>
            </a:r>
            <a:endParaRPr sz="1100">
              <a:solidFill>
                <a:schemeClr val="dk1"/>
              </a:solidFill>
              <a:latin typeface="Calibri"/>
              <a:ea typeface="Calibri"/>
              <a:cs typeface="Calibri"/>
              <a:sym typeface="Calibri"/>
            </a:endParaRPr>
          </a:p>
          <a:p>
            <a:pPr indent="0" lvl="0" marL="0" marR="0" rtl="0" algn="l">
              <a:lnSpc>
                <a:spcPct val="105000"/>
              </a:lnSpc>
              <a:spcBef>
                <a:spcPts val="600"/>
              </a:spcBef>
              <a:spcAft>
                <a:spcPts val="0"/>
              </a:spcAft>
              <a:buClr>
                <a:srgbClr val="1B2A38"/>
              </a:buClr>
              <a:buSzPts val="1100"/>
              <a:buFont typeface="Calibri"/>
              <a:buNone/>
            </a:pPr>
            <a:r>
              <a:rPr lang="en-US" sz="1100">
                <a:solidFill>
                  <a:srgbClr val="1B2A38"/>
                </a:solidFill>
                <a:latin typeface="Calibri"/>
                <a:ea typeface="Calibri"/>
                <a:cs typeface="Calibri"/>
                <a:sym typeface="Calibri"/>
              </a:rPr>
              <a:t>Poor (0,3018) sits below Fair, so the ranking is not perfectly ordered.</a:t>
            </a:r>
            <a:endParaRPr sz="1100">
              <a:solidFill>
                <a:schemeClr val="dk1"/>
              </a:solidFill>
              <a:latin typeface="Calibri"/>
              <a:ea typeface="Calibri"/>
              <a:cs typeface="Calibri"/>
              <a:sym typeface="Calibri"/>
            </a:endParaRPr>
          </a:p>
          <a:p>
            <a:pPr indent="0" lvl="0" marL="0" marR="0" rtl="0" algn="l">
              <a:lnSpc>
                <a:spcPct val="105000"/>
              </a:lnSpc>
              <a:spcBef>
                <a:spcPts val="600"/>
              </a:spcBef>
              <a:spcAft>
                <a:spcPts val="0"/>
              </a:spcAft>
              <a:buClr>
                <a:srgbClr val="1B2A38"/>
              </a:buClr>
              <a:buSzPts val="1100"/>
              <a:buFont typeface="Calibri"/>
              <a:buNone/>
            </a:pPr>
            <a:r>
              <a:rPr lang="en-US" sz="1100">
                <a:solidFill>
                  <a:srgbClr val="1B2A38"/>
                </a:solidFill>
                <a:latin typeface="Calibri"/>
                <a:ea typeface="Calibri"/>
                <a:cs typeface="Calibri"/>
                <a:sym typeface="Calibri"/>
              </a:rPr>
              <a:t>Good carries the largest volume: Rp 220,9 miliar of transaction value.</a:t>
            </a:r>
            <a:endParaRPr sz="1100">
              <a:solidFill>
                <a:schemeClr val="dk1"/>
              </a:solidFill>
              <a:latin typeface="Calibri"/>
              <a:ea typeface="Calibri"/>
              <a:cs typeface="Calibri"/>
              <a:sym typeface="Calibri"/>
            </a:endParaRPr>
          </a:p>
        </p:txBody>
      </p:sp>
      <p:sp>
        <p:nvSpPr>
          <p:cNvPr id="369" name="Google Shape;369;p24"/>
          <p:cNvSpPr/>
          <p:nvPr/>
        </p:nvSpPr>
        <p:spPr>
          <a:xfrm>
            <a:off x="6812280" y="4160520"/>
            <a:ext cx="4800600" cy="2194560"/>
          </a:xfrm>
          <a:prstGeom prst="roundRect">
            <a:avLst>
              <a:gd fmla="val 4167" name="adj"/>
            </a:avLst>
          </a:prstGeom>
          <a:solidFill>
            <a:srgbClr val="FFD43B"/>
          </a:solidFill>
          <a:ln cap="flat" cmpd="sng" w="12700">
            <a:solidFill>
              <a:srgbClr val="FFD4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24"/>
          <p:cNvSpPr txBox="1"/>
          <p:nvPr/>
        </p:nvSpPr>
        <p:spPr>
          <a:xfrm>
            <a:off x="6995160" y="4279392"/>
            <a:ext cx="44805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8"/>
              </a:buClr>
              <a:buSzPts val="1500"/>
              <a:buFont typeface="Cambria"/>
              <a:buNone/>
            </a:pPr>
            <a:r>
              <a:rPr b="1" lang="en-US" sz="1500">
                <a:solidFill>
                  <a:srgbClr val="1B2A38"/>
                </a:solidFill>
                <a:latin typeface="Cambria"/>
                <a:ea typeface="Cambria"/>
                <a:cs typeface="Cambria"/>
                <a:sym typeface="Cambria"/>
              </a:rPr>
              <a:t>Recommendation</a:t>
            </a:r>
            <a:endParaRPr sz="1500">
              <a:solidFill>
                <a:schemeClr val="dk1"/>
              </a:solidFill>
              <a:latin typeface="Calibri"/>
              <a:ea typeface="Calibri"/>
              <a:cs typeface="Calibri"/>
              <a:sym typeface="Calibri"/>
            </a:endParaRPr>
          </a:p>
        </p:txBody>
      </p:sp>
      <p:sp>
        <p:nvSpPr>
          <p:cNvPr id="371" name="Google Shape;371;p24"/>
          <p:cNvSpPr txBox="1"/>
          <p:nvPr/>
        </p:nvSpPr>
        <p:spPr>
          <a:xfrm>
            <a:off x="6995160" y="4617720"/>
            <a:ext cx="4480560" cy="1627632"/>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B2A38"/>
              </a:buClr>
              <a:buSzPts val="1100"/>
              <a:buFont typeface="Calibri"/>
              <a:buNone/>
            </a:pPr>
            <a:r>
              <a:rPr lang="en-US" sz="1100">
                <a:solidFill>
                  <a:srgbClr val="1B2A38"/>
                </a:solidFill>
                <a:latin typeface="Calibri"/>
                <a:ea typeface="Calibri"/>
                <a:cs typeface="Calibri"/>
                <a:sym typeface="Calibri"/>
              </a:rPr>
              <a:t>Average DTI does fall as the score improves, so the score broadly reflects real debt burden, except at the bottom where Poor sits below Fair. Volume is concentrated where risk is lowest: Good to Exceptional carries about 82% of transaction value at a DTI under 0,26. Push promos and limit increases there, and serve Poor and Fair with tighter limits and closer monitoring.</a:t>
            </a:r>
            <a:endParaRPr sz="1100">
              <a:solidFill>
                <a:schemeClr val="dk1"/>
              </a:solidFill>
              <a:latin typeface="Calibri"/>
              <a:ea typeface="Calibri"/>
              <a:cs typeface="Calibri"/>
              <a:sym typeface="Calibri"/>
            </a:endParaRPr>
          </a:p>
        </p:txBody>
      </p:sp>
      <p:sp>
        <p:nvSpPr>
          <p:cNvPr id="372" name="Google Shape;372;p24"/>
          <p:cNvSpPr txBox="1"/>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7185"/>
              </a:buClr>
              <a:buSzPts val="900"/>
              <a:buFont typeface="Calibri"/>
              <a:buNone/>
            </a:pPr>
            <a:r>
              <a:rPr lang="en-US" sz="900">
                <a:solidFill>
                  <a:srgbClr val="5A7185"/>
                </a:solidFill>
                <a:latin typeface="Calibri"/>
                <a:ea typeface="Calibri"/>
                <a:cs typeface="Calibri"/>
                <a:sym typeface="Calibri"/>
              </a:rPr>
              <a:t>Credit Card &amp; User Data Analysis – Milestone 2</a:t>
            </a:r>
            <a:endParaRPr sz="900">
              <a:solidFill>
                <a:schemeClr val="dk1"/>
              </a:solidFill>
              <a:latin typeface="Calibri"/>
              <a:ea typeface="Calibri"/>
              <a:cs typeface="Calibri"/>
              <a:sym typeface="Calibri"/>
            </a:endParaRPr>
          </a:p>
        </p:txBody>
      </p:sp>
      <p:sp>
        <p:nvSpPr>
          <p:cNvPr id="373" name="Google Shape;373;p24"/>
          <p:cNvSpPr txBox="1"/>
          <p:nvPr/>
        </p:nvSpPr>
        <p:spPr>
          <a:xfrm>
            <a:off x="11247120" y="649224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7185"/>
              </a:buClr>
              <a:buSzPts val="900"/>
              <a:buFont typeface="Calibri"/>
              <a:buNone/>
            </a:pPr>
            <a:r>
              <a:rPr lang="en-US" sz="900">
                <a:solidFill>
                  <a:srgbClr val="5A7185"/>
                </a:solidFill>
                <a:latin typeface="Calibri"/>
                <a:ea typeface="Calibri"/>
                <a:cs typeface="Calibri"/>
                <a:sym typeface="Calibri"/>
              </a:rPr>
              <a:t>24</a:t>
            </a:r>
            <a:endParaRPr sz="9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B"/>
        </a:solidFill>
      </p:bgPr>
    </p:bg>
    <p:spTree>
      <p:nvGrpSpPr>
        <p:cNvPr id="378" name="Shape 378"/>
        <p:cNvGrpSpPr/>
        <p:nvPr/>
      </p:nvGrpSpPr>
      <p:grpSpPr>
        <a:xfrm>
          <a:off x="0" y="0"/>
          <a:ext cx="0" cy="0"/>
          <a:chOff x="0" y="0"/>
          <a:chExt cx="0" cy="0"/>
        </a:xfrm>
      </p:grpSpPr>
      <p:sp>
        <p:nvSpPr>
          <p:cNvPr id="379" name="Google Shape;379;p25"/>
          <p:cNvSpPr/>
          <p:nvPr/>
        </p:nvSpPr>
        <p:spPr>
          <a:xfrm>
            <a:off x="548640" y="457200"/>
            <a:ext cx="502920" cy="502920"/>
          </a:xfrm>
          <a:prstGeom prst="ellipse">
            <a:avLst/>
          </a:prstGeom>
          <a:solidFill>
            <a:srgbClr val="3069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25"/>
          <p:cNvSpPr txBox="1"/>
          <p:nvPr/>
        </p:nvSpPr>
        <p:spPr>
          <a:xfrm>
            <a:off x="548640" y="45720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mbria"/>
              <a:buNone/>
            </a:pPr>
            <a:r>
              <a:rPr b="1" lang="en-US" sz="2000">
                <a:solidFill>
                  <a:srgbClr val="FFFFFF"/>
                </a:solidFill>
                <a:latin typeface="Cambria"/>
                <a:ea typeface="Cambria"/>
                <a:cs typeface="Cambria"/>
                <a:sym typeface="Cambria"/>
              </a:rPr>
              <a:t>f</a:t>
            </a:r>
            <a:endParaRPr sz="2000">
              <a:solidFill>
                <a:schemeClr val="dk1"/>
              </a:solidFill>
              <a:latin typeface="Calibri"/>
              <a:ea typeface="Calibri"/>
              <a:cs typeface="Calibri"/>
              <a:sym typeface="Calibri"/>
            </a:endParaRPr>
          </a:p>
        </p:txBody>
      </p:sp>
      <p:sp>
        <p:nvSpPr>
          <p:cNvPr id="381" name="Google Shape;381;p25"/>
          <p:cNvSpPr txBox="1"/>
          <p:nvPr/>
        </p:nvSpPr>
        <p:spPr>
          <a:xfrm>
            <a:off x="1188720" y="384048"/>
            <a:ext cx="104241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B84"/>
              </a:buClr>
              <a:buSzPts val="2000"/>
              <a:buFont typeface="Cambria"/>
              <a:buNone/>
            </a:pPr>
            <a:r>
              <a:rPr b="1" lang="en-US" sz="2000">
                <a:solidFill>
                  <a:srgbClr val="2B5B84"/>
                </a:solidFill>
                <a:latin typeface="Cambria"/>
                <a:ea typeface="Cambria"/>
                <a:cs typeface="Cambria"/>
                <a:sym typeface="Cambria"/>
              </a:rPr>
              <a:t>User Age vs Credit Limit (Syntax &amp; Output)</a:t>
            </a:r>
            <a:endParaRPr sz="2000">
              <a:solidFill>
                <a:schemeClr val="dk1"/>
              </a:solidFill>
              <a:latin typeface="Calibri"/>
              <a:ea typeface="Calibri"/>
              <a:cs typeface="Calibri"/>
              <a:sym typeface="Calibri"/>
            </a:endParaRPr>
          </a:p>
        </p:txBody>
      </p:sp>
      <p:sp>
        <p:nvSpPr>
          <p:cNvPr id="382" name="Google Shape;382;p25"/>
          <p:cNvSpPr txBox="1"/>
          <p:nvPr/>
        </p:nvSpPr>
        <p:spPr>
          <a:xfrm>
            <a:off x="548640" y="1325880"/>
            <a:ext cx="5486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7185"/>
              </a:buClr>
              <a:buSzPts val="1300"/>
              <a:buFont typeface="Calibri"/>
              <a:buNone/>
            </a:pPr>
            <a:r>
              <a:rPr b="1" lang="en-US" sz="1300">
                <a:solidFill>
                  <a:srgbClr val="5A7185"/>
                </a:solidFill>
                <a:latin typeface="Calibri"/>
                <a:ea typeface="Calibri"/>
                <a:cs typeface="Calibri"/>
                <a:sym typeface="Calibri"/>
              </a:rPr>
              <a:t>Syntax</a:t>
            </a:r>
            <a:endParaRPr sz="1300">
              <a:solidFill>
                <a:schemeClr val="dk1"/>
              </a:solidFill>
              <a:latin typeface="Calibri"/>
              <a:ea typeface="Calibri"/>
              <a:cs typeface="Calibri"/>
              <a:sym typeface="Calibri"/>
            </a:endParaRPr>
          </a:p>
        </p:txBody>
      </p:sp>
      <p:sp>
        <p:nvSpPr>
          <p:cNvPr id="383" name="Google Shape;383;p25"/>
          <p:cNvSpPr/>
          <p:nvPr/>
        </p:nvSpPr>
        <p:spPr>
          <a:xfrm>
            <a:off x="548640" y="1691640"/>
            <a:ext cx="6035040" cy="4663440"/>
          </a:xfrm>
          <a:prstGeom prst="roundRect">
            <a:avLst>
              <a:gd fmla="val 1569" name="adj"/>
            </a:avLst>
          </a:prstGeom>
          <a:solidFill>
            <a:srgbClr val="1B2A38"/>
          </a:solidFill>
          <a:ln cap="flat" cmpd="sng" w="12700">
            <a:solidFill>
              <a:srgbClr val="1B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25"/>
          <p:cNvSpPr txBox="1"/>
          <p:nvPr/>
        </p:nvSpPr>
        <p:spPr>
          <a:xfrm>
            <a:off x="731520" y="1828800"/>
            <a:ext cx="5715000" cy="438912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 trim the volatile upper tail:</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 ages above 60 hold too few users</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df_age = df_user_agg[df_user_agg['age'] &lt;= 60]</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chemeClr val="dk1"/>
              </a:buClr>
              <a:buSzPts val="1100"/>
              <a:buFont typeface="Calibri"/>
              <a:buNone/>
            </a:pPr>
            <a:r>
              <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 average credit limit per age</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avg_credit_by_age = df_age.groupby(</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    'age')['credit_limit'].mean()</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chemeClr val="dk1"/>
              </a:buClr>
              <a:buSzPts val="1100"/>
              <a:buFont typeface="Calibri"/>
              <a:buNone/>
            </a:pPr>
            <a:r>
              <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 line chart</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plt.figure(figsize=(11, 5))</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avg_credit_by_age.plot(</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    kind='line', marker='o', color='#e67e22')</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plt.title('Average Credit Limit by User Age')</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plt.xlabel('User Age')</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plt.ylabel('Average Credit Limit (Rp)')</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plt.grid(True, alpha=0.3)</a:t>
            </a:r>
            <a:endParaRPr sz="11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7F0FA"/>
              </a:buClr>
              <a:buSzPts val="1100"/>
              <a:buFont typeface="Courier New"/>
              <a:buNone/>
            </a:pPr>
            <a:r>
              <a:rPr lang="en-US" sz="1100">
                <a:solidFill>
                  <a:srgbClr val="E7F0FA"/>
                </a:solidFill>
                <a:latin typeface="Courier New"/>
                <a:ea typeface="Courier New"/>
                <a:cs typeface="Courier New"/>
                <a:sym typeface="Courier New"/>
              </a:rPr>
              <a:t>plt.show()</a:t>
            </a:r>
            <a:endParaRPr sz="1100">
              <a:solidFill>
                <a:schemeClr val="dk1"/>
              </a:solidFill>
              <a:latin typeface="Calibri"/>
              <a:ea typeface="Calibri"/>
              <a:cs typeface="Calibri"/>
              <a:sym typeface="Calibri"/>
            </a:endParaRPr>
          </a:p>
        </p:txBody>
      </p:sp>
      <p:sp>
        <p:nvSpPr>
          <p:cNvPr id="385" name="Google Shape;385;p25"/>
          <p:cNvSpPr txBox="1"/>
          <p:nvPr/>
        </p:nvSpPr>
        <p:spPr>
          <a:xfrm>
            <a:off x="6812280" y="1325880"/>
            <a:ext cx="4800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7185"/>
              </a:buClr>
              <a:buSzPts val="1300"/>
              <a:buFont typeface="Calibri"/>
              <a:buNone/>
            </a:pPr>
            <a:r>
              <a:rPr b="1" lang="en-US" sz="1300">
                <a:solidFill>
                  <a:srgbClr val="5A7185"/>
                </a:solidFill>
                <a:latin typeface="Calibri"/>
                <a:ea typeface="Calibri"/>
                <a:cs typeface="Calibri"/>
                <a:sym typeface="Calibri"/>
              </a:rPr>
              <a:t>Method</a:t>
            </a:r>
            <a:endParaRPr sz="1300">
              <a:solidFill>
                <a:schemeClr val="dk1"/>
              </a:solidFill>
              <a:latin typeface="Calibri"/>
              <a:ea typeface="Calibri"/>
              <a:cs typeface="Calibri"/>
              <a:sym typeface="Calibri"/>
            </a:endParaRPr>
          </a:p>
        </p:txBody>
      </p:sp>
      <p:sp>
        <p:nvSpPr>
          <p:cNvPr id="386" name="Google Shape;386;p25"/>
          <p:cNvSpPr/>
          <p:nvPr/>
        </p:nvSpPr>
        <p:spPr>
          <a:xfrm>
            <a:off x="6812280" y="1691640"/>
            <a:ext cx="4800600" cy="2331720"/>
          </a:xfrm>
          <a:prstGeom prst="roundRect">
            <a:avLst>
              <a:gd fmla="val 3922" name="adj"/>
            </a:avLst>
          </a:prstGeom>
          <a:solidFill>
            <a:srgbClr val="FFFFFF"/>
          </a:solidFill>
          <a:ln cap="flat" cmpd="sng" w="19050">
            <a:solidFill>
              <a:srgbClr val="FFD4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387" name="Google Shape;387;p25"/>
          <p:cNvGraphicFramePr/>
          <p:nvPr/>
        </p:nvGraphicFramePr>
        <p:xfrm>
          <a:off x="6949440" y="1810512"/>
          <a:ext cx="3000000" cy="3000000"/>
        </p:xfrm>
        <a:graphic>
          <a:graphicData uri="http://schemas.openxmlformats.org/drawingml/2006/table">
            <a:tbl>
              <a:tblPr>
                <a:noFill/>
                <a:tableStyleId>{3D7D59D7-DF91-47F0-BCBC-DAAD57FB8C79}</a:tableStyleId>
              </a:tblPr>
              <a:tblGrid>
                <a:gridCol w="1371600"/>
                <a:gridCol w="3154675"/>
              </a:tblGrid>
              <a:tr h="329175">
                <a:tc>
                  <a:txBody>
                    <a:bodyPr/>
                    <a:lstStyle/>
                    <a:p>
                      <a:pPr indent="0" lvl="0" marL="0" marR="0" rtl="0" algn="ctr">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Item</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306998"/>
                    </a:solidFill>
                  </a:tcPr>
                </a:tc>
                <a:tc>
                  <a:txBody>
                    <a:bodyPr/>
                    <a:lstStyle/>
                    <a:p>
                      <a:pPr indent="0" lvl="0" marL="0" marR="0" rtl="0" algn="ctr">
                        <a:spcBef>
                          <a:spcPts val="0"/>
                        </a:spcBef>
                        <a:spcAft>
                          <a:spcPts val="0"/>
                        </a:spcAft>
                        <a:buClr>
                          <a:srgbClr val="FFFFFF"/>
                        </a:buClr>
                        <a:buSzPts val="900"/>
                        <a:buFont typeface="Calibri"/>
                        <a:buNone/>
                      </a:pPr>
                      <a:r>
                        <a:rPr b="1" lang="en-US" sz="900" u="none" cap="none" strike="noStrike">
                          <a:solidFill>
                            <a:srgbClr val="FFFFFF"/>
                          </a:solidFill>
                          <a:latin typeface="Calibri"/>
                          <a:ea typeface="Calibri"/>
                          <a:cs typeface="Calibri"/>
                          <a:sym typeface="Calibri"/>
                        </a:rPr>
                        <a:t>Detail</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306998"/>
                    </a:solidFill>
                  </a:tcPr>
                </a:tc>
              </a:tr>
              <a:tr h="329175">
                <a:tc>
                  <a:txBody>
                    <a:bodyPr/>
                    <a:lstStyle/>
                    <a:p>
                      <a:pPr indent="0" lvl="0" marL="0" marR="0" rtl="0" algn="l">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Source</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df_user_agg (1.938 users)</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r>
              <a:tr h="329175">
                <a:tc>
                  <a:txBody>
                    <a:bodyPr/>
                    <a:lstStyle/>
                    <a:p>
                      <a:pPr indent="0" lvl="0" marL="0" marR="0" rtl="0" algn="l">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Metric</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l">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mean credit_limit per age</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r>
              <a:tr h="329175">
                <a:tc>
                  <a:txBody>
                    <a:bodyPr/>
                    <a:lstStyle/>
                    <a:p>
                      <a:pPr indent="0" lvl="0" marL="0" marR="0" rtl="0" algn="l">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credit_limit</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summed over all cards</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r>
              <a:tr h="329175">
                <a:tc>
                  <a:txBody>
                    <a:bodyPr/>
                    <a:lstStyle/>
                    <a:p>
                      <a:pPr indent="0" lvl="0" marL="0" marR="0" rtl="0" algn="l">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Scope</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l">
                        <a:spcBef>
                          <a:spcPts val="0"/>
                        </a:spcBef>
                        <a:spcAft>
                          <a:spcPts val="0"/>
                        </a:spcAft>
                        <a:buClr>
                          <a:srgbClr val="1B2A38"/>
                        </a:buClr>
                        <a:buSzPts val="900"/>
                        <a:buFont typeface="Calibri"/>
                        <a:buNone/>
                      </a:pPr>
                      <a:r>
                        <a:rPr lang="en-US" sz="900" u="none" cap="none" strike="noStrike">
                          <a:solidFill>
                            <a:srgbClr val="1B2A38"/>
                          </a:solidFill>
                          <a:latin typeface="Calibri"/>
                          <a:ea typeface="Calibri"/>
                          <a:cs typeface="Calibri"/>
                          <a:sym typeface="Calibri"/>
                        </a:rPr>
                        <a:t>age ≤ 60 (tail trimmed)</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r>
              <a:tr h="329175">
                <a:tc>
                  <a:txBody>
                    <a:bodyPr/>
                    <a:lstStyle/>
                    <a:p>
                      <a:pPr indent="0" lvl="0" marL="0" marR="0" rtl="0" algn="l">
                        <a:spcBef>
                          <a:spcPts val="0"/>
                        </a:spcBef>
                        <a:spcAft>
                          <a:spcPts val="0"/>
                        </a:spcAft>
                        <a:buClr>
                          <a:srgbClr val="1B2A38"/>
                        </a:buClr>
                        <a:buSzPts val="900"/>
                        <a:buFont typeface="Calibri"/>
                        <a:buNone/>
                      </a:pPr>
                      <a:r>
                        <a:rPr b="1" lang="en-US" sz="900" u="none" cap="none" strike="noStrike">
                          <a:solidFill>
                            <a:srgbClr val="1B2A38"/>
                          </a:solidFill>
                          <a:latin typeface="Calibri"/>
                          <a:ea typeface="Calibri"/>
                          <a:cs typeface="Calibri"/>
                          <a:sym typeface="Calibri"/>
                        </a:rPr>
                        <a:t>Direction</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A38"/>
                        </a:buClr>
                        <a:buSzPts val="900"/>
                        <a:buFont typeface="Calibri"/>
                        <a:buNone/>
                      </a:pPr>
                      <a:r>
                        <a:rPr b="1" lang="en-US" sz="900" u="none" cap="none" strike="noStrike">
                          <a:solidFill>
                            <a:srgbClr val="1B2A38"/>
                          </a:solidFill>
                          <a:latin typeface="Calibri"/>
                          <a:ea typeface="Calibri"/>
                          <a:cs typeface="Calibri"/>
                          <a:sym typeface="Calibri"/>
                        </a:rPr>
                        <a:t>positive, rising with age</a:t>
                      </a:r>
                      <a:endParaRPr sz="9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r>
            </a:tbl>
          </a:graphicData>
        </a:graphic>
      </p:graphicFrame>
      <p:sp>
        <p:nvSpPr>
          <p:cNvPr id="388" name="Google Shape;388;p25"/>
          <p:cNvSpPr/>
          <p:nvPr/>
        </p:nvSpPr>
        <p:spPr>
          <a:xfrm>
            <a:off x="6812280" y="4160520"/>
            <a:ext cx="4800600" cy="2194560"/>
          </a:xfrm>
          <a:prstGeom prst="roundRect">
            <a:avLst>
              <a:gd fmla="val 4167" name="adj"/>
            </a:avLst>
          </a:prstGeom>
          <a:solidFill>
            <a:srgbClr val="FFD43B"/>
          </a:solidFill>
          <a:ln cap="flat" cmpd="sng" w="12700">
            <a:solidFill>
              <a:srgbClr val="FFD4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25"/>
          <p:cNvSpPr txBox="1"/>
          <p:nvPr/>
        </p:nvSpPr>
        <p:spPr>
          <a:xfrm>
            <a:off x="6995160" y="4279392"/>
            <a:ext cx="44805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8"/>
              </a:buClr>
              <a:buSzPts val="1500"/>
              <a:buFont typeface="Cambria"/>
              <a:buNone/>
            </a:pPr>
            <a:r>
              <a:rPr b="1" lang="en-US" sz="1500">
                <a:solidFill>
                  <a:srgbClr val="1B2A38"/>
                </a:solidFill>
                <a:latin typeface="Cambria"/>
                <a:ea typeface="Cambria"/>
                <a:cs typeface="Cambria"/>
                <a:sym typeface="Cambria"/>
              </a:rPr>
              <a:t>Method</a:t>
            </a:r>
            <a:endParaRPr sz="1500">
              <a:solidFill>
                <a:schemeClr val="dk1"/>
              </a:solidFill>
              <a:latin typeface="Calibri"/>
              <a:ea typeface="Calibri"/>
              <a:cs typeface="Calibri"/>
              <a:sym typeface="Calibri"/>
            </a:endParaRPr>
          </a:p>
        </p:txBody>
      </p:sp>
      <p:sp>
        <p:nvSpPr>
          <p:cNvPr id="390" name="Google Shape;390;p25"/>
          <p:cNvSpPr txBox="1"/>
          <p:nvPr/>
        </p:nvSpPr>
        <p:spPr>
          <a:xfrm>
            <a:off x="6995160" y="4617720"/>
            <a:ext cx="4480560" cy="1627632"/>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B2A38"/>
              </a:buClr>
              <a:buSzPts val="1100"/>
              <a:buFont typeface="Calibri"/>
              <a:buNone/>
            </a:pPr>
            <a:r>
              <a:rPr lang="en-US" sz="1100">
                <a:solidFill>
                  <a:srgbClr val="1B2A38"/>
                </a:solidFill>
                <a:latin typeface="Calibri"/>
                <a:ea typeface="Calibri"/>
                <a:cs typeface="Calibri"/>
                <a:sym typeface="Calibri"/>
              </a:rPr>
              <a:t>credit_limit is summed per user during the merge, so it is the total limit across every card that user holds. Users above 60 are trimmed because those age groups contain few users, which makes their yearly averages jump around and hides the underlying trend.</a:t>
            </a:r>
            <a:endParaRPr sz="1100">
              <a:solidFill>
                <a:schemeClr val="dk1"/>
              </a:solidFill>
              <a:latin typeface="Calibri"/>
              <a:ea typeface="Calibri"/>
              <a:cs typeface="Calibri"/>
              <a:sym typeface="Calibri"/>
            </a:endParaRPr>
          </a:p>
        </p:txBody>
      </p:sp>
      <p:sp>
        <p:nvSpPr>
          <p:cNvPr id="391" name="Google Shape;391;p25"/>
          <p:cNvSpPr txBox="1"/>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7185"/>
              </a:buClr>
              <a:buSzPts val="900"/>
              <a:buFont typeface="Calibri"/>
              <a:buNone/>
            </a:pPr>
            <a:r>
              <a:rPr lang="en-US" sz="900">
                <a:solidFill>
                  <a:srgbClr val="5A7185"/>
                </a:solidFill>
                <a:latin typeface="Calibri"/>
                <a:ea typeface="Calibri"/>
                <a:cs typeface="Calibri"/>
                <a:sym typeface="Calibri"/>
              </a:rPr>
              <a:t>Credit Card &amp; User Data Analysis – Milestone 2</a:t>
            </a:r>
            <a:endParaRPr sz="900">
              <a:solidFill>
                <a:schemeClr val="dk1"/>
              </a:solidFill>
              <a:latin typeface="Calibri"/>
              <a:ea typeface="Calibri"/>
              <a:cs typeface="Calibri"/>
              <a:sym typeface="Calibri"/>
            </a:endParaRPr>
          </a:p>
        </p:txBody>
      </p:sp>
      <p:sp>
        <p:nvSpPr>
          <p:cNvPr id="392" name="Google Shape;392;p25"/>
          <p:cNvSpPr txBox="1"/>
          <p:nvPr/>
        </p:nvSpPr>
        <p:spPr>
          <a:xfrm>
            <a:off x="11247120" y="649224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7185"/>
              </a:buClr>
              <a:buSzPts val="900"/>
              <a:buFont typeface="Calibri"/>
              <a:buNone/>
            </a:pPr>
            <a:r>
              <a:rPr lang="en-US" sz="900">
                <a:solidFill>
                  <a:srgbClr val="5A7185"/>
                </a:solidFill>
                <a:latin typeface="Calibri"/>
                <a:ea typeface="Calibri"/>
                <a:cs typeface="Calibri"/>
                <a:sym typeface="Calibri"/>
              </a:rPr>
              <a:t>25</a:t>
            </a:r>
            <a:endParaRPr sz="9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B"/>
        </a:solidFill>
      </p:bgPr>
    </p:bg>
    <p:spTree>
      <p:nvGrpSpPr>
        <p:cNvPr id="397" name="Shape 397"/>
        <p:cNvGrpSpPr/>
        <p:nvPr/>
      </p:nvGrpSpPr>
      <p:grpSpPr>
        <a:xfrm>
          <a:off x="0" y="0"/>
          <a:ext cx="0" cy="0"/>
          <a:chOff x="0" y="0"/>
          <a:chExt cx="0" cy="0"/>
        </a:xfrm>
      </p:grpSpPr>
      <p:sp>
        <p:nvSpPr>
          <p:cNvPr id="398" name="Google Shape;398;p26"/>
          <p:cNvSpPr/>
          <p:nvPr/>
        </p:nvSpPr>
        <p:spPr>
          <a:xfrm>
            <a:off x="548640" y="457200"/>
            <a:ext cx="502920" cy="502920"/>
          </a:xfrm>
          <a:prstGeom prst="ellipse">
            <a:avLst/>
          </a:prstGeom>
          <a:solidFill>
            <a:srgbClr val="3069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26"/>
          <p:cNvSpPr txBox="1"/>
          <p:nvPr/>
        </p:nvSpPr>
        <p:spPr>
          <a:xfrm>
            <a:off x="548640" y="45720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mbria"/>
              <a:buNone/>
            </a:pPr>
            <a:r>
              <a:rPr b="1" lang="en-US" sz="2000">
                <a:solidFill>
                  <a:srgbClr val="FFFFFF"/>
                </a:solidFill>
                <a:latin typeface="Cambria"/>
                <a:ea typeface="Cambria"/>
                <a:cs typeface="Cambria"/>
                <a:sym typeface="Cambria"/>
              </a:rPr>
              <a:t>f</a:t>
            </a:r>
            <a:endParaRPr sz="2000">
              <a:solidFill>
                <a:schemeClr val="dk1"/>
              </a:solidFill>
              <a:latin typeface="Calibri"/>
              <a:ea typeface="Calibri"/>
              <a:cs typeface="Calibri"/>
              <a:sym typeface="Calibri"/>
            </a:endParaRPr>
          </a:p>
        </p:txBody>
      </p:sp>
      <p:sp>
        <p:nvSpPr>
          <p:cNvPr id="400" name="Google Shape;400;p26"/>
          <p:cNvSpPr txBox="1"/>
          <p:nvPr/>
        </p:nvSpPr>
        <p:spPr>
          <a:xfrm>
            <a:off x="1188720" y="384048"/>
            <a:ext cx="104241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B84"/>
              </a:buClr>
              <a:buSzPts val="2000"/>
              <a:buFont typeface="Cambria"/>
              <a:buNone/>
            </a:pPr>
            <a:r>
              <a:rPr b="1" lang="en-US" sz="2000">
                <a:solidFill>
                  <a:srgbClr val="2B5B84"/>
                </a:solidFill>
                <a:latin typeface="Cambria"/>
                <a:ea typeface="Cambria"/>
                <a:cs typeface="Cambria"/>
                <a:sym typeface="Cambria"/>
              </a:rPr>
              <a:t>User Age vs Credit Limit (Visualisation &amp; Recommendation)</a:t>
            </a:r>
            <a:endParaRPr sz="2000">
              <a:solidFill>
                <a:schemeClr val="dk1"/>
              </a:solidFill>
              <a:latin typeface="Calibri"/>
              <a:ea typeface="Calibri"/>
              <a:cs typeface="Calibri"/>
              <a:sym typeface="Calibri"/>
            </a:endParaRPr>
          </a:p>
        </p:txBody>
      </p:sp>
      <p:sp>
        <p:nvSpPr>
          <p:cNvPr id="401" name="Google Shape;401;p26"/>
          <p:cNvSpPr txBox="1"/>
          <p:nvPr/>
        </p:nvSpPr>
        <p:spPr>
          <a:xfrm>
            <a:off x="548640" y="1325880"/>
            <a:ext cx="5486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7185"/>
              </a:buClr>
              <a:buSzPts val="1300"/>
              <a:buFont typeface="Calibri"/>
              <a:buNone/>
            </a:pPr>
            <a:r>
              <a:rPr b="1" lang="en-US" sz="1300">
                <a:solidFill>
                  <a:srgbClr val="5A7185"/>
                </a:solidFill>
                <a:latin typeface="Calibri"/>
                <a:ea typeface="Calibri"/>
                <a:cs typeface="Calibri"/>
                <a:sym typeface="Calibri"/>
              </a:rPr>
              <a:t>Visualisation</a:t>
            </a:r>
            <a:endParaRPr sz="1300">
              <a:solidFill>
                <a:schemeClr val="dk1"/>
              </a:solidFill>
              <a:latin typeface="Calibri"/>
              <a:ea typeface="Calibri"/>
              <a:cs typeface="Calibri"/>
              <a:sym typeface="Calibri"/>
            </a:endParaRPr>
          </a:p>
        </p:txBody>
      </p:sp>
      <p:sp>
        <p:nvSpPr>
          <p:cNvPr id="402" name="Google Shape;402;p26"/>
          <p:cNvSpPr/>
          <p:nvPr/>
        </p:nvSpPr>
        <p:spPr>
          <a:xfrm>
            <a:off x="548640" y="1691640"/>
            <a:ext cx="6035040" cy="4663440"/>
          </a:xfrm>
          <a:prstGeom prst="roundRect">
            <a:avLst>
              <a:gd fmla="val 1961" name="adj"/>
            </a:avLst>
          </a:prstGeom>
          <a:solidFill>
            <a:srgbClr val="FFFFFF"/>
          </a:solidFill>
          <a:ln cap="flat" cmpd="sng" w="12700">
            <a:solidFill>
              <a:srgbClr val="C9DC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mg/cell55_0.png" id="403" name="Google Shape;403;p26"/>
          <p:cNvPicPr preferRelativeResize="0"/>
          <p:nvPr/>
        </p:nvPicPr>
        <p:blipFill rotWithShape="1">
          <a:blip r:embed="rId3">
            <a:alphaModFix/>
          </a:blip>
          <a:srcRect b="0" l="0" r="0" t="0"/>
          <a:stretch/>
        </p:blipFill>
        <p:spPr>
          <a:xfrm>
            <a:off x="685800" y="2560320"/>
            <a:ext cx="5760720" cy="2935224"/>
          </a:xfrm>
          <a:prstGeom prst="rect">
            <a:avLst/>
          </a:prstGeom>
          <a:noFill/>
          <a:ln>
            <a:noFill/>
          </a:ln>
        </p:spPr>
      </p:pic>
      <p:sp>
        <p:nvSpPr>
          <p:cNvPr id="404" name="Google Shape;404;p26"/>
          <p:cNvSpPr/>
          <p:nvPr/>
        </p:nvSpPr>
        <p:spPr>
          <a:xfrm>
            <a:off x="6812280" y="1691640"/>
            <a:ext cx="4800600" cy="2331720"/>
          </a:xfrm>
          <a:prstGeom prst="roundRect">
            <a:avLst>
              <a:gd fmla="val 3922" name="adj"/>
            </a:avLst>
          </a:prstGeom>
          <a:solidFill>
            <a:srgbClr val="FFFFFF"/>
          </a:solidFill>
          <a:ln cap="flat" cmpd="sng" w="12700">
            <a:solidFill>
              <a:srgbClr val="C9DC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26"/>
          <p:cNvSpPr txBox="1"/>
          <p:nvPr/>
        </p:nvSpPr>
        <p:spPr>
          <a:xfrm>
            <a:off x="6995160" y="1810512"/>
            <a:ext cx="44805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B84"/>
              </a:buClr>
              <a:buSzPts val="1500"/>
              <a:buFont typeface="Cambria"/>
              <a:buNone/>
            </a:pPr>
            <a:r>
              <a:rPr b="1" lang="en-US" sz="1500">
                <a:solidFill>
                  <a:srgbClr val="2B5B84"/>
                </a:solidFill>
                <a:latin typeface="Cambria"/>
                <a:ea typeface="Cambria"/>
                <a:cs typeface="Cambria"/>
                <a:sym typeface="Cambria"/>
              </a:rPr>
              <a:t>What the chart shows</a:t>
            </a:r>
            <a:endParaRPr sz="1500">
              <a:solidFill>
                <a:schemeClr val="dk1"/>
              </a:solidFill>
              <a:latin typeface="Calibri"/>
              <a:ea typeface="Calibri"/>
              <a:cs typeface="Calibri"/>
              <a:sym typeface="Calibri"/>
            </a:endParaRPr>
          </a:p>
        </p:txBody>
      </p:sp>
      <p:sp>
        <p:nvSpPr>
          <p:cNvPr id="406" name="Google Shape;406;p26"/>
          <p:cNvSpPr txBox="1"/>
          <p:nvPr/>
        </p:nvSpPr>
        <p:spPr>
          <a:xfrm>
            <a:off x="6995160" y="2148840"/>
            <a:ext cx="4480560" cy="1764792"/>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B2A38"/>
              </a:buClr>
              <a:buSzPts val="1100"/>
              <a:buFont typeface="Calibri"/>
              <a:buNone/>
            </a:pPr>
            <a:r>
              <a:rPr lang="en-US" sz="1100">
                <a:solidFill>
                  <a:srgbClr val="1B2A38"/>
                </a:solidFill>
                <a:latin typeface="Calibri"/>
                <a:ea typeface="Calibri"/>
                <a:cs typeface="Calibri"/>
                <a:sym typeface="Calibri"/>
              </a:rPr>
              <a:t>Average limit rises from about Rp 0,45 miliar at age 20 to about Rp 0,85 miliar at age 60.</a:t>
            </a:r>
            <a:endParaRPr sz="1100">
              <a:solidFill>
                <a:schemeClr val="dk1"/>
              </a:solidFill>
              <a:latin typeface="Calibri"/>
              <a:ea typeface="Calibri"/>
              <a:cs typeface="Calibri"/>
              <a:sym typeface="Calibri"/>
            </a:endParaRPr>
          </a:p>
          <a:p>
            <a:pPr indent="0" lvl="0" marL="0" marR="0" rtl="0" algn="l">
              <a:lnSpc>
                <a:spcPct val="105000"/>
              </a:lnSpc>
              <a:spcBef>
                <a:spcPts val="600"/>
              </a:spcBef>
              <a:spcAft>
                <a:spcPts val="0"/>
              </a:spcAft>
              <a:buClr>
                <a:srgbClr val="1B2A38"/>
              </a:buClr>
              <a:buSzPts val="1100"/>
              <a:buFont typeface="Calibri"/>
              <a:buNone/>
            </a:pPr>
            <a:r>
              <a:rPr lang="en-US" sz="1100">
                <a:solidFill>
                  <a:srgbClr val="1B2A38"/>
                </a:solidFill>
                <a:latin typeface="Calibri"/>
                <a:ea typeface="Calibri"/>
                <a:cs typeface="Calibri"/>
                <a:sym typeface="Calibri"/>
              </a:rPr>
              <a:t>The line is noisy year to year, but the upward direction is consistent.</a:t>
            </a:r>
            <a:endParaRPr sz="1100">
              <a:solidFill>
                <a:schemeClr val="dk1"/>
              </a:solidFill>
              <a:latin typeface="Calibri"/>
              <a:ea typeface="Calibri"/>
              <a:cs typeface="Calibri"/>
              <a:sym typeface="Calibri"/>
            </a:endParaRPr>
          </a:p>
          <a:p>
            <a:pPr indent="0" lvl="0" marL="0" marR="0" rtl="0" algn="l">
              <a:lnSpc>
                <a:spcPct val="105000"/>
              </a:lnSpc>
              <a:spcBef>
                <a:spcPts val="600"/>
              </a:spcBef>
              <a:spcAft>
                <a:spcPts val="0"/>
              </a:spcAft>
              <a:buClr>
                <a:srgbClr val="1B2A38"/>
              </a:buClr>
              <a:buSzPts val="1100"/>
              <a:buFont typeface="Calibri"/>
              <a:buNone/>
            </a:pPr>
            <a:r>
              <a:rPr lang="en-US" sz="1100">
                <a:solidFill>
                  <a:srgbClr val="1B2A38"/>
                </a:solidFill>
                <a:latin typeface="Calibri"/>
                <a:ea typeface="Calibri"/>
                <a:cs typeface="Calibri"/>
                <a:sym typeface="Calibri"/>
              </a:rPr>
              <a:t>Ages above 60 are excluded because those groups are too small to be stable.</a:t>
            </a:r>
            <a:endParaRPr sz="1100">
              <a:solidFill>
                <a:schemeClr val="dk1"/>
              </a:solidFill>
              <a:latin typeface="Calibri"/>
              <a:ea typeface="Calibri"/>
              <a:cs typeface="Calibri"/>
              <a:sym typeface="Calibri"/>
            </a:endParaRPr>
          </a:p>
        </p:txBody>
      </p:sp>
      <p:sp>
        <p:nvSpPr>
          <p:cNvPr id="407" name="Google Shape;407;p26"/>
          <p:cNvSpPr/>
          <p:nvPr/>
        </p:nvSpPr>
        <p:spPr>
          <a:xfrm>
            <a:off x="6812280" y="4160520"/>
            <a:ext cx="4800600" cy="2194560"/>
          </a:xfrm>
          <a:prstGeom prst="roundRect">
            <a:avLst>
              <a:gd fmla="val 4167" name="adj"/>
            </a:avLst>
          </a:prstGeom>
          <a:solidFill>
            <a:srgbClr val="FFD43B"/>
          </a:solidFill>
          <a:ln cap="flat" cmpd="sng" w="12700">
            <a:solidFill>
              <a:srgbClr val="FFD4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26"/>
          <p:cNvSpPr txBox="1"/>
          <p:nvPr/>
        </p:nvSpPr>
        <p:spPr>
          <a:xfrm>
            <a:off x="6995160" y="4279392"/>
            <a:ext cx="44805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8"/>
              </a:buClr>
              <a:buSzPts val="1500"/>
              <a:buFont typeface="Cambria"/>
              <a:buNone/>
            </a:pPr>
            <a:r>
              <a:rPr b="1" lang="en-US" sz="1500">
                <a:solidFill>
                  <a:srgbClr val="1B2A38"/>
                </a:solidFill>
                <a:latin typeface="Cambria"/>
                <a:ea typeface="Cambria"/>
                <a:cs typeface="Cambria"/>
                <a:sym typeface="Cambria"/>
              </a:rPr>
              <a:t>Recommendation</a:t>
            </a:r>
            <a:endParaRPr sz="1500">
              <a:solidFill>
                <a:schemeClr val="dk1"/>
              </a:solidFill>
              <a:latin typeface="Calibri"/>
              <a:ea typeface="Calibri"/>
              <a:cs typeface="Calibri"/>
              <a:sym typeface="Calibri"/>
            </a:endParaRPr>
          </a:p>
        </p:txBody>
      </p:sp>
      <p:sp>
        <p:nvSpPr>
          <p:cNvPr id="409" name="Google Shape;409;p26"/>
          <p:cNvSpPr txBox="1"/>
          <p:nvPr/>
        </p:nvSpPr>
        <p:spPr>
          <a:xfrm>
            <a:off x="6995160" y="4617720"/>
            <a:ext cx="4480560" cy="1627632"/>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B2A38"/>
              </a:buClr>
              <a:buSzPts val="1100"/>
              <a:buFont typeface="Calibri"/>
              <a:buNone/>
            </a:pPr>
            <a:r>
              <a:rPr lang="en-US" sz="1100">
                <a:solidFill>
                  <a:srgbClr val="1B2A38"/>
                </a:solidFill>
                <a:latin typeface="Calibri"/>
                <a:ea typeface="Calibri"/>
                <a:cs typeface="Calibri"/>
                <a:sym typeface="Calibri"/>
              </a:rPr>
              <a:t>The relationship is positive, and it tracks income and credit history rather than spending appetite. Younger customers with a strong score are therefore capped below their real capacity. Raise limits selectively for users under 35 with a Good or better score and low DTI, but note that an unused limit earns no MDR revenue and only adds default exposure.</a:t>
            </a:r>
            <a:endParaRPr sz="1100">
              <a:solidFill>
                <a:schemeClr val="dk1"/>
              </a:solidFill>
              <a:latin typeface="Calibri"/>
              <a:ea typeface="Calibri"/>
              <a:cs typeface="Calibri"/>
              <a:sym typeface="Calibri"/>
            </a:endParaRPr>
          </a:p>
        </p:txBody>
      </p:sp>
      <p:sp>
        <p:nvSpPr>
          <p:cNvPr id="410" name="Google Shape;410;p26"/>
          <p:cNvSpPr txBox="1"/>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7185"/>
              </a:buClr>
              <a:buSzPts val="900"/>
              <a:buFont typeface="Calibri"/>
              <a:buNone/>
            </a:pPr>
            <a:r>
              <a:rPr lang="en-US" sz="900">
                <a:solidFill>
                  <a:srgbClr val="5A7185"/>
                </a:solidFill>
                <a:latin typeface="Calibri"/>
                <a:ea typeface="Calibri"/>
                <a:cs typeface="Calibri"/>
                <a:sym typeface="Calibri"/>
              </a:rPr>
              <a:t>Credit Card &amp; User Data Analysis – Milestone 2</a:t>
            </a:r>
            <a:endParaRPr sz="900">
              <a:solidFill>
                <a:schemeClr val="dk1"/>
              </a:solidFill>
              <a:latin typeface="Calibri"/>
              <a:ea typeface="Calibri"/>
              <a:cs typeface="Calibri"/>
              <a:sym typeface="Calibri"/>
            </a:endParaRPr>
          </a:p>
        </p:txBody>
      </p:sp>
      <p:sp>
        <p:nvSpPr>
          <p:cNvPr id="411" name="Google Shape;411;p26"/>
          <p:cNvSpPr txBox="1"/>
          <p:nvPr/>
        </p:nvSpPr>
        <p:spPr>
          <a:xfrm>
            <a:off x="11247120" y="649224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7185"/>
              </a:buClr>
              <a:buSzPts val="900"/>
              <a:buFont typeface="Calibri"/>
              <a:buNone/>
            </a:pPr>
            <a:r>
              <a:rPr lang="en-US" sz="900">
                <a:solidFill>
                  <a:srgbClr val="5A7185"/>
                </a:solidFill>
                <a:latin typeface="Calibri"/>
                <a:ea typeface="Calibri"/>
                <a:cs typeface="Calibri"/>
                <a:sym typeface="Calibri"/>
              </a:rPr>
              <a:t>26</a:t>
            </a:r>
            <a:endParaRPr sz="9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B"/>
        </a:solidFill>
      </p:bgPr>
    </p:bg>
    <p:spTree>
      <p:nvGrpSpPr>
        <p:cNvPr id="416" name="Shape 416"/>
        <p:cNvGrpSpPr/>
        <p:nvPr/>
      </p:nvGrpSpPr>
      <p:grpSpPr>
        <a:xfrm>
          <a:off x="0" y="0"/>
          <a:ext cx="0" cy="0"/>
          <a:chOff x="0" y="0"/>
          <a:chExt cx="0" cy="0"/>
        </a:xfrm>
      </p:grpSpPr>
      <p:sp>
        <p:nvSpPr>
          <p:cNvPr id="417" name="Google Shape;417;p27"/>
          <p:cNvSpPr txBox="1"/>
          <p:nvPr/>
        </p:nvSpPr>
        <p:spPr>
          <a:xfrm>
            <a:off x="548640" y="457200"/>
            <a:ext cx="10972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B84"/>
              </a:buClr>
              <a:buSzPts val="2400"/>
              <a:buFont typeface="Cambria"/>
              <a:buNone/>
            </a:pPr>
            <a:r>
              <a:rPr b="1" lang="en-US" sz="2400">
                <a:solidFill>
                  <a:srgbClr val="2B5B84"/>
                </a:solidFill>
                <a:latin typeface="Cambria"/>
                <a:ea typeface="Cambria"/>
                <a:cs typeface="Cambria"/>
                <a:sym typeface="Cambria"/>
              </a:rPr>
              <a:t>Summary of Key Findings</a:t>
            </a:r>
            <a:endParaRPr sz="2400">
              <a:solidFill>
                <a:schemeClr val="dk1"/>
              </a:solidFill>
              <a:latin typeface="Calibri"/>
              <a:ea typeface="Calibri"/>
              <a:cs typeface="Calibri"/>
              <a:sym typeface="Calibri"/>
            </a:endParaRPr>
          </a:p>
        </p:txBody>
      </p:sp>
      <p:sp>
        <p:nvSpPr>
          <p:cNvPr id="418" name="Google Shape;418;p27"/>
          <p:cNvSpPr txBox="1"/>
          <p:nvPr/>
        </p:nvSpPr>
        <p:spPr>
          <a:xfrm>
            <a:off x="868680" y="1371600"/>
            <a:ext cx="10378440" cy="338328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None/>
            </a:pPr>
            <a:r>
              <a:rPr b="1" lang="en-US" sz="1300">
                <a:solidFill>
                  <a:srgbClr val="1B2A38"/>
                </a:solidFill>
                <a:latin typeface="Calibri"/>
                <a:ea typeface="Calibri"/>
                <a:cs typeface="Calibri"/>
                <a:sym typeface="Calibri"/>
              </a:rPr>
              <a:t>Profitable, but thin margin: </a:t>
            </a:r>
            <a:r>
              <a:rPr lang="en-US" sz="1300">
                <a:solidFill>
                  <a:srgbClr val="1B2A38"/>
                </a:solidFill>
                <a:latin typeface="Calibri"/>
                <a:ea typeface="Calibri"/>
                <a:cs typeface="Calibri"/>
                <a:sym typeface="Calibri"/>
              </a:rPr>
              <a:t>net profit for the last 6 months is Rp 5,82 miliar, from Rp 6,84 miliar of MDR revenue on Rp 455,9 miliar of legitimate sales minus Rp 1,01 miliar of fraud.</a:t>
            </a:r>
            <a:endParaRPr sz="1300">
              <a:solidFill>
                <a:schemeClr val="dk1"/>
              </a:solidFill>
              <a:latin typeface="Calibri"/>
              <a:ea typeface="Calibri"/>
              <a:cs typeface="Calibri"/>
              <a:sym typeface="Calibri"/>
            </a:endParaRPr>
          </a:p>
          <a:p>
            <a:pPr indent="0" lvl="0" marL="0" marR="0" rtl="0" algn="l">
              <a:lnSpc>
                <a:spcPct val="108000"/>
              </a:lnSpc>
              <a:spcBef>
                <a:spcPts val="1200"/>
              </a:spcBef>
              <a:spcAft>
                <a:spcPts val="0"/>
              </a:spcAft>
              <a:buClr>
                <a:srgbClr val="1B2A38"/>
              </a:buClr>
              <a:buSzPts val="1300"/>
              <a:buFont typeface="Calibri"/>
              <a:buNone/>
            </a:pPr>
            <a:r>
              <a:rPr b="1" lang="en-US" sz="1300">
                <a:solidFill>
                  <a:srgbClr val="1B2A38"/>
                </a:solidFill>
                <a:latin typeface="Calibri"/>
                <a:ea typeface="Calibri"/>
                <a:cs typeface="Calibri"/>
                <a:sym typeface="Calibri"/>
              </a:rPr>
              <a:t>Fraud is contained: </a:t>
            </a:r>
            <a:r>
              <a:rPr lang="en-US" sz="1300">
                <a:solidFill>
                  <a:srgbClr val="1B2A38"/>
                </a:solidFill>
                <a:latin typeface="Calibri"/>
                <a:ea typeface="Calibri"/>
                <a:cs typeface="Calibri"/>
                <a:sym typeface="Calibri"/>
              </a:rPr>
              <a:t>the fraud rate is 0,22% of transaction value, well below the ~1% safe benchmark, yet it still erases 14,8% of gross MDR revenue.</a:t>
            </a:r>
            <a:endParaRPr sz="1300">
              <a:solidFill>
                <a:schemeClr val="dk1"/>
              </a:solidFill>
              <a:latin typeface="Calibri"/>
              <a:ea typeface="Calibri"/>
              <a:cs typeface="Calibri"/>
              <a:sym typeface="Calibri"/>
            </a:endParaRPr>
          </a:p>
          <a:p>
            <a:pPr indent="0" lvl="0" marL="0" marR="0" rtl="0" algn="l">
              <a:lnSpc>
                <a:spcPct val="108000"/>
              </a:lnSpc>
              <a:spcBef>
                <a:spcPts val="1200"/>
              </a:spcBef>
              <a:spcAft>
                <a:spcPts val="0"/>
              </a:spcAft>
              <a:buClr>
                <a:srgbClr val="1B2A38"/>
              </a:buClr>
              <a:buSzPts val="1300"/>
              <a:buFont typeface="Calibri"/>
              <a:buNone/>
            </a:pPr>
            <a:r>
              <a:rPr b="1" lang="en-US" sz="1300">
                <a:solidFill>
                  <a:srgbClr val="1B2A38"/>
                </a:solidFill>
                <a:latin typeface="Calibri"/>
                <a:ea typeface="Calibri"/>
                <a:cs typeface="Calibri"/>
                <a:sym typeface="Calibri"/>
              </a:rPr>
              <a:t>Brands behave differently: </a:t>
            </a:r>
            <a:r>
              <a:rPr lang="en-US" sz="1300">
                <a:solidFill>
                  <a:srgbClr val="1B2A38"/>
                </a:solidFill>
                <a:latin typeface="Calibri"/>
                <a:ea typeface="Calibri"/>
                <a:cs typeface="Calibri"/>
                <a:sym typeface="Calibri"/>
              </a:rPr>
              <a:t>Amex is the highest-value brand per card (Rp 98,9 juta), Mastercard the most frequently used (121,9 transactions), and JCB the weakest on both.</a:t>
            </a:r>
            <a:endParaRPr sz="1300">
              <a:solidFill>
                <a:schemeClr val="dk1"/>
              </a:solidFill>
              <a:latin typeface="Calibri"/>
              <a:ea typeface="Calibri"/>
              <a:cs typeface="Calibri"/>
              <a:sym typeface="Calibri"/>
            </a:endParaRPr>
          </a:p>
          <a:p>
            <a:pPr indent="0" lvl="0" marL="0" marR="0" rtl="0" algn="l">
              <a:lnSpc>
                <a:spcPct val="108000"/>
              </a:lnSpc>
              <a:spcBef>
                <a:spcPts val="1200"/>
              </a:spcBef>
              <a:spcAft>
                <a:spcPts val="0"/>
              </a:spcAft>
              <a:buClr>
                <a:srgbClr val="1B2A38"/>
              </a:buClr>
              <a:buSzPts val="1300"/>
              <a:buFont typeface="Calibri"/>
              <a:buNone/>
            </a:pPr>
            <a:r>
              <a:rPr b="1" lang="en-US" sz="1300">
                <a:solidFill>
                  <a:srgbClr val="1B2A38"/>
                </a:solidFill>
                <a:latin typeface="Calibri"/>
                <a:ea typeface="Calibri"/>
                <a:cs typeface="Calibri"/>
                <a:sym typeface="Calibri"/>
              </a:rPr>
              <a:t>DTI vs retirement: </a:t>
            </a:r>
            <a:r>
              <a:rPr lang="en-US" sz="1300">
                <a:solidFill>
                  <a:srgbClr val="1B2A38"/>
                </a:solidFill>
                <a:latin typeface="Calibri"/>
                <a:ea typeface="Calibri"/>
                <a:cs typeface="Calibri"/>
                <a:sym typeface="Calibri"/>
              </a:rPr>
              <a:t>retired users are not riskier, with a median DTI of 0,14 against 0,30 for non-retired users, so the long high-DTI tail sits in the non-retired group.</a:t>
            </a:r>
            <a:endParaRPr sz="1300">
              <a:solidFill>
                <a:schemeClr val="dk1"/>
              </a:solidFill>
              <a:latin typeface="Calibri"/>
              <a:ea typeface="Calibri"/>
              <a:cs typeface="Calibri"/>
              <a:sym typeface="Calibri"/>
            </a:endParaRPr>
          </a:p>
          <a:p>
            <a:pPr indent="0" lvl="0" marL="0" marR="0" rtl="0" algn="l">
              <a:lnSpc>
                <a:spcPct val="108000"/>
              </a:lnSpc>
              <a:spcBef>
                <a:spcPts val="1200"/>
              </a:spcBef>
              <a:spcAft>
                <a:spcPts val="0"/>
              </a:spcAft>
              <a:buClr>
                <a:srgbClr val="1B2A38"/>
              </a:buClr>
              <a:buSzPts val="1300"/>
              <a:buFont typeface="Calibri"/>
              <a:buNone/>
            </a:pPr>
            <a:r>
              <a:rPr b="1" lang="en-US" sz="1300">
                <a:solidFill>
                  <a:srgbClr val="1B2A38"/>
                </a:solidFill>
                <a:latin typeface="Calibri"/>
                <a:ea typeface="Calibri"/>
                <a:cs typeface="Calibri"/>
                <a:sym typeface="Calibri"/>
              </a:rPr>
              <a:t>DTI vs credit score: </a:t>
            </a:r>
            <a:r>
              <a:rPr lang="en-US" sz="1300">
                <a:solidFill>
                  <a:srgbClr val="1B2A38"/>
                </a:solidFill>
                <a:latin typeface="Calibri"/>
                <a:ea typeface="Calibri"/>
                <a:cs typeface="Calibri"/>
                <a:sym typeface="Calibri"/>
              </a:rPr>
              <a:t>average DTI falls from 0,3182 (Fair) to 0,2429 (Exceptional), and about 82% of transaction value already comes from the Good to Exceptional groups.</a:t>
            </a:r>
            <a:endParaRPr sz="1300">
              <a:solidFill>
                <a:schemeClr val="dk1"/>
              </a:solidFill>
              <a:latin typeface="Calibri"/>
              <a:ea typeface="Calibri"/>
              <a:cs typeface="Calibri"/>
              <a:sym typeface="Calibri"/>
            </a:endParaRPr>
          </a:p>
          <a:p>
            <a:pPr indent="0" lvl="0" marL="0" marR="0" rtl="0" algn="l">
              <a:lnSpc>
                <a:spcPct val="108000"/>
              </a:lnSpc>
              <a:spcBef>
                <a:spcPts val="1200"/>
              </a:spcBef>
              <a:spcAft>
                <a:spcPts val="0"/>
              </a:spcAft>
              <a:buClr>
                <a:srgbClr val="1B2A38"/>
              </a:buClr>
              <a:buSzPts val="1300"/>
              <a:buFont typeface="Calibri"/>
              <a:buNone/>
            </a:pPr>
            <a:r>
              <a:rPr b="1" lang="en-US" sz="1300">
                <a:solidFill>
                  <a:srgbClr val="1B2A38"/>
                </a:solidFill>
                <a:latin typeface="Calibri"/>
                <a:ea typeface="Calibri"/>
                <a:cs typeface="Calibri"/>
                <a:sym typeface="Calibri"/>
              </a:rPr>
              <a:t>Age vs credit limit: </a:t>
            </a:r>
            <a:r>
              <a:rPr lang="en-US" sz="1300">
                <a:solidFill>
                  <a:srgbClr val="1B2A38"/>
                </a:solidFill>
                <a:latin typeface="Calibri"/>
                <a:ea typeface="Calibri"/>
                <a:cs typeface="Calibri"/>
                <a:sym typeface="Calibri"/>
              </a:rPr>
              <a:t>the average limit roughly doubles between the early twenties and age 60, so younger high-score customers are capped below their capacity.</a:t>
            </a:r>
            <a:endParaRPr sz="1300">
              <a:solidFill>
                <a:schemeClr val="dk1"/>
              </a:solidFill>
              <a:latin typeface="Calibri"/>
              <a:ea typeface="Calibri"/>
              <a:cs typeface="Calibri"/>
              <a:sym typeface="Calibri"/>
            </a:endParaRPr>
          </a:p>
        </p:txBody>
      </p:sp>
      <p:sp>
        <p:nvSpPr>
          <p:cNvPr id="419" name="Google Shape;419;p27"/>
          <p:cNvSpPr/>
          <p:nvPr/>
        </p:nvSpPr>
        <p:spPr>
          <a:xfrm>
            <a:off x="685800" y="4892040"/>
            <a:ext cx="3429000" cy="1280160"/>
          </a:xfrm>
          <a:prstGeom prst="roundRect">
            <a:avLst>
              <a:gd fmla="val 7143" name="adj"/>
            </a:avLst>
          </a:prstGeom>
          <a:solidFill>
            <a:srgbClr val="FFFFFF"/>
          </a:solidFill>
          <a:ln cap="flat" cmpd="sng" w="12700">
            <a:solidFill>
              <a:srgbClr val="C9DC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27"/>
          <p:cNvSpPr txBox="1"/>
          <p:nvPr/>
        </p:nvSpPr>
        <p:spPr>
          <a:xfrm>
            <a:off x="914400" y="5029200"/>
            <a:ext cx="297180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06998"/>
              </a:buClr>
              <a:buSzPts val="2800"/>
              <a:buFont typeface="Cambria"/>
              <a:buNone/>
            </a:pPr>
            <a:r>
              <a:rPr b="1" lang="en-US" sz="2800">
                <a:solidFill>
                  <a:srgbClr val="306998"/>
                </a:solidFill>
                <a:latin typeface="Cambria"/>
                <a:ea typeface="Cambria"/>
                <a:cs typeface="Cambria"/>
                <a:sym typeface="Cambria"/>
              </a:rPr>
              <a:t>Rp 5,82 M</a:t>
            </a:r>
            <a:endParaRPr sz="2800">
              <a:solidFill>
                <a:schemeClr val="dk1"/>
              </a:solidFill>
              <a:latin typeface="Calibri"/>
              <a:ea typeface="Calibri"/>
              <a:cs typeface="Calibri"/>
              <a:sym typeface="Calibri"/>
            </a:endParaRPr>
          </a:p>
        </p:txBody>
      </p:sp>
      <p:sp>
        <p:nvSpPr>
          <p:cNvPr id="421" name="Google Shape;421;p27"/>
          <p:cNvSpPr txBox="1"/>
          <p:nvPr/>
        </p:nvSpPr>
        <p:spPr>
          <a:xfrm>
            <a:off x="914400" y="5577840"/>
            <a:ext cx="2971800" cy="5029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A7185"/>
              </a:buClr>
              <a:buSzPts val="1100"/>
              <a:buFont typeface="Calibri"/>
              <a:buNone/>
            </a:pPr>
            <a:r>
              <a:rPr lang="en-US" sz="1100">
                <a:solidFill>
                  <a:srgbClr val="5A7185"/>
                </a:solidFill>
                <a:latin typeface="Calibri"/>
                <a:ea typeface="Calibri"/>
                <a:cs typeface="Calibri"/>
                <a:sym typeface="Calibri"/>
              </a:rPr>
              <a:t>net profit in 6 months</a:t>
            </a:r>
            <a:endParaRPr sz="1100">
              <a:solidFill>
                <a:schemeClr val="dk1"/>
              </a:solidFill>
              <a:latin typeface="Calibri"/>
              <a:ea typeface="Calibri"/>
              <a:cs typeface="Calibri"/>
              <a:sym typeface="Calibri"/>
            </a:endParaRPr>
          </a:p>
        </p:txBody>
      </p:sp>
      <p:sp>
        <p:nvSpPr>
          <p:cNvPr id="422" name="Google Shape;422;p27"/>
          <p:cNvSpPr/>
          <p:nvPr/>
        </p:nvSpPr>
        <p:spPr>
          <a:xfrm>
            <a:off x="4389120" y="4892040"/>
            <a:ext cx="3429000" cy="1280160"/>
          </a:xfrm>
          <a:prstGeom prst="roundRect">
            <a:avLst>
              <a:gd fmla="val 7143" name="adj"/>
            </a:avLst>
          </a:prstGeom>
          <a:solidFill>
            <a:srgbClr val="FFFFFF"/>
          </a:solidFill>
          <a:ln cap="flat" cmpd="sng" w="12700">
            <a:solidFill>
              <a:srgbClr val="C9DC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27"/>
          <p:cNvSpPr txBox="1"/>
          <p:nvPr/>
        </p:nvSpPr>
        <p:spPr>
          <a:xfrm>
            <a:off x="4617720" y="5029200"/>
            <a:ext cx="297180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06998"/>
              </a:buClr>
              <a:buSzPts val="2800"/>
              <a:buFont typeface="Cambria"/>
              <a:buNone/>
            </a:pPr>
            <a:r>
              <a:rPr b="1" lang="en-US" sz="2800">
                <a:solidFill>
                  <a:srgbClr val="306998"/>
                </a:solidFill>
                <a:latin typeface="Cambria"/>
                <a:ea typeface="Cambria"/>
                <a:cs typeface="Cambria"/>
                <a:sym typeface="Cambria"/>
              </a:rPr>
              <a:t>0,22%</a:t>
            </a:r>
            <a:endParaRPr sz="2800">
              <a:solidFill>
                <a:schemeClr val="dk1"/>
              </a:solidFill>
              <a:latin typeface="Calibri"/>
              <a:ea typeface="Calibri"/>
              <a:cs typeface="Calibri"/>
              <a:sym typeface="Calibri"/>
            </a:endParaRPr>
          </a:p>
        </p:txBody>
      </p:sp>
      <p:sp>
        <p:nvSpPr>
          <p:cNvPr id="424" name="Google Shape;424;p27"/>
          <p:cNvSpPr txBox="1"/>
          <p:nvPr/>
        </p:nvSpPr>
        <p:spPr>
          <a:xfrm>
            <a:off x="4617720" y="5577840"/>
            <a:ext cx="2971800" cy="5029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A7185"/>
              </a:buClr>
              <a:buSzPts val="1100"/>
              <a:buFont typeface="Calibri"/>
              <a:buNone/>
            </a:pPr>
            <a:r>
              <a:rPr lang="en-US" sz="1100">
                <a:solidFill>
                  <a:srgbClr val="5A7185"/>
                </a:solidFill>
                <a:latin typeface="Calibri"/>
                <a:ea typeface="Calibri"/>
                <a:cs typeface="Calibri"/>
                <a:sym typeface="Calibri"/>
              </a:rPr>
              <a:t>fraud rate, safe benchmark is 1%</a:t>
            </a:r>
            <a:endParaRPr sz="1100">
              <a:solidFill>
                <a:schemeClr val="dk1"/>
              </a:solidFill>
              <a:latin typeface="Calibri"/>
              <a:ea typeface="Calibri"/>
              <a:cs typeface="Calibri"/>
              <a:sym typeface="Calibri"/>
            </a:endParaRPr>
          </a:p>
        </p:txBody>
      </p:sp>
      <p:sp>
        <p:nvSpPr>
          <p:cNvPr id="425" name="Google Shape;425;p27"/>
          <p:cNvSpPr/>
          <p:nvPr/>
        </p:nvSpPr>
        <p:spPr>
          <a:xfrm>
            <a:off x="8092440" y="4892040"/>
            <a:ext cx="3429000" cy="1280160"/>
          </a:xfrm>
          <a:prstGeom prst="roundRect">
            <a:avLst>
              <a:gd fmla="val 7143" name="adj"/>
            </a:avLst>
          </a:prstGeom>
          <a:solidFill>
            <a:srgbClr val="FFFFFF"/>
          </a:solidFill>
          <a:ln cap="flat" cmpd="sng" w="12700">
            <a:solidFill>
              <a:srgbClr val="C9DC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27"/>
          <p:cNvSpPr txBox="1"/>
          <p:nvPr/>
        </p:nvSpPr>
        <p:spPr>
          <a:xfrm>
            <a:off x="8321040" y="5029200"/>
            <a:ext cx="297180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06998"/>
              </a:buClr>
              <a:buSzPts val="2800"/>
              <a:buFont typeface="Cambria"/>
              <a:buNone/>
            </a:pPr>
            <a:r>
              <a:rPr b="1" lang="en-US" sz="2800">
                <a:solidFill>
                  <a:srgbClr val="306998"/>
                </a:solidFill>
                <a:latin typeface="Cambria"/>
                <a:ea typeface="Cambria"/>
                <a:cs typeface="Cambria"/>
                <a:sym typeface="Cambria"/>
              </a:rPr>
              <a:t>82%</a:t>
            </a:r>
            <a:endParaRPr sz="2800">
              <a:solidFill>
                <a:schemeClr val="dk1"/>
              </a:solidFill>
              <a:latin typeface="Calibri"/>
              <a:ea typeface="Calibri"/>
              <a:cs typeface="Calibri"/>
              <a:sym typeface="Calibri"/>
            </a:endParaRPr>
          </a:p>
        </p:txBody>
      </p:sp>
      <p:sp>
        <p:nvSpPr>
          <p:cNvPr id="427" name="Google Shape;427;p27"/>
          <p:cNvSpPr txBox="1"/>
          <p:nvPr/>
        </p:nvSpPr>
        <p:spPr>
          <a:xfrm>
            <a:off x="8321040" y="5577840"/>
            <a:ext cx="2971800" cy="5029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A7185"/>
              </a:buClr>
              <a:buSzPts val="1100"/>
              <a:buFont typeface="Calibri"/>
              <a:buNone/>
            </a:pPr>
            <a:r>
              <a:rPr lang="en-US" sz="1100">
                <a:solidFill>
                  <a:srgbClr val="5A7185"/>
                </a:solidFill>
                <a:latin typeface="Calibri"/>
                <a:ea typeface="Calibri"/>
                <a:cs typeface="Calibri"/>
                <a:sym typeface="Calibri"/>
              </a:rPr>
              <a:t>of value from Good to Exceptional scores</a:t>
            </a:r>
            <a:endParaRPr sz="1100">
              <a:solidFill>
                <a:schemeClr val="dk1"/>
              </a:solidFill>
              <a:latin typeface="Calibri"/>
              <a:ea typeface="Calibri"/>
              <a:cs typeface="Calibri"/>
              <a:sym typeface="Calibri"/>
            </a:endParaRPr>
          </a:p>
        </p:txBody>
      </p:sp>
      <p:sp>
        <p:nvSpPr>
          <p:cNvPr id="428" name="Google Shape;428;p27"/>
          <p:cNvSpPr txBox="1"/>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7185"/>
              </a:buClr>
              <a:buSzPts val="900"/>
              <a:buFont typeface="Calibri"/>
              <a:buNone/>
            </a:pPr>
            <a:r>
              <a:rPr lang="en-US" sz="900">
                <a:solidFill>
                  <a:srgbClr val="5A7185"/>
                </a:solidFill>
                <a:latin typeface="Calibri"/>
                <a:ea typeface="Calibri"/>
                <a:cs typeface="Calibri"/>
                <a:sym typeface="Calibri"/>
              </a:rPr>
              <a:t>Credit Card &amp; User Data Analysis – Milestone 2</a:t>
            </a:r>
            <a:endParaRPr sz="900">
              <a:solidFill>
                <a:schemeClr val="dk1"/>
              </a:solidFill>
              <a:latin typeface="Calibri"/>
              <a:ea typeface="Calibri"/>
              <a:cs typeface="Calibri"/>
              <a:sym typeface="Calibri"/>
            </a:endParaRPr>
          </a:p>
        </p:txBody>
      </p:sp>
      <p:sp>
        <p:nvSpPr>
          <p:cNvPr id="429" name="Google Shape;429;p27"/>
          <p:cNvSpPr txBox="1"/>
          <p:nvPr/>
        </p:nvSpPr>
        <p:spPr>
          <a:xfrm>
            <a:off x="11247120" y="649224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7185"/>
              </a:buClr>
              <a:buSzPts val="900"/>
              <a:buFont typeface="Calibri"/>
              <a:buNone/>
            </a:pPr>
            <a:r>
              <a:rPr lang="en-US" sz="900">
                <a:solidFill>
                  <a:srgbClr val="5A7185"/>
                </a:solidFill>
                <a:latin typeface="Calibri"/>
                <a:ea typeface="Calibri"/>
                <a:cs typeface="Calibri"/>
                <a:sym typeface="Calibri"/>
              </a:rPr>
              <a:t>27</a:t>
            </a:r>
            <a:endParaRPr sz="9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B"/>
        </a:solidFill>
      </p:bgPr>
    </p:bg>
    <p:spTree>
      <p:nvGrpSpPr>
        <p:cNvPr id="434" name="Shape 434"/>
        <p:cNvGrpSpPr/>
        <p:nvPr/>
      </p:nvGrpSpPr>
      <p:grpSpPr>
        <a:xfrm>
          <a:off x="0" y="0"/>
          <a:ext cx="0" cy="0"/>
          <a:chOff x="0" y="0"/>
          <a:chExt cx="0" cy="0"/>
        </a:xfrm>
      </p:grpSpPr>
      <p:sp>
        <p:nvSpPr>
          <p:cNvPr id="435" name="Google Shape;435;p28"/>
          <p:cNvSpPr txBox="1"/>
          <p:nvPr/>
        </p:nvSpPr>
        <p:spPr>
          <a:xfrm>
            <a:off x="548640" y="457200"/>
            <a:ext cx="10972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B84"/>
              </a:buClr>
              <a:buSzPts val="2400"/>
              <a:buFont typeface="Cambria"/>
              <a:buNone/>
            </a:pPr>
            <a:r>
              <a:rPr b="1" lang="en-US" sz="2400">
                <a:solidFill>
                  <a:srgbClr val="2B5B84"/>
                </a:solidFill>
                <a:latin typeface="Cambria"/>
                <a:ea typeface="Cambria"/>
                <a:cs typeface="Cambria"/>
                <a:sym typeface="Cambria"/>
              </a:rPr>
              <a:t>Recommendations for RevoBank</a:t>
            </a:r>
            <a:endParaRPr sz="2400">
              <a:solidFill>
                <a:schemeClr val="dk1"/>
              </a:solidFill>
              <a:latin typeface="Calibri"/>
              <a:ea typeface="Calibri"/>
              <a:cs typeface="Calibri"/>
              <a:sym typeface="Calibri"/>
            </a:endParaRPr>
          </a:p>
        </p:txBody>
      </p:sp>
      <p:graphicFrame>
        <p:nvGraphicFramePr>
          <p:cNvPr id="436" name="Google Shape;436;p28"/>
          <p:cNvGraphicFramePr/>
          <p:nvPr/>
        </p:nvGraphicFramePr>
        <p:xfrm>
          <a:off x="548640" y="1234440"/>
          <a:ext cx="3000000" cy="3000000"/>
        </p:xfrm>
        <a:graphic>
          <a:graphicData uri="http://schemas.openxmlformats.org/drawingml/2006/table">
            <a:tbl>
              <a:tblPr>
                <a:noFill/>
                <a:tableStyleId>{3D7D59D7-DF91-47F0-BCBC-DAAD57FB8C79}</a:tableStyleId>
              </a:tblPr>
              <a:tblGrid>
                <a:gridCol w="1874525"/>
                <a:gridCol w="3200400"/>
                <a:gridCol w="3108950"/>
                <a:gridCol w="2788925"/>
              </a:tblGrid>
              <a:tr h="749800">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Priority</a:t>
                      </a:r>
                      <a:endParaRPr sz="11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306998"/>
                    </a:solidFill>
                  </a:tcPr>
                </a:tc>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Action</a:t>
                      </a:r>
                      <a:endParaRPr sz="11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306998"/>
                    </a:solidFill>
                  </a:tcPr>
                </a:tc>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Why (evidence)</a:t>
                      </a:r>
                      <a:endParaRPr sz="11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306998"/>
                    </a:solidFill>
                  </a:tcPr>
                </a:tc>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Expected effect</a:t>
                      </a:r>
                      <a:endParaRPr sz="11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306998"/>
                    </a:solidFill>
                  </a:tcPr>
                </a:tc>
              </a:tr>
              <a:tr h="749800">
                <a:tc>
                  <a:txBody>
                    <a:bodyPr/>
                    <a:lstStyle/>
                    <a:p>
                      <a:pPr indent="0" lvl="0" marL="0" marR="0" rtl="0" algn="l">
                        <a:spcBef>
                          <a:spcPts val="0"/>
                        </a:spcBef>
                        <a:spcAft>
                          <a:spcPts val="0"/>
                        </a:spcAft>
                        <a:buClr>
                          <a:srgbClr val="1B2A38"/>
                        </a:buClr>
                        <a:buSzPts val="1100"/>
                        <a:buFont typeface="Calibri"/>
                        <a:buNone/>
                      </a:pPr>
                      <a:r>
                        <a:rPr lang="en-US" sz="1100" u="none" cap="none" strike="noStrike">
                          <a:solidFill>
                            <a:srgbClr val="1B2A38"/>
                          </a:solidFill>
                          <a:latin typeface="Calibri"/>
                          <a:ea typeface="Calibri"/>
                          <a:cs typeface="Calibri"/>
                          <a:sym typeface="Calibri"/>
                        </a:rPr>
                        <a:t>1. Grow low-risk volume</a:t>
                      </a:r>
                      <a:endParaRPr sz="11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A38"/>
                        </a:buClr>
                        <a:buSzPts val="1100"/>
                        <a:buFont typeface="Calibri"/>
                        <a:buNone/>
                      </a:pPr>
                      <a:r>
                        <a:rPr lang="en-US" sz="1100" u="none" cap="none" strike="noStrike">
                          <a:solidFill>
                            <a:srgbClr val="1B2A38"/>
                          </a:solidFill>
                          <a:latin typeface="Calibri"/>
                          <a:ea typeface="Calibri"/>
                          <a:cs typeface="Calibri"/>
                          <a:sym typeface="Calibri"/>
                        </a:rPr>
                        <a:t>Target promos and limit increases at the Good, Very Good and Exceptional credit score groups.</a:t>
                      </a:r>
                      <a:endParaRPr sz="11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A38"/>
                        </a:buClr>
                        <a:buSzPts val="1100"/>
                        <a:buFont typeface="Calibri"/>
                        <a:buNone/>
                      </a:pPr>
                      <a:r>
                        <a:rPr lang="en-US" sz="1100" u="none" cap="none" strike="noStrike">
                          <a:solidFill>
                            <a:srgbClr val="1B2A38"/>
                          </a:solidFill>
                          <a:latin typeface="Calibri"/>
                          <a:ea typeface="Calibri"/>
                          <a:cs typeface="Calibri"/>
                          <a:sym typeface="Calibri"/>
                        </a:rPr>
                        <a:t>They already carry ~82% of transaction value at an average DTI below 0,26.</a:t>
                      </a:r>
                      <a:endParaRPr sz="11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A38"/>
                        </a:buClr>
                        <a:buSzPts val="1100"/>
                        <a:buFont typeface="Calibri"/>
                        <a:buNone/>
                      </a:pPr>
                      <a:r>
                        <a:rPr lang="en-US" sz="1100" u="none" cap="none" strike="noStrike">
                          <a:solidFill>
                            <a:srgbClr val="1B2A38"/>
                          </a:solidFill>
                          <a:latin typeface="Calibri"/>
                          <a:ea typeface="Calibri"/>
                          <a:cs typeface="Calibri"/>
                          <a:sym typeface="Calibri"/>
                        </a:rPr>
                        <a:t>More MDR revenue without raising the risk profile.</a:t>
                      </a:r>
                      <a:endParaRPr sz="11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r>
              <a:tr h="749800">
                <a:tc>
                  <a:txBody>
                    <a:bodyPr/>
                    <a:lstStyle/>
                    <a:p>
                      <a:pPr indent="0" lvl="0" marL="0" marR="0" rtl="0" algn="l">
                        <a:spcBef>
                          <a:spcPts val="0"/>
                        </a:spcBef>
                        <a:spcAft>
                          <a:spcPts val="0"/>
                        </a:spcAft>
                        <a:buClr>
                          <a:srgbClr val="1B2A38"/>
                        </a:buClr>
                        <a:buSzPts val="1100"/>
                        <a:buFont typeface="Calibri"/>
                        <a:buNone/>
                      </a:pPr>
                      <a:r>
                        <a:rPr lang="en-US" sz="1100" u="none" cap="none" strike="noStrike">
                          <a:solidFill>
                            <a:srgbClr val="1B2A38"/>
                          </a:solidFill>
                          <a:latin typeface="Calibri"/>
                          <a:ea typeface="Calibri"/>
                          <a:cs typeface="Calibri"/>
                          <a:sym typeface="Calibri"/>
                        </a:rPr>
                        <a:t>2. Hold the fraud line</a:t>
                      </a:r>
                      <a:endParaRPr sz="11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l">
                        <a:spcBef>
                          <a:spcPts val="0"/>
                        </a:spcBef>
                        <a:spcAft>
                          <a:spcPts val="0"/>
                        </a:spcAft>
                        <a:buClr>
                          <a:srgbClr val="1B2A38"/>
                        </a:buClr>
                        <a:buSzPts val="1100"/>
                        <a:buFont typeface="Calibri"/>
                        <a:buNone/>
                      </a:pPr>
                      <a:r>
                        <a:rPr lang="en-US" sz="1100" u="none" cap="none" strike="noStrike">
                          <a:solidFill>
                            <a:srgbClr val="1B2A38"/>
                          </a:solidFill>
                          <a:latin typeface="Calibri"/>
                          <a:ea typeface="Calibri"/>
                          <a:cs typeface="Calibri"/>
                          <a:sym typeface="Calibri"/>
                        </a:rPr>
                        <a:t>Keep velocity checks and step-up authentication on high-value transactions before scaling promos.</a:t>
                      </a:r>
                      <a:endParaRPr sz="11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l">
                        <a:spcBef>
                          <a:spcPts val="0"/>
                        </a:spcBef>
                        <a:spcAft>
                          <a:spcPts val="0"/>
                        </a:spcAft>
                        <a:buClr>
                          <a:srgbClr val="1B2A38"/>
                        </a:buClr>
                        <a:buSzPts val="1100"/>
                        <a:buFont typeface="Calibri"/>
                        <a:buNone/>
                      </a:pPr>
                      <a:r>
                        <a:rPr lang="en-US" sz="1100" u="none" cap="none" strike="noStrike">
                          <a:solidFill>
                            <a:srgbClr val="1B2A38"/>
                          </a:solidFill>
                          <a:latin typeface="Calibri"/>
                          <a:ea typeface="Calibri"/>
                          <a:cs typeface="Calibri"/>
                          <a:sym typeface="Calibri"/>
                        </a:rPr>
                        <a:t>Fraud is only 0,22% of value but already removes 14,8% of gross MDR revenue.</a:t>
                      </a:r>
                      <a:endParaRPr sz="11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l">
                        <a:spcBef>
                          <a:spcPts val="0"/>
                        </a:spcBef>
                        <a:spcAft>
                          <a:spcPts val="0"/>
                        </a:spcAft>
                        <a:buClr>
                          <a:srgbClr val="1B2A38"/>
                        </a:buClr>
                        <a:buSzPts val="1100"/>
                        <a:buFont typeface="Calibri"/>
                        <a:buNone/>
                      </a:pPr>
                      <a:r>
                        <a:rPr lang="en-US" sz="1100" u="none" cap="none" strike="noStrike">
                          <a:solidFill>
                            <a:srgbClr val="1B2A38"/>
                          </a:solidFill>
                          <a:latin typeface="Calibri"/>
                          <a:ea typeface="Calibri"/>
                          <a:cs typeface="Calibri"/>
                          <a:sym typeface="Calibri"/>
                        </a:rPr>
                        <a:t>Protects the thin 1,5% margin as volume grows.</a:t>
                      </a:r>
                      <a:endParaRPr sz="11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r>
              <a:tr h="749800">
                <a:tc>
                  <a:txBody>
                    <a:bodyPr/>
                    <a:lstStyle/>
                    <a:p>
                      <a:pPr indent="0" lvl="0" marL="0" marR="0" rtl="0" algn="l">
                        <a:spcBef>
                          <a:spcPts val="0"/>
                        </a:spcBef>
                        <a:spcAft>
                          <a:spcPts val="0"/>
                        </a:spcAft>
                        <a:buClr>
                          <a:srgbClr val="1B2A38"/>
                        </a:buClr>
                        <a:buSzPts val="1100"/>
                        <a:buFont typeface="Calibri"/>
                        <a:buNone/>
                      </a:pPr>
                      <a:r>
                        <a:rPr lang="en-US" sz="1100" u="none" cap="none" strike="noStrike">
                          <a:solidFill>
                            <a:srgbClr val="1B2A38"/>
                          </a:solidFill>
                          <a:latin typeface="Calibri"/>
                          <a:ea typeface="Calibri"/>
                          <a:cs typeface="Calibri"/>
                          <a:sym typeface="Calibri"/>
                        </a:rPr>
                        <a:t>3. Treat brands separately</a:t>
                      </a:r>
                      <a:endParaRPr sz="11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A38"/>
                        </a:buClr>
                        <a:buSzPts val="1100"/>
                        <a:buFont typeface="Calibri"/>
                        <a:buNone/>
                      </a:pPr>
                      <a:r>
                        <a:rPr lang="en-US" sz="1100" u="none" cap="none" strike="noStrike">
                          <a:solidFill>
                            <a:srgbClr val="1B2A38"/>
                          </a:solidFill>
                          <a:latin typeface="Calibri"/>
                          <a:ea typeface="Calibri"/>
                          <a:cs typeface="Calibri"/>
                          <a:sym typeface="Calibri"/>
                        </a:rPr>
                        <a:t>Premium offers for Amex, per-transaction cashback for Mastercard and Visa, activation campaign for JCB.</a:t>
                      </a:r>
                      <a:endParaRPr sz="11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A38"/>
                        </a:buClr>
                        <a:buSzPts val="1100"/>
                        <a:buFont typeface="Calibri"/>
                        <a:buNone/>
                      </a:pPr>
                      <a:r>
                        <a:rPr lang="en-US" sz="1100" u="none" cap="none" strike="noStrike">
                          <a:solidFill>
                            <a:srgbClr val="1B2A38"/>
                          </a:solidFill>
                          <a:latin typeface="Calibri"/>
                          <a:ea typeface="Calibri"/>
                          <a:cs typeface="Calibri"/>
                          <a:sym typeface="Calibri"/>
                        </a:rPr>
                        <a:t>Amex leads on value per card, Mastercard on frequency, JCB trails on both.</a:t>
                      </a:r>
                      <a:endParaRPr sz="11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A38"/>
                        </a:buClr>
                        <a:buSzPts val="1100"/>
                        <a:buFont typeface="Calibri"/>
                        <a:buNone/>
                      </a:pPr>
                      <a:r>
                        <a:rPr lang="en-US" sz="1100" u="none" cap="none" strike="noStrike">
                          <a:solidFill>
                            <a:srgbClr val="1B2A38"/>
                          </a:solidFill>
                          <a:latin typeface="Calibri"/>
                          <a:ea typeface="Calibri"/>
                          <a:cs typeface="Calibri"/>
                          <a:sym typeface="Calibri"/>
                        </a:rPr>
                        <a:t>Higher ticket size and higher frequency where each brand is strongest.</a:t>
                      </a:r>
                      <a:endParaRPr sz="11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r>
              <a:tr h="749800">
                <a:tc>
                  <a:txBody>
                    <a:bodyPr/>
                    <a:lstStyle/>
                    <a:p>
                      <a:pPr indent="0" lvl="0" marL="0" marR="0" rtl="0" algn="l">
                        <a:spcBef>
                          <a:spcPts val="0"/>
                        </a:spcBef>
                        <a:spcAft>
                          <a:spcPts val="0"/>
                        </a:spcAft>
                        <a:buClr>
                          <a:srgbClr val="1B2A38"/>
                        </a:buClr>
                        <a:buSzPts val="1100"/>
                        <a:buFont typeface="Calibri"/>
                        <a:buNone/>
                      </a:pPr>
                      <a:r>
                        <a:rPr lang="en-US" sz="1100" u="none" cap="none" strike="noStrike">
                          <a:solidFill>
                            <a:srgbClr val="1B2A38"/>
                          </a:solidFill>
                          <a:latin typeface="Calibri"/>
                          <a:ea typeface="Calibri"/>
                          <a:cs typeface="Calibri"/>
                          <a:sym typeface="Calibri"/>
                        </a:rPr>
                        <a:t>4. Unlock young capacity</a:t>
                      </a:r>
                      <a:endParaRPr sz="11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l">
                        <a:spcBef>
                          <a:spcPts val="0"/>
                        </a:spcBef>
                        <a:spcAft>
                          <a:spcPts val="0"/>
                        </a:spcAft>
                        <a:buClr>
                          <a:srgbClr val="1B2A38"/>
                        </a:buClr>
                        <a:buSzPts val="1100"/>
                        <a:buFont typeface="Calibri"/>
                        <a:buNone/>
                      </a:pPr>
                      <a:r>
                        <a:rPr lang="en-US" sz="1100" u="none" cap="none" strike="noStrike">
                          <a:solidFill>
                            <a:srgbClr val="1B2A38"/>
                          </a:solidFill>
                          <a:latin typeface="Calibri"/>
                          <a:ea typeface="Calibri"/>
                          <a:cs typeface="Calibri"/>
                          <a:sym typeface="Calibri"/>
                        </a:rPr>
                        <a:t>Selective limit review for users under 35 with a Good or better score and low DTI.</a:t>
                      </a:r>
                      <a:endParaRPr sz="11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l">
                        <a:spcBef>
                          <a:spcPts val="0"/>
                        </a:spcBef>
                        <a:spcAft>
                          <a:spcPts val="0"/>
                        </a:spcAft>
                        <a:buClr>
                          <a:srgbClr val="1B2A38"/>
                        </a:buClr>
                        <a:buSzPts val="1100"/>
                        <a:buFont typeface="Calibri"/>
                        <a:buNone/>
                      </a:pPr>
                      <a:r>
                        <a:rPr lang="en-US" sz="1100" u="none" cap="none" strike="noStrike">
                          <a:solidFill>
                            <a:srgbClr val="1B2A38"/>
                          </a:solidFill>
                          <a:latin typeface="Calibri"/>
                          <a:ea typeface="Calibri"/>
                          <a:cs typeface="Calibri"/>
                          <a:sym typeface="Calibri"/>
                        </a:rPr>
                        <a:t>Average limit roughly doubles from the early twenties to age 60.</a:t>
                      </a:r>
                      <a:endParaRPr sz="11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l">
                        <a:spcBef>
                          <a:spcPts val="0"/>
                        </a:spcBef>
                        <a:spcAft>
                          <a:spcPts val="0"/>
                        </a:spcAft>
                        <a:buClr>
                          <a:srgbClr val="1B2A38"/>
                        </a:buClr>
                        <a:buSzPts val="1100"/>
                        <a:buFont typeface="Calibri"/>
                        <a:buNone/>
                      </a:pPr>
                      <a:r>
                        <a:rPr lang="en-US" sz="1100" u="none" cap="none" strike="noStrike">
                          <a:solidFill>
                            <a:srgbClr val="1B2A38"/>
                          </a:solidFill>
                          <a:latin typeface="Calibri"/>
                          <a:ea typeface="Calibri"/>
                          <a:cs typeface="Calibri"/>
                          <a:sym typeface="Calibri"/>
                        </a:rPr>
                        <a:t>Removes an artificial cap on spending in an under-served group.</a:t>
                      </a:r>
                      <a:endParaRPr sz="11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r>
              <a:tr h="749800">
                <a:tc>
                  <a:txBody>
                    <a:bodyPr/>
                    <a:lstStyle/>
                    <a:p>
                      <a:pPr indent="0" lvl="0" marL="0" marR="0" rtl="0" algn="l">
                        <a:spcBef>
                          <a:spcPts val="0"/>
                        </a:spcBef>
                        <a:spcAft>
                          <a:spcPts val="0"/>
                        </a:spcAft>
                        <a:buClr>
                          <a:srgbClr val="1B2A38"/>
                        </a:buClr>
                        <a:buSzPts val="1100"/>
                        <a:buFont typeface="Calibri"/>
                        <a:buNone/>
                      </a:pPr>
                      <a:r>
                        <a:rPr lang="en-US" sz="1100" u="none" cap="none" strike="noStrike">
                          <a:solidFill>
                            <a:srgbClr val="1B2A38"/>
                          </a:solidFill>
                          <a:latin typeface="Calibri"/>
                          <a:ea typeface="Calibri"/>
                          <a:cs typeface="Calibri"/>
                          <a:sym typeface="Calibri"/>
                        </a:rPr>
                        <a:t>5. Tighten the tail</a:t>
                      </a:r>
                      <a:endParaRPr sz="11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A38"/>
                        </a:buClr>
                        <a:buSzPts val="1100"/>
                        <a:buFont typeface="Calibri"/>
                        <a:buNone/>
                      </a:pPr>
                      <a:r>
                        <a:rPr lang="en-US" sz="1100" u="none" cap="none" strike="noStrike">
                          <a:solidFill>
                            <a:srgbClr val="1B2A38"/>
                          </a:solidFill>
                          <a:latin typeface="Calibri"/>
                          <a:ea typeface="Calibri"/>
                          <a:cs typeface="Calibri"/>
                          <a:sym typeface="Calibri"/>
                        </a:rPr>
                        <a:t>Lower limits and closer monitoring for the Poor and Fair groups, and screen on DTI rather than on retirement status.</a:t>
                      </a:r>
                      <a:endParaRPr sz="11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A38"/>
                        </a:buClr>
                        <a:buSzPts val="1100"/>
                        <a:buFont typeface="Calibri"/>
                        <a:buNone/>
                      </a:pPr>
                      <a:r>
                        <a:rPr lang="en-US" sz="1100" u="none" cap="none" strike="noStrike">
                          <a:solidFill>
                            <a:srgbClr val="1B2A38"/>
                          </a:solidFill>
                          <a:latin typeface="Calibri"/>
                          <a:ea typeface="Calibri"/>
                          <a:cs typeface="Calibri"/>
                          <a:sym typeface="Calibri"/>
                        </a:rPr>
                        <a:t>Poor and Fair carry the highest average DTI (0,30–0,32) for only ~18% of value, while retired users sit lower at a median DTI of 0,14.</a:t>
                      </a:r>
                      <a:endParaRPr sz="11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A38"/>
                        </a:buClr>
                        <a:buSzPts val="1100"/>
                        <a:buFont typeface="Calibri"/>
                        <a:buNone/>
                      </a:pPr>
                      <a:r>
                        <a:rPr lang="en-US" sz="1100" u="none" cap="none" strike="noStrike">
                          <a:solidFill>
                            <a:srgbClr val="1B2A38"/>
                          </a:solidFill>
                          <a:latin typeface="Calibri"/>
                          <a:ea typeface="Calibri"/>
                          <a:cs typeface="Calibri"/>
                          <a:sym typeface="Calibri"/>
                        </a:rPr>
                        <a:t>Lower expected loss with little revenue given up.</a:t>
                      </a:r>
                      <a:endParaRPr sz="1100" u="none" cap="none" strike="noStrike">
                        <a:latin typeface="Calibri"/>
                        <a:ea typeface="Calibri"/>
                        <a:cs typeface="Calibri"/>
                        <a:sym typeface="Calibri"/>
                      </a:endParaRPr>
                    </a:p>
                  </a:txBody>
                  <a:tcPr marT="38100" marB="38100" marR="76200" marL="76200" anchor="ctr">
                    <a:lnL cap="flat" cmpd="sng" w="9525">
                      <a:solidFill>
                        <a:srgbClr val="C9DCEA"/>
                      </a:solidFill>
                      <a:prstDash val="solid"/>
                      <a:round/>
                      <a:headEnd len="sm" w="sm" type="none"/>
                      <a:tailEnd len="sm" w="sm" type="none"/>
                    </a:lnL>
                    <a:lnR cap="flat" cmpd="sng" w="9525">
                      <a:solidFill>
                        <a:srgbClr val="C9DCEA"/>
                      </a:solidFill>
                      <a:prstDash val="solid"/>
                      <a:round/>
                      <a:headEnd len="sm" w="sm" type="none"/>
                      <a:tailEnd len="sm" w="sm" type="none"/>
                    </a:ln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r>
            </a:tbl>
          </a:graphicData>
        </a:graphic>
      </p:graphicFrame>
      <p:sp>
        <p:nvSpPr>
          <p:cNvPr id="437" name="Google Shape;437;p28"/>
          <p:cNvSpPr txBox="1"/>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7185"/>
              </a:buClr>
              <a:buSzPts val="900"/>
              <a:buFont typeface="Calibri"/>
              <a:buNone/>
            </a:pPr>
            <a:r>
              <a:rPr lang="en-US" sz="900">
                <a:solidFill>
                  <a:srgbClr val="5A7185"/>
                </a:solidFill>
                <a:latin typeface="Calibri"/>
                <a:ea typeface="Calibri"/>
                <a:cs typeface="Calibri"/>
                <a:sym typeface="Calibri"/>
              </a:rPr>
              <a:t>Credit Card &amp; User Data Analysis – Milestone 2</a:t>
            </a:r>
            <a:endParaRPr sz="900">
              <a:solidFill>
                <a:schemeClr val="dk1"/>
              </a:solidFill>
              <a:latin typeface="Calibri"/>
              <a:ea typeface="Calibri"/>
              <a:cs typeface="Calibri"/>
              <a:sym typeface="Calibri"/>
            </a:endParaRPr>
          </a:p>
        </p:txBody>
      </p:sp>
      <p:sp>
        <p:nvSpPr>
          <p:cNvPr id="438" name="Google Shape;438;p28"/>
          <p:cNvSpPr txBox="1"/>
          <p:nvPr/>
        </p:nvSpPr>
        <p:spPr>
          <a:xfrm>
            <a:off x="11247120" y="649224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7185"/>
              </a:buClr>
              <a:buSzPts val="900"/>
              <a:buFont typeface="Calibri"/>
              <a:buNone/>
            </a:pPr>
            <a:r>
              <a:rPr lang="en-US" sz="900">
                <a:solidFill>
                  <a:srgbClr val="5A7185"/>
                </a:solidFill>
                <a:latin typeface="Calibri"/>
                <a:ea typeface="Calibri"/>
                <a:cs typeface="Calibri"/>
                <a:sym typeface="Calibri"/>
              </a:rPr>
              <a:t>28</a:t>
            </a:r>
            <a:endParaRPr sz="9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06998"/>
        </a:solidFill>
      </p:bgPr>
    </p:bg>
    <p:spTree>
      <p:nvGrpSpPr>
        <p:cNvPr id="442" name="Shape 442"/>
        <p:cNvGrpSpPr/>
        <p:nvPr/>
      </p:nvGrpSpPr>
      <p:grpSpPr>
        <a:xfrm>
          <a:off x="0" y="0"/>
          <a:ext cx="0" cy="0"/>
          <a:chOff x="0" y="0"/>
          <a:chExt cx="0" cy="0"/>
        </a:xfrm>
      </p:grpSpPr>
      <p:sp>
        <p:nvSpPr>
          <p:cNvPr id="443" name="Google Shape;443;p29"/>
          <p:cNvSpPr/>
          <p:nvPr/>
        </p:nvSpPr>
        <p:spPr>
          <a:xfrm>
            <a:off x="9966960" y="-1188720"/>
            <a:ext cx="3840480" cy="3840480"/>
          </a:xfrm>
          <a:prstGeom prst="ellipse">
            <a:avLst/>
          </a:prstGeom>
          <a:solidFill>
            <a:srgbClr val="4B8BB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4" name="Google Shape;444;p29"/>
          <p:cNvSpPr/>
          <p:nvPr/>
        </p:nvSpPr>
        <p:spPr>
          <a:xfrm>
            <a:off x="-1371600" y="5212080"/>
            <a:ext cx="3657600" cy="3657600"/>
          </a:xfrm>
          <a:prstGeom prst="ellipse">
            <a:avLst/>
          </a:prstGeom>
          <a:solidFill>
            <a:srgbClr val="FFD4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5" name="Google Shape;445;p29"/>
          <p:cNvSpPr txBox="1"/>
          <p:nvPr/>
        </p:nvSpPr>
        <p:spPr>
          <a:xfrm>
            <a:off x="731520" y="2240280"/>
            <a:ext cx="10698480" cy="36576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None/>
            </a:pPr>
            <a:r>
              <a:rPr b="1" lang="en-US" sz="1500">
                <a:solidFill>
                  <a:srgbClr val="FFD43B"/>
                </a:solidFill>
                <a:latin typeface="Calibri"/>
                <a:ea typeface="Calibri"/>
                <a:cs typeface="Calibri"/>
                <a:sym typeface="Calibri"/>
              </a:rPr>
              <a:t>MILESTONE 3</a:t>
            </a:r>
            <a:endParaRPr/>
          </a:p>
        </p:txBody>
      </p:sp>
      <p:sp>
        <p:nvSpPr>
          <p:cNvPr id="446" name="Google Shape;446;p29"/>
          <p:cNvSpPr txBox="1"/>
          <p:nvPr/>
        </p:nvSpPr>
        <p:spPr>
          <a:xfrm>
            <a:off x="731520" y="2651760"/>
            <a:ext cx="10698480" cy="86868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None/>
            </a:pPr>
            <a:r>
              <a:rPr b="1" lang="en-US" sz="4000">
                <a:solidFill>
                  <a:srgbClr val="FFFFFF"/>
                </a:solidFill>
                <a:latin typeface="Cambria"/>
                <a:ea typeface="Cambria"/>
                <a:cs typeface="Cambria"/>
                <a:sym typeface="Cambria"/>
              </a:rPr>
              <a:t>Customer Segmentation</a:t>
            </a:r>
            <a:endParaRPr/>
          </a:p>
        </p:txBody>
      </p:sp>
      <p:sp>
        <p:nvSpPr>
          <p:cNvPr id="447" name="Google Shape;447;p29"/>
          <p:cNvSpPr txBox="1"/>
          <p:nvPr/>
        </p:nvSpPr>
        <p:spPr>
          <a:xfrm>
            <a:off x="731520" y="3703320"/>
            <a:ext cx="8778240" cy="21544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1" lang="en-US" sz="1400">
                <a:solidFill>
                  <a:srgbClr val="C9DCEA"/>
                </a:solidFill>
                <a:latin typeface="Calibri"/>
                <a:ea typeface="Calibri"/>
                <a:cs typeface="Calibri"/>
                <a:sym typeface="Calibri"/>
              </a:rPr>
              <a:t>FSDA Intermediate Python for Data Analysis</a:t>
            </a:r>
            <a:endParaRPr sz="14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B"/>
        </a:solidFill>
      </p:bgPr>
    </p:bg>
    <p:spTree>
      <p:nvGrpSpPr>
        <p:cNvPr id="451" name="Shape 451"/>
        <p:cNvGrpSpPr/>
        <p:nvPr/>
      </p:nvGrpSpPr>
      <p:grpSpPr>
        <a:xfrm>
          <a:off x="0" y="0"/>
          <a:ext cx="0" cy="0"/>
          <a:chOff x="0" y="0"/>
          <a:chExt cx="0" cy="0"/>
        </a:xfrm>
      </p:grpSpPr>
      <p:sp>
        <p:nvSpPr>
          <p:cNvPr id="452" name="Google Shape;452;p30"/>
          <p:cNvSpPr/>
          <p:nvPr/>
        </p:nvSpPr>
        <p:spPr>
          <a:xfrm>
            <a:off x="548640" y="457200"/>
            <a:ext cx="502920" cy="502920"/>
          </a:xfrm>
          <a:prstGeom prst="ellipse">
            <a:avLst/>
          </a:prstGeom>
          <a:solidFill>
            <a:srgbClr val="306998"/>
          </a:solidFill>
          <a:ln cap="flat" cmpd="sng" w="12700">
            <a:solidFill>
              <a:srgbClr val="30699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3" name="Google Shape;453;p30"/>
          <p:cNvSpPr txBox="1"/>
          <p:nvPr/>
        </p:nvSpPr>
        <p:spPr>
          <a:xfrm>
            <a:off x="548640" y="457200"/>
            <a:ext cx="502920" cy="502920"/>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lang="en-US" sz="1400">
                <a:solidFill>
                  <a:srgbClr val="FFFFFF"/>
                </a:solidFill>
                <a:latin typeface="Cambria"/>
                <a:ea typeface="Cambria"/>
                <a:cs typeface="Cambria"/>
                <a:sym typeface="Cambria"/>
              </a:rPr>
              <a:t>a</a:t>
            </a:r>
            <a:endParaRPr/>
          </a:p>
        </p:txBody>
      </p:sp>
      <p:sp>
        <p:nvSpPr>
          <p:cNvPr id="454" name="Google Shape;454;p30"/>
          <p:cNvSpPr txBox="1"/>
          <p:nvPr/>
        </p:nvSpPr>
        <p:spPr>
          <a:xfrm>
            <a:off x="1188720" y="384048"/>
            <a:ext cx="10424160" cy="685800"/>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lang="en-US" sz="2400">
                <a:solidFill>
                  <a:srgbClr val="2B5B84"/>
                </a:solidFill>
                <a:latin typeface="Cambria"/>
                <a:ea typeface="Cambria"/>
                <a:cs typeface="Cambria"/>
                <a:sym typeface="Cambria"/>
              </a:rPr>
              <a:t>Segmentation Method: k-means on RFM Features</a:t>
            </a:r>
            <a:endParaRPr/>
          </a:p>
        </p:txBody>
      </p:sp>
      <p:sp>
        <p:nvSpPr>
          <p:cNvPr id="455" name="Google Shape;455;p30"/>
          <p:cNvSpPr txBox="1"/>
          <p:nvPr/>
        </p:nvSpPr>
        <p:spPr>
          <a:xfrm>
            <a:off x="457200" y="6492240"/>
            <a:ext cx="7315200" cy="27432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lang="en-US" sz="900">
                <a:solidFill>
                  <a:srgbClr val="5A7185"/>
                </a:solidFill>
                <a:latin typeface="Calibri"/>
                <a:ea typeface="Calibri"/>
                <a:cs typeface="Calibri"/>
                <a:sym typeface="Calibri"/>
              </a:rPr>
              <a:t>Credit Card &amp; User Data Analysis – Milestone 3</a:t>
            </a:r>
            <a:endParaRPr/>
          </a:p>
        </p:txBody>
      </p:sp>
      <p:sp>
        <p:nvSpPr>
          <p:cNvPr id="456" name="Google Shape;456;p30"/>
          <p:cNvSpPr txBox="1"/>
          <p:nvPr/>
        </p:nvSpPr>
        <p:spPr>
          <a:xfrm>
            <a:off x="11247120" y="6492240"/>
            <a:ext cx="457200" cy="274320"/>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None/>
            </a:pPr>
            <a:r>
              <a:rPr b="0" lang="en-US" sz="900">
                <a:solidFill>
                  <a:srgbClr val="5A7185"/>
                </a:solidFill>
                <a:latin typeface="Calibri"/>
                <a:ea typeface="Calibri"/>
                <a:cs typeface="Calibri"/>
                <a:sym typeface="Calibri"/>
              </a:rPr>
              <a:t>30</a:t>
            </a:r>
            <a:endParaRPr/>
          </a:p>
        </p:txBody>
      </p:sp>
      <p:sp>
        <p:nvSpPr>
          <p:cNvPr id="457" name="Google Shape;457;p30"/>
          <p:cNvSpPr txBox="1"/>
          <p:nvPr/>
        </p:nvSpPr>
        <p:spPr>
          <a:xfrm>
            <a:off x="548640" y="1325880"/>
            <a:ext cx="5486400" cy="320040"/>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lang="en-US" sz="1300">
                <a:solidFill>
                  <a:srgbClr val="5A7185"/>
                </a:solidFill>
                <a:latin typeface="Calibri"/>
                <a:ea typeface="Calibri"/>
                <a:cs typeface="Calibri"/>
                <a:sym typeface="Calibri"/>
              </a:rPr>
              <a:t>Why k-means, not RFM scoring</a:t>
            </a:r>
            <a:endParaRPr/>
          </a:p>
        </p:txBody>
      </p:sp>
      <p:sp>
        <p:nvSpPr>
          <p:cNvPr id="458" name="Google Shape;458;p30"/>
          <p:cNvSpPr/>
          <p:nvPr/>
        </p:nvSpPr>
        <p:spPr>
          <a:xfrm>
            <a:off x="548640" y="1691640"/>
            <a:ext cx="6035040" cy="4663440"/>
          </a:xfrm>
          <a:prstGeom prst="roundRect">
            <a:avLst>
              <a:gd fmla="val 3000" name="adj"/>
            </a:avLst>
          </a:prstGeom>
          <a:solidFill>
            <a:srgbClr val="FFFFFF"/>
          </a:solidFill>
          <a:ln cap="flat" cmpd="sng" w="19050">
            <a:solidFill>
              <a:srgbClr val="C9DC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9" name="Google Shape;459;p30"/>
          <p:cNvSpPr txBox="1"/>
          <p:nvPr/>
        </p:nvSpPr>
        <p:spPr>
          <a:xfrm>
            <a:off x="777240" y="1874519"/>
            <a:ext cx="5577840" cy="429768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lang="en-US" sz="1150">
                <a:solidFill>
                  <a:srgbClr val="1B2A38"/>
                </a:solidFill>
                <a:latin typeface="Calibri"/>
                <a:ea typeface="Calibri"/>
                <a:cs typeface="Calibri"/>
                <a:sym typeface="Calibri"/>
              </a:rPr>
              <a:t>Objective: split 1.938 card customers into a small number of behaviourally distinct segments, then identify which of them can realistically be encouraged to spend more, and which should not be pushed because their debt burden is already high.</a:t>
            </a:r>
            <a:endParaRPr/>
          </a:p>
          <a:p>
            <a:pPr indent="0" lvl="0" marL="0" marR="0" rtl="0" algn="l">
              <a:lnSpc>
                <a:spcPct val="115000"/>
              </a:lnSpc>
              <a:spcBef>
                <a:spcPts val="1400"/>
              </a:spcBef>
              <a:spcAft>
                <a:spcPts val="0"/>
              </a:spcAft>
              <a:buNone/>
            </a:pPr>
            <a:r>
              <a:rPr b="0" lang="en-US" sz="1150">
                <a:solidFill>
                  <a:srgbClr val="1B2A38"/>
                </a:solidFill>
                <a:latin typeface="Calibri"/>
                <a:ea typeface="Calibri"/>
                <a:cs typeface="Calibri"/>
                <a:sym typeface="Calibri"/>
              </a:rPr>
              <a:t>1.  It accepts more than three variables, so one segment can be described by spending behaviour and by capacity and risk at the same time. That is what a decision on who to push actually needs.</a:t>
            </a:r>
            <a:endParaRPr/>
          </a:p>
          <a:p>
            <a:pPr indent="0" lvl="0" marL="0" marR="0" rtl="0" algn="l">
              <a:lnSpc>
                <a:spcPct val="115000"/>
              </a:lnSpc>
              <a:spcBef>
                <a:spcPts val="1000"/>
              </a:spcBef>
              <a:spcAft>
                <a:spcPts val="0"/>
              </a:spcAft>
              <a:buNone/>
            </a:pPr>
            <a:r>
              <a:rPr b="0" lang="en-US" sz="1150">
                <a:solidFill>
                  <a:srgbClr val="1B2A38"/>
                </a:solidFill>
                <a:latin typeface="Calibri"/>
                <a:ea typeface="Calibri"/>
                <a:cs typeface="Calibri"/>
                <a:sym typeface="Calibri"/>
              </a:rPr>
              <a:t>2.  It finds groups from the structure of the data instead of manual score cut-offs, so a combination such as an approved limit that is never used appears on its own. Plain RFM scoring cannot see that combination.</a:t>
            </a:r>
            <a:endParaRPr/>
          </a:p>
          <a:p>
            <a:pPr indent="0" lvl="0" marL="0" marR="0" rtl="0" algn="l">
              <a:lnSpc>
                <a:spcPct val="115000"/>
              </a:lnSpc>
              <a:spcBef>
                <a:spcPts val="1000"/>
              </a:spcBef>
              <a:spcAft>
                <a:spcPts val="0"/>
              </a:spcAft>
              <a:buNone/>
            </a:pPr>
            <a:r>
              <a:rPr b="0" lang="en-US" sz="1150">
                <a:solidFill>
                  <a:srgbClr val="1B2A38"/>
                </a:solidFill>
                <a:latin typeface="Calibri"/>
                <a:ea typeface="Calibri"/>
                <a:cs typeface="Calibri"/>
                <a:sym typeface="Calibri"/>
              </a:rPr>
              <a:t>3.  The number of segments is validated objectively with the Elbow Method and Silhouette Analysis, while the number of RFM buckets is set by convention.</a:t>
            </a:r>
            <a:endParaRPr/>
          </a:p>
          <a:p>
            <a:pPr indent="0" lvl="0" marL="0" marR="0" rtl="0" algn="l">
              <a:lnSpc>
                <a:spcPct val="115000"/>
              </a:lnSpc>
              <a:spcBef>
                <a:spcPts val="1400"/>
              </a:spcBef>
              <a:spcAft>
                <a:spcPts val="0"/>
              </a:spcAft>
              <a:buNone/>
            </a:pPr>
            <a:r>
              <a:rPr b="1" lang="en-US" sz="1150">
                <a:solidFill>
                  <a:srgbClr val="1B2A38"/>
                </a:solidFill>
                <a:latin typeface="Calibri"/>
                <a:ea typeface="Calibri"/>
                <a:cs typeface="Calibri"/>
                <a:sym typeface="Calibri"/>
              </a:rPr>
              <a:t>RFM is still the base of the model, so every cluster stays readable in RFM language.</a:t>
            </a:r>
            <a:endParaRPr/>
          </a:p>
          <a:p>
            <a:pPr indent="0" lvl="0" marL="0" marR="0" rtl="0" algn="l">
              <a:lnSpc>
                <a:spcPct val="115000"/>
              </a:lnSpc>
              <a:spcBef>
                <a:spcPts val="1400"/>
              </a:spcBef>
              <a:spcAft>
                <a:spcPts val="0"/>
              </a:spcAft>
              <a:buNone/>
            </a:pPr>
            <a:r>
              <a:rPr b="0" lang="en-US" sz="1150">
                <a:solidFill>
                  <a:srgbClr val="1B2A38"/>
                </a:solidFill>
                <a:latin typeface="Calibri"/>
                <a:ea typeface="Calibri"/>
                <a:cs typeface="Calibri"/>
                <a:sym typeface="Calibri"/>
              </a:rPr>
              <a:t>The result is judged on two things: whether the clusters are statistically sound (elbow and silhouette) and whether each one leads to a different commercial action.</a:t>
            </a:r>
            <a:endParaRPr/>
          </a:p>
        </p:txBody>
      </p:sp>
      <p:sp>
        <p:nvSpPr>
          <p:cNvPr id="460" name="Google Shape;460;p30"/>
          <p:cNvSpPr txBox="1"/>
          <p:nvPr/>
        </p:nvSpPr>
        <p:spPr>
          <a:xfrm>
            <a:off x="6812280" y="1325880"/>
            <a:ext cx="4800600" cy="320040"/>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lang="en-US" sz="1300">
                <a:solidFill>
                  <a:srgbClr val="5A7185"/>
                </a:solidFill>
                <a:latin typeface="Calibri"/>
                <a:ea typeface="Calibri"/>
                <a:cs typeface="Calibri"/>
                <a:sym typeface="Calibri"/>
              </a:rPr>
              <a:t>RFM columns used</a:t>
            </a:r>
            <a:endParaRPr/>
          </a:p>
        </p:txBody>
      </p:sp>
      <p:sp>
        <p:nvSpPr>
          <p:cNvPr id="461" name="Google Shape;461;p30"/>
          <p:cNvSpPr/>
          <p:nvPr/>
        </p:nvSpPr>
        <p:spPr>
          <a:xfrm>
            <a:off x="6812280" y="1691640"/>
            <a:ext cx="4800600" cy="2331720"/>
          </a:xfrm>
          <a:prstGeom prst="roundRect">
            <a:avLst>
              <a:gd fmla="val 6000" name="adj"/>
            </a:avLst>
          </a:prstGeom>
          <a:solidFill>
            <a:srgbClr val="FFFFFF"/>
          </a:solidFill>
          <a:ln cap="flat" cmpd="sng" w="19050">
            <a:solidFill>
              <a:srgbClr val="FFD43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aphicFrame>
        <p:nvGraphicFramePr>
          <p:cNvPr id="462" name="Google Shape;462;p30"/>
          <p:cNvGraphicFramePr/>
          <p:nvPr/>
        </p:nvGraphicFramePr>
        <p:xfrm>
          <a:off x="6949440" y="1810512"/>
          <a:ext cx="3000000" cy="3000000"/>
        </p:xfrm>
        <a:graphic>
          <a:graphicData uri="http://schemas.openxmlformats.org/drawingml/2006/table">
            <a:tbl>
              <a:tblPr>
                <a:noFill/>
                <a:tableStyleId>{3D7D59D7-DF91-47F0-BCBC-DAAD57FB8C79}</a:tableStyleId>
              </a:tblPr>
              <a:tblGrid>
                <a:gridCol w="594350"/>
                <a:gridCol w="1691650"/>
                <a:gridCol w="2240275"/>
              </a:tblGrid>
              <a:tr h="512075">
                <a:tc>
                  <a:txBody>
                    <a:bodyPr/>
                    <a:lstStyle/>
                    <a:p>
                      <a:pPr indent="0" lvl="0" marL="0" marR="0" rtl="0" algn="ctr">
                        <a:spcBef>
                          <a:spcPts val="0"/>
                        </a:spcBef>
                        <a:spcAft>
                          <a:spcPts val="0"/>
                        </a:spcAft>
                        <a:buNone/>
                      </a:pPr>
                      <a:r>
                        <a:rPr b="1" lang="en-US" sz="850" u="none" cap="none" strike="noStrike">
                          <a:solidFill>
                            <a:srgbClr val="FFFFFF"/>
                          </a:solidFill>
                          <a:latin typeface="Calibri"/>
                          <a:ea typeface="Calibri"/>
                          <a:cs typeface="Calibri"/>
                          <a:sym typeface="Calibri"/>
                        </a:rPr>
                        <a:t>Factor</a:t>
                      </a:r>
                      <a:endParaRPr/>
                    </a:p>
                  </a:txBody>
                  <a:tcPr marT="27425" marB="27425" marR="54875" marL="54875" anchor="ctr">
                    <a:lnB cap="flat" cmpd="sng" w="9525">
                      <a:solidFill>
                        <a:srgbClr val="C9DCEA"/>
                      </a:solidFill>
                      <a:prstDash val="solid"/>
                      <a:round/>
                      <a:headEnd len="sm" w="sm" type="none"/>
                      <a:tailEnd len="sm" w="sm" type="none"/>
                    </a:lnB>
                    <a:solidFill>
                      <a:srgbClr val="306998"/>
                    </a:solidFill>
                  </a:tcPr>
                </a:tc>
                <a:tc>
                  <a:txBody>
                    <a:bodyPr/>
                    <a:lstStyle/>
                    <a:p>
                      <a:pPr indent="0" lvl="0" marL="0" marR="0" rtl="0" algn="ctr">
                        <a:spcBef>
                          <a:spcPts val="0"/>
                        </a:spcBef>
                        <a:spcAft>
                          <a:spcPts val="0"/>
                        </a:spcAft>
                        <a:buNone/>
                      </a:pPr>
                      <a:r>
                        <a:rPr b="1" lang="en-US" sz="850" u="none" cap="none" strike="noStrike">
                          <a:solidFill>
                            <a:srgbClr val="FFFFFF"/>
                          </a:solidFill>
                          <a:latin typeface="Calibri"/>
                          <a:ea typeface="Calibri"/>
                          <a:cs typeface="Calibri"/>
                          <a:sym typeface="Calibri"/>
                        </a:rPr>
                        <a:t>Column</a:t>
                      </a:r>
                      <a:endParaRPr/>
                    </a:p>
                  </a:txBody>
                  <a:tcPr marT="27425" marB="27425" marR="54875" marL="54875" anchor="ctr">
                    <a:lnB cap="flat" cmpd="sng" w="9525">
                      <a:solidFill>
                        <a:srgbClr val="C9DCEA"/>
                      </a:solidFill>
                      <a:prstDash val="solid"/>
                      <a:round/>
                      <a:headEnd len="sm" w="sm" type="none"/>
                      <a:tailEnd len="sm" w="sm" type="none"/>
                    </a:lnB>
                    <a:solidFill>
                      <a:srgbClr val="306998"/>
                    </a:solidFill>
                  </a:tcPr>
                </a:tc>
                <a:tc>
                  <a:txBody>
                    <a:bodyPr/>
                    <a:lstStyle/>
                    <a:p>
                      <a:pPr indent="0" lvl="0" marL="0" marR="0" rtl="0" algn="ctr">
                        <a:spcBef>
                          <a:spcPts val="0"/>
                        </a:spcBef>
                        <a:spcAft>
                          <a:spcPts val="0"/>
                        </a:spcAft>
                        <a:buNone/>
                      </a:pPr>
                      <a:r>
                        <a:rPr b="1" lang="en-US" sz="850" u="none" cap="none" strike="noStrike">
                          <a:solidFill>
                            <a:srgbClr val="FFFFFF"/>
                          </a:solidFill>
                          <a:latin typeface="Calibri"/>
                          <a:ea typeface="Calibri"/>
                          <a:cs typeface="Calibri"/>
                          <a:sym typeface="Calibri"/>
                        </a:rPr>
                        <a:t>Why this column</a:t>
                      </a:r>
                      <a:endParaRPr/>
                    </a:p>
                  </a:txBody>
                  <a:tcPr marT="27425" marB="27425" marR="54875" marL="54875" anchor="ctr">
                    <a:lnB cap="flat" cmpd="sng" w="9525">
                      <a:solidFill>
                        <a:srgbClr val="C9DCEA"/>
                      </a:solidFill>
                      <a:prstDash val="solid"/>
                      <a:round/>
                      <a:headEnd len="sm" w="sm" type="none"/>
                      <a:tailEnd len="sm" w="sm" type="none"/>
                    </a:lnB>
                    <a:solidFill>
                      <a:srgbClr val="306998"/>
                    </a:solidFill>
                  </a:tcPr>
                </a:tc>
              </a:tr>
              <a:tr h="512075">
                <a:tc>
                  <a:txBody>
                    <a:bodyPr/>
                    <a:lstStyle/>
                    <a:p>
                      <a:pPr indent="0" lvl="0" marL="0" marR="0" rtl="0" algn="ctr">
                        <a:spcBef>
                          <a:spcPts val="0"/>
                        </a:spcBef>
                        <a:spcAft>
                          <a:spcPts val="0"/>
                        </a:spcAft>
                        <a:buNone/>
                      </a:pPr>
                      <a:r>
                        <a:rPr b="0" lang="en-US" sz="850" u="none" cap="none" strike="noStrike">
                          <a:solidFill>
                            <a:srgbClr val="1B2A38"/>
                          </a:solidFill>
                          <a:latin typeface="Calibri"/>
                          <a:ea typeface="Calibri"/>
                          <a:cs typeface="Calibri"/>
                          <a:sym typeface="Calibri"/>
                        </a:rPr>
                        <a:t>R</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en-US" sz="850" u="none" cap="none" strike="noStrike">
                          <a:solidFill>
                            <a:srgbClr val="1B2A38"/>
                          </a:solidFill>
                          <a:latin typeface="Calibri"/>
                          <a:ea typeface="Calibri"/>
                          <a:cs typeface="Calibri"/>
                          <a:sym typeface="Calibri"/>
                        </a:rPr>
                        <a:t>days_since_last_trx</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en-US" sz="850" u="none" cap="none" strike="noStrike">
                          <a:solidFill>
                            <a:srgbClr val="1B2A38"/>
                          </a:solidFill>
                          <a:latin typeface="Calibri"/>
                          <a:ea typeface="Calibri"/>
                          <a:cs typeface="Calibri"/>
                          <a:sym typeface="Calibri"/>
                        </a:rPr>
                        <a:t>min across the user's cards, lower = more recently active</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r>
              <a:tr h="512075">
                <a:tc>
                  <a:txBody>
                    <a:bodyPr/>
                    <a:lstStyle/>
                    <a:p>
                      <a:pPr indent="0" lvl="0" marL="0" marR="0" rtl="0" algn="ctr">
                        <a:spcBef>
                          <a:spcPts val="0"/>
                        </a:spcBef>
                        <a:spcAft>
                          <a:spcPts val="0"/>
                        </a:spcAft>
                        <a:buNone/>
                      </a:pPr>
                      <a:r>
                        <a:rPr b="0" lang="en-US" sz="850" u="none" cap="none" strike="noStrike">
                          <a:solidFill>
                            <a:srgbClr val="1B2A38"/>
                          </a:solidFill>
                          <a:latin typeface="Calibri"/>
                          <a:ea typeface="Calibri"/>
                          <a:cs typeface="Calibri"/>
                          <a:sym typeface="Calibri"/>
                        </a:rPr>
                        <a:t>F</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l">
                        <a:spcBef>
                          <a:spcPts val="0"/>
                        </a:spcBef>
                        <a:spcAft>
                          <a:spcPts val="0"/>
                        </a:spcAft>
                        <a:buNone/>
                      </a:pPr>
                      <a:r>
                        <a:rPr b="0" lang="en-US" sz="850" u="none" cap="none" strike="noStrike">
                          <a:solidFill>
                            <a:srgbClr val="1B2A38"/>
                          </a:solidFill>
                          <a:latin typeface="Calibri"/>
                          <a:ea typeface="Calibri"/>
                          <a:cs typeface="Calibri"/>
                          <a:sym typeface="Calibri"/>
                        </a:rPr>
                        <a:t>count_nonfraud_trx_L6M</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l">
                        <a:spcBef>
                          <a:spcPts val="0"/>
                        </a:spcBef>
                        <a:spcAft>
                          <a:spcPts val="0"/>
                        </a:spcAft>
                        <a:buNone/>
                      </a:pPr>
                      <a:r>
                        <a:rPr b="0" lang="en-US" sz="850" u="none" cap="none" strike="noStrike">
                          <a:solidFill>
                            <a:srgbClr val="1B2A38"/>
                          </a:solidFill>
                          <a:latin typeface="Calibri"/>
                          <a:ea typeface="Calibri"/>
                          <a:cs typeface="Calibri"/>
                          <a:sym typeface="Calibri"/>
                        </a:rPr>
                        <a:t>legitimate transactions in 6 months, summed</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r>
              <a:tr h="512075">
                <a:tc>
                  <a:txBody>
                    <a:bodyPr/>
                    <a:lstStyle/>
                    <a:p>
                      <a:pPr indent="0" lvl="0" marL="0" marR="0" rtl="0" algn="ctr">
                        <a:spcBef>
                          <a:spcPts val="0"/>
                        </a:spcBef>
                        <a:spcAft>
                          <a:spcPts val="0"/>
                        </a:spcAft>
                        <a:buNone/>
                      </a:pPr>
                      <a:r>
                        <a:rPr b="0" lang="en-US" sz="850" u="none" cap="none" strike="noStrike">
                          <a:solidFill>
                            <a:srgbClr val="1B2A38"/>
                          </a:solidFill>
                          <a:latin typeface="Calibri"/>
                          <a:ea typeface="Calibri"/>
                          <a:cs typeface="Calibri"/>
                          <a:sym typeface="Calibri"/>
                        </a:rPr>
                        <a:t>M</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en-US" sz="850" u="none" cap="none" strike="noStrike">
                          <a:solidFill>
                            <a:srgbClr val="1B2A38"/>
                          </a:solidFill>
                          <a:latin typeface="Calibri"/>
                          <a:ea typeface="Calibri"/>
                          <a:cs typeface="Calibri"/>
                          <a:sym typeface="Calibri"/>
                        </a:rPr>
                        <a:t>amt_nonfraud_trx_L6M</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en-US" sz="850" u="none" cap="none" strike="noStrike">
                          <a:solidFill>
                            <a:srgbClr val="1B2A38"/>
                          </a:solidFill>
                          <a:latin typeface="Calibri"/>
                          <a:ea typeface="Calibri"/>
                          <a:cs typeface="Calibri"/>
                          <a:sym typeface="Calibri"/>
                        </a:rPr>
                        <a:t>legitimate value in 6 months, the exact MDR base</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r>
            </a:tbl>
          </a:graphicData>
        </a:graphic>
      </p:graphicFrame>
      <p:sp>
        <p:nvSpPr>
          <p:cNvPr id="463" name="Google Shape;463;p30"/>
          <p:cNvSpPr/>
          <p:nvPr/>
        </p:nvSpPr>
        <p:spPr>
          <a:xfrm>
            <a:off x="6812280" y="4160520"/>
            <a:ext cx="4800600" cy="2194560"/>
          </a:xfrm>
          <a:prstGeom prst="roundRect">
            <a:avLst>
              <a:gd fmla="val 4000" name="adj"/>
            </a:avLst>
          </a:prstGeom>
          <a:solidFill>
            <a:srgbClr val="FFD43B"/>
          </a:solidFill>
          <a:ln cap="flat" cmpd="sng" w="12700">
            <a:solidFill>
              <a:srgbClr val="FFD43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4" name="Google Shape;464;p30"/>
          <p:cNvSpPr txBox="1"/>
          <p:nvPr/>
        </p:nvSpPr>
        <p:spPr>
          <a:xfrm>
            <a:off x="6995160" y="4279392"/>
            <a:ext cx="4480560" cy="320040"/>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lang="en-US" sz="1500">
                <a:solidFill>
                  <a:srgbClr val="1B2A38"/>
                </a:solidFill>
                <a:latin typeface="Cambria"/>
                <a:ea typeface="Cambria"/>
                <a:cs typeface="Cambria"/>
                <a:sym typeface="Cambria"/>
              </a:rPr>
              <a:t>Supporting features</a:t>
            </a:r>
            <a:endParaRPr/>
          </a:p>
        </p:txBody>
      </p:sp>
      <p:sp>
        <p:nvSpPr>
          <p:cNvPr id="465" name="Google Shape;465;p30"/>
          <p:cNvSpPr txBox="1"/>
          <p:nvPr/>
        </p:nvSpPr>
        <p:spPr>
          <a:xfrm>
            <a:off x="6995160" y="4617720"/>
            <a:ext cx="4480560" cy="1618488"/>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lang="en-US" sz="1050">
                <a:solidFill>
                  <a:srgbClr val="1B2A38"/>
                </a:solidFill>
                <a:latin typeface="Calibri"/>
                <a:ea typeface="Calibri"/>
                <a:cs typeface="Calibri"/>
                <a:sym typeface="Calibri"/>
              </a:rPr>
              <a:t>credit_limit: approved headroom, so a large limit with low spend flags a customer who can spend more without new credit.</a:t>
            </a:r>
            <a:endParaRPr/>
          </a:p>
          <a:p>
            <a:pPr indent="0" lvl="0" marL="0" marR="0" rtl="0" algn="l">
              <a:lnSpc>
                <a:spcPct val="115000"/>
              </a:lnSpc>
              <a:spcBef>
                <a:spcPts val="400"/>
              </a:spcBef>
              <a:spcAft>
                <a:spcPts val="0"/>
              </a:spcAft>
              <a:buNone/>
            </a:pPr>
            <a:r>
              <a:rPr b="0" lang="en-US" sz="1050">
                <a:solidFill>
                  <a:srgbClr val="1B2A38"/>
                </a:solidFill>
                <a:latin typeface="Calibri"/>
                <a:ea typeface="Calibri"/>
                <a:cs typeface="Calibri"/>
                <a:sym typeface="Calibri"/>
              </a:rPr>
              <a:t>DTI: debt burden, which keeps risk inside the model instead of outside it.</a:t>
            </a:r>
            <a:endParaRPr/>
          </a:p>
          <a:p>
            <a:pPr indent="0" lvl="0" marL="0" marR="0" rtl="0" algn="l">
              <a:lnSpc>
                <a:spcPct val="115000"/>
              </a:lnSpc>
              <a:spcBef>
                <a:spcPts val="400"/>
              </a:spcBef>
              <a:spcAft>
                <a:spcPts val="0"/>
              </a:spcAft>
              <a:buNone/>
            </a:pPr>
            <a:r>
              <a:rPr b="0" lang="en-US" sz="1050">
                <a:solidFill>
                  <a:srgbClr val="1B2A38"/>
                </a:solidFill>
                <a:latin typeface="Calibri"/>
                <a:ea typeface="Calibri"/>
                <a:cs typeface="Calibri"/>
                <a:sym typeface="Calibri"/>
              </a:rPr>
              <a:t>age: life stage for product and channel targeting.</a:t>
            </a:r>
            <a:endParaRPr/>
          </a:p>
          <a:p>
            <a:pPr indent="0" lvl="0" marL="0" marR="0" rtl="0" algn="l">
              <a:lnSpc>
                <a:spcPct val="115000"/>
              </a:lnSpc>
              <a:spcBef>
                <a:spcPts val="400"/>
              </a:spcBef>
              <a:spcAft>
                <a:spcPts val="0"/>
              </a:spcAft>
              <a:buNone/>
            </a:pPr>
            <a:r>
              <a:rPr b="0" lang="en-US" sz="1050">
                <a:solidFill>
                  <a:srgbClr val="1B2A38"/>
                </a:solidFill>
                <a:latin typeface="Calibri"/>
                <a:ea typeface="Calibri"/>
                <a:cs typeface="Calibri"/>
                <a:sym typeface="Calibri"/>
              </a:rPr>
              <a:t>Excluded from clustering and kept only for profiling: credit_score, retired_flag, gender and the fraud columns.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B"/>
        </a:solidFill>
      </p:bgPr>
    </p:bg>
    <p:spTree>
      <p:nvGrpSpPr>
        <p:cNvPr id="469" name="Shape 469"/>
        <p:cNvGrpSpPr/>
        <p:nvPr/>
      </p:nvGrpSpPr>
      <p:grpSpPr>
        <a:xfrm>
          <a:off x="0" y="0"/>
          <a:ext cx="0" cy="0"/>
          <a:chOff x="0" y="0"/>
          <a:chExt cx="0" cy="0"/>
        </a:xfrm>
      </p:grpSpPr>
      <p:sp>
        <p:nvSpPr>
          <p:cNvPr id="470" name="Google Shape;470;p31"/>
          <p:cNvSpPr/>
          <p:nvPr/>
        </p:nvSpPr>
        <p:spPr>
          <a:xfrm>
            <a:off x="548640" y="457200"/>
            <a:ext cx="502920" cy="502920"/>
          </a:xfrm>
          <a:prstGeom prst="ellipse">
            <a:avLst/>
          </a:prstGeom>
          <a:solidFill>
            <a:srgbClr val="306998"/>
          </a:solidFill>
          <a:ln cap="flat" cmpd="sng" w="12700">
            <a:solidFill>
              <a:srgbClr val="30699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71" name="Google Shape;471;p31"/>
          <p:cNvSpPr txBox="1"/>
          <p:nvPr/>
        </p:nvSpPr>
        <p:spPr>
          <a:xfrm>
            <a:off x="548640" y="457200"/>
            <a:ext cx="502920" cy="502920"/>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lang="en-US" sz="1400">
                <a:solidFill>
                  <a:srgbClr val="FFFFFF"/>
                </a:solidFill>
                <a:latin typeface="Cambria"/>
                <a:ea typeface="Cambria"/>
                <a:cs typeface="Cambria"/>
                <a:sym typeface="Cambria"/>
              </a:rPr>
              <a:t>a</a:t>
            </a:r>
            <a:endParaRPr/>
          </a:p>
        </p:txBody>
      </p:sp>
      <p:sp>
        <p:nvSpPr>
          <p:cNvPr id="472" name="Google Shape;472;p31"/>
          <p:cNvSpPr txBox="1"/>
          <p:nvPr/>
        </p:nvSpPr>
        <p:spPr>
          <a:xfrm>
            <a:off x="1188720" y="384048"/>
            <a:ext cx="10424160" cy="685800"/>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lang="en-US" sz="2400">
                <a:solidFill>
                  <a:srgbClr val="2B5B84"/>
                </a:solidFill>
                <a:latin typeface="Cambria"/>
                <a:ea typeface="Cambria"/>
                <a:cs typeface="Cambria"/>
                <a:sym typeface="Cambria"/>
              </a:rPr>
              <a:t>Feature Preparation &amp; Scaling (Syntax &amp; Output)</a:t>
            </a:r>
            <a:endParaRPr/>
          </a:p>
        </p:txBody>
      </p:sp>
      <p:sp>
        <p:nvSpPr>
          <p:cNvPr id="473" name="Google Shape;473;p31"/>
          <p:cNvSpPr txBox="1"/>
          <p:nvPr/>
        </p:nvSpPr>
        <p:spPr>
          <a:xfrm>
            <a:off x="457200" y="6492240"/>
            <a:ext cx="7315200" cy="27432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lang="en-US" sz="900">
                <a:solidFill>
                  <a:srgbClr val="5A7185"/>
                </a:solidFill>
                <a:latin typeface="Calibri"/>
                <a:ea typeface="Calibri"/>
                <a:cs typeface="Calibri"/>
                <a:sym typeface="Calibri"/>
              </a:rPr>
              <a:t>Credit Card &amp; User Data Analysis – Milestone 3</a:t>
            </a:r>
            <a:endParaRPr/>
          </a:p>
        </p:txBody>
      </p:sp>
      <p:sp>
        <p:nvSpPr>
          <p:cNvPr id="474" name="Google Shape;474;p31"/>
          <p:cNvSpPr txBox="1"/>
          <p:nvPr/>
        </p:nvSpPr>
        <p:spPr>
          <a:xfrm>
            <a:off x="11247120" y="6492240"/>
            <a:ext cx="457200" cy="274320"/>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None/>
            </a:pPr>
            <a:r>
              <a:rPr b="0" lang="en-US" sz="900">
                <a:solidFill>
                  <a:srgbClr val="5A7185"/>
                </a:solidFill>
                <a:latin typeface="Calibri"/>
                <a:ea typeface="Calibri"/>
                <a:cs typeface="Calibri"/>
                <a:sym typeface="Calibri"/>
              </a:rPr>
              <a:t>31</a:t>
            </a:r>
            <a:endParaRPr/>
          </a:p>
        </p:txBody>
      </p:sp>
      <p:sp>
        <p:nvSpPr>
          <p:cNvPr id="475" name="Google Shape;475;p31"/>
          <p:cNvSpPr txBox="1"/>
          <p:nvPr/>
        </p:nvSpPr>
        <p:spPr>
          <a:xfrm>
            <a:off x="548640" y="1325880"/>
            <a:ext cx="5486400" cy="320040"/>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lang="en-US" sz="1300">
                <a:solidFill>
                  <a:srgbClr val="5A7185"/>
                </a:solidFill>
                <a:latin typeface="Calibri"/>
                <a:ea typeface="Calibri"/>
                <a:cs typeface="Calibri"/>
                <a:sym typeface="Calibri"/>
              </a:rPr>
              <a:t>Syntax</a:t>
            </a:r>
            <a:endParaRPr/>
          </a:p>
        </p:txBody>
      </p:sp>
      <p:sp>
        <p:nvSpPr>
          <p:cNvPr id="476" name="Google Shape;476;p31"/>
          <p:cNvSpPr/>
          <p:nvPr/>
        </p:nvSpPr>
        <p:spPr>
          <a:xfrm>
            <a:off x="548640" y="1691640"/>
            <a:ext cx="6035040" cy="4663440"/>
          </a:xfrm>
          <a:prstGeom prst="roundRect">
            <a:avLst>
              <a:gd fmla="val 1600" name="adj"/>
            </a:avLst>
          </a:prstGeom>
          <a:solidFill>
            <a:srgbClr val="1B2A38"/>
          </a:solidFill>
          <a:ln cap="flat" cmpd="sng" w="12700">
            <a:solidFill>
              <a:srgbClr val="1B2A3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77" name="Google Shape;477;p31"/>
          <p:cNvSpPr txBox="1"/>
          <p:nvPr/>
        </p:nvSpPr>
        <p:spPr>
          <a:xfrm>
            <a:off x="731520" y="1828800"/>
            <a:ext cx="5715000" cy="43891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lang="en-US" sz="1000">
                <a:solidFill>
                  <a:srgbClr val="E7F0FA"/>
                </a:solidFill>
                <a:latin typeface="Courier New"/>
                <a:ea typeface="Courier New"/>
                <a:cs typeface="Courier New"/>
                <a:sym typeface="Courier New"/>
              </a:rPr>
              <a:t>feature_cols = [</a:t>
            </a:r>
            <a:endParaRPr/>
          </a:p>
          <a:p>
            <a:pPr indent="0" lvl="0" marL="0" marR="0" rtl="0" algn="l">
              <a:lnSpc>
                <a:spcPct val="108000"/>
              </a:lnSpc>
              <a:spcBef>
                <a:spcPts val="0"/>
              </a:spcBef>
              <a:spcAft>
                <a:spcPts val="0"/>
              </a:spcAft>
              <a:buNone/>
            </a:pPr>
            <a:r>
              <a:rPr lang="en-US" sz="1000">
                <a:solidFill>
                  <a:srgbClr val="E7F0FA"/>
                </a:solidFill>
                <a:latin typeface="Courier New"/>
                <a:ea typeface="Courier New"/>
                <a:cs typeface="Courier New"/>
                <a:sym typeface="Courier New"/>
              </a:rPr>
              <a:t>    'days_since_last_trx',     # Recency</a:t>
            </a:r>
            <a:endParaRPr/>
          </a:p>
          <a:p>
            <a:pPr indent="0" lvl="0" marL="0" marR="0" rtl="0" algn="l">
              <a:lnSpc>
                <a:spcPct val="108000"/>
              </a:lnSpc>
              <a:spcBef>
                <a:spcPts val="0"/>
              </a:spcBef>
              <a:spcAft>
                <a:spcPts val="0"/>
              </a:spcAft>
              <a:buNone/>
            </a:pPr>
            <a:r>
              <a:rPr lang="en-US" sz="1000">
                <a:solidFill>
                  <a:srgbClr val="E7F0FA"/>
                </a:solidFill>
                <a:latin typeface="Courier New"/>
                <a:ea typeface="Courier New"/>
                <a:cs typeface="Courier New"/>
                <a:sym typeface="Courier New"/>
              </a:rPr>
              <a:t>    'count_nonfraud_trx_L6M',  # Frequency</a:t>
            </a:r>
            <a:endParaRPr/>
          </a:p>
          <a:p>
            <a:pPr indent="0" lvl="0" marL="0" marR="0" rtl="0" algn="l">
              <a:lnSpc>
                <a:spcPct val="108000"/>
              </a:lnSpc>
              <a:spcBef>
                <a:spcPts val="0"/>
              </a:spcBef>
              <a:spcAft>
                <a:spcPts val="0"/>
              </a:spcAft>
              <a:buNone/>
            </a:pPr>
            <a:r>
              <a:rPr lang="en-US" sz="1000">
                <a:solidFill>
                  <a:srgbClr val="E7F0FA"/>
                </a:solidFill>
                <a:latin typeface="Courier New"/>
                <a:ea typeface="Courier New"/>
                <a:cs typeface="Courier New"/>
                <a:sym typeface="Courier New"/>
              </a:rPr>
              <a:t>    'amt_nonfraud_trx_L6M',    # Monetary</a:t>
            </a:r>
            <a:endParaRPr/>
          </a:p>
          <a:p>
            <a:pPr indent="0" lvl="0" marL="0" marR="0" rtl="0" algn="l">
              <a:lnSpc>
                <a:spcPct val="108000"/>
              </a:lnSpc>
              <a:spcBef>
                <a:spcPts val="0"/>
              </a:spcBef>
              <a:spcAft>
                <a:spcPts val="0"/>
              </a:spcAft>
              <a:buNone/>
            </a:pPr>
            <a:r>
              <a:rPr lang="en-US" sz="1000">
                <a:solidFill>
                  <a:srgbClr val="E7F0FA"/>
                </a:solidFill>
                <a:latin typeface="Courier New"/>
                <a:ea typeface="Courier New"/>
                <a:cs typeface="Courier New"/>
                <a:sym typeface="Courier New"/>
              </a:rPr>
              <a:t>    'credit_limit', 'DTI', 'age']</a:t>
            </a:r>
            <a:endParaRPr/>
          </a:p>
          <a:p>
            <a:pPr indent="0" lvl="0" marL="0" marR="0" rtl="0" algn="l">
              <a:lnSpc>
                <a:spcPct val="108000"/>
              </a:lnSpc>
              <a:spcBef>
                <a:spcPts val="0"/>
              </a:spcBef>
              <a:spcAft>
                <a:spcPts val="0"/>
              </a:spcAft>
              <a:buNone/>
            </a:pPr>
            <a:r>
              <a:t/>
            </a:r>
            <a:endParaRPr sz="1000">
              <a:solidFill>
                <a:srgbClr val="E7F0FA"/>
              </a:solidFill>
              <a:latin typeface="Courier New"/>
              <a:ea typeface="Courier New"/>
              <a:cs typeface="Courier New"/>
              <a:sym typeface="Courier New"/>
            </a:endParaRPr>
          </a:p>
          <a:p>
            <a:pPr indent="0" lvl="0" marL="0" marR="0" rtl="0" algn="l">
              <a:lnSpc>
                <a:spcPct val="108000"/>
              </a:lnSpc>
              <a:spcBef>
                <a:spcPts val="0"/>
              </a:spcBef>
              <a:spcAft>
                <a:spcPts val="0"/>
              </a:spcAft>
              <a:buNone/>
            </a:pPr>
            <a:r>
              <a:rPr lang="en-US" sz="1000">
                <a:solidFill>
                  <a:srgbClr val="E7F0FA"/>
                </a:solidFill>
                <a:latin typeface="Courier New"/>
                <a:ea typeface="Courier New"/>
                <a:cs typeface="Courier New"/>
                <a:sym typeface="Courier New"/>
              </a:rPr>
              <a:t>df_model = df_seg.set_index('id')[feature_cols]</a:t>
            </a:r>
            <a:endParaRPr/>
          </a:p>
          <a:p>
            <a:pPr indent="0" lvl="0" marL="0" marR="0" rtl="0" algn="l">
              <a:lnSpc>
                <a:spcPct val="108000"/>
              </a:lnSpc>
              <a:spcBef>
                <a:spcPts val="0"/>
              </a:spcBef>
              <a:spcAft>
                <a:spcPts val="0"/>
              </a:spcAft>
              <a:buNone/>
            </a:pPr>
            <a:r>
              <a:t/>
            </a:r>
            <a:endParaRPr sz="1000">
              <a:solidFill>
                <a:srgbClr val="E7F0FA"/>
              </a:solidFill>
              <a:latin typeface="Courier New"/>
              <a:ea typeface="Courier New"/>
              <a:cs typeface="Courier New"/>
              <a:sym typeface="Courier New"/>
            </a:endParaRPr>
          </a:p>
          <a:p>
            <a:pPr indent="0" lvl="0" marL="0" marR="0" rtl="0" algn="l">
              <a:lnSpc>
                <a:spcPct val="108000"/>
              </a:lnSpc>
              <a:spcBef>
                <a:spcPts val="0"/>
              </a:spcBef>
              <a:spcAft>
                <a:spcPts val="0"/>
              </a:spcAft>
              <a:buNone/>
            </a:pPr>
            <a:r>
              <a:rPr lang="en-US" sz="1000">
                <a:solidFill>
                  <a:srgbClr val="E7F0FA"/>
                </a:solidFill>
                <a:latin typeface="Courier New"/>
                <a:ea typeface="Courier New"/>
                <a:cs typeface="Courier New"/>
                <a:sym typeface="Courier New"/>
              </a:rPr>
              <a:t># DTI can be inf if yearly_income = 0</a:t>
            </a:r>
            <a:endParaRPr/>
          </a:p>
          <a:p>
            <a:pPr indent="0" lvl="0" marL="0" marR="0" rtl="0" algn="l">
              <a:lnSpc>
                <a:spcPct val="108000"/>
              </a:lnSpc>
              <a:spcBef>
                <a:spcPts val="0"/>
              </a:spcBef>
              <a:spcAft>
                <a:spcPts val="0"/>
              </a:spcAft>
              <a:buNone/>
            </a:pPr>
            <a:r>
              <a:rPr lang="en-US" sz="1000">
                <a:solidFill>
                  <a:srgbClr val="E7F0FA"/>
                </a:solidFill>
                <a:latin typeface="Courier New"/>
                <a:ea typeface="Courier New"/>
                <a:cs typeface="Courier New"/>
                <a:sym typeface="Courier New"/>
              </a:rPr>
              <a:t>df_model = df_model.replace([np.inf, -np.inf], 0)</a:t>
            </a:r>
            <a:endParaRPr/>
          </a:p>
          <a:p>
            <a:pPr indent="0" lvl="0" marL="0" marR="0" rtl="0" algn="l">
              <a:lnSpc>
                <a:spcPct val="108000"/>
              </a:lnSpc>
              <a:spcBef>
                <a:spcPts val="0"/>
              </a:spcBef>
              <a:spcAft>
                <a:spcPts val="0"/>
              </a:spcAft>
              <a:buNone/>
            </a:pPr>
            <a:r>
              <a:rPr lang="en-US" sz="1000">
                <a:solidFill>
                  <a:srgbClr val="E7F0FA"/>
                </a:solidFill>
                <a:latin typeface="Courier New"/>
                <a:ea typeface="Courier New"/>
                <a:cs typeface="Courier New"/>
                <a:sym typeface="Courier New"/>
              </a:rPr>
              <a:t>df_model = df_model.fillna(0)</a:t>
            </a:r>
            <a:endParaRPr/>
          </a:p>
          <a:p>
            <a:pPr indent="0" lvl="0" marL="0" marR="0" rtl="0" algn="l">
              <a:lnSpc>
                <a:spcPct val="108000"/>
              </a:lnSpc>
              <a:spcBef>
                <a:spcPts val="0"/>
              </a:spcBef>
              <a:spcAft>
                <a:spcPts val="0"/>
              </a:spcAft>
              <a:buNone/>
            </a:pPr>
            <a:r>
              <a:t/>
            </a:r>
            <a:endParaRPr sz="1000">
              <a:solidFill>
                <a:srgbClr val="E7F0FA"/>
              </a:solidFill>
              <a:latin typeface="Courier New"/>
              <a:ea typeface="Courier New"/>
              <a:cs typeface="Courier New"/>
              <a:sym typeface="Courier New"/>
            </a:endParaRPr>
          </a:p>
          <a:p>
            <a:pPr indent="0" lvl="0" marL="0" marR="0" rtl="0" algn="l">
              <a:lnSpc>
                <a:spcPct val="108000"/>
              </a:lnSpc>
              <a:spcBef>
                <a:spcPts val="0"/>
              </a:spcBef>
              <a:spcAft>
                <a:spcPts val="0"/>
              </a:spcAft>
              <a:buNone/>
            </a:pPr>
            <a:r>
              <a:rPr lang="en-US" sz="1000">
                <a:solidFill>
                  <a:srgbClr val="E7F0FA"/>
                </a:solidFill>
                <a:latin typeface="Courier New"/>
                <a:ea typeface="Courier New"/>
                <a:cs typeface="Courier New"/>
                <a:sym typeface="Courier New"/>
              </a:rPr>
              <a:t># de-skew first, then standardise</a:t>
            </a:r>
            <a:endParaRPr/>
          </a:p>
          <a:p>
            <a:pPr indent="0" lvl="0" marL="0" marR="0" rtl="0" algn="l">
              <a:lnSpc>
                <a:spcPct val="108000"/>
              </a:lnSpc>
              <a:spcBef>
                <a:spcPts val="0"/>
              </a:spcBef>
              <a:spcAft>
                <a:spcPts val="0"/>
              </a:spcAft>
              <a:buNone/>
            </a:pPr>
            <a:r>
              <a:rPr lang="en-US" sz="1000">
                <a:solidFill>
                  <a:srgbClr val="E7F0FA"/>
                </a:solidFill>
                <a:latin typeface="Courier New"/>
                <a:ea typeface="Courier New"/>
                <a:cs typeface="Courier New"/>
                <a:sym typeface="Courier New"/>
              </a:rPr>
              <a:t>scaler = PowerTransformer()</a:t>
            </a:r>
            <a:endParaRPr/>
          </a:p>
          <a:p>
            <a:pPr indent="0" lvl="0" marL="0" marR="0" rtl="0" algn="l">
              <a:lnSpc>
                <a:spcPct val="108000"/>
              </a:lnSpc>
              <a:spcBef>
                <a:spcPts val="0"/>
              </a:spcBef>
              <a:spcAft>
                <a:spcPts val="0"/>
              </a:spcAft>
              <a:buNone/>
            </a:pPr>
            <a:r>
              <a:rPr lang="en-US" sz="1000">
                <a:solidFill>
                  <a:srgbClr val="E7F0FA"/>
                </a:solidFill>
                <a:latin typeface="Courier New"/>
                <a:ea typeface="Courier New"/>
                <a:cs typeface="Courier New"/>
                <a:sym typeface="Courier New"/>
              </a:rPr>
              <a:t>scaler.fit(df_model)</a:t>
            </a:r>
            <a:endParaRPr/>
          </a:p>
          <a:p>
            <a:pPr indent="0" lvl="0" marL="0" marR="0" rtl="0" algn="l">
              <a:lnSpc>
                <a:spcPct val="108000"/>
              </a:lnSpc>
              <a:spcBef>
                <a:spcPts val="0"/>
              </a:spcBef>
              <a:spcAft>
                <a:spcPts val="0"/>
              </a:spcAft>
              <a:buNone/>
            </a:pPr>
            <a:r>
              <a:t/>
            </a:r>
            <a:endParaRPr sz="1000">
              <a:solidFill>
                <a:srgbClr val="E7F0FA"/>
              </a:solidFill>
              <a:latin typeface="Courier New"/>
              <a:ea typeface="Courier New"/>
              <a:cs typeface="Courier New"/>
              <a:sym typeface="Courier New"/>
            </a:endParaRPr>
          </a:p>
          <a:p>
            <a:pPr indent="0" lvl="0" marL="0" marR="0" rtl="0" algn="l">
              <a:lnSpc>
                <a:spcPct val="108000"/>
              </a:lnSpc>
              <a:spcBef>
                <a:spcPts val="0"/>
              </a:spcBef>
              <a:spcAft>
                <a:spcPts val="0"/>
              </a:spcAft>
              <a:buNone/>
            </a:pPr>
            <a:r>
              <a:rPr lang="en-US" sz="1000">
                <a:solidFill>
                  <a:srgbClr val="E7F0FA"/>
                </a:solidFill>
                <a:latin typeface="Courier New"/>
                <a:ea typeface="Courier New"/>
                <a:cs typeface="Courier New"/>
                <a:sym typeface="Courier New"/>
              </a:rPr>
              <a:t>df_scaled = pd.DataFrame(</a:t>
            </a:r>
            <a:endParaRPr/>
          </a:p>
          <a:p>
            <a:pPr indent="0" lvl="0" marL="0" marR="0" rtl="0" algn="l">
              <a:lnSpc>
                <a:spcPct val="108000"/>
              </a:lnSpc>
              <a:spcBef>
                <a:spcPts val="0"/>
              </a:spcBef>
              <a:spcAft>
                <a:spcPts val="0"/>
              </a:spcAft>
              <a:buNone/>
            </a:pPr>
            <a:r>
              <a:rPr lang="en-US" sz="1000">
                <a:solidFill>
                  <a:srgbClr val="E7F0FA"/>
                </a:solidFill>
                <a:latin typeface="Courier New"/>
                <a:ea typeface="Courier New"/>
                <a:cs typeface="Courier New"/>
                <a:sym typeface="Courier New"/>
              </a:rPr>
              <a:t>    scaler.transform(df_model),</a:t>
            </a:r>
            <a:endParaRPr/>
          </a:p>
          <a:p>
            <a:pPr indent="0" lvl="0" marL="0" marR="0" rtl="0" algn="l">
              <a:lnSpc>
                <a:spcPct val="108000"/>
              </a:lnSpc>
              <a:spcBef>
                <a:spcPts val="0"/>
              </a:spcBef>
              <a:spcAft>
                <a:spcPts val="0"/>
              </a:spcAft>
              <a:buNone/>
            </a:pPr>
            <a:r>
              <a:rPr lang="en-US" sz="1000">
                <a:solidFill>
                  <a:srgbClr val="E7F0FA"/>
                </a:solidFill>
                <a:latin typeface="Courier New"/>
                <a:ea typeface="Courier New"/>
                <a:cs typeface="Courier New"/>
                <a:sym typeface="Courier New"/>
              </a:rPr>
              <a:t>    columns=df_model.columns,</a:t>
            </a:r>
            <a:endParaRPr/>
          </a:p>
          <a:p>
            <a:pPr indent="0" lvl="0" marL="0" marR="0" rtl="0" algn="l">
              <a:lnSpc>
                <a:spcPct val="108000"/>
              </a:lnSpc>
              <a:spcBef>
                <a:spcPts val="0"/>
              </a:spcBef>
              <a:spcAft>
                <a:spcPts val="0"/>
              </a:spcAft>
              <a:buNone/>
            </a:pPr>
            <a:r>
              <a:rPr lang="en-US" sz="1000">
                <a:solidFill>
                  <a:srgbClr val="E7F0FA"/>
                </a:solidFill>
                <a:latin typeface="Courier New"/>
                <a:ea typeface="Courier New"/>
                <a:cs typeface="Courier New"/>
                <a:sym typeface="Courier New"/>
              </a:rPr>
              <a:t>    index=df_model.index)</a:t>
            </a:r>
            <a:endParaRPr/>
          </a:p>
          <a:p>
            <a:pPr indent="0" lvl="0" marL="0" marR="0" rtl="0" algn="l">
              <a:lnSpc>
                <a:spcPct val="108000"/>
              </a:lnSpc>
              <a:spcBef>
                <a:spcPts val="0"/>
              </a:spcBef>
              <a:spcAft>
                <a:spcPts val="0"/>
              </a:spcAft>
              <a:buNone/>
            </a:pPr>
            <a:r>
              <a:t/>
            </a:r>
            <a:endParaRPr sz="1000">
              <a:solidFill>
                <a:srgbClr val="E7F0FA"/>
              </a:solidFill>
              <a:latin typeface="Courier New"/>
              <a:ea typeface="Courier New"/>
              <a:cs typeface="Courier New"/>
              <a:sym typeface="Courier New"/>
            </a:endParaRPr>
          </a:p>
          <a:p>
            <a:pPr indent="0" lvl="0" marL="0" marR="0" rtl="0" algn="l">
              <a:lnSpc>
                <a:spcPct val="108000"/>
              </a:lnSpc>
              <a:spcBef>
                <a:spcPts val="0"/>
              </a:spcBef>
              <a:spcAft>
                <a:spcPts val="0"/>
              </a:spcAft>
              <a:buNone/>
            </a:pPr>
            <a:r>
              <a:rPr lang="en-US" sz="1000">
                <a:solidFill>
                  <a:srgbClr val="E7F0FA"/>
                </a:solidFill>
                <a:latin typeface="Courier New"/>
                <a:ea typeface="Courier New"/>
                <a:cs typeface="Courier New"/>
                <a:sym typeface="Courier New"/>
              </a:rPr>
              <a:t>print(pd.DataFrame({</a:t>
            </a:r>
            <a:endParaRPr/>
          </a:p>
          <a:p>
            <a:pPr indent="0" lvl="0" marL="0" marR="0" rtl="0" algn="l">
              <a:lnSpc>
                <a:spcPct val="108000"/>
              </a:lnSpc>
              <a:spcBef>
                <a:spcPts val="0"/>
              </a:spcBef>
              <a:spcAft>
                <a:spcPts val="0"/>
              </a:spcAft>
              <a:buNone/>
            </a:pPr>
            <a:r>
              <a:rPr lang="en-US" sz="1000">
                <a:solidFill>
                  <a:srgbClr val="E7F0FA"/>
                </a:solidFill>
                <a:latin typeface="Courier New"/>
                <a:ea typeface="Courier New"/>
                <a:cs typeface="Courier New"/>
                <a:sym typeface="Courier New"/>
              </a:rPr>
              <a:t>    'skew_before': df_model.skew(),</a:t>
            </a:r>
            <a:endParaRPr/>
          </a:p>
          <a:p>
            <a:pPr indent="0" lvl="0" marL="0" marR="0" rtl="0" algn="l">
              <a:lnSpc>
                <a:spcPct val="108000"/>
              </a:lnSpc>
              <a:spcBef>
                <a:spcPts val="0"/>
              </a:spcBef>
              <a:spcAft>
                <a:spcPts val="0"/>
              </a:spcAft>
              <a:buNone/>
            </a:pPr>
            <a:r>
              <a:rPr lang="en-US" sz="1000">
                <a:solidFill>
                  <a:srgbClr val="E7F0FA"/>
                </a:solidFill>
                <a:latin typeface="Courier New"/>
                <a:ea typeface="Courier New"/>
                <a:cs typeface="Courier New"/>
                <a:sym typeface="Courier New"/>
              </a:rPr>
              <a:t>    'skew_after':  df_scaled.skew()}).round(2))</a:t>
            </a:r>
            <a:endParaRPr/>
          </a:p>
        </p:txBody>
      </p:sp>
      <p:sp>
        <p:nvSpPr>
          <p:cNvPr id="478" name="Google Shape;478;p31"/>
          <p:cNvSpPr txBox="1"/>
          <p:nvPr/>
        </p:nvSpPr>
        <p:spPr>
          <a:xfrm>
            <a:off x="6812280" y="1325880"/>
            <a:ext cx="4800600" cy="320040"/>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lang="en-US" sz="1300">
                <a:solidFill>
                  <a:srgbClr val="5A7185"/>
                </a:solidFill>
                <a:latin typeface="Calibri"/>
                <a:ea typeface="Calibri"/>
                <a:cs typeface="Calibri"/>
                <a:sym typeface="Calibri"/>
              </a:rPr>
              <a:t>Output</a:t>
            </a:r>
            <a:endParaRPr/>
          </a:p>
        </p:txBody>
      </p:sp>
      <p:sp>
        <p:nvSpPr>
          <p:cNvPr id="479" name="Google Shape;479;p31"/>
          <p:cNvSpPr/>
          <p:nvPr/>
        </p:nvSpPr>
        <p:spPr>
          <a:xfrm>
            <a:off x="6812280" y="1691640"/>
            <a:ext cx="4800600" cy="2331720"/>
          </a:xfrm>
          <a:prstGeom prst="roundRect">
            <a:avLst>
              <a:gd fmla="val 6000" name="adj"/>
            </a:avLst>
          </a:prstGeom>
          <a:solidFill>
            <a:srgbClr val="FFFFFF"/>
          </a:solidFill>
          <a:ln cap="flat" cmpd="sng" w="19050">
            <a:solidFill>
              <a:srgbClr val="FFD43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aphicFrame>
        <p:nvGraphicFramePr>
          <p:cNvPr id="480" name="Google Shape;480;p31"/>
          <p:cNvGraphicFramePr/>
          <p:nvPr/>
        </p:nvGraphicFramePr>
        <p:xfrm>
          <a:off x="6949440" y="1783080"/>
          <a:ext cx="3000000" cy="3000000"/>
        </p:xfrm>
        <a:graphic>
          <a:graphicData uri="http://schemas.openxmlformats.org/drawingml/2006/table">
            <a:tbl>
              <a:tblPr>
                <a:noFill/>
                <a:tableStyleId>{3D7D59D7-DF91-47F0-BCBC-DAAD57FB8C79}</a:tableStyleId>
              </a:tblPr>
              <a:tblGrid>
                <a:gridCol w="2331725"/>
                <a:gridCol w="1097275"/>
                <a:gridCol w="1097275"/>
              </a:tblGrid>
              <a:tr h="297175">
                <a:tc>
                  <a:txBody>
                    <a:bodyPr/>
                    <a:lstStyle/>
                    <a:p>
                      <a:pPr indent="0" lvl="0" marL="0" marR="0" rtl="0" algn="ctr">
                        <a:spcBef>
                          <a:spcPts val="0"/>
                        </a:spcBef>
                        <a:spcAft>
                          <a:spcPts val="0"/>
                        </a:spcAft>
                        <a:buNone/>
                      </a:pPr>
                      <a:r>
                        <a:rPr b="1" lang="en-US" sz="900" u="none" cap="none" strike="noStrike">
                          <a:solidFill>
                            <a:srgbClr val="FFFFFF"/>
                          </a:solidFill>
                          <a:latin typeface="Calibri"/>
                          <a:ea typeface="Calibri"/>
                          <a:cs typeface="Calibri"/>
                          <a:sym typeface="Calibri"/>
                        </a:rPr>
                        <a:t>Feature</a:t>
                      </a:r>
                      <a:endParaRPr/>
                    </a:p>
                  </a:txBody>
                  <a:tcPr marT="27425" marB="27425" marR="54875" marL="54875" anchor="ctr">
                    <a:lnB cap="flat" cmpd="sng" w="9525">
                      <a:solidFill>
                        <a:srgbClr val="C9DCEA"/>
                      </a:solidFill>
                      <a:prstDash val="solid"/>
                      <a:round/>
                      <a:headEnd len="sm" w="sm" type="none"/>
                      <a:tailEnd len="sm" w="sm" type="none"/>
                    </a:lnB>
                    <a:solidFill>
                      <a:srgbClr val="306998"/>
                    </a:solidFill>
                  </a:tcPr>
                </a:tc>
                <a:tc>
                  <a:txBody>
                    <a:bodyPr/>
                    <a:lstStyle/>
                    <a:p>
                      <a:pPr indent="0" lvl="0" marL="0" marR="0" rtl="0" algn="ctr">
                        <a:spcBef>
                          <a:spcPts val="0"/>
                        </a:spcBef>
                        <a:spcAft>
                          <a:spcPts val="0"/>
                        </a:spcAft>
                        <a:buNone/>
                      </a:pPr>
                      <a:r>
                        <a:rPr b="1" lang="en-US" sz="900" u="none" cap="none" strike="noStrike">
                          <a:solidFill>
                            <a:srgbClr val="FFFFFF"/>
                          </a:solidFill>
                          <a:latin typeface="Calibri"/>
                          <a:ea typeface="Calibri"/>
                          <a:cs typeface="Calibri"/>
                          <a:sym typeface="Calibri"/>
                        </a:rPr>
                        <a:t>Skew before</a:t>
                      </a:r>
                      <a:endParaRPr/>
                    </a:p>
                  </a:txBody>
                  <a:tcPr marT="27425" marB="27425" marR="54875" marL="54875" anchor="ctr">
                    <a:lnB cap="flat" cmpd="sng" w="9525">
                      <a:solidFill>
                        <a:srgbClr val="C9DCEA"/>
                      </a:solidFill>
                      <a:prstDash val="solid"/>
                      <a:round/>
                      <a:headEnd len="sm" w="sm" type="none"/>
                      <a:tailEnd len="sm" w="sm" type="none"/>
                    </a:lnB>
                    <a:solidFill>
                      <a:srgbClr val="306998"/>
                    </a:solidFill>
                  </a:tcPr>
                </a:tc>
                <a:tc>
                  <a:txBody>
                    <a:bodyPr/>
                    <a:lstStyle/>
                    <a:p>
                      <a:pPr indent="0" lvl="0" marL="0" marR="0" rtl="0" algn="ctr">
                        <a:spcBef>
                          <a:spcPts val="0"/>
                        </a:spcBef>
                        <a:spcAft>
                          <a:spcPts val="0"/>
                        </a:spcAft>
                        <a:buNone/>
                      </a:pPr>
                      <a:r>
                        <a:rPr b="1" lang="en-US" sz="900" u="none" cap="none" strike="noStrike">
                          <a:solidFill>
                            <a:srgbClr val="FFFFFF"/>
                          </a:solidFill>
                          <a:latin typeface="Calibri"/>
                          <a:ea typeface="Calibri"/>
                          <a:cs typeface="Calibri"/>
                          <a:sym typeface="Calibri"/>
                        </a:rPr>
                        <a:t>Skew after</a:t>
                      </a:r>
                      <a:endParaRPr/>
                    </a:p>
                  </a:txBody>
                  <a:tcPr marT="27425" marB="27425" marR="54875" marL="54875" anchor="ctr">
                    <a:lnB cap="flat" cmpd="sng" w="9525">
                      <a:solidFill>
                        <a:srgbClr val="C9DCEA"/>
                      </a:solidFill>
                      <a:prstDash val="solid"/>
                      <a:round/>
                      <a:headEnd len="sm" w="sm" type="none"/>
                      <a:tailEnd len="sm" w="sm" type="none"/>
                    </a:lnB>
                    <a:solidFill>
                      <a:srgbClr val="306998"/>
                    </a:solidFill>
                  </a:tcPr>
                </a:tc>
              </a:tr>
              <a:tr h="297175">
                <a:tc>
                  <a:txBody>
                    <a:bodyPr/>
                    <a:lstStyle/>
                    <a:p>
                      <a:pPr indent="0" lvl="0" marL="0" marR="0" rtl="0" algn="l">
                        <a:spcBef>
                          <a:spcPts val="0"/>
                        </a:spcBef>
                        <a:spcAft>
                          <a:spcPts val="0"/>
                        </a:spcAft>
                        <a:buNone/>
                      </a:pPr>
                      <a:r>
                        <a:rPr b="0" lang="en-US" sz="900" u="none" cap="none" strike="noStrike">
                          <a:solidFill>
                            <a:srgbClr val="1B2A38"/>
                          </a:solidFill>
                          <a:latin typeface="Calibri"/>
                          <a:ea typeface="Calibri"/>
                          <a:cs typeface="Calibri"/>
                          <a:sym typeface="Calibri"/>
                        </a:rPr>
                        <a:t>credit_limit</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3,06</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0,05</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r>
              <a:tr h="297175">
                <a:tc>
                  <a:txBody>
                    <a:bodyPr/>
                    <a:lstStyle/>
                    <a:p>
                      <a:pPr indent="0" lvl="0" marL="0" marR="0" rtl="0" algn="l">
                        <a:spcBef>
                          <a:spcPts val="0"/>
                        </a:spcBef>
                        <a:spcAft>
                          <a:spcPts val="0"/>
                        </a:spcAft>
                        <a:buNone/>
                      </a:pPr>
                      <a:r>
                        <a:rPr b="0" lang="en-US" sz="900" u="none" cap="none" strike="noStrike">
                          <a:solidFill>
                            <a:srgbClr val="1B2A38"/>
                          </a:solidFill>
                          <a:latin typeface="Calibri"/>
                          <a:ea typeface="Calibri"/>
                          <a:cs typeface="Calibri"/>
                          <a:sym typeface="Calibri"/>
                        </a:rPr>
                        <a:t>amt_nonfraud_trx_L6M</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1,57</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-0,45</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r>
              <a:tr h="297175">
                <a:tc>
                  <a:txBody>
                    <a:bodyPr/>
                    <a:lstStyle/>
                    <a:p>
                      <a:pPr indent="0" lvl="0" marL="0" marR="0" rtl="0" algn="l">
                        <a:spcBef>
                          <a:spcPts val="0"/>
                        </a:spcBef>
                        <a:spcAft>
                          <a:spcPts val="0"/>
                        </a:spcAft>
                        <a:buNone/>
                      </a:pPr>
                      <a:r>
                        <a:rPr b="0" lang="en-US" sz="900" u="none" cap="none" strike="noStrike">
                          <a:solidFill>
                            <a:srgbClr val="1B2A38"/>
                          </a:solidFill>
                          <a:latin typeface="Calibri"/>
                          <a:ea typeface="Calibri"/>
                          <a:cs typeface="Calibri"/>
                          <a:sym typeface="Calibri"/>
                        </a:rPr>
                        <a:t>count_nonfraud_trx_L6M</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1,22</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-0,33</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r>
              <a:tr h="297175">
                <a:tc>
                  <a:txBody>
                    <a:bodyPr/>
                    <a:lstStyle/>
                    <a:p>
                      <a:pPr indent="0" lvl="0" marL="0" marR="0" rtl="0" algn="l">
                        <a:spcBef>
                          <a:spcPts val="0"/>
                        </a:spcBef>
                        <a:spcAft>
                          <a:spcPts val="0"/>
                        </a:spcAft>
                        <a:buNone/>
                      </a:pPr>
                      <a:r>
                        <a:rPr b="0" lang="en-US" sz="900" u="none" cap="none" strike="noStrike">
                          <a:solidFill>
                            <a:srgbClr val="1B2A38"/>
                          </a:solidFill>
                          <a:latin typeface="Calibri"/>
                          <a:ea typeface="Calibri"/>
                          <a:cs typeface="Calibri"/>
                          <a:sym typeface="Calibri"/>
                        </a:rPr>
                        <a:t>days_since_last_trx</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0,48</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0,09</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r>
              <a:tr h="297175">
                <a:tc>
                  <a:txBody>
                    <a:bodyPr/>
                    <a:lstStyle/>
                    <a:p>
                      <a:pPr indent="0" lvl="0" marL="0" marR="0" rtl="0" algn="l">
                        <a:spcBef>
                          <a:spcPts val="0"/>
                        </a:spcBef>
                        <a:spcAft>
                          <a:spcPts val="0"/>
                        </a:spcAft>
                        <a:buNone/>
                      </a:pPr>
                      <a:r>
                        <a:rPr b="0" lang="en-US" sz="900" u="none" cap="none" strike="noStrike">
                          <a:solidFill>
                            <a:srgbClr val="1B2A38"/>
                          </a:solidFill>
                          <a:latin typeface="Calibri"/>
                          <a:ea typeface="Calibri"/>
                          <a:cs typeface="Calibri"/>
                          <a:sym typeface="Calibri"/>
                        </a:rPr>
                        <a:t>age</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0,42</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-0,04</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r>
              <a:tr h="297175">
                <a:tc>
                  <a:txBody>
                    <a:bodyPr/>
                    <a:lstStyle/>
                    <a:p>
                      <a:pPr indent="0" lvl="0" marL="0" marR="0" rtl="0" algn="l">
                        <a:spcBef>
                          <a:spcPts val="0"/>
                        </a:spcBef>
                        <a:spcAft>
                          <a:spcPts val="0"/>
                        </a:spcAft>
                        <a:buNone/>
                      </a:pPr>
                      <a:r>
                        <a:rPr b="0" lang="en-US" sz="900" u="none" cap="none" strike="noStrike">
                          <a:solidFill>
                            <a:srgbClr val="1B2A38"/>
                          </a:solidFill>
                          <a:latin typeface="Calibri"/>
                          <a:ea typeface="Calibri"/>
                          <a:cs typeface="Calibri"/>
                          <a:sym typeface="Calibri"/>
                        </a:rPr>
                        <a:t>DTI</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0,19</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-0,01</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r>
            </a:tbl>
          </a:graphicData>
        </a:graphic>
      </p:graphicFrame>
      <p:sp>
        <p:nvSpPr>
          <p:cNvPr id="481" name="Google Shape;481;p31"/>
          <p:cNvSpPr/>
          <p:nvPr/>
        </p:nvSpPr>
        <p:spPr>
          <a:xfrm>
            <a:off x="6812280" y="4160520"/>
            <a:ext cx="4800600" cy="2194560"/>
          </a:xfrm>
          <a:prstGeom prst="roundRect">
            <a:avLst>
              <a:gd fmla="val 4000" name="adj"/>
            </a:avLst>
          </a:prstGeom>
          <a:solidFill>
            <a:srgbClr val="FFD43B"/>
          </a:solidFill>
          <a:ln cap="flat" cmpd="sng" w="12700">
            <a:solidFill>
              <a:srgbClr val="FFD43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82" name="Google Shape;482;p31"/>
          <p:cNvSpPr txBox="1"/>
          <p:nvPr/>
        </p:nvSpPr>
        <p:spPr>
          <a:xfrm>
            <a:off x="6995160" y="4279392"/>
            <a:ext cx="4480560" cy="320040"/>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lang="en-US" sz="1500">
                <a:solidFill>
                  <a:srgbClr val="1B2A38"/>
                </a:solidFill>
                <a:latin typeface="Cambria"/>
                <a:ea typeface="Cambria"/>
                <a:cs typeface="Cambria"/>
                <a:sym typeface="Cambria"/>
              </a:rPr>
              <a:t>Method</a:t>
            </a:r>
            <a:endParaRPr/>
          </a:p>
        </p:txBody>
      </p:sp>
      <p:sp>
        <p:nvSpPr>
          <p:cNvPr id="483" name="Google Shape;483;p31"/>
          <p:cNvSpPr txBox="1"/>
          <p:nvPr/>
        </p:nvSpPr>
        <p:spPr>
          <a:xfrm>
            <a:off x="6995160" y="4617720"/>
            <a:ext cx="4480500" cy="16185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lang="en-US" sz="1050">
                <a:solidFill>
                  <a:srgbClr val="1B2A38"/>
                </a:solidFill>
                <a:latin typeface="Calibri"/>
                <a:ea typeface="Calibri"/>
                <a:cs typeface="Calibri"/>
                <a:sym typeface="Calibri"/>
              </a:rPr>
              <a:t>The modelling table is 1.938 users × 6 features.</a:t>
            </a:r>
            <a:endParaRPr/>
          </a:p>
          <a:p>
            <a:pPr indent="0" lvl="0" marL="0" marR="0" rtl="0" algn="l">
              <a:lnSpc>
                <a:spcPct val="115000"/>
              </a:lnSpc>
              <a:spcBef>
                <a:spcPts val="400"/>
              </a:spcBef>
              <a:spcAft>
                <a:spcPts val="0"/>
              </a:spcAft>
              <a:buNone/>
            </a:pPr>
            <a:r>
              <a:rPr b="0" lang="en-US" sz="1050">
                <a:solidFill>
                  <a:srgbClr val="1B2A38"/>
                </a:solidFill>
                <a:latin typeface="Calibri"/>
                <a:ea typeface="Calibri"/>
                <a:cs typeface="Calibri"/>
                <a:sym typeface="Calibri"/>
              </a:rPr>
              <a:t>PowerTransformer (Yeo-Johnson) is used because credit_limit is heavily right skewed at 3,06. MinMax and Standard scaling change the range but keep the skew, which makes k-means chase outliers and produce one huge cluster plus several tiny ones.</a:t>
            </a:r>
            <a:endParaRPr/>
          </a:p>
          <a:p>
            <a:pPr indent="0" lvl="0" marL="0" marR="0" rtl="0" algn="l">
              <a:lnSpc>
                <a:spcPct val="115000"/>
              </a:lnSpc>
              <a:spcBef>
                <a:spcPts val="400"/>
              </a:spcBef>
              <a:spcAft>
                <a:spcPts val="0"/>
              </a:spcAft>
              <a:buNone/>
            </a:pPr>
            <a:r>
              <a:rPr b="0" lang="en-US" sz="1050">
                <a:solidFill>
                  <a:srgbClr val="1B2A38"/>
                </a:solidFill>
                <a:latin typeface="Calibri"/>
                <a:ea typeface="Calibri"/>
                <a:cs typeface="Calibri"/>
                <a:sym typeface="Calibri"/>
              </a:rPr>
              <a:t>After the transform every feature sits between -0,45 and 0,09, so no column dominates the distance calculation.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B"/>
        </a:solidFill>
      </p:bgPr>
    </p:bg>
    <p:spTree>
      <p:nvGrpSpPr>
        <p:cNvPr id="487" name="Shape 487"/>
        <p:cNvGrpSpPr/>
        <p:nvPr/>
      </p:nvGrpSpPr>
      <p:grpSpPr>
        <a:xfrm>
          <a:off x="0" y="0"/>
          <a:ext cx="0" cy="0"/>
          <a:chOff x="0" y="0"/>
          <a:chExt cx="0" cy="0"/>
        </a:xfrm>
      </p:grpSpPr>
      <p:sp>
        <p:nvSpPr>
          <p:cNvPr id="488" name="Google Shape;488;p32"/>
          <p:cNvSpPr/>
          <p:nvPr/>
        </p:nvSpPr>
        <p:spPr>
          <a:xfrm>
            <a:off x="548640" y="457200"/>
            <a:ext cx="502920" cy="502920"/>
          </a:xfrm>
          <a:prstGeom prst="ellipse">
            <a:avLst/>
          </a:prstGeom>
          <a:solidFill>
            <a:srgbClr val="306998"/>
          </a:solidFill>
          <a:ln cap="flat" cmpd="sng" w="12700">
            <a:solidFill>
              <a:srgbClr val="30699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89" name="Google Shape;489;p32"/>
          <p:cNvSpPr txBox="1"/>
          <p:nvPr/>
        </p:nvSpPr>
        <p:spPr>
          <a:xfrm>
            <a:off x="548640" y="457200"/>
            <a:ext cx="502920" cy="502920"/>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lang="en-US" sz="1400">
                <a:solidFill>
                  <a:srgbClr val="FFFFFF"/>
                </a:solidFill>
                <a:latin typeface="Cambria"/>
                <a:ea typeface="Cambria"/>
                <a:cs typeface="Cambria"/>
                <a:sym typeface="Cambria"/>
              </a:rPr>
              <a:t>b</a:t>
            </a:r>
            <a:endParaRPr/>
          </a:p>
        </p:txBody>
      </p:sp>
      <p:sp>
        <p:nvSpPr>
          <p:cNvPr id="490" name="Google Shape;490;p32"/>
          <p:cNvSpPr txBox="1"/>
          <p:nvPr/>
        </p:nvSpPr>
        <p:spPr>
          <a:xfrm>
            <a:off x="1188720" y="384048"/>
            <a:ext cx="10424160" cy="685800"/>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lang="en-US" sz="2400">
                <a:solidFill>
                  <a:srgbClr val="2B5B84"/>
                </a:solidFill>
                <a:latin typeface="Cambria"/>
                <a:ea typeface="Cambria"/>
                <a:cs typeface="Cambria"/>
                <a:sym typeface="Cambria"/>
              </a:rPr>
              <a:t>Choosing the Number of Clusters (Syntax &amp; Output)</a:t>
            </a:r>
            <a:endParaRPr/>
          </a:p>
        </p:txBody>
      </p:sp>
      <p:sp>
        <p:nvSpPr>
          <p:cNvPr id="491" name="Google Shape;491;p32"/>
          <p:cNvSpPr txBox="1"/>
          <p:nvPr/>
        </p:nvSpPr>
        <p:spPr>
          <a:xfrm>
            <a:off x="457200" y="6492240"/>
            <a:ext cx="7315200" cy="27432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lang="en-US" sz="900">
                <a:solidFill>
                  <a:srgbClr val="5A7185"/>
                </a:solidFill>
                <a:latin typeface="Calibri"/>
                <a:ea typeface="Calibri"/>
                <a:cs typeface="Calibri"/>
                <a:sym typeface="Calibri"/>
              </a:rPr>
              <a:t>Credit Card &amp; User Data Analysis – Milestone 3</a:t>
            </a:r>
            <a:endParaRPr/>
          </a:p>
        </p:txBody>
      </p:sp>
      <p:sp>
        <p:nvSpPr>
          <p:cNvPr id="492" name="Google Shape;492;p32"/>
          <p:cNvSpPr txBox="1"/>
          <p:nvPr/>
        </p:nvSpPr>
        <p:spPr>
          <a:xfrm>
            <a:off x="11247120" y="6492240"/>
            <a:ext cx="457200" cy="274320"/>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None/>
            </a:pPr>
            <a:r>
              <a:rPr b="0" lang="en-US" sz="900">
                <a:solidFill>
                  <a:srgbClr val="5A7185"/>
                </a:solidFill>
                <a:latin typeface="Calibri"/>
                <a:ea typeface="Calibri"/>
                <a:cs typeface="Calibri"/>
                <a:sym typeface="Calibri"/>
              </a:rPr>
              <a:t>32</a:t>
            </a:r>
            <a:endParaRPr/>
          </a:p>
        </p:txBody>
      </p:sp>
      <p:sp>
        <p:nvSpPr>
          <p:cNvPr id="493" name="Google Shape;493;p32"/>
          <p:cNvSpPr txBox="1"/>
          <p:nvPr/>
        </p:nvSpPr>
        <p:spPr>
          <a:xfrm>
            <a:off x="548640" y="1325880"/>
            <a:ext cx="5486400" cy="320040"/>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lang="en-US" sz="1300">
                <a:solidFill>
                  <a:srgbClr val="5A7185"/>
                </a:solidFill>
                <a:latin typeface="Calibri"/>
                <a:ea typeface="Calibri"/>
                <a:cs typeface="Calibri"/>
                <a:sym typeface="Calibri"/>
              </a:rPr>
              <a:t>Syntax</a:t>
            </a:r>
            <a:endParaRPr/>
          </a:p>
        </p:txBody>
      </p:sp>
      <p:sp>
        <p:nvSpPr>
          <p:cNvPr id="494" name="Google Shape;494;p32"/>
          <p:cNvSpPr/>
          <p:nvPr/>
        </p:nvSpPr>
        <p:spPr>
          <a:xfrm>
            <a:off x="548640" y="1691640"/>
            <a:ext cx="6035040" cy="4663440"/>
          </a:xfrm>
          <a:prstGeom prst="roundRect">
            <a:avLst>
              <a:gd fmla="val 1600" name="adj"/>
            </a:avLst>
          </a:prstGeom>
          <a:solidFill>
            <a:srgbClr val="1B2A38"/>
          </a:solidFill>
          <a:ln cap="flat" cmpd="sng" w="12700">
            <a:solidFill>
              <a:srgbClr val="1B2A3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95" name="Google Shape;495;p32"/>
          <p:cNvSpPr txBox="1"/>
          <p:nvPr/>
        </p:nvSpPr>
        <p:spPr>
          <a:xfrm>
            <a:off x="731520" y="1828800"/>
            <a:ext cx="5715000" cy="43891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lang="en-US" sz="1000">
                <a:solidFill>
                  <a:srgbClr val="E7F0FA"/>
                </a:solidFill>
                <a:latin typeface="Courier New"/>
                <a:ea typeface="Courier New"/>
                <a:cs typeface="Courier New"/>
                <a:sym typeface="Courier New"/>
              </a:rPr>
              <a:t># Elbow: inertia for k = 1..15</a:t>
            </a:r>
            <a:endParaRPr/>
          </a:p>
          <a:p>
            <a:pPr indent="0" lvl="0" marL="0" marR="0" rtl="0" algn="l">
              <a:lnSpc>
                <a:spcPct val="108000"/>
              </a:lnSpc>
              <a:spcBef>
                <a:spcPts val="0"/>
              </a:spcBef>
              <a:spcAft>
                <a:spcPts val="0"/>
              </a:spcAft>
              <a:buNone/>
            </a:pPr>
            <a:r>
              <a:rPr lang="en-US" sz="1000">
                <a:solidFill>
                  <a:srgbClr val="E7F0FA"/>
                </a:solidFill>
                <a:latin typeface="Courier New"/>
                <a:ea typeface="Courier New"/>
                <a:cs typeface="Courier New"/>
                <a:sym typeface="Courier New"/>
              </a:rPr>
              <a:t>distortions = []</a:t>
            </a:r>
            <a:endParaRPr/>
          </a:p>
          <a:p>
            <a:pPr indent="0" lvl="0" marL="0" marR="0" rtl="0" algn="l">
              <a:lnSpc>
                <a:spcPct val="108000"/>
              </a:lnSpc>
              <a:spcBef>
                <a:spcPts val="0"/>
              </a:spcBef>
              <a:spcAft>
                <a:spcPts val="0"/>
              </a:spcAft>
              <a:buNone/>
            </a:pPr>
            <a:r>
              <a:rPr lang="en-US" sz="1000">
                <a:solidFill>
                  <a:srgbClr val="E7F0FA"/>
                </a:solidFill>
                <a:latin typeface="Courier New"/>
                <a:ea typeface="Courier New"/>
                <a:cs typeface="Courier New"/>
                <a:sym typeface="Courier New"/>
              </a:rPr>
              <a:t>K = range(1, 16)</a:t>
            </a:r>
            <a:endParaRPr/>
          </a:p>
          <a:p>
            <a:pPr indent="0" lvl="0" marL="0" marR="0" rtl="0" algn="l">
              <a:lnSpc>
                <a:spcPct val="108000"/>
              </a:lnSpc>
              <a:spcBef>
                <a:spcPts val="0"/>
              </a:spcBef>
              <a:spcAft>
                <a:spcPts val="0"/>
              </a:spcAft>
              <a:buNone/>
            </a:pPr>
            <a:r>
              <a:t/>
            </a:r>
            <a:endParaRPr sz="1000">
              <a:solidFill>
                <a:srgbClr val="E7F0FA"/>
              </a:solidFill>
              <a:latin typeface="Courier New"/>
              <a:ea typeface="Courier New"/>
              <a:cs typeface="Courier New"/>
              <a:sym typeface="Courier New"/>
            </a:endParaRPr>
          </a:p>
          <a:p>
            <a:pPr indent="0" lvl="0" marL="0" marR="0" rtl="0" algn="l">
              <a:lnSpc>
                <a:spcPct val="108000"/>
              </a:lnSpc>
              <a:spcBef>
                <a:spcPts val="0"/>
              </a:spcBef>
              <a:spcAft>
                <a:spcPts val="0"/>
              </a:spcAft>
              <a:buNone/>
            </a:pPr>
            <a:r>
              <a:rPr lang="en-US" sz="1000">
                <a:solidFill>
                  <a:srgbClr val="E7F0FA"/>
                </a:solidFill>
                <a:latin typeface="Courier New"/>
                <a:ea typeface="Courier New"/>
                <a:cs typeface="Courier New"/>
                <a:sym typeface="Courier New"/>
              </a:rPr>
              <a:t>for n_clusters in K:</a:t>
            </a:r>
            <a:endParaRPr/>
          </a:p>
          <a:p>
            <a:pPr indent="0" lvl="0" marL="0" marR="0" rtl="0" algn="l">
              <a:lnSpc>
                <a:spcPct val="108000"/>
              </a:lnSpc>
              <a:spcBef>
                <a:spcPts val="0"/>
              </a:spcBef>
              <a:spcAft>
                <a:spcPts val="0"/>
              </a:spcAft>
              <a:buNone/>
            </a:pPr>
            <a:r>
              <a:rPr lang="en-US" sz="1000">
                <a:solidFill>
                  <a:srgbClr val="E7F0FA"/>
                </a:solidFill>
                <a:latin typeface="Courier New"/>
                <a:ea typeface="Courier New"/>
                <a:cs typeface="Courier New"/>
                <a:sym typeface="Courier New"/>
              </a:rPr>
              <a:t>    model = KMeans(n_clusters, random_state=1000,</a:t>
            </a:r>
            <a:endParaRPr/>
          </a:p>
          <a:p>
            <a:pPr indent="0" lvl="0" marL="0" marR="0" rtl="0" algn="l">
              <a:lnSpc>
                <a:spcPct val="108000"/>
              </a:lnSpc>
              <a:spcBef>
                <a:spcPts val="0"/>
              </a:spcBef>
              <a:spcAft>
                <a:spcPts val="0"/>
              </a:spcAft>
              <a:buNone/>
            </a:pPr>
            <a:r>
              <a:rPr lang="en-US" sz="1000">
                <a:solidFill>
                  <a:srgbClr val="E7F0FA"/>
                </a:solidFill>
                <a:latin typeface="Courier New"/>
                <a:ea typeface="Courier New"/>
                <a:cs typeface="Courier New"/>
                <a:sym typeface="Courier New"/>
              </a:rPr>
              <a:t>                   n_init='auto')</a:t>
            </a:r>
            <a:endParaRPr/>
          </a:p>
          <a:p>
            <a:pPr indent="0" lvl="0" marL="0" marR="0" rtl="0" algn="l">
              <a:lnSpc>
                <a:spcPct val="108000"/>
              </a:lnSpc>
              <a:spcBef>
                <a:spcPts val="0"/>
              </a:spcBef>
              <a:spcAft>
                <a:spcPts val="0"/>
              </a:spcAft>
              <a:buNone/>
            </a:pPr>
            <a:r>
              <a:rPr lang="en-US" sz="1000">
                <a:solidFill>
                  <a:srgbClr val="E7F0FA"/>
                </a:solidFill>
                <a:latin typeface="Courier New"/>
                <a:ea typeface="Courier New"/>
                <a:cs typeface="Courier New"/>
                <a:sym typeface="Courier New"/>
              </a:rPr>
              <a:t>    model.fit(df_scaled)</a:t>
            </a:r>
            <a:endParaRPr/>
          </a:p>
          <a:p>
            <a:pPr indent="0" lvl="0" marL="0" marR="0" rtl="0" algn="l">
              <a:lnSpc>
                <a:spcPct val="108000"/>
              </a:lnSpc>
              <a:spcBef>
                <a:spcPts val="0"/>
              </a:spcBef>
              <a:spcAft>
                <a:spcPts val="0"/>
              </a:spcAft>
              <a:buNone/>
            </a:pPr>
            <a:r>
              <a:rPr lang="en-US" sz="1000">
                <a:solidFill>
                  <a:srgbClr val="E7F0FA"/>
                </a:solidFill>
                <a:latin typeface="Courier New"/>
                <a:ea typeface="Courier New"/>
                <a:cs typeface="Courier New"/>
                <a:sym typeface="Courier New"/>
              </a:rPr>
              <a:t>    distortions.append(model.inertia_)</a:t>
            </a:r>
            <a:endParaRPr/>
          </a:p>
          <a:p>
            <a:pPr indent="0" lvl="0" marL="0" marR="0" rtl="0" algn="l">
              <a:lnSpc>
                <a:spcPct val="108000"/>
              </a:lnSpc>
              <a:spcBef>
                <a:spcPts val="0"/>
              </a:spcBef>
              <a:spcAft>
                <a:spcPts val="0"/>
              </a:spcAft>
              <a:buNone/>
            </a:pPr>
            <a:r>
              <a:t/>
            </a:r>
            <a:endParaRPr sz="1000">
              <a:solidFill>
                <a:srgbClr val="E7F0FA"/>
              </a:solidFill>
              <a:latin typeface="Courier New"/>
              <a:ea typeface="Courier New"/>
              <a:cs typeface="Courier New"/>
              <a:sym typeface="Courier New"/>
            </a:endParaRPr>
          </a:p>
          <a:p>
            <a:pPr indent="0" lvl="0" marL="0" marR="0" rtl="0" algn="l">
              <a:lnSpc>
                <a:spcPct val="108000"/>
              </a:lnSpc>
              <a:spcBef>
                <a:spcPts val="0"/>
              </a:spcBef>
              <a:spcAft>
                <a:spcPts val="0"/>
              </a:spcAft>
              <a:buNone/>
            </a:pPr>
            <a:r>
              <a:rPr lang="en-US" sz="1000">
                <a:solidFill>
                  <a:srgbClr val="E7F0FA"/>
                </a:solidFill>
                <a:latin typeface="Courier New"/>
                <a:ea typeface="Courier New"/>
                <a:cs typeface="Courier New"/>
                <a:sym typeface="Courier New"/>
              </a:rPr>
              <a:t># Silhouette: k = 3..8, plus cluster balance</a:t>
            </a:r>
            <a:endParaRPr/>
          </a:p>
          <a:p>
            <a:pPr indent="0" lvl="0" marL="0" marR="0" rtl="0" algn="l">
              <a:lnSpc>
                <a:spcPct val="108000"/>
              </a:lnSpc>
              <a:spcBef>
                <a:spcPts val="0"/>
              </a:spcBef>
              <a:spcAft>
                <a:spcPts val="0"/>
              </a:spcAft>
              <a:buNone/>
            </a:pPr>
            <a:r>
              <a:rPr lang="en-US" sz="1000">
                <a:solidFill>
                  <a:srgbClr val="E7F0FA"/>
                </a:solidFill>
                <a:latin typeface="Courier New"/>
                <a:ea typeface="Courier New"/>
                <a:cs typeface="Courier New"/>
                <a:sym typeface="Courier New"/>
              </a:rPr>
              <a:t>sil_scores = {}</a:t>
            </a:r>
            <a:endParaRPr/>
          </a:p>
          <a:p>
            <a:pPr indent="0" lvl="0" marL="0" marR="0" rtl="0" algn="l">
              <a:lnSpc>
                <a:spcPct val="108000"/>
              </a:lnSpc>
              <a:spcBef>
                <a:spcPts val="0"/>
              </a:spcBef>
              <a:spcAft>
                <a:spcPts val="0"/>
              </a:spcAft>
              <a:buNone/>
            </a:pPr>
            <a:r>
              <a:t/>
            </a:r>
            <a:endParaRPr sz="1000">
              <a:solidFill>
                <a:srgbClr val="E7F0FA"/>
              </a:solidFill>
              <a:latin typeface="Courier New"/>
              <a:ea typeface="Courier New"/>
              <a:cs typeface="Courier New"/>
              <a:sym typeface="Courier New"/>
            </a:endParaRPr>
          </a:p>
          <a:p>
            <a:pPr indent="0" lvl="0" marL="0" marR="0" rtl="0" algn="l">
              <a:lnSpc>
                <a:spcPct val="108000"/>
              </a:lnSpc>
              <a:spcBef>
                <a:spcPts val="0"/>
              </a:spcBef>
              <a:spcAft>
                <a:spcPts val="0"/>
              </a:spcAft>
              <a:buNone/>
            </a:pPr>
            <a:r>
              <a:rPr lang="en-US" sz="1000">
                <a:solidFill>
                  <a:srgbClr val="E7F0FA"/>
                </a:solidFill>
                <a:latin typeface="Courier New"/>
                <a:ea typeface="Courier New"/>
                <a:cs typeface="Courier New"/>
                <a:sym typeface="Courier New"/>
              </a:rPr>
              <a:t>for i, n_clusters in enumerate(range(3, 9)):</a:t>
            </a:r>
            <a:endParaRPr/>
          </a:p>
          <a:p>
            <a:pPr indent="0" lvl="0" marL="0" marR="0" rtl="0" algn="l">
              <a:lnSpc>
                <a:spcPct val="108000"/>
              </a:lnSpc>
              <a:spcBef>
                <a:spcPts val="0"/>
              </a:spcBef>
              <a:spcAft>
                <a:spcPts val="0"/>
              </a:spcAft>
              <a:buNone/>
            </a:pPr>
            <a:r>
              <a:rPr lang="en-US" sz="1000">
                <a:solidFill>
                  <a:srgbClr val="E7F0FA"/>
                </a:solidFill>
                <a:latin typeface="Courier New"/>
                <a:ea typeface="Courier New"/>
                <a:cs typeface="Courier New"/>
                <a:sym typeface="Courier New"/>
              </a:rPr>
              <a:t>    model = KMeans(n_clusters, random_state=1000,</a:t>
            </a:r>
            <a:endParaRPr/>
          </a:p>
          <a:p>
            <a:pPr indent="0" lvl="0" marL="0" marR="0" rtl="0" algn="l">
              <a:lnSpc>
                <a:spcPct val="108000"/>
              </a:lnSpc>
              <a:spcBef>
                <a:spcPts val="0"/>
              </a:spcBef>
              <a:spcAft>
                <a:spcPts val="0"/>
              </a:spcAft>
              <a:buNone/>
            </a:pPr>
            <a:r>
              <a:rPr lang="en-US" sz="1000">
                <a:solidFill>
                  <a:srgbClr val="E7F0FA"/>
                </a:solidFill>
                <a:latin typeface="Courier New"/>
                <a:ea typeface="Courier New"/>
                <a:cs typeface="Courier New"/>
                <a:sym typeface="Courier New"/>
              </a:rPr>
              <a:t>                   n_init='auto')</a:t>
            </a:r>
            <a:endParaRPr/>
          </a:p>
          <a:p>
            <a:pPr indent="0" lvl="0" marL="0" marR="0" rtl="0" algn="l">
              <a:lnSpc>
                <a:spcPct val="108000"/>
              </a:lnSpc>
              <a:spcBef>
                <a:spcPts val="0"/>
              </a:spcBef>
              <a:spcAft>
                <a:spcPts val="0"/>
              </a:spcAft>
              <a:buNone/>
            </a:pPr>
            <a:r>
              <a:rPr lang="en-US" sz="1000">
                <a:solidFill>
                  <a:srgbClr val="E7F0FA"/>
                </a:solidFill>
                <a:latin typeface="Courier New"/>
                <a:ea typeface="Courier New"/>
                <a:cs typeface="Courier New"/>
                <a:sym typeface="Courier New"/>
              </a:rPr>
              <a:t>    model.fit(df_scaled)</a:t>
            </a:r>
            <a:endParaRPr/>
          </a:p>
          <a:p>
            <a:pPr indent="0" lvl="0" marL="0" marR="0" rtl="0" algn="l">
              <a:lnSpc>
                <a:spcPct val="108000"/>
              </a:lnSpc>
              <a:spcBef>
                <a:spcPts val="0"/>
              </a:spcBef>
              <a:spcAft>
                <a:spcPts val="0"/>
              </a:spcAft>
              <a:buNone/>
            </a:pPr>
            <a:r>
              <a:t/>
            </a:r>
            <a:endParaRPr sz="1000">
              <a:solidFill>
                <a:srgbClr val="E7F0FA"/>
              </a:solidFill>
              <a:latin typeface="Courier New"/>
              <a:ea typeface="Courier New"/>
              <a:cs typeface="Courier New"/>
              <a:sym typeface="Courier New"/>
            </a:endParaRPr>
          </a:p>
          <a:p>
            <a:pPr indent="0" lvl="0" marL="0" marR="0" rtl="0" algn="l">
              <a:lnSpc>
                <a:spcPct val="108000"/>
              </a:lnSpc>
              <a:spcBef>
                <a:spcPts val="0"/>
              </a:spcBef>
              <a:spcAft>
                <a:spcPts val="0"/>
              </a:spcAft>
              <a:buNone/>
            </a:pPr>
            <a:r>
              <a:rPr lang="en-US" sz="1000">
                <a:solidFill>
                  <a:srgbClr val="E7F0FA"/>
                </a:solidFill>
                <a:latin typeface="Courier New"/>
                <a:ea typeface="Courier New"/>
                <a:cs typeface="Courier New"/>
                <a:sym typeface="Courier New"/>
              </a:rPr>
              <a:t>    sil = SilhouetteVisualizer(</a:t>
            </a:r>
            <a:endParaRPr/>
          </a:p>
          <a:p>
            <a:pPr indent="0" lvl="0" marL="0" marR="0" rtl="0" algn="l">
              <a:lnSpc>
                <a:spcPct val="108000"/>
              </a:lnSpc>
              <a:spcBef>
                <a:spcPts val="0"/>
              </a:spcBef>
              <a:spcAft>
                <a:spcPts val="0"/>
              </a:spcAft>
              <a:buNone/>
            </a:pPr>
            <a:r>
              <a:rPr lang="en-US" sz="1000">
                <a:solidFill>
                  <a:srgbClr val="E7F0FA"/>
                </a:solidFill>
                <a:latin typeface="Courier New"/>
                <a:ea typeface="Courier New"/>
                <a:cs typeface="Courier New"/>
                <a:sym typeface="Courier New"/>
              </a:rPr>
              <a:t>        model, is_fitted=True, ax=ax[i])</a:t>
            </a:r>
            <a:endParaRPr/>
          </a:p>
          <a:p>
            <a:pPr indent="0" lvl="0" marL="0" marR="0" rtl="0" algn="l">
              <a:lnSpc>
                <a:spcPct val="108000"/>
              </a:lnSpc>
              <a:spcBef>
                <a:spcPts val="0"/>
              </a:spcBef>
              <a:spcAft>
                <a:spcPts val="0"/>
              </a:spcAft>
              <a:buNone/>
            </a:pPr>
            <a:r>
              <a:rPr lang="en-US" sz="1000">
                <a:solidFill>
                  <a:srgbClr val="E7F0FA"/>
                </a:solidFill>
                <a:latin typeface="Courier New"/>
                <a:ea typeface="Courier New"/>
                <a:cs typeface="Courier New"/>
                <a:sym typeface="Courier New"/>
              </a:rPr>
              <a:t>    sil.fit(df_scaled)</a:t>
            </a:r>
            <a:endParaRPr/>
          </a:p>
          <a:p>
            <a:pPr indent="0" lvl="0" marL="0" marR="0" rtl="0" algn="l">
              <a:lnSpc>
                <a:spcPct val="108000"/>
              </a:lnSpc>
              <a:spcBef>
                <a:spcPts val="0"/>
              </a:spcBef>
              <a:spcAft>
                <a:spcPts val="0"/>
              </a:spcAft>
              <a:buNone/>
            </a:pPr>
            <a:r>
              <a:rPr lang="en-US" sz="1000">
                <a:solidFill>
                  <a:srgbClr val="E7F0FA"/>
                </a:solidFill>
                <a:latin typeface="Courier New"/>
                <a:ea typeface="Courier New"/>
                <a:cs typeface="Courier New"/>
                <a:sym typeface="Courier New"/>
              </a:rPr>
              <a:t>    sil_scores[n_clusters] = sil.silhouette_score_</a:t>
            </a:r>
            <a:endParaRPr/>
          </a:p>
          <a:p>
            <a:pPr indent="0" lvl="0" marL="0" marR="0" rtl="0" algn="l">
              <a:lnSpc>
                <a:spcPct val="108000"/>
              </a:lnSpc>
              <a:spcBef>
                <a:spcPts val="0"/>
              </a:spcBef>
              <a:spcAft>
                <a:spcPts val="0"/>
              </a:spcAft>
              <a:buNone/>
            </a:pPr>
            <a:r>
              <a:t/>
            </a:r>
            <a:endParaRPr sz="1000">
              <a:solidFill>
                <a:srgbClr val="E7F0FA"/>
              </a:solidFill>
              <a:latin typeface="Courier New"/>
              <a:ea typeface="Courier New"/>
              <a:cs typeface="Courier New"/>
              <a:sym typeface="Courier New"/>
            </a:endParaRPr>
          </a:p>
          <a:p>
            <a:pPr indent="0" lvl="0" marL="0" marR="0" rtl="0" algn="l">
              <a:lnSpc>
                <a:spcPct val="108000"/>
              </a:lnSpc>
              <a:spcBef>
                <a:spcPts val="0"/>
              </a:spcBef>
              <a:spcAft>
                <a:spcPts val="0"/>
              </a:spcAft>
              <a:buNone/>
            </a:pPr>
            <a:r>
              <a:rPr lang="en-US" sz="1000">
                <a:solidFill>
                  <a:srgbClr val="E7F0FA"/>
                </a:solidFill>
                <a:latin typeface="Courier New"/>
                <a:ea typeface="Courier New"/>
                <a:cs typeface="Courier New"/>
                <a:sym typeface="Courier New"/>
              </a:rPr>
              <a:t>    sizes = pd.Series(</a:t>
            </a:r>
            <a:endParaRPr/>
          </a:p>
          <a:p>
            <a:pPr indent="0" lvl="0" marL="0" marR="0" rtl="0" algn="l">
              <a:lnSpc>
                <a:spcPct val="108000"/>
              </a:lnSpc>
              <a:spcBef>
                <a:spcPts val="0"/>
              </a:spcBef>
              <a:spcAft>
                <a:spcPts val="0"/>
              </a:spcAft>
              <a:buNone/>
            </a:pPr>
            <a:r>
              <a:rPr lang="en-US" sz="1000">
                <a:solidFill>
                  <a:srgbClr val="E7F0FA"/>
                </a:solidFill>
                <a:latin typeface="Courier New"/>
                <a:ea typeface="Courier New"/>
                <a:cs typeface="Courier New"/>
                <a:sym typeface="Courier New"/>
              </a:rPr>
              <a:t>        model.labels_).value_counts(normalize=True)</a:t>
            </a:r>
            <a:endParaRPr/>
          </a:p>
        </p:txBody>
      </p:sp>
      <p:sp>
        <p:nvSpPr>
          <p:cNvPr id="496" name="Google Shape;496;p32"/>
          <p:cNvSpPr txBox="1"/>
          <p:nvPr/>
        </p:nvSpPr>
        <p:spPr>
          <a:xfrm>
            <a:off x="6812280" y="1325880"/>
            <a:ext cx="4800600" cy="320040"/>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lang="en-US" sz="1300">
                <a:solidFill>
                  <a:srgbClr val="5A7185"/>
                </a:solidFill>
                <a:latin typeface="Calibri"/>
                <a:ea typeface="Calibri"/>
                <a:cs typeface="Calibri"/>
                <a:sym typeface="Calibri"/>
              </a:rPr>
              <a:t>Output</a:t>
            </a:r>
            <a:endParaRPr/>
          </a:p>
        </p:txBody>
      </p:sp>
      <p:sp>
        <p:nvSpPr>
          <p:cNvPr id="497" name="Google Shape;497;p32"/>
          <p:cNvSpPr/>
          <p:nvPr/>
        </p:nvSpPr>
        <p:spPr>
          <a:xfrm>
            <a:off x="6812280" y="1691640"/>
            <a:ext cx="4800600" cy="2331720"/>
          </a:xfrm>
          <a:prstGeom prst="roundRect">
            <a:avLst>
              <a:gd fmla="val 6000" name="adj"/>
            </a:avLst>
          </a:prstGeom>
          <a:solidFill>
            <a:srgbClr val="FFFFFF"/>
          </a:solidFill>
          <a:ln cap="flat" cmpd="sng" w="19050">
            <a:solidFill>
              <a:srgbClr val="FFD43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aphicFrame>
        <p:nvGraphicFramePr>
          <p:cNvPr id="498" name="Google Shape;498;p32"/>
          <p:cNvGraphicFramePr/>
          <p:nvPr/>
        </p:nvGraphicFramePr>
        <p:xfrm>
          <a:off x="6949440" y="1783080"/>
          <a:ext cx="3000000" cy="3000000"/>
        </p:xfrm>
        <a:graphic>
          <a:graphicData uri="http://schemas.openxmlformats.org/drawingml/2006/table">
            <a:tbl>
              <a:tblPr>
                <a:noFill/>
                <a:tableStyleId>{3D7D59D7-DF91-47F0-BCBC-DAAD57FB8C79}</a:tableStyleId>
              </a:tblPr>
              <a:tblGrid>
                <a:gridCol w="960125"/>
                <a:gridCol w="1783075"/>
                <a:gridCol w="1783075"/>
              </a:tblGrid>
              <a:tr h="297175">
                <a:tc>
                  <a:txBody>
                    <a:bodyPr/>
                    <a:lstStyle/>
                    <a:p>
                      <a:pPr indent="0" lvl="0" marL="0" marR="0" rtl="0" algn="ctr">
                        <a:spcBef>
                          <a:spcPts val="0"/>
                        </a:spcBef>
                        <a:spcAft>
                          <a:spcPts val="0"/>
                        </a:spcAft>
                        <a:buNone/>
                      </a:pPr>
                      <a:r>
                        <a:rPr b="1" lang="en-US" sz="900" u="none" cap="none" strike="noStrike">
                          <a:solidFill>
                            <a:srgbClr val="FFFFFF"/>
                          </a:solidFill>
                          <a:latin typeface="Calibri"/>
                          <a:ea typeface="Calibri"/>
                          <a:cs typeface="Calibri"/>
                          <a:sym typeface="Calibri"/>
                        </a:rPr>
                        <a:t>k</a:t>
                      </a:r>
                      <a:endParaRPr/>
                    </a:p>
                  </a:txBody>
                  <a:tcPr marT="27425" marB="27425" marR="54875" marL="54875" anchor="ctr">
                    <a:lnB cap="flat" cmpd="sng" w="9525">
                      <a:solidFill>
                        <a:srgbClr val="C9DCEA"/>
                      </a:solidFill>
                      <a:prstDash val="solid"/>
                      <a:round/>
                      <a:headEnd len="sm" w="sm" type="none"/>
                      <a:tailEnd len="sm" w="sm" type="none"/>
                    </a:lnB>
                    <a:solidFill>
                      <a:srgbClr val="306998"/>
                    </a:solidFill>
                  </a:tcPr>
                </a:tc>
                <a:tc>
                  <a:txBody>
                    <a:bodyPr/>
                    <a:lstStyle/>
                    <a:p>
                      <a:pPr indent="0" lvl="0" marL="0" marR="0" rtl="0" algn="ctr">
                        <a:spcBef>
                          <a:spcPts val="0"/>
                        </a:spcBef>
                        <a:spcAft>
                          <a:spcPts val="0"/>
                        </a:spcAft>
                        <a:buNone/>
                      </a:pPr>
                      <a:r>
                        <a:rPr b="1" lang="en-US" sz="900" u="none" cap="none" strike="noStrike">
                          <a:solidFill>
                            <a:srgbClr val="FFFFFF"/>
                          </a:solidFill>
                          <a:latin typeface="Calibri"/>
                          <a:ea typeface="Calibri"/>
                          <a:cs typeface="Calibri"/>
                          <a:sym typeface="Calibri"/>
                        </a:rPr>
                        <a:t>Inertia</a:t>
                      </a:r>
                      <a:endParaRPr/>
                    </a:p>
                  </a:txBody>
                  <a:tcPr marT="27425" marB="27425" marR="54875" marL="54875" anchor="ctr">
                    <a:lnB cap="flat" cmpd="sng" w="9525">
                      <a:solidFill>
                        <a:srgbClr val="C9DCEA"/>
                      </a:solidFill>
                      <a:prstDash val="solid"/>
                      <a:round/>
                      <a:headEnd len="sm" w="sm" type="none"/>
                      <a:tailEnd len="sm" w="sm" type="none"/>
                    </a:lnB>
                    <a:solidFill>
                      <a:srgbClr val="306998"/>
                    </a:solidFill>
                  </a:tcPr>
                </a:tc>
                <a:tc>
                  <a:txBody>
                    <a:bodyPr/>
                    <a:lstStyle/>
                    <a:p>
                      <a:pPr indent="0" lvl="0" marL="0" marR="0" rtl="0" algn="ctr">
                        <a:spcBef>
                          <a:spcPts val="0"/>
                        </a:spcBef>
                        <a:spcAft>
                          <a:spcPts val="0"/>
                        </a:spcAft>
                        <a:buNone/>
                      </a:pPr>
                      <a:r>
                        <a:rPr b="1" lang="en-US" sz="900" u="none" cap="none" strike="noStrike">
                          <a:solidFill>
                            <a:srgbClr val="FFFFFF"/>
                          </a:solidFill>
                          <a:latin typeface="Calibri"/>
                          <a:ea typeface="Calibri"/>
                          <a:cs typeface="Calibri"/>
                          <a:sym typeface="Calibri"/>
                        </a:rPr>
                        <a:t>Drop vs previous k</a:t>
                      </a:r>
                      <a:endParaRPr/>
                    </a:p>
                  </a:txBody>
                  <a:tcPr marT="27425" marB="27425" marR="54875" marL="54875" anchor="ctr">
                    <a:lnB cap="flat" cmpd="sng" w="9525">
                      <a:solidFill>
                        <a:srgbClr val="C9DCEA"/>
                      </a:solidFill>
                      <a:prstDash val="solid"/>
                      <a:round/>
                      <a:headEnd len="sm" w="sm" type="none"/>
                      <a:tailEnd len="sm" w="sm" type="none"/>
                    </a:lnB>
                    <a:solidFill>
                      <a:srgbClr val="306998"/>
                    </a:solidFill>
                  </a:tcPr>
                </a:tc>
              </a:tr>
              <a:tr h="297175">
                <a:tc>
                  <a:txBody>
                    <a:bodyPr/>
                    <a:lstStyle/>
                    <a:p>
                      <a:pPr indent="0" lvl="0" marL="0" marR="0" rtl="0" algn="ctr">
                        <a:spcBef>
                          <a:spcPts val="0"/>
                        </a:spcBef>
                        <a:spcAft>
                          <a:spcPts val="0"/>
                        </a:spcAft>
                        <a:buNone/>
                      </a:pPr>
                      <a:r>
                        <a:rPr b="0" lang="en-US" sz="900" u="none" cap="none" strike="noStrike">
                          <a:solidFill>
                            <a:srgbClr val="1B2A38"/>
                          </a:solidFill>
                          <a:latin typeface="Calibri"/>
                          <a:ea typeface="Calibri"/>
                          <a:cs typeface="Calibri"/>
                          <a:sym typeface="Calibri"/>
                        </a:rPr>
                        <a:t>1</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11.628,0</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r>
              <a:tr h="297175">
                <a:tc>
                  <a:txBody>
                    <a:bodyPr/>
                    <a:lstStyle/>
                    <a:p>
                      <a:pPr indent="0" lvl="0" marL="0" marR="0" rtl="0" algn="ctr">
                        <a:spcBef>
                          <a:spcPts val="0"/>
                        </a:spcBef>
                        <a:spcAft>
                          <a:spcPts val="0"/>
                        </a:spcAft>
                        <a:buNone/>
                      </a:pPr>
                      <a:r>
                        <a:rPr b="0" lang="en-US" sz="900" u="none" cap="none" strike="noStrike">
                          <a:solidFill>
                            <a:srgbClr val="1B2A38"/>
                          </a:solidFill>
                          <a:latin typeface="Calibri"/>
                          <a:ea typeface="Calibri"/>
                          <a:cs typeface="Calibri"/>
                          <a:sym typeface="Calibri"/>
                        </a:rPr>
                        <a:t>2</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5.273,5</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54,6%</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r>
              <a:tr h="297175">
                <a:tc>
                  <a:txBody>
                    <a:bodyPr/>
                    <a:lstStyle/>
                    <a:p>
                      <a:pPr indent="0" lvl="0" marL="0" marR="0" rtl="0" algn="ctr">
                        <a:spcBef>
                          <a:spcPts val="0"/>
                        </a:spcBef>
                        <a:spcAft>
                          <a:spcPts val="0"/>
                        </a:spcAft>
                        <a:buNone/>
                      </a:pPr>
                      <a:r>
                        <a:rPr b="0" lang="en-US" sz="900" u="none" cap="none" strike="noStrike">
                          <a:solidFill>
                            <a:srgbClr val="1B2A38"/>
                          </a:solidFill>
                          <a:latin typeface="Calibri"/>
                          <a:ea typeface="Calibri"/>
                          <a:cs typeface="Calibri"/>
                          <a:sym typeface="Calibri"/>
                        </a:rPr>
                        <a:t>3</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4.158,9</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21,1%</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r>
              <a:tr h="297175">
                <a:tc>
                  <a:txBody>
                    <a:bodyPr/>
                    <a:lstStyle/>
                    <a:p>
                      <a:pPr indent="0" lvl="0" marL="0" marR="0" rtl="0" algn="ctr">
                        <a:spcBef>
                          <a:spcPts val="0"/>
                        </a:spcBef>
                        <a:spcAft>
                          <a:spcPts val="0"/>
                        </a:spcAft>
                        <a:buNone/>
                      </a:pPr>
                      <a:r>
                        <a:rPr b="0" lang="en-US" sz="900" u="none" cap="none" strike="noStrike">
                          <a:solidFill>
                            <a:srgbClr val="1B2A38"/>
                          </a:solidFill>
                          <a:latin typeface="Calibri"/>
                          <a:ea typeface="Calibri"/>
                          <a:cs typeface="Calibri"/>
                          <a:sym typeface="Calibri"/>
                        </a:rPr>
                        <a:t>4</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3.626,7</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12,8%</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r>
              <a:tr h="297175">
                <a:tc>
                  <a:txBody>
                    <a:bodyPr/>
                    <a:lstStyle/>
                    <a:p>
                      <a:pPr indent="0" lvl="0" marL="0" marR="0" rtl="0" algn="ctr">
                        <a:spcBef>
                          <a:spcPts val="0"/>
                        </a:spcBef>
                        <a:spcAft>
                          <a:spcPts val="0"/>
                        </a:spcAft>
                        <a:buNone/>
                      </a:pPr>
                      <a:r>
                        <a:rPr b="0" lang="en-US" sz="900" u="none" cap="none" strike="noStrike">
                          <a:solidFill>
                            <a:srgbClr val="1B2A38"/>
                          </a:solidFill>
                          <a:latin typeface="Calibri"/>
                          <a:ea typeface="Calibri"/>
                          <a:cs typeface="Calibri"/>
                          <a:sym typeface="Calibri"/>
                        </a:rPr>
                        <a:t>5</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3.229,0</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11,0%</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r>
              <a:tr h="297175">
                <a:tc>
                  <a:txBody>
                    <a:bodyPr/>
                    <a:lstStyle/>
                    <a:p>
                      <a:pPr indent="0" lvl="0" marL="0" marR="0" rtl="0" algn="ctr">
                        <a:spcBef>
                          <a:spcPts val="0"/>
                        </a:spcBef>
                        <a:spcAft>
                          <a:spcPts val="0"/>
                        </a:spcAft>
                        <a:buNone/>
                      </a:pPr>
                      <a:r>
                        <a:rPr b="0" lang="en-US" sz="900" u="none" cap="none" strike="noStrike">
                          <a:solidFill>
                            <a:srgbClr val="1B2A38"/>
                          </a:solidFill>
                          <a:latin typeface="Calibri"/>
                          <a:ea typeface="Calibri"/>
                          <a:cs typeface="Calibri"/>
                          <a:sym typeface="Calibri"/>
                        </a:rPr>
                        <a:t>6</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3.001,2</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7,1%</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r>
            </a:tbl>
          </a:graphicData>
        </a:graphic>
      </p:graphicFrame>
      <p:sp>
        <p:nvSpPr>
          <p:cNvPr id="499" name="Google Shape;499;p32"/>
          <p:cNvSpPr/>
          <p:nvPr/>
        </p:nvSpPr>
        <p:spPr>
          <a:xfrm>
            <a:off x="6812280" y="4160520"/>
            <a:ext cx="4800600" cy="2194560"/>
          </a:xfrm>
          <a:prstGeom prst="roundRect">
            <a:avLst>
              <a:gd fmla="val 4000" name="adj"/>
            </a:avLst>
          </a:prstGeom>
          <a:solidFill>
            <a:srgbClr val="FFD43B"/>
          </a:solidFill>
          <a:ln cap="flat" cmpd="sng" w="12700">
            <a:solidFill>
              <a:srgbClr val="FFD43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0" name="Google Shape;500;p32"/>
          <p:cNvSpPr txBox="1"/>
          <p:nvPr/>
        </p:nvSpPr>
        <p:spPr>
          <a:xfrm>
            <a:off x="6995160" y="4279392"/>
            <a:ext cx="4480560" cy="320040"/>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lang="en-US" sz="1500">
                <a:solidFill>
                  <a:srgbClr val="1B2A38"/>
                </a:solidFill>
                <a:latin typeface="Cambria"/>
                <a:ea typeface="Cambria"/>
                <a:cs typeface="Cambria"/>
                <a:sym typeface="Cambria"/>
              </a:rPr>
              <a:t>Method</a:t>
            </a:r>
            <a:endParaRPr/>
          </a:p>
        </p:txBody>
      </p:sp>
      <p:sp>
        <p:nvSpPr>
          <p:cNvPr id="501" name="Google Shape;501;p32"/>
          <p:cNvSpPr txBox="1"/>
          <p:nvPr/>
        </p:nvSpPr>
        <p:spPr>
          <a:xfrm>
            <a:off x="6995160" y="4617720"/>
            <a:ext cx="4480560" cy="1618488"/>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lang="en-US" sz="1050">
                <a:solidFill>
                  <a:srgbClr val="1B2A38"/>
                </a:solidFill>
                <a:latin typeface="Calibri"/>
                <a:ea typeface="Calibri"/>
                <a:cs typeface="Calibri"/>
                <a:sym typeface="Calibri"/>
              </a:rPr>
              <a:t>Inertia always falls as k grows, so the target is the bend, not the minimum. Reading the drop column is more reliable than eyeballing the curve.</a:t>
            </a:r>
            <a:endParaRPr/>
          </a:p>
          <a:p>
            <a:pPr indent="0" lvl="0" marL="0" marR="0" rtl="0" algn="l">
              <a:lnSpc>
                <a:spcPct val="115000"/>
              </a:lnSpc>
              <a:spcBef>
                <a:spcPts val="400"/>
              </a:spcBef>
              <a:spcAft>
                <a:spcPts val="0"/>
              </a:spcAft>
              <a:buNone/>
            </a:pPr>
            <a:r>
              <a:rPr b="0" lang="en-US" sz="1050">
                <a:solidFill>
                  <a:srgbClr val="1B2A38"/>
                </a:solidFill>
                <a:latin typeface="Calibri"/>
                <a:ea typeface="Calibri"/>
                <a:cs typeface="Calibri"/>
                <a:sym typeface="Calibri"/>
              </a:rPr>
              <a:t>The drop stays large through k = 4 and then flattens, so the elbow sits between k = 3 and k = 4. The silhouette score decides between the two.</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B"/>
        </a:solidFill>
      </p:bgPr>
    </p:bg>
    <p:spTree>
      <p:nvGrpSpPr>
        <p:cNvPr id="505" name="Shape 505"/>
        <p:cNvGrpSpPr/>
        <p:nvPr/>
      </p:nvGrpSpPr>
      <p:grpSpPr>
        <a:xfrm>
          <a:off x="0" y="0"/>
          <a:ext cx="0" cy="0"/>
          <a:chOff x="0" y="0"/>
          <a:chExt cx="0" cy="0"/>
        </a:xfrm>
      </p:grpSpPr>
      <p:sp>
        <p:nvSpPr>
          <p:cNvPr id="506" name="Google Shape;506;p33"/>
          <p:cNvSpPr/>
          <p:nvPr/>
        </p:nvSpPr>
        <p:spPr>
          <a:xfrm>
            <a:off x="548640" y="457200"/>
            <a:ext cx="502920" cy="502920"/>
          </a:xfrm>
          <a:prstGeom prst="ellipse">
            <a:avLst/>
          </a:prstGeom>
          <a:solidFill>
            <a:srgbClr val="306998"/>
          </a:solidFill>
          <a:ln cap="flat" cmpd="sng" w="12700">
            <a:solidFill>
              <a:srgbClr val="30699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7" name="Google Shape;507;p33"/>
          <p:cNvSpPr txBox="1"/>
          <p:nvPr/>
        </p:nvSpPr>
        <p:spPr>
          <a:xfrm>
            <a:off x="548640" y="457200"/>
            <a:ext cx="502920" cy="502920"/>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lang="en-US" sz="1400">
                <a:solidFill>
                  <a:srgbClr val="FFFFFF"/>
                </a:solidFill>
                <a:latin typeface="Cambria"/>
                <a:ea typeface="Cambria"/>
                <a:cs typeface="Cambria"/>
                <a:sym typeface="Cambria"/>
              </a:rPr>
              <a:t>b</a:t>
            </a:r>
            <a:endParaRPr/>
          </a:p>
        </p:txBody>
      </p:sp>
      <p:sp>
        <p:nvSpPr>
          <p:cNvPr id="508" name="Google Shape;508;p33"/>
          <p:cNvSpPr txBox="1"/>
          <p:nvPr/>
        </p:nvSpPr>
        <p:spPr>
          <a:xfrm>
            <a:off x="1188720" y="384048"/>
            <a:ext cx="10424160" cy="685800"/>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lang="en-US" sz="2400">
                <a:solidFill>
                  <a:srgbClr val="2B5B84"/>
                </a:solidFill>
                <a:latin typeface="Cambria"/>
                <a:ea typeface="Cambria"/>
                <a:cs typeface="Cambria"/>
                <a:sym typeface="Cambria"/>
              </a:rPr>
              <a:t>Elbow Method (Visualisation &amp; Insight)</a:t>
            </a:r>
            <a:endParaRPr/>
          </a:p>
        </p:txBody>
      </p:sp>
      <p:sp>
        <p:nvSpPr>
          <p:cNvPr id="509" name="Google Shape;509;p33"/>
          <p:cNvSpPr txBox="1"/>
          <p:nvPr/>
        </p:nvSpPr>
        <p:spPr>
          <a:xfrm>
            <a:off x="457200" y="6492240"/>
            <a:ext cx="7315200" cy="27432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lang="en-US" sz="900">
                <a:solidFill>
                  <a:srgbClr val="5A7185"/>
                </a:solidFill>
                <a:latin typeface="Calibri"/>
                <a:ea typeface="Calibri"/>
                <a:cs typeface="Calibri"/>
                <a:sym typeface="Calibri"/>
              </a:rPr>
              <a:t>Credit Card &amp; User Data Analysis – Milestone 3</a:t>
            </a:r>
            <a:endParaRPr/>
          </a:p>
        </p:txBody>
      </p:sp>
      <p:sp>
        <p:nvSpPr>
          <p:cNvPr id="510" name="Google Shape;510;p33"/>
          <p:cNvSpPr txBox="1"/>
          <p:nvPr/>
        </p:nvSpPr>
        <p:spPr>
          <a:xfrm>
            <a:off x="11247120" y="6492240"/>
            <a:ext cx="457200" cy="274320"/>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None/>
            </a:pPr>
            <a:r>
              <a:rPr b="0" lang="en-US" sz="900">
                <a:solidFill>
                  <a:srgbClr val="5A7185"/>
                </a:solidFill>
                <a:latin typeface="Calibri"/>
                <a:ea typeface="Calibri"/>
                <a:cs typeface="Calibri"/>
                <a:sym typeface="Calibri"/>
              </a:rPr>
              <a:t>33</a:t>
            </a:r>
            <a:endParaRPr/>
          </a:p>
        </p:txBody>
      </p:sp>
      <p:sp>
        <p:nvSpPr>
          <p:cNvPr id="511" name="Google Shape;511;p33"/>
          <p:cNvSpPr txBox="1"/>
          <p:nvPr/>
        </p:nvSpPr>
        <p:spPr>
          <a:xfrm>
            <a:off x="548640" y="1325880"/>
            <a:ext cx="5486400" cy="320040"/>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lang="en-US" sz="1300">
                <a:solidFill>
                  <a:srgbClr val="5A7185"/>
                </a:solidFill>
                <a:latin typeface="Calibri"/>
                <a:ea typeface="Calibri"/>
                <a:cs typeface="Calibri"/>
                <a:sym typeface="Calibri"/>
              </a:rPr>
              <a:t>Visualisation</a:t>
            </a:r>
            <a:endParaRPr/>
          </a:p>
        </p:txBody>
      </p:sp>
      <p:sp>
        <p:nvSpPr>
          <p:cNvPr id="512" name="Google Shape;512;p33"/>
          <p:cNvSpPr/>
          <p:nvPr/>
        </p:nvSpPr>
        <p:spPr>
          <a:xfrm>
            <a:off x="548640" y="1691640"/>
            <a:ext cx="6035040" cy="4663440"/>
          </a:xfrm>
          <a:prstGeom prst="roundRect">
            <a:avLst>
              <a:gd fmla="val 3000" name="adj"/>
            </a:avLst>
          </a:prstGeom>
          <a:solidFill>
            <a:srgbClr val="FFFFFF"/>
          </a:solidFill>
          <a:ln cap="flat" cmpd="sng" w="19050">
            <a:solidFill>
              <a:srgbClr val="C9DC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elbow.png" id="513" name="Google Shape;513;p33"/>
          <p:cNvPicPr preferRelativeResize="0"/>
          <p:nvPr/>
        </p:nvPicPr>
        <p:blipFill rotWithShape="1">
          <a:blip r:embed="rId3">
            <a:alphaModFix/>
          </a:blip>
          <a:srcRect b="0" l="0" r="0" t="0"/>
          <a:stretch/>
        </p:blipFill>
        <p:spPr>
          <a:xfrm>
            <a:off x="615753" y="1858613"/>
            <a:ext cx="5900813" cy="4343400"/>
          </a:xfrm>
          <a:prstGeom prst="rect">
            <a:avLst/>
          </a:prstGeom>
          <a:noFill/>
          <a:ln>
            <a:noFill/>
          </a:ln>
        </p:spPr>
      </p:pic>
      <p:sp>
        <p:nvSpPr>
          <p:cNvPr id="514" name="Google Shape;514;p33"/>
          <p:cNvSpPr/>
          <p:nvPr/>
        </p:nvSpPr>
        <p:spPr>
          <a:xfrm>
            <a:off x="6812280" y="1691640"/>
            <a:ext cx="4800600" cy="2331720"/>
          </a:xfrm>
          <a:prstGeom prst="roundRect">
            <a:avLst>
              <a:gd fmla="val 6000" name="adj"/>
            </a:avLst>
          </a:prstGeom>
          <a:solidFill>
            <a:srgbClr val="FFFFFF"/>
          </a:solidFill>
          <a:ln cap="flat" cmpd="sng" w="19050">
            <a:solidFill>
              <a:srgbClr val="FFD43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5" name="Google Shape;515;p33"/>
          <p:cNvSpPr txBox="1"/>
          <p:nvPr/>
        </p:nvSpPr>
        <p:spPr>
          <a:xfrm>
            <a:off x="6995160" y="1810512"/>
            <a:ext cx="4480560" cy="320040"/>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lang="en-US" sz="1300">
                <a:solidFill>
                  <a:srgbClr val="1B2A38"/>
                </a:solidFill>
                <a:latin typeface="Cambria"/>
                <a:ea typeface="Cambria"/>
                <a:cs typeface="Cambria"/>
                <a:sym typeface="Cambria"/>
              </a:rPr>
              <a:t>What the chart shows</a:t>
            </a:r>
            <a:endParaRPr/>
          </a:p>
        </p:txBody>
      </p:sp>
      <p:sp>
        <p:nvSpPr>
          <p:cNvPr id="516" name="Google Shape;516;p33"/>
          <p:cNvSpPr txBox="1"/>
          <p:nvPr/>
        </p:nvSpPr>
        <p:spPr>
          <a:xfrm>
            <a:off x="6995160" y="2148840"/>
            <a:ext cx="4480560" cy="176479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lang="en-US" sz="1050">
                <a:solidFill>
                  <a:srgbClr val="1B2A38"/>
                </a:solidFill>
                <a:latin typeface="Calibri"/>
                <a:ea typeface="Calibri"/>
                <a:cs typeface="Calibri"/>
                <a:sym typeface="Calibri"/>
              </a:rPr>
              <a:t>Inertia falls from 11.628,0 at k = 1 to 3.626,7 at k = 4.</a:t>
            </a:r>
            <a:endParaRPr/>
          </a:p>
          <a:p>
            <a:pPr indent="0" lvl="0" marL="0" marR="0" rtl="0" algn="l">
              <a:lnSpc>
                <a:spcPct val="115000"/>
              </a:lnSpc>
              <a:spcBef>
                <a:spcPts val="600"/>
              </a:spcBef>
              <a:spcAft>
                <a:spcPts val="0"/>
              </a:spcAft>
              <a:buNone/>
            </a:pPr>
            <a:r>
              <a:rPr b="0" lang="en-US" sz="1050">
                <a:solidFill>
                  <a:srgbClr val="1B2A38"/>
                </a:solidFill>
                <a:latin typeface="Calibri"/>
                <a:ea typeface="Calibri"/>
                <a:cs typeface="Calibri"/>
                <a:sym typeface="Calibri"/>
              </a:rPr>
              <a:t>The steep part ends after k = 3: the drop runs 54,6%, then 21,1%, then 12,8%, and only 11,0% going to k = 5.</a:t>
            </a:r>
            <a:endParaRPr/>
          </a:p>
          <a:p>
            <a:pPr indent="0" lvl="0" marL="0" marR="0" rtl="0" algn="l">
              <a:lnSpc>
                <a:spcPct val="115000"/>
              </a:lnSpc>
              <a:spcBef>
                <a:spcPts val="600"/>
              </a:spcBef>
              <a:spcAft>
                <a:spcPts val="0"/>
              </a:spcAft>
              <a:buNone/>
            </a:pPr>
            <a:r>
              <a:rPr b="0" lang="en-US" sz="1050">
                <a:solidFill>
                  <a:srgbClr val="1B2A38"/>
                </a:solidFill>
                <a:latin typeface="Calibri"/>
                <a:ea typeface="Calibri"/>
                <a:cs typeface="Calibri"/>
                <a:sym typeface="Calibri"/>
              </a:rPr>
              <a:t>From k = 6 the curve is almost flat, with each extra cluster buying under 8% of inertia.</a:t>
            </a:r>
            <a:endParaRPr/>
          </a:p>
        </p:txBody>
      </p:sp>
      <p:sp>
        <p:nvSpPr>
          <p:cNvPr id="517" name="Google Shape;517;p33"/>
          <p:cNvSpPr/>
          <p:nvPr/>
        </p:nvSpPr>
        <p:spPr>
          <a:xfrm>
            <a:off x="6812280" y="4160520"/>
            <a:ext cx="4800600" cy="2194560"/>
          </a:xfrm>
          <a:prstGeom prst="roundRect">
            <a:avLst>
              <a:gd fmla="val 4000" name="adj"/>
            </a:avLst>
          </a:prstGeom>
          <a:solidFill>
            <a:srgbClr val="FFD43B"/>
          </a:solidFill>
          <a:ln cap="flat" cmpd="sng" w="12700">
            <a:solidFill>
              <a:srgbClr val="FFD43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8" name="Google Shape;518;p33"/>
          <p:cNvSpPr txBox="1"/>
          <p:nvPr/>
        </p:nvSpPr>
        <p:spPr>
          <a:xfrm>
            <a:off x="6995160" y="4279392"/>
            <a:ext cx="4480560" cy="320040"/>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lang="en-US" sz="1500">
                <a:solidFill>
                  <a:srgbClr val="1B2A38"/>
                </a:solidFill>
                <a:latin typeface="Cambria"/>
                <a:ea typeface="Cambria"/>
                <a:cs typeface="Cambria"/>
                <a:sym typeface="Cambria"/>
              </a:rPr>
              <a:t>Insight</a:t>
            </a:r>
            <a:endParaRPr/>
          </a:p>
        </p:txBody>
      </p:sp>
      <p:sp>
        <p:nvSpPr>
          <p:cNvPr id="519" name="Google Shape;519;p33"/>
          <p:cNvSpPr txBox="1"/>
          <p:nvPr/>
        </p:nvSpPr>
        <p:spPr>
          <a:xfrm>
            <a:off x="6995160" y="4617720"/>
            <a:ext cx="4480560" cy="1618488"/>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lang="en-US" sz="1100">
                <a:solidFill>
                  <a:srgbClr val="1B2A38"/>
                </a:solidFill>
                <a:latin typeface="Calibri"/>
                <a:ea typeface="Calibri"/>
                <a:cs typeface="Calibri"/>
                <a:sym typeface="Calibri"/>
              </a:rPr>
              <a:t>The bend sits between k = 3 and k = 4. Below that the segments are too coarse, and above it each extra cluster adds little separation while making the result harder to act on. Because the elbow does not give a single answer here, the choice between 3 and 4 is settled with the silhouette score on the next slide.</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B"/>
        </a:solidFill>
      </p:bgPr>
    </p:bg>
    <p:spTree>
      <p:nvGrpSpPr>
        <p:cNvPr id="523" name="Shape 523"/>
        <p:cNvGrpSpPr/>
        <p:nvPr/>
      </p:nvGrpSpPr>
      <p:grpSpPr>
        <a:xfrm>
          <a:off x="0" y="0"/>
          <a:ext cx="0" cy="0"/>
          <a:chOff x="0" y="0"/>
          <a:chExt cx="0" cy="0"/>
        </a:xfrm>
      </p:grpSpPr>
      <p:sp>
        <p:nvSpPr>
          <p:cNvPr id="524" name="Google Shape;524;p34"/>
          <p:cNvSpPr/>
          <p:nvPr/>
        </p:nvSpPr>
        <p:spPr>
          <a:xfrm>
            <a:off x="548640" y="457200"/>
            <a:ext cx="502920" cy="502920"/>
          </a:xfrm>
          <a:prstGeom prst="ellipse">
            <a:avLst/>
          </a:prstGeom>
          <a:solidFill>
            <a:srgbClr val="306998"/>
          </a:solidFill>
          <a:ln cap="flat" cmpd="sng" w="12700">
            <a:solidFill>
              <a:srgbClr val="30699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5" name="Google Shape;525;p34"/>
          <p:cNvSpPr txBox="1"/>
          <p:nvPr/>
        </p:nvSpPr>
        <p:spPr>
          <a:xfrm>
            <a:off x="548640" y="457200"/>
            <a:ext cx="502920" cy="502920"/>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lang="en-US" sz="1400">
                <a:solidFill>
                  <a:srgbClr val="FFFFFF"/>
                </a:solidFill>
                <a:latin typeface="Cambria"/>
                <a:ea typeface="Cambria"/>
                <a:cs typeface="Cambria"/>
                <a:sym typeface="Cambria"/>
              </a:rPr>
              <a:t>b</a:t>
            </a:r>
            <a:endParaRPr/>
          </a:p>
        </p:txBody>
      </p:sp>
      <p:sp>
        <p:nvSpPr>
          <p:cNvPr id="526" name="Google Shape;526;p34"/>
          <p:cNvSpPr txBox="1"/>
          <p:nvPr/>
        </p:nvSpPr>
        <p:spPr>
          <a:xfrm>
            <a:off x="1188720" y="384048"/>
            <a:ext cx="10424160" cy="685800"/>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lang="en-US" sz="2400">
                <a:solidFill>
                  <a:srgbClr val="2B5B84"/>
                </a:solidFill>
                <a:latin typeface="Cambria"/>
                <a:ea typeface="Cambria"/>
                <a:cs typeface="Cambria"/>
                <a:sym typeface="Cambria"/>
              </a:rPr>
              <a:t>Silhouette Analysis &amp; Final Choice of k</a:t>
            </a:r>
            <a:endParaRPr/>
          </a:p>
        </p:txBody>
      </p:sp>
      <p:sp>
        <p:nvSpPr>
          <p:cNvPr id="527" name="Google Shape;527;p34"/>
          <p:cNvSpPr txBox="1"/>
          <p:nvPr/>
        </p:nvSpPr>
        <p:spPr>
          <a:xfrm>
            <a:off x="457200" y="6492240"/>
            <a:ext cx="7315200" cy="27432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lang="en-US" sz="900">
                <a:solidFill>
                  <a:srgbClr val="5A7185"/>
                </a:solidFill>
                <a:latin typeface="Calibri"/>
                <a:ea typeface="Calibri"/>
                <a:cs typeface="Calibri"/>
                <a:sym typeface="Calibri"/>
              </a:rPr>
              <a:t>Credit Card &amp; User Data Analysis – Milestone 3</a:t>
            </a:r>
            <a:endParaRPr/>
          </a:p>
        </p:txBody>
      </p:sp>
      <p:sp>
        <p:nvSpPr>
          <p:cNvPr id="528" name="Google Shape;528;p34"/>
          <p:cNvSpPr txBox="1"/>
          <p:nvPr/>
        </p:nvSpPr>
        <p:spPr>
          <a:xfrm>
            <a:off x="11247120" y="6492240"/>
            <a:ext cx="457200" cy="274320"/>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None/>
            </a:pPr>
            <a:r>
              <a:rPr b="0" lang="en-US" sz="900">
                <a:solidFill>
                  <a:srgbClr val="5A7185"/>
                </a:solidFill>
                <a:latin typeface="Calibri"/>
                <a:ea typeface="Calibri"/>
                <a:cs typeface="Calibri"/>
                <a:sym typeface="Calibri"/>
              </a:rPr>
              <a:t>34</a:t>
            </a:r>
            <a:endParaRPr/>
          </a:p>
        </p:txBody>
      </p:sp>
      <p:sp>
        <p:nvSpPr>
          <p:cNvPr id="529" name="Google Shape;529;p34"/>
          <p:cNvSpPr txBox="1"/>
          <p:nvPr/>
        </p:nvSpPr>
        <p:spPr>
          <a:xfrm>
            <a:off x="548640" y="1325880"/>
            <a:ext cx="5486400" cy="320040"/>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lang="en-US" sz="1300">
                <a:solidFill>
                  <a:srgbClr val="5A7185"/>
                </a:solidFill>
                <a:latin typeface="Calibri"/>
                <a:ea typeface="Calibri"/>
                <a:cs typeface="Calibri"/>
                <a:sym typeface="Calibri"/>
              </a:rPr>
              <a:t>Visualisation</a:t>
            </a:r>
            <a:endParaRPr/>
          </a:p>
        </p:txBody>
      </p:sp>
      <p:sp>
        <p:nvSpPr>
          <p:cNvPr id="530" name="Google Shape;530;p34"/>
          <p:cNvSpPr/>
          <p:nvPr/>
        </p:nvSpPr>
        <p:spPr>
          <a:xfrm>
            <a:off x="548640" y="1691640"/>
            <a:ext cx="6035040" cy="4663440"/>
          </a:xfrm>
          <a:prstGeom prst="roundRect">
            <a:avLst>
              <a:gd fmla="val 3000" name="adj"/>
            </a:avLst>
          </a:prstGeom>
          <a:solidFill>
            <a:srgbClr val="FFFFFF"/>
          </a:solidFill>
          <a:ln cap="flat" cmpd="sng" w="19050">
            <a:solidFill>
              <a:srgbClr val="C9DC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cell73_1.png" id="531" name="Google Shape;531;p34"/>
          <p:cNvPicPr preferRelativeResize="0"/>
          <p:nvPr/>
        </p:nvPicPr>
        <p:blipFill rotWithShape="1">
          <a:blip r:embed="rId3">
            <a:alphaModFix/>
          </a:blip>
          <a:srcRect b="0" l="0" r="0" t="0"/>
          <a:stretch/>
        </p:blipFill>
        <p:spPr>
          <a:xfrm>
            <a:off x="1129862" y="1810512"/>
            <a:ext cx="5144814" cy="4434840"/>
          </a:xfrm>
          <a:prstGeom prst="rect">
            <a:avLst/>
          </a:prstGeom>
          <a:noFill/>
          <a:ln>
            <a:noFill/>
          </a:ln>
        </p:spPr>
      </p:pic>
      <p:sp>
        <p:nvSpPr>
          <p:cNvPr id="532" name="Google Shape;532;p34"/>
          <p:cNvSpPr txBox="1"/>
          <p:nvPr/>
        </p:nvSpPr>
        <p:spPr>
          <a:xfrm>
            <a:off x="6812280" y="1325880"/>
            <a:ext cx="4800600" cy="320040"/>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lang="en-US" sz="1300">
                <a:solidFill>
                  <a:srgbClr val="5A7185"/>
                </a:solidFill>
                <a:latin typeface="Calibri"/>
                <a:ea typeface="Calibri"/>
                <a:cs typeface="Calibri"/>
                <a:sym typeface="Calibri"/>
              </a:rPr>
              <a:t>Output</a:t>
            </a:r>
            <a:endParaRPr/>
          </a:p>
        </p:txBody>
      </p:sp>
      <p:sp>
        <p:nvSpPr>
          <p:cNvPr id="533" name="Google Shape;533;p34"/>
          <p:cNvSpPr/>
          <p:nvPr/>
        </p:nvSpPr>
        <p:spPr>
          <a:xfrm>
            <a:off x="6812280" y="1691640"/>
            <a:ext cx="4800600" cy="2331720"/>
          </a:xfrm>
          <a:prstGeom prst="roundRect">
            <a:avLst>
              <a:gd fmla="val 6000" name="adj"/>
            </a:avLst>
          </a:prstGeom>
          <a:solidFill>
            <a:srgbClr val="FFFFFF"/>
          </a:solidFill>
          <a:ln cap="flat" cmpd="sng" w="19050">
            <a:solidFill>
              <a:srgbClr val="FFD43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aphicFrame>
        <p:nvGraphicFramePr>
          <p:cNvPr id="534" name="Google Shape;534;p34"/>
          <p:cNvGraphicFramePr/>
          <p:nvPr/>
        </p:nvGraphicFramePr>
        <p:xfrm>
          <a:off x="6949440" y="1783080"/>
          <a:ext cx="3000000" cy="3000000"/>
        </p:xfrm>
        <a:graphic>
          <a:graphicData uri="http://schemas.openxmlformats.org/drawingml/2006/table">
            <a:tbl>
              <a:tblPr>
                <a:noFill/>
                <a:tableStyleId>{3D7D59D7-DF91-47F0-BCBC-DAAD57FB8C79}</a:tableStyleId>
              </a:tblPr>
              <a:tblGrid>
                <a:gridCol w="685800"/>
                <a:gridCol w="1280150"/>
                <a:gridCol w="1280150"/>
                <a:gridCol w="1280150"/>
              </a:tblGrid>
              <a:tr h="297175">
                <a:tc>
                  <a:txBody>
                    <a:bodyPr/>
                    <a:lstStyle/>
                    <a:p>
                      <a:pPr indent="0" lvl="0" marL="0" marR="0" rtl="0" algn="ctr">
                        <a:spcBef>
                          <a:spcPts val="0"/>
                        </a:spcBef>
                        <a:spcAft>
                          <a:spcPts val="0"/>
                        </a:spcAft>
                        <a:buNone/>
                      </a:pPr>
                      <a:r>
                        <a:rPr b="1" lang="en-US" sz="900" u="none" cap="none" strike="noStrike">
                          <a:solidFill>
                            <a:srgbClr val="FFFFFF"/>
                          </a:solidFill>
                          <a:latin typeface="Calibri"/>
                          <a:ea typeface="Calibri"/>
                          <a:cs typeface="Calibri"/>
                          <a:sym typeface="Calibri"/>
                        </a:rPr>
                        <a:t>k</a:t>
                      </a:r>
                      <a:endParaRPr/>
                    </a:p>
                  </a:txBody>
                  <a:tcPr marT="27425" marB="27425" marR="54875" marL="54875" anchor="ctr">
                    <a:lnB cap="flat" cmpd="sng" w="9525">
                      <a:solidFill>
                        <a:srgbClr val="C9DCEA"/>
                      </a:solidFill>
                      <a:prstDash val="solid"/>
                      <a:round/>
                      <a:headEnd len="sm" w="sm" type="none"/>
                      <a:tailEnd len="sm" w="sm" type="none"/>
                    </a:lnB>
                    <a:solidFill>
                      <a:srgbClr val="306998"/>
                    </a:solidFill>
                  </a:tcPr>
                </a:tc>
                <a:tc>
                  <a:txBody>
                    <a:bodyPr/>
                    <a:lstStyle/>
                    <a:p>
                      <a:pPr indent="0" lvl="0" marL="0" marR="0" rtl="0" algn="ctr">
                        <a:spcBef>
                          <a:spcPts val="0"/>
                        </a:spcBef>
                        <a:spcAft>
                          <a:spcPts val="0"/>
                        </a:spcAft>
                        <a:buNone/>
                      </a:pPr>
                      <a:r>
                        <a:rPr b="1" lang="en-US" sz="900" u="none" cap="none" strike="noStrike">
                          <a:solidFill>
                            <a:srgbClr val="FFFFFF"/>
                          </a:solidFill>
                          <a:latin typeface="Calibri"/>
                          <a:ea typeface="Calibri"/>
                          <a:cs typeface="Calibri"/>
                          <a:sym typeface="Calibri"/>
                        </a:rPr>
                        <a:t>Silhouette</a:t>
                      </a:r>
                      <a:endParaRPr/>
                    </a:p>
                  </a:txBody>
                  <a:tcPr marT="27425" marB="27425" marR="54875" marL="54875" anchor="ctr">
                    <a:lnB cap="flat" cmpd="sng" w="9525">
                      <a:solidFill>
                        <a:srgbClr val="C9DCEA"/>
                      </a:solidFill>
                      <a:prstDash val="solid"/>
                      <a:round/>
                      <a:headEnd len="sm" w="sm" type="none"/>
                      <a:tailEnd len="sm" w="sm" type="none"/>
                    </a:lnB>
                    <a:solidFill>
                      <a:srgbClr val="306998"/>
                    </a:solidFill>
                  </a:tcPr>
                </a:tc>
                <a:tc>
                  <a:txBody>
                    <a:bodyPr/>
                    <a:lstStyle/>
                    <a:p>
                      <a:pPr indent="0" lvl="0" marL="0" marR="0" rtl="0" algn="ctr">
                        <a:spcBef>
                          <a:spcPts val="0"/>
                        </a:spcBef>
                        <a:spcAft>
                          <a:spcPts val="0"/>
                        </a:spcAft>
                        <a:buNone/>
                      </a:pPr>
                      <a:r>
                        <a:rPr b="1" lang="en-US" sz="900" u="none" cap="none" strike="noStrike">
                          <a:solidFill>
                            <a:srgbClr val="FFFFFF"/>
                          </a:solidFill>
                          <a:latin typeface="Calibri"/>
                          <a:ea typeface="Calibri"/>
                          <a:cs typeface="Calibri"/>
                          <a:sym typeface="Calibri"/>
                        </a:rPr>
                        <a:t>Smallest</a:t>
                      </a:r>
                      <a:endParaRPr/>
                    </a:p>
                  </a:txBody>
                  <a:tcPr marT="27425" marB="27425" marR="54875" marL="54875" anchor="ctr">
                    <a:lnB cap="flat" cmpd="sng" w="9525">
                      <a:solidFill>
                        <a:srgbClr val="C9DCEA"/>
                      </a:solidFill>
                      <a:prstDash val="solid"/>
                      <a:round/>
                      <a:headEnd len="sm" w="sm" type="none"/>
                      <a:tailEnd len="sm" w="sm" type="none"/>
                    </a:lnB>
                    <a:solidFill>
                      <a:srgbClr val="306998"/>
                    </a:solidFill>
                  </a:tcPr>
                </a:tc>
                <a:tc>
                  <a:txBody>
                    <a:bodyPr/>
                    <a:lstStyle/>
                    <a:p>
                      <a:pPr indent="0" lvl="0" marL="0" marR="0" rtl="0" algn="ctr">
                        <a:spcBef>
                          <a:spcPts val="0"/>
                        </a:spcBef>
                        <a:spcAft>
                          <a:spcPts val="0"/>
                        </a:spcAft>
                        <a:buNone/>
                      </a:pPr>
                      <a:r>
                        <a:rPr b="1" lang="en-US" sz="900" u="none" cap="none" strike="noStrike">
                          <a:solidFill>
                            <a:srgbClr val="FFFFFF"/>
                          </a:solidFill>
                          <a:latin typeface="Calibri"/>
                          <a:ea typeface="Calibri"/>
                          <a:cs typeface="Calibri"/>
                          <a:sym typeface="Calibri"/>
                        </a:rPr>
                        <a:t>Largest</a:t>
                      </a:r>
                      <a:endParaRPr/>
                    </a:p>
                  </a:txBody>
                  <a:tcPr marT="27425" marB="27425" marR="54875" marL="54875" anchor="ctr">
                    <a:lnB cap="flat" cmpd="sng" w="9525">
                      <a:solidFill>
                        <a:srgbClr val="C9DCEA"/>
                      </a:solidFill>
                      <a:prstDash val="solid"/>
                      <a:round/>
                      <a:headEnd len="sm" w="sm" type="none"/>
                      <a:tailEnd len="sm" w="sm" type="none"/>
                    </a:lnB>
                    <a:solidFill>
                      <a:srgbClr val="306998"/>
                    </a:solidFill>
                  </a:tcPr>
                </a:tc>
              </a:tr>
              <a:tr h="297175">
                <a:tc>
                  <a:txBody>
                    <a:bodyPr/>
                    <a:lstStyle/>
                    <a:p>
                      <a:pPr indent="0" lvl="0" marL="0" marR="0" rtl="0" algn="ctr">
                        <a:spcBef>
                          <a:spcPts val="0"/>
                        </a:spcBef>
                        <a:spcAft>
                          <a:spcPts val="0"/>
                        </a:spcAft>
                        <a:buNone/>
                      </a:pPr>
                      <a:r>
                        <a:rPr b="0" lang="en-US" sz="900" u="none" cap="none" strike="noStrike">
                          <a:solidFill>
                            <a:srgbClr val="1B2A38"/>
                          </a:solidFill>
                          <a:latin typeface="Calibri"/>
                          <a:ea typeface="Calibri"/>
                          <a:cs typeface="Calibri"/>
                          <a:sym typeface="Calibri"/>
                        </a:rPr>
                        <a:t>3</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0,3765</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24,8%</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38,3%</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r>
              <a:tr h="297175">
                <a:tc>
                  <a:txBody>
                    <a:bodyPr/>
                    <a:lstStyle/>
                    <a:p>
                      <a:pPr indent="0" lvl="0" marL="0" marR="0" rtl="0" algn="ctr">
                        <a:spcBef>
                          <a:spcPts val="0"/>
                        </a:spcBef>
                        <a:spcAft>
                          <a:spcPts val="0"/>
                        </a:spcAft>
                        <a:buNone/>
                      </a:pPr>
                      <a:r>
                        <a:rPr b="0" lang="en-US" sz="900" u="none" cap="none" strike="noStrike">
                          <a:solidFill>
                            <a:srgbClr val="1B2A38"/>
                          </a:solidFill>
                          <a:latin typeface="Calibri"/>
                          <a:ea typeface="Calibri"/>
                          <a:cs typeface="Calibri"/>
                          <a:sym typeface="Calibri"/>
                        </a:rPr>
                        <a:t>4</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0,3001</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13,1%</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36,9%</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r>
              <a:tr h="297175">
                <a:tc>
                  <a:txBody>
                    <a:bodyPr/>
                    <a:lstStyle/>
                    <a:p>
                      <a:pPr indent="0" lvl="0" marL="0" marR="0" rtl="0" algn="ctr">
                        <a:spcBef>
                          <a:spcPts val="0"/>
                        </a:spcBef>
                        <a:spcAft>
                          <a:spcPts val="0"/>
                        </a:spcAft>
                        <a:buNone/>
                      </a:pPr>
                      <a:r>
                        <a:rPr b="0" lang="en-US" sz="900" u="none" cap="none" strike="noStrike">
                          <a:solidFill>
                            <a:srgbClr val="1B2A38"/>
                          </a:solidFill>
                          <a:latin typeface="Calibri"/>
                          <a:ea typeface="Calibri"/>
                          <a:cs typeface="Calibri"/>
                          <a:sym typeface="Calibri"/>
                        </a:rPr>
                        <a:t>5</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0,2617</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13,2%</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25,2%</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r>
              <a:tr h="297175">
                <a:tc>
                  <a:txBody>
                    <a:bodyPr/>
                    <a:lstStyle/>
                    <a:p>
                      <a:pPr indent="0" lvl="0" marL="0" marR="0" rtl="0" algn="ctr">
                        <a:spcBef>
                          <a:spcPts val="0"/>
                        </a:spcBef>
                        <a:spcAft>
                          <a:spcPts val="0"/>
                        </a:spcAft>
                        <a:buNone/>
                      </a:pPr>
                      <a:r>
                        <a:rPr b="0" lang="en-US" sz="900" u="none" cap="none" strike="noStrike">
                          <a:solidFill>
                            <a:srgbClr val="1B2A38"/>
                          </a:solidFill>
                          <a:latin typeface="Calibri"/>
                          <a:ea typeface="Calibri"/>
                          <a:cs typeface="Calibri"/>
                          <a:sym typeface="Calibri"/>
                        </a:rPr>
                        <a:t>6</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0,2431</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12,4%</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25,2%</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r>
              <a:tr h="297175">
                <a:tc>
                  <a:txBody>
                    <a:bodyPr/>
                    <a:lstStyle/>
                    <a:p>
                      <a:pPr indent="0" lvl="0" marL="0" marR="0" rtl="0" algn="ctr">
                        <a:spcBef>
                          <a:spcPts val="0"/>
                        </a:spcBef>
                        <a:spcAft>
                          <a:spcPts val="0"/>
                        </a:spcAft>
                        <a:buNone/>
                      </a:pPr>
                      <a:r>
                        <a:rPr b="0" lang="en-US" sz="900" u="none" cap="none" strike="noStrike">
                          <a:solidFill>
                            <a:srgbClr val="1B2A38"/>
                          </a:solidFill>
                          <a:latin typeface="Calibri"/>
                          <a:ea typeface="Calibri"/>
                          <a:cs typeface="Calibri"/>
                          <a:sym typeface="Calibri"/>
                        </a:rPr>
                        <a:t>7</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0,2320</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10,4%</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25,2%</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r>
              <a:tr h="297175">
                <a:tc>
                  <a:txBody>
                    <a:bodyPr/>
                    <a:lstStyle/>
                    <a:p>
                      <a:pPr indent="0" lvl="0" marL="0" marR="0" rtl="0" algn="ctr">
                        <a:spcBef>
                          <a:spcPts val="0"/>
                        </a:spcBef>
                        <a:spcAft>
                          <a:spcPts val="0"/>
                        </a:spcAft>
                        <a:buNone/>
                      </a:pPr>
                      <a:r>
                        <a:rPr b="0" lang="en-US" sz="900" u="none" cap="none" strike="noStrike">
                          <a:solidFill>
                            <a:srgbClr val="1B2A38"/>
                          </a:solidFill>
                          <a:latin typeface="Calibri"/>
                          <a:ea typeface="Calibri"/>
                          <a:cs typeface="Calibri"/>
                          <a:sym typeface="Calibri"/>
                        </a:rPr>
                        <a:t>8</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0,2286</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7,5%</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25,2%</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r>
            </a:tbl>
          </a:graphicData>
        </a:graphic>
      </p:graphicFrame>
      <p:sp>
        <p:nvSpPr>
          <p:cNvPr id="535" name="Google Shape;535;p34"/>
          <p:cNvSpPr/>
          <p:nvPr/>
        </p:nvSpPr>
        <p:spPr>
          <a:xfrm>
            <a:off x="6812280" y="4160520"/>
            <a:ext cx="4800600" cy="2194560"/>
          </a:xfrm>
          <a:prstGeom prst="roundRect">
            <a:avLst>
              <a:gd fmla="val 4000" name="adj"/>
            </a:avLst>
          </a:prstGeom>
          <a:solidFill>
            <a:srgbClr val="FFD43B"/>
          </a:solidFill>
          <a:ln cap="flat" cmpd="sng" w="12700">
            <a:solidFill>
              <a:srgbClr val="FFD43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36" name="Google Shape;536;p34"/>
          <p:cNvSpPr txBox="1"/>
          <p:nvPr/>
        </p:nvSpPr>
        <p:spPr>
          <a:xfrm>
            <a:off x="6995160" y="4279392"/>
            <a:ext cx="4480560" cy="320040"/>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lang="en-US" sz="1500">
                <a:solidFill>
                  <a:srgbClr val="1B2A38"/>
                </a:solidFill>
                <a:latin typeface="Cambria"/>
                <a:ea typeface="Cambria"/>
                <a:cs typeface="Cambria"/>
                <a:sym typeface="Cambria"/>
              </a:rPr>
              <a:t>Decision: k = 4</a:t>
            </a:r>
            <a:endParaRPr/>
          </a:p>
        </p:txBody>
      </p:sp>
      <p:sp>
        <p:nvSpPr>
          <p:cNvPr id="537" name="Google Shape;537;p34"/>
          <p:cNvSpPr txBox="1"/>
          <p:nvPr/>
        </p:nvSpPr>
        <p:spPr>
          <a:xfrm>
            <a:off x="6995160" y="4617720"/>
            <a:ext cx="4480500" cy="16185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lang="en-US" sz="1050">
                <a:solidFill>
                  <a:srgbClr val="1B2A38"/>
                </a:solidFill>
                <a:latin typeface="Calibri"/>
                <a:ea typeface="Calibri"/>
                <a:cs typeface="Calibri"/>
                <a:sym typeface="Calibri"/>
              </a:rPr>
              <a:t>k = 3 scores highest (0,3765) but merges the two inactive groups into one, which hides the difference between a dormant customer who is safe to activate and one who is already over-leveraged.</a:t>
            </a:r>
            <a:endParaRPr/>
          </a:p>
          <a:p>
            <a:pPr indent="0" lvl="0" marL="0" marR="0" rtl="0" algn="l">
              <a:lnSpc>
                <a:spcPct val="115000"/>
              </a:lnSpc>
              <a:spcBef>
                <a:spcPts val="400"/>
              </a:spcBef>
              <a:spcAft>
                <a:spcPts val="0"/>
              </a:spcAft>
              <a:buNone/>
            </a:pPr>
            <a:r>
              <a:rPr b="0" lang="en-US" sz="1050">
                <a:solidFill>
                  <a:srgbClr val="1B2A38"/>
                </a:solidFill>
                <a:latin typeface="Calibri"/>
                <a:ea typeface="Calibri"/>
                <a:cs typeface="Calibri"/>
                <a:sym typeface="Calibri"/>
              </a:rPr>
              <a:t>k = 4 keeps a usable score of 0,3001, every cluster holds at least 13,1% of the base, and it yields four segments that call for four different actions. From k = 5 the score keeps falling without adding a segment worth a separate campaign.</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B"/>
        </a:solidFill>
      </p:bgPr>
    </p:bg>
    <p:spTree>
      <p:nvGrpSpPr>
        <p:cNvPr id="541" name="Shape 541"/>
        <p:cNvGrpSpPr/>
        <p:nvPr/>
      </p:nvGrpSpPr>
      <p:grpSpPr>
        <a:xfrm>
          <a:off x="0" y="0"/>
          <a:ext cx="0" cy="0"/>
          <a:chOff x="0" y="0"/>
          <a:chExt cx="0" cy="0"/>
        </a:xfrm>
      </p:grpSpPr>
      <p:sp>
        <p:nvSpPr>
          <p:cNvPr id="542" name="Google Shape;542;p35"/>
          <p:cNvSpPr/>
          <p:nvPr/>
        </p:nvSpPr>
        <p:spPr>
          <a:xfrm>
            <a:off x="548640" y="457200"/>
            <a:ext cx="502920" cy="502920"/>
          </a:xfrm>
          <a:prstGeom prst="ellipse">
            <a:avLst/>
          </a:prstGeom>
          <a:solidFill>
            <a:srgbClr val="306998"/>
          </a:solidFill>
          <a:ln cap="flat" cmpd="sng" w="12700">
            <a:solidFill>
              <a:srgbClr val="30699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43" name="Google Shape;543;p35"/>
          <p:cNvSpPr txBox="1"/>
          <p:nvPr/>
        </p:nvSpPr>
        <p:spPr>
          <a:xfrm>
            <a:off x="548640" y="457200"/>
            <a:ext cx="502920" cy="502920"/>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lang="en-US" sz="1400">
                <a:solidFill>
                  <a:srgbClr val="FFFFFF"/>
                </a:solidFill>
                <a:latin typeface="Cambria"/>
                <a:ea typeface="Cambria"/>
                <a:cs typeface="Cambria"/>
                <a:sym typeface="Cambria"/>
              </a:rPr>
              <a:t>c</a:t>
            </a:r>
            <a:endParaRPr/>
          </a:p>
        </p:txBody>
      </p:sp>
      <p:sp>
        <p:nvSpPr>
          <p:cNvPr id="544" name="Google Shape;544;p35"/>
          <p:cNvSpPr txBox="1"/>
          <p:nvPr/>
        </p:nvSpPr>
        <p:spPr>
          <a:xfrm>
            <a:off x="1188720" y="384048"/>
            <a:ext cx="10424160" cy="685800"/>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lang="en-US" sz="2400">
                <a:solidFill>
                  <a:srgbClr val="2B5B84"/>
                </a:solidFill>
                <a:latin typeface="Cambria"/>
                <a:ea typeface="Cambria"/>
                <a:cs typeface="Cambria"/>
                <a:sym typeface="Cambria"/>
              </a:rPr>
              <a:t>Cluster Profiling (Syntax &amp; Output)</a:t>
            </a:r>
            <a:endParaRPr/>
          </a:p>
        </p:txBody>
      </p:sp>
      <p:sp>
        <p:nvSpPr>
          <p:cNvPr id="545" name="Google Shape;545;p35"/>
          <p:cNvSpPr txBox="1"/>
          <p:nvPr/>
        </p:nvSpPr>
        <p:spPr>
          <a:xfrm>
            <a:off x="457200" y="6492240"/>
            <a:ext cx="7315200" cy="27432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lang="en-US" sz="900">
                <a:solidFill>
                  <a:srgbClr val="5A7185"/>
                </a:solidFill>
                <a:latin typeface="Calibri"/>
                <a:ea typeface="Calibri"/>
                <a:cs typeface="Calibri"/>
                <a:sym typeface="Calibri"/>
              </a:rPr>
              <a:t>Credit Card &amp; User Data Analysis – Milestone 3</a:t>
            </a:r>
            <a:endParaRPr/>
          </a:p>
        </p:txBody>
      </p:sp>
      <p:sp>
        <p:nvSpPr>
          <p:cNvPr id="546" name="Google Shape;546;p35"/>
          <p:cNvSpPr txBox="1"/>
          <p:nvPr/>
        </p:nvSpPr>
        <p:spPr>
          <a:xfrm>
            <a:off x="11247120" y="6492240"/>
            <a:ext cx="457200" cy="274320"/>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None/>
            </a:pPr>
            <a:r>
              <a:rPr b="0" lang="en-US" sz="900">
                <a:solidFill>
                  <a:srgbClr val="5A7185"/>
                </a:solidFill>
                <a:latin typeface="Calibri"/>
                <a:ea typeface="Calibri"/>
                <a:cs typeface="Calibri"/>
                <a:sym typeface="Calibri"/>
              </a:rPr>
              <a:t>35</a:t>
            </a:r>
            <a:endParaRPr/>
          </a:p>
        </p:txBody>
      </p:sp>
      <p:sp>
        <p:nvSpPr>
          <p:cNvPr id="547" name="Google Shape;547;p35"/>
          <p:cNvSpPr txBox="1"/>
          <p:nvPr/>
        </p:nvSpPr>
        <p:spPr>
          <a:xfrm>
            <a:off x="548640" y="1325880"/>
            <a:ext cx="5486400" cy="320040"/>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lang="en-US" sz="1300">
                <a:solidFill>
                  <a:srgbClr val="5A7185"/>
                </a:solidFill>
                <a:latin typeface="Calibri"/>
                <a:ea typeface="Calibri"/>
                <a:cs typeface="Calibri"/>
                <a:sym typeface="Calibri"/>
              </a:rPr>
              <a:t>Syntax</a:t>
            </a:r>
            <a:endParaRPr/>
          </a:p>
        </p:txBody>
      </p:sp>
      <p:sp>
        <p:nvSpPr>
          <p:cNvPr id="548" name="Google Shape;548;p35"/>
          <p:cNvSpPr/>
          <p:nvPr/>
        </p:nvSpPr>
        <p:spPr>
          <a:xfrm>
            <a:off x="548640" y="1691640"/>
            <a:ext cx="6035040" cy="4663440"/>
          </a:xfrm>
          <a:prstGeom prst="roundRect">
            <a:avLst>
              <a:gd fmla="val 1600" name="adj"/>
            </a:avLst>
          </a:prstGeom>
          <a:solidFill>
            <a:srgbClr val="1B2A38"/>
          </a:solidFill>
          <a:ln cap="flat" cmpd="sng" w="12700">
            <a:solidFill>
              <a:srgbClr val="1B2A3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49" name="Google Shape;549;p35"/>
          <p:cNvSpPr txBox="1"/>
          <p:nvPr/>
        </p:nvSpPr>
        <p:spPr>
          <a:xfrm>
            <a:off x="731520" y="1828800"/>
            <a:ext cx="5715000" cy="43891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lang="en-US" sz="1000">
                <a:solidFill>
                  <a:srgbClr val="E7F0FA"/>
                </a:solidFill>
                <a:latin typeface="Courier New"/>
                <a:ea typeface="Courier New"/>
                <a:cs typeface="Courier New"/>
                <a:sym typeface="Courier New"/>
              </a:rPr>
              <a:t>K_OPT = 4   # from the elbow and silhouette</a:t>
            </a:r>
            <a:endParaRPr/>
          </a:p>
          <a:p>
            <a:pPr indent="0" lvl="0" marL="0" marR="0" rtl="0" algn="l">
              <a:lnSpc>
                <a:spcPct val="108000"/>
              </a:lnSpc>
              <a:spcBef>
                <a:spcPts val="0"/>
              </a:spcBef>
              <a:spcAft>
                <a:spcPts val="0"/>
              </a:spcAft>
              <a:buNone/>
            </a:pPr>
            <a:r>
              <a:t/>
            </a:r>
            <a:endParaRPr sz="1000">
              <a:solidFill>
                <a:srgbClr val="E7F0FA"/>
              </a:solidFill>
              <a:latin typeface="Courier New"/>
              <a:ea typeface="Courier New"/>
              <a:cs typeface="Courier New"/>
              <a:sym typeface="Courier New"/>
            </a:endParaRPr>
          </a:p>
          <a:p>
            <a:pPr indent="0" lvl="0" marL="0" marR="0" rtl="0" algn="l">
              <a:lnSpc>
                <a:spcPct val="108000"/>
              </a:lnSpc>
              <a:spcBef>
                <a:spcPts val="0"/>
              </a:spcBef>
              <a:spcAft>
                <a:spcPts val="0"/>
              </a:spcAft>
              <a:buNone/>
            </a:pPr>
            <a:r>
              <a:rPr lang="en-US" sz="1000">
                <a:solidFill>
                  <a:srgbClr val="E7F0FA"/>
                </a:solidFill>
                <a:latin typeface="Courier New"/>
                <a:ea typeface="Courier New"/>
                <a:cs typeface="Courier New"/>
                <a:sym typeface="Courier New"/>
              </a:rPr>
              <a:t>model = KMeans(n_clusters=K_OPT,</a:t>
            </a:r>
            <a:endParaRPr/>
          </a:p>
          <a:p>
            <a:pPr indent="0" lvl="0" marL="0" marR="0" rtl="0" algn="l">
              <a:lnSpc>
                <a:spcPct val="108000"/>
              </a:lnSpc>
              <a:spcBef>
                <a:spcPts val="0"/>
              </a:spcBef>
              <a:spcAft>
                <a:spcPts val="0"/>
              </a:spcAft>
              <a:buNone/>
            </a:pPr>
            <a:r>
              <a:rPr lang="en-US" sz="1000">
                <a:solidFill>
                  <a:srgbClr val="E7F0FA"/>
                </a:solidFill>
                <a:latin typeface="Courier New"/>
                <a:ea typeface="Courier New"/>
                <a:cs typeface="Courier New"/>
                <a:sym typeface="Courier New"/>
              </a:rPr>
              <a:t>               random_state=1000, n_init='auto')</a:t>
            </a:r>
            <a:endParaRPr/>
          </a:p>
          <a:p>
            <a:pPr indent="0" lvl="0" marL="0" marR="0" rtl="0" algn="l">
              <a:lnSpc>
                <a:spcPct val="108000"/>
              </a:lnSpc>
              <a:spcBef>
                <a:spcPts val="0"/>
              </a:spcBef>
              <a:spcAft>
                <a:spcPts val="0"/>
              </a:spcAft>
              <a:buNone/>
            </a:pPr>
            <a:r>
              <a:rPr lang="en-US" sz="1000">
                <a:solidFill>
                  <a:srgbClr val="E7F0FA"/>
                </a:solidFill>
                <a:latin typeface="Courier New"/>
                <a:ea typeface="Courier New"/>
                <a:cs typeface="Courier New"/>
                <a:sym typeface="Courier New"/>
              </a:rPr>
              <a:t>model.fit(df_scaled)</a:t>
            </a:r>
            <a:endParaRPr/>
          </a:p>
          <a:p>
            <a:pPr indent="0" lvl="0" marL="0" marR="0" rtl="0" algn="l">
              <a:lnSpc>
                <a:spcPct val="108000"/>
              </a:lnSpc>
              <a:spcBef>
                <a:spcPts val="0"/>
              </a:spcBef>
              <a:spcAft>
                <a:spcPts val="0"/>
              </a:spcAft>
              <a:buNone/>
            </a:pPr>
            <a:r>
              <a:t/>
            </a:r>
            <a:endParaRPr sz="1000">
              <a:solidFill>
                <a:srgbClr val="E7F0FA"/>
              </a:solidFill>
              <a:latin typeface="Courier New"/>
              <a:ea typeface="Courier New"/>
              <a:cs typeface="Courier New"/>
              <a:sym typeface="Courier New"/>
            </a:endParaRPr>
          </a:p>
          <a:p>
            <a:pPr indent="0" lvl="0" marL="0" marR="0" rtl="0" algn="l">
              <a:lnSpc>
                <a:spcPct val="108000"/>
              </a:lnSpc>
              <a:spcBef>
                <a:spcPts val="0"/>
              </a:spcBef>
              <a:spcAft>
                <a:spcPts val="0"/>
              </a:spcAft>
              <a:buNone/>
            </a:pPr>
            <a:r>
              <a:rPr lang="en-US" sz="1000">
                <a:solidFill>
                  <a:srgbClr val="E7F0FA"/>
                </a:solidFill>
                <a:latin typeface="Courier New"/>
                <a:ea typeface="Courier New"/>
                <a:cs typeface="Courier New"/>
                <a:sym typeface="Courier New"/>
              </a:rPr>
              <a:t># labels back on the UNSCALED data,</a:t>
            </a:r>
            <a:endParaRPr/>
          </a:p>
          <a:p>
            <a:pPr indent="0" lvl="0" marL="0" marR="0" rtl="0" algn="l">
              <a:lnSpc>
                <a:spcPct val="108000"/>
              </a:lnSpc>
              <a:spcBef>
                <a:spcPts val="0"/>
              </a:spcBef>
              <a:spcAft>
                <a:spcPts val="0"/>
              </a:spcAft>
              <a:buNone/>
            </a:pPr>
            <a:r>
              <a:rPr lang="en-US" sz="1000">
                <a:solidFill>
                  <a:srgbClr val="E7F0FA"/>
                </a:solidFill>
                <a:latin typeface="Courier New"/>
                <a:ea typeface="Courier New"/>
                <a:cs typeface="Courier New"/>
                <a:sym typeface="Courier New"/>
              </a:rPr>
              <a:t># so the profile is in real units</a:t>
            </a:r>
            <a:endParaRPr/>
          </a:p>
          <a:p>
            <a:pPr indent="0" lvl="0" marL="0" marR="0" rtl="0" algn="l">
              <a:lnSpc>
                <a:spcPct val="108000"/>
              </a:lnSpc>
              <a:spcBef>
                <a:spcPts val="0"/>
              </a:spcBef>
              <a:spcAft>
                <a:spcPts val="0"/>
              </a:spcAft>
              <a:buNone/>
            </a:pPr>
            <a:r>
              <a:rPr lang="en-US" sz="1000">
                <a:solidFill>
                  <a:srgbClr val="E7F0FA"/>
                </a:solidFill>
                <a:latin typeface="Courier New"/>
                <a:ea typeface="Courier New"/>
                <a:cs typeface="Courier New"/>
                <a:sym typeface="Courier New"/>
              </a:rPr>
              <a:t>df_result = df_model.copy()</a:t>
            </a:r>
            <a:endParaRPr/>
          </a:p>
          <a:p>
            <a:pPr indent="0" lvl="0" marL="0" marR="0" rtl="0" algn="l">
              <a:lnSpc>
                <a:spcPct val="108000"/>
              </a:lnSpc>
              <a:spcBef>
                <a:spcPts val="0"/>
              </a:spcBef>
              <a:spcAft>
                <a:spcPts val="0"/>
              </a:spcAft>
              <a:buNone/>
            </a:pPr>
            <a:r>
              <a:rPr lang="en-US" sz="1000">
                <a:solidFill>
                  <a:srgbClr val="E7F0FA"/>
                </a:solidFill>
                <a:latin typeface="Courier New"/>
                <a:ea typeface="Courier New"/>
                <a:cs typeface="Courier New"/>
                <a:sym typeface="Courier New"/>
              </a:rPr>
              <a:t>df_result['cluster'] = model.labels_</a:t>
            </a:r>
            <a:endParaRPr/>
          </a:p>
          <a:p>
            <a:pPr indent="0" lvl="0" marL="0" marR="0" rtl="0" algn="l">
              <a:lnSpc>
                <a:spcPct val="108000"/>
              </a:lnSpc>
              <a:spcBef>
                <a:spcPts val="0"/>
              </a:spcBef>
              <a:spcAft>
                <a:spcPts val="0"/>
              </a:spcAft>
              <a:buNone/>
            </a:pPr>
            <a:r>
              <a:t/>
            </a:r>
            <a:endParaRPr sz="1000">
              <a:solidFill>
                <a:srgbClr val="E7F0FA"/>
              </a:solidFill>
              <a:latin typeface="Courier New"/>
              <a:ea typeface="Courier New"/>
              <a:cs typeface="Courier New"/>
              <a:sym typeface="Courier New"/>
            </a:endParaRPr>
          </a:p>
          <a:p>
            <a:pPr indent="0" lvl="0" marL="0" marR="0" rtl="0" algn="l">
              <a:lnSpc>
                <a:spcPct val="108000"/>
              </a:lnSpc>
              <a:spcBef>
                <a:spcPts val="0"/>
              </a:spcBef>
              <a:spcAft>
                <a:spcPts val="0"/>
              </a:spcAft>
              <a:buNone/>
            </a:pPr>
            <a:r>
              <a:rPr lang="en-US" sz="1000">
                <a:solidFill>
                  <a:srgbClr val="E7F0FA"/>
                </a:solidFill>
                <a:latin typeface="Courier New"/>
                <a:ea typeface="Courier New"/>
                <a:cs typeface="Courier New"/>
                <a:sym typeface="Courier New"/>
              </a:rPr>
              <a:t>cluster_profile = df_result.groupby('cluster').agg({</a:t>
            </a:r>
            <a:endParaRPr/>
          </a:p>
          <a:p>
            <a:pPr indent="0" lvl="0" marL="0" marR="0" rtl="0" algn="l">
              <a:lnSpc>
                <a:spcPct val="108000"/>
              </a:lnSpc>
              <a:spcBef>
                <a:spcPts val="0"/>
              </a:spcBef>
              <a:spcAft>
                <a:spcPts val="0"/>
              </a:spcAft>
              <a:buNone/>
            </a:pPr>
            <a:r>
              <a:rPr lang="en-US" sz="1000">
                <a:solidFill>
                  <a:srgbClr val="E7F0FA"/>
                </a:solidFill>
                <a:latin typeface="Courier New"/>
                <a:ea typeface="Courier New"/>
                <a:cs typeface="Courier New"/>
                <a:sym typeface="Courier New"/>
              </a:rPr>
              <a:t>    'days_since_last_trx': 'median',</a:t>
            </a:r>
            <a:endParaRPr/>
          </a:p>
          <a:p>
            <a:pPr indent="0" lvl="0" marL="0" marR="0" rtl="0" algn="l">
              <a:lnSpc>
                <a:spcPct val="108000"/>
              </a:lnSpc>
              <a:spcBef>
                <a:spcPts val="0"/>
              </a:spcBef>
              <a:spcAft>
                <a:spcPts val="0"/>
              </a:spcAft>
              <a:buNone/>
            </a:pPr>
            <a:r>
              <a:rPr lang="en-US" sz="1000">
                <a:solidFill>
                  <a:srgbClr val="E7F0FA"/>
                </a:solidFill>
                <a:latin typeface="Courier New"/>
                <a:ea typeface="Courier New"/>
                <a:cs typeface="Courier New"/>
                <a:sym typeface="Courier New"/>
              </a:rPr>
              <a:t>    'count_nonfraud_trx_L6M': 'median',</a:t>
            </a:r>
            <a:endParaRPr/>
          </a:p>
          <a:p>
            <a:pPr indent="0" lvl="0" marL="0" marR="0" rtl="0" algn="l">
              <a:lnSpc>
                <a:spcPct val="108000"/>
              </a:lnSpc>
              <a:spcBef>
                <a:spcPts val="0"/>
              </a:spcBef>
              <a:spcAft>
                <a:spcPts val="0"/>
              </a:spcAft>
              <a:buNone/>
            </a:pPr>
            <a:r>
              <a:rPr lang="en-US" sz="1000">
                <a:solidFill>
                  <a:srgbClr val="E7F0FA"/>
                </a:solidFill>
                <a:latin typeface="Courier New"/>
                <a:ea typeface="Courier New"/>
                <a:cs typeface="Courier New"/>
                <a:sym typeface="Courier New"/>
              </a:rPr>
              <a:t>    'amt_nonfraud_trx_L6M': 'mean',</a:t>
            </a:r>
            <a:endParaRPr/>
          </a:p>
          <a:p>
            <a:pPr indent="0" lvl="0" marL="0" marR="0" rtl="0" algn="l">
              <a:lnSpc>
                <a:spcPct val="108000"/>
              </a:lnSpc>
              <a:spcBef>
                <a:spcPts val="0"/>
              </a:spcBef>
              <a:spcAft>
                <a:spcPts val="0"/>
              </a:spcAft>
              <a:buNone/>
            </a:pPr>
            <a:r>
              <a:rPr lang="en-US" sz="1000">
                <a:solidFill>
                  <a:srgbClr val="E7F0FA"/>
                </a:solidFill>
                <a:latin typeface="Courier New"/>
                <a:ea typeface="Courier New"/>
                <a:cs typeface="Courier New"/>
                <a:sym typeface="Courier New"/>
              </a:rPr>
              <a:t>    'credit_limit': 'mean',</a:t>
            </a:r>
            <a:endParaRPr/>
          </a:p>
          <a:p>
            <a:pPr indent="0" lvl="0" marL="0" marR="0" rtl="0" algn="l">
              <a:lnSpc>
                <a:spcPct val="108000"/>
              </a:lnSpc>
              <a:spcBef>
                <a:spcPts val="0"/>
              </a:spcBef>
              <a:spcAft>
                <a:spcPts val="0"/>
              </a:spcAft>
              <a:buNone/>
            </a:pPr>
            <a:r>
              <a:rPr lang="en-US" sz="1000">
                <a:solidFill>
                  <a:srgbClr val="E7F0FA"/>
                </a:solidFill>
                <a:latin typeface="Courier New"/>
                <a:ea typeface="Courier New"/>
                <a:cs typeface="Courier New"/>
                <a:sym typeface="Courier New"/>
              </a:rPr>
              <a:t>    'DTI': 'median',</a:t>
            </a:r>
            <a:endParaRPr/>
          </a:p>
          <a:p>
            <a:pPr indent="0" lvl="0" marL="0" marR="0" rtl="0" algn="l">
              <a:lnSpc>
                <a:spcPct val="108000"/>
              </a:lnSpc>
              <a:spcBef>
                <a:spcPts val="0"/>
              </a:spcBef>
              <a:spcAft>
                <a:spcPts val="0"/>
              </a:spcAft>
              <a:buNone/>
            </a:pPr>
            <a:r>
              <a:rPr lang="en-US" sz="1000">
                <a:solidFill>
                  <a:srgbClr val="E7F0FA"/>
                </a:solidFill>
                <a:latin typeface="Courier New"/>
                <a:ea typeface="Courier New"/>
                <a:cs typeface="Courier New"/>
                <a:sym typeface="Courier New"/>
              </a:rPr>
              <a:t>    'age': 'median'})</a:t>
            </a:r>
            <a:endParaRPr/>
          </a:p>
          <a:p>
            <a:pPr indent="0" lvl="0" marL="0" marR="0" rtl="0" algn="l">
              <a:lnSpc>
                <a:spcPct val="108000"/>
              </a:lnSpc>
              <a:spcBef>
                <a:spcPts val="0"/>
              </a:spcBef>
              <a:spcAft>
                <a:spcPts val="0"/>
              </a:spcAft>
              <a:buNone/>
            </a:pPr>
            <a:r>
              <a:t/>
            </a:r>
            <a:endParaRPr sz="1000">
              <a:solidFill>
                <a:srgbClr val="E7F0FA"/>
              </a:solidFill>
              <a:latin typeface="Courier New"/>
              <a:ea typeface="Courier New"/>
              <a:cs typeface="Courier New"/>
              <a:sym typeface="Courier New"/>
            </a:endParaRPr>
          </a:p>
          <a:p>
            <a:pPr indent="0" lvl="0" marL="0" marR="0" rtl="0" algn="l">
              <a:lnSpc>
                <a:spcPct val="108000"/>
              </a:lnSpc>
              <a:spcBef>
                <a:spcPts val="0"/>
              </a:spcBef>
              <a:spcAft>
                <a:spcPts val="0"/>
              </a:spcAft>
              <a:buNone/>
            </a:pPr>
            <a:r>
              <a:rPr lang="en-US" sz="1000">
                <a:solidFill>
                  <a:srgbClr val="E7F0FA"/>
                </a:solidFill>
                <a:latin typeface="Courier New"/>
                <a:ea typeface="Courier New"/>
                <a:cs typeface="Courier New"/>
                <a:sym typeface="Courier New"/>
              </a:rPr>
              <a:t>print(cluster_profile.round(2))</a:t>
            </a:r>
            <a:endParaRPr/>
          </a:p>
        </p:txBody>
      </p:sp>
      <p:sp>
        <p:nvSpPr>
          <p:cNvPr id="550" name="Google Shape;550;p35"/>
          <p:cNvSpPr txBox="1"/>
          <p:nvPr/>
        </p:nvSpPr>
        <p:spPr>
          <a:xfrm>
            <a:off x="6812280" y="1325880"/>
            <a:ext cx="4800600" cy="320040"/>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lang="en-US" sz="1300">
                <a:solidFill>
                  <a:srgbClr val="5A7185"/>
                </a:solidFill>
                <a:latin typeface="Calibri"/>
                <a:ea typeface="Calibri"/>
                <a:cs typeface="Calibri"/>
                <a:sym typeface="Calibri"/>
              </a:rPr>
              <a:t>Output</a:t>
            </a:r>
            <a:endParaRPr/>
          </a:p>
        </p:txBody>
      </p:sp>
      <p:sp>
        <p:nvSpPr>
          <p:cNvPr id="551" name="Google Shape;551;p35"/>
          <p:cNvSpPr/>
          <p:nvPr/>
        </p:nvSpPr>
        <p:spPr>
          <a:xfrm>
            <a:off x="6812280" y="1691640"/>
            <a:ext cx="4800600" cy="2331720"/>
          </a:xfrm>
          <a:prstGeom prst="roundRect">
            <a:avLst>
              <a:gd fmla="val 6000" name="adj"/>
            </a:avLst>
          </a:prstGeom>
          <a:solidFill>
            <a:srgbClr val="FFFFFF"/>
          </a:solidFill>
          <a:ln cap="flat" cmpd="sng" w="19050">
            <a:solidFill>
              <a:srgbClr val="FFD43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aphicFrame>
        <p:nvGraphicFramePr>
          <p:cNvPr id="552" name="Google Shape;552;p35"/>
          <p:cNvGraphicFramePr/>
          <p:nvPr/>
        </p:nvGraphicFramePr>
        <p:xfrm>
          <a:off x="6949440" y="1874519"/>
          <a:ext cx="3000000" cy="3000000"/>
        </p:xfrm>
        <a:graphic>
          <a:graphicData uri="http://schemas.openxmlformats.org/drawingml/2006/table">
            <a:tbl>
              <a:tblPr>
                <a:noFill/>
                <a:tableStyleId>{3D7D59D7-DF91-47F0-BCBC-DAAD57FB8C79}</a:tableStyleId>
              </a:tblPr>
              <a:tblGrid>
                <a:gridCol w="777250"/>
                <a:gridCol w="1005850"/>
                <a:gridCol w="777250"/>
                <a:gridCol w="1051550"/>
                <a:gridCol w="914400"/>
              </a:tblGrid>
              <a:tr h="384050">
                <a:tc>
                  <a:txBody>
                    <a:bodyPr/>
                    <a:lstStyle/>
                    <a:p>
                      <a:pPr indent="0" lvl="0" marL="0" marR="0" rtl="0" algn="ctr">
                        <a:spcBef>
                          <a:spcPts val="0"/>
                        </a:spcBef>
                        <a:spcAft>
                          <a:spcPts val="0"/>
                        </a:spcAft>
                        <a:buNone/>
                      </a:pPr>
                      <a:r>
                        <a:rPr b="1" lang="en-US" sz="900" u="none" cap="none" strike="noStrike">
                          <a:solidFill>
                            <a:srgbClr val="FFFFFF"/>
                          </a:solidFill>
                          <a:latin typeface="Calibri"/>
                          <a:ea typeface="Calibri"/>
                          <a:cs typeface="Calibri"/>
                          <a:sym typeface="Calibri"/>
                        </a:rPr>
                        <a:t>Cluster</a:t>
                      </a:r>
                      <a:endParaRPr/>
                    </a:p>
                  </a:txBody>
                  <a:tcPr marT="27425" marB="27425" marR="54875" marL="54875" anchor="ctr">
                    <a:lnB cap="flat" cmpd="sng" w="9525">
                      <a:solidFill>
                        <a:srgbClr val="C9DCEA"/>
                      </a:solidFill>
                      <a:prstDash val="solid"/>
                      <a:round/>
                      <a:headEnd len="sm" w="sm" type="none"/>
                      <a:tailEnd len="sm" w="sm" type="none"/>
                    </a:lnB>
                    <a:solidFill>
                      <a:srgbClr val="306998"/>
                    </a:solidFill>
                  </a:tcPr>
                </a:tc>
                <a:tc>
                  <a:txBody>
                    <a:bodyPr/>
                    <a:lstStyle/>
                    <a:p>
                      <a:pPr indent="0" lvl="0" marL="0" marR="0" rtl="0" algn="ctr">
                        <a:spcBef>
                          <a:spcPts val="0"/>
                        </a:spcBef>
                        <a:spcAft>
                          <a:spcPts val="0"/>
                        </a:spcAft>
                        <a:buNone/>
                      </a:pPr>
                      <a:r>
                        <a:rPr b="1" lang="en-US" sz="900" u="none" cap="none" strike="noStrike">
                          <a:solidFill>
                            <a:srgbClr val="FFFFFF"/>
                          </a:solidFill>
                          <a:latin typeface="Calibri"/>
                          <a:ea typeface="Calibri"/>
                          <a:cs typeface="Calibri"/>
                          <a:sym typeface="Calibri"/>
                        </a:rPr>
                        <a:t>Customers</a:t>
                      </a:r>
                      <a:endParaRPr/>
                    </a:p>
                  </a:txBody>
                  <a:tcPr marT="27425" marB="27425" marR="54875" marL="54875" anchor="ctr">
                    <a:lnB cap="flat" cmpd="sng" w="9525">
                      <a:solidFill>
                        <a:srgbClr val="C9DCEA"/>
                      </a:solidFill>
                      <a:prstDash val="solid"/>
                      <a:round/>
                      <a:headEnd len="sm" w="sm" type="none"/>
                      <a:tailEnd len="sm" w="sm" type="none"/>
                    </a:lnB>
                    <a:solidFill>
                      <a:srgbClr val="306998"/>
                    </a:solidFill>
                  </a:tcPr>
                </a:tc>
                <a:tc>
                  <a:txBody>
                    <a:bodyPr/>
                    <a:lstStyle/>
                    <a:p>
                      <a:pPr indent="0" lvl="0" marL="0" marR="0" rtl="0" algn="ctr">
                        <a:spcBef>
                          <a:spcPts val="0"/>
                        </a:spcBef>
                        <a:spcAft>
                          <a:spcPts val="0"/>
                        </a:spcAft>
                        <a:buNone/>
                      </a:pPr>
                      <a:r>
                        <a:rPr b="1" lang="en-US" sz="900" u="none" cap="none" strike="noStrike">
                          <a:solidFill>
                            <a:srgbClr val="FFFFFF"/>
                          </a:solidFill>
                          <a:latin typeface="Calibri"/>
                          <a:ea typeface="Calibri"/>
                          <a:cs typeface="Calibri"/>
                          <a:sym typeface="Calibri"/>
                        </a:rPr>
                        <a:t>Share</a:t>
                      </a:r>
                      <a:endParaRPr/>
                    </a:p>
                  </a:txBody>
                  <a:tcPr marT="27425" marB="27425" marR="54875" marL="54875" anchor="ctr">
                    <a:lnB cap="flat" cmpd="sng" w="9525">
                      <a:solidFill>
                        <a:srgbClr val="C9DCEA"/>
                      </a:solidFill>
                      <a:prstDash val="solid"/>
                      <a:round/>
                      <a:headEnd len="sm" w="sm" type="none"/>
                      <a:tailEnd len="sm" w="sm" type="none"/>
                    </a:lnB>
                    <a:solidFill>
                      <a:srgbClr val="306998"/>
                    </a:solidFill>
                  </a:tcPr>
                </a:tc>
                <a:tc>
                  <a:txBody>
                    <a:bodyPr/>
                    <a:lstStyle/>
                    <a:p>
                      <a:pPr indent="0" lvl="0" marL="0" marR="0" rtl="0" algn="ctr">
                        <a:spcBef>
                          <a:spcPts val="0"/>
                        </a:spcBef>
                        <a:spcAft>
                          <a:spcPts val="0"/>
                        </a:spcAft>
                        <a:buNone/>
                      </a:pPr>
                      <a:r>
                        <a:rPr b="1" lang="en-US" sz="900" u="none" cap="none" strike="noStrike">
                          <a:solidFill>
                            <a:srgbClr val="FFFFFF"/>
                          </a:solidFill>
                          <a:latin typeface="Calibri"/>
                          <a:ea typeface="Calibri"/>
                          <a:cs typeface="Calibri"/>
                          <a:sym typeface="Calibri"/>
                        </a:rPr>
                        <a:t>Credit score</a:t>
                      </a:r>
                      <a:endParaRPr/>
                    </a:p>
                  </a:txBody>
                  <a:tcPr marT="27425" marB="27425" marR="54875" marL="54875" anchor="ctr">
                    <a:lnB cap="flat" cmpd="sng" w="9525">
                      <a:solidFill>
                        <a:srgbClr val="C9DCEA"/>
                      </a:solidFill>
                      <a:prstDash val="solid"/>
                      <a:round/>
                      <a:headEnd len="sm" w="sm" type="none"/>
                      <a:tailEnd len="sm" w="sm" type="none"/>
                    </a:lnB>
                    <a:solidFill>
                      <a:srgbClr val="306998"/>
                    </a:solidFill>
                  </a:tcPr>
                </a:tc>
                <a:tc>
                  <a:txBody>
                    <a:bodyPr/>
                    <a:lstStyle/>
                    <a:p>
                      <a:pPr indent="0" lvl="0" marL="0" marR="0" rtl="0" algn="ctr">
                        <a:spcBef>
                          <a:spcPts val="0"/>
                        </a:spcBef>
                        <a:spcAft>
                          <a:spcPts val="0"/>
                        </a:spcAft>
                        <a:buNone/>
                      </a:pPr>
                      <a:r>
                        <a:rPr b="1" lang="en-US" sz="900" u="none" cap="none" strike="noStrike">
                          <a:solidFill>
                            <a:srgbClr val="FFFFFF"/>
                          </a:solidFill>
                          <a:latin typeface="Calibri"/>
                          <a:ea typeface="Calibri"/>
                          <a:cs typeface="Calibri"/>
                          <a:sym typeface="Calibri"/>
                        </a:rPr>
                        <a:t>Retired</a:t>
                      </a:r>
                      <a:endParaRPr/>
                    </a:p>
                  </a:txBody>
                  <a:tcPr marT="27425" marB="27425" marR="54875" marL="54875" anchor="ctr">
                    <a:lnB cap="flat" cmpd="sng" w="9525">
                      <a:solidFill>
                        <a:srgbClr val="C9DCEA"/>
                      </a:solidFill>
                      <a:prstDash val="solid"/>
                      <a:round/>
                      <a:headEnd len="sm" w="sm" type="none"/>
                      <a:tailEnd len="sm" w="sm" type="none"/>
                    </a:lnB>
                    <a:solidFill>
                      <a:srgbClr val="306998"/>
                    </a:solidFill>
                  </a:tcPr>
                </a:tc>
              </a:tr>
              <a:tr h="384050">
                <a:tc>
                  <a:txBody>
                    <a:bodyPr/>
                    <a:lstStyle/>
                    <a:p>
                      <a:pPr indent="0" lvl="0" marL="0" marR="0" rtl="0" algn="ctr">
                        <a:spcBef>
                          <a:spcPts val="0"/>
                        </a:spcBef>
                        <a:spcAft>
                          <a:spcPts val="0"/>
                        </a:spcAft>
                        <a:buNone/>
                      </a:pPr>
                      <a:r>
                        <a:rPr b="0" lang="en-US" sz="900" u="none" cap="none" strike="noStrike">
                          <a:solidFill>
                            <a:srgbClr val="1B2A38"/>
                          </a:solidFill>
                          <a:latin typeface="Calibri"/>
                          <a:ea typeface="Calibri"/>
                          <a:cs typeface="Calibri"/>
                          <a:sym typeface="Calibri"/>
                        </a:rPr>
                        <a:t>0</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479</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24,7%</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723</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70,0%</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r>
              <a:tr h="384050">
                <a:tc>
                  <a:txBody>
                    <a:bodyPr/>
                    <a:lstStyle/>
                    <a:p>
                      <a:pPr indent="0" lvl="0" marL="0" marR="0" rtl="0" algn="ctr">
                        <a:spcBef>
                          <a:spcPts val="0"/>
                        </a:spcBef>
                        <a:spcAft>
                          <a:spcPts val="0"/>
                        </a:spcAft>
                        <a:buNone/>
                      </a:pPr>
                      <a:r>
                        <a:rPr b="0" lang="en-US" sz="900" u="none" cap="none" strike="noStrike">
                          <a:solidFill>
                            <a:srgbClr val="1B2A38"/>
                          </a:solidFill>
                          <a:latin typeface="Calibri"/>
                          <a:ea typeface="Calibri"/>
                          <a:cs typeface="Calibri"/>
                          <a:sym typeface="Calibri"/>
                        </a:rPr>
                        <a:t>1</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253</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13,1%</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721</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32,0%</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r>
              <a:tr h="384050">
                <a:tc>
                  <a:txBody>
                    <a:bodyPr/>
                    <a:lstStyle/>
                    <a:p>
                      <a:pPr indent="0" lvl="0" marL="0" marR="0" rtl="0" algn="ctr">
                        <a:spcBef>
                          <a:spcPts val="0"/>
                        </a:spcBef>
                        <a:spcAft>
                          <a:spcPts val="0"/>
                        </a:spcAft>
                        <a:buNone/>
                      </a:pPr>
                      <a:r>
                        <a:rPr b="0" lang="en-US" sz="900" u="none" cap="none" strike="noStrike">
                          <a:solidFill>
                            <a:srgbClr val="1B2A38"/>
                          </a:solidFill>
                          <a:latin typeface="Calibri"/>
                          <a:ea typeface="Calibri"/>
                          <a:cs typeface="Calibri"/>
                          <a:sym typeface="Calibri"/>
                        </a:rPr>
                        <a:t>2</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715</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36,9%</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709</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22,5%</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r>
              <a:tr h="384050">
                <a:tc>
                  <a:txBody>
                    <a:bodyPr/>
                    <a:lstStyle/>
                    <a:p>
                      <a:pPr indent="0" lvl="0" marL="0" marR="0" rtl="0" algn="ctr">
                        <a:spcBef>
                          <a:spcPts val="0"/>
                        </a:spcBef>
                        <a:spcAft>
                          <a:spcPts val="0"/>
                        </a:spcAft>
                        <a:buNone/>
                      </a:pPr>
                      <a:r>
                        <a:rPr b="0" lang="en-US" sz="900" u="none" cap="none" strike="noStrike">
                          <a:solidFill>
                            <a:srgbClr val="1B2A38"/>
                          </a:solidFill>
                          <a:latin typeface="Calibri"/>
                          <a:ea typeface="Calibri"/>
                          <a:cs typeface="Calibri"/>
                          <a:sym typeface="Calibri"/>
                        </a:rPr>
                        <a:t>3</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491</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25,3%</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697</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2,7%</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r>
            </a:tbl>
          </a:graphicData>
        </a:graphic>
      </p:graphicFrame>
      <p:sp>
        <p:nvSpPr>
          <p:cNvPr id="553" name="Google Shape;553;p35"/>
          <p:cNvSpPr/>
          <p:nvPr/>
        </p:nvSpPr>
        <p:spPr>
          <a:xfrm>
            <a:off x="6812280" y="4160520"/>
            <a:ext cx="4800600" cy="2194560"/>
          </a:xfrm>
          <a:prstGeom prst="roundRect">
            <a:avLst>
              <a:gd fmla="val 4000" name="adj"/>
            </a:avLst>
          </a:prstGeom>
          <a:solidFill>
            <a:srgbClr val="FFD43B"/>
          </a:solidFill>
          <a:ln cap="flat" cmpd="sng" w="12700">
            <a:solidFill>
              <a:srgbClr val="FFD43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4" name="Google Shape;554;p35"/>
          <p:cNvSpPr txBox="1"/>
          <p:nvPr/>
        </p:nvSpPr>
        <p:spPr>
          <a:xfrm>
            <a:off x="6995160" y="4279392"/>
            <a:ext cx="4480560" cy="320040"/>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lang="en-US" sz="1500">
                <a:solidFill>
                  <a:srgbClr val="1B2A38"/>
                </a:solidFill>
                <a:latin typeface="Cambria"/>
                <a:ea typeface="Cambria"/>
                <a:cs typeface="Cambria"/>
                <a:sym typeface="Cambria"/>
              </a:rPr>
              <a:t>Method</a:t>
            </a:r>
            <a:endParaRPr/>
          </a:p>
        </p:txBody>
      </p:sp>
      <p:sp>
        <p:nvSpPr>
          <p:cNvPr id="555" name="Google Shape;555;p35"/>
          <p:cNvSpPr txBox="1"/>
          <p:nvPr/>
        </p:nvSpPr>
        <p:spPr>
          <a:xfrm>
            <a:off x="6995160" y="4617720"/>
            <a:ext cx="4480500" cy="16185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lang="en-US" sz="1050">
                <a:solidFill>
                  <a:srgbClr val="1B2A38"/>
                </a:solidFill>
                <a:latin typeface="Calibri"/>
                <a:ea typeface="Calibri"/>
                <a:cs typeface="Calibri"/>
                <a:sym typeface="Calibri"/>
              </a:rPr>
              <a:t>The median is used for the skewed behavioural columns so a handful of extreme customers does not distort the segment profile, and the mean for the money columns because total spending is what RevoBank actually earns MDR on.</a:t>
            </a:r>
            <a:endParaRPr/>
          </a:p>
          <a:p>
            <a:pPr indent="0" lvl="0" marL="0" marR="0" rtl="0" algn="l">
              <a:lnSpc>
                <a:spcPct val="115000"/>
              </a:lnSpc>
              <a:spcBef>
                <a:spcPts val="400"/>
              </a:spcBef>
              <a:spcAft>
                <a:spcPts val="0"/>
              </a:spcAft>
              <a:buNone/>
            </a:pPr>
            <a:r>
              <a:rPr b="0" lang="en-US" sz="1050">
                <a:solidFill>
                  <a:srgbClr val="1B2A38"/>
                </a:solidFill>
                <a:latin typeface="Calibri"/>
                <a:ea typeface="Calibri"/>
                <a:cs typeface="Calibri"/>
                <a:sym typeface="Calibri"/>
              </a:rPr>
              <a:t>No cluster is a fragment: the smallest still holds 253 of 1.938 users, so all four are large enough to run a campaign on.</a:t>
            </a:r>
            <a:endParaRPr/>
          </a:p>
          <a:p>
            <a:pPr indent="0" lvl="0" marL="0" marR="0" rtl="0" algn="l">
              <a:lnSpc>
                <a:spcPct val="115000"/>
              </a:lnSpc>
              <a:spcBef>
                <a:spcPts val="400"/>
              </a:spcBef>
              <a:spcAft>
                <a:spcPts val="0"/>
              </a:spcAft>
              <a:buNone/>
            </a:pPr>
            <a:r>
              <a:rPr b="0" lang="en-US" sz="1050">
                <a:solidFill>
                  <a:srgbClr val="1B2A38"/>
                </a:solidFill>
                <a:latin typeface="Calibri"/>
                <a:ea typeface="Calibri"/>
                <a:cs typeface="Calibri"/>
                <a:sym typeface="Calibri"/>
              </a:rPr>
              <a:t>Credit score and retirement status were kept out of the model and are shown here only to profile the result. Both track the segments closely, which is a good sign that the behavioural split is real.</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B"/>
        </a:solidFill>
      </p:bgPr>
    </p:bg>
    <p:spTree>
      <p:nvGrpSpPr>
        <p:cNvPr id="559" name="Shape 559"/>
        <p:cNvGrpSpPr/>
        <p:nvPr/>
      </p:nvGrpSpPr>
      <p:grpSpPr>
        <a:xfrm>
          <a:off x="0" y="0"/>
          <a:ext cx="0" cy="0"/>
          <a:chOff x="0" y="0"/>
          <a:chExt cx="0" cy="0"/>
        </a:xfrm>
      </p:grpSpPr>
      <p:sp>
        <p:nvSpPr>
          <p:cNvPr id="560" name="Google Shape;560;p36"/>
          <p:cNvSpPr/>
          <p:nvPr/>
        </p:nvSpPr>
        <p:spPr>
          <a:xfrm>
            <a:off x="548640" y="457200"/>
            <a:ext cx="502920" cy="502920"/>
          </a:xfrm>
          <a:prstGeom prst="ellipse">
            <a:avLst/>
          </a:prstGeom>
          <a:solidFill>
            <a:srgbClr val="306998"/>
          </a:solidFill>
          <a:ln cap="flat" cmpd="sng" w="12700">
            <a:solidFill>
              <a:srgbClr val="30699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61" name="Google Shape;561;p36"/>
          <p:cNvSpPr txBox="1"/>
          <p:nvPr/>
        </p:nvSpPr>
        <p:spPr>
          <a:xfrm>
            <a:off x="548640" y="457200"/>
            <a:ext cx="502920" cy="502920"/>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lang="en-US" sz="1400">
                <a:solidFill>
                  <a:srgbClr val="FFFFFF"/>
                </a:solidFill>
                <a:latin typeface="Cambria"/>
                <a:ea typeface="Cambria"/>
                <a:cs typeface="Cambria"/>
                <a:sym typeface="Cambria"/>
              </a:rPr>
              <a:t>c</a:t>
            </a:r>
            <a:endParaRPr/>
          </a:p>
        </p:txBody>
      </p:sp>
      <p:sp>
        <p:nvSpPr>
          <p:cNvPr id="562" name="Google Shape;562;p36"/>
          <p:cNvSpPr txBox="1"/>
          <p:nvPr/>
        </p:nvSpPr>
        <p:spPr>
          <a:xfrm>
            <a:off x="1188720" y="384048"/>
            <a:ext cx="10424160" cy="685800"/>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lang="en-US" sz="2400">
                <a:solidFill>
                  <a:srgbClr val="2B5B84"/>
                </a:solidFill>
                <a:latin typeface="Cambria"/>
                <a:ea typeface="Cambria"/>
                <a:cs typeface="Cambria"/>
                <a:sym typeface="Cambria"/>
              </a:rPr>
              <a:t>The Four Segments (Cluster Interpretation)</a:t>
            </a:r>
            <a:endParaRPr/>
          </a:p>
        </p:txBody>
      </p:sp>
      <p:sp>
        <p:nvSpPr>
          <p:cNvPr id="563" name="Google Shape;563;p36"/>
          <p:cNvSpPr txBox="1"/>
          <p:nvPr/>
        </p:nvSpPr>
        <p:spPr>
          <a:xfrm>
            <a:off x="457200" y="6492240"/>
            <a:ext cx="7315200" cy="27432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lang="en-US" sz="900">
                <a:solidFill>
                  <a:srgbClr val="5A7185"/>
                </a:solidFill>
                <a:latin typeface="Calibri"/>
                <a:ea typeface="Calibri"/>
                <a:cs typeface="Calibri"/>
                <a:sym typeface="Calibri"/>
              </a:rPr>
              <a:t>Credit Card &amp; User Data Analysis – Milestone 3</a:t>
            </a:r>
            <a:endParaRPr/>
          </a:p>
        </p:txBody>
      </p:sp>
      <p:sp>
        <p:nvSpPr>
          <p:cNvPr id="564" name="Google Shape;564;p36"/>
          <p:cNvSpPr txBox="1"/>
          <p:nvPr/>
        </p:nvSpPr>
        <p:spPr>
          <a:xfrm>
            <a:off x="11247120" y="6492240"/>
            <a:ext cx="457200" cy="274320"/>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None/>
            </a:pPr>
            <a:r>
              <a:rPr b="0" lang="en-US" sz="900">
                <a:solidFill>
                  <a:srgbClr val="5A7185"/>
                </a:solidFill>
                <a:latin typeface="Calibri"/>
                <a:ea typeface="Calibri"/>
                <a:cs typeface="Calibri"/>
                <a:sym typeface="Calibri"/>
              </a:rPr>
              <a:t>36</a:t>
            </a:r>
            <a:endParaRPr/>
          </a:p>
        </p:txBody>
      </p:sp>
      <p:graphicFrame>
        <p:nvGraphicFramePr>
          <p:cNvPr id="565" name="Google Shape;565;p36"/>
          <p:cNvGraphicFramePr/>
          <p:nvPr/>
        </p:nvGraphicFramePr>
        <p:xfrm>
          <a:off x="548640" y="1280160"/>
          <a:ext cx="3000000" cy="3000000"/>
        </p:xfrm>
        <a:graphic>
          <a:graphicData uri="http://schemas.openxmlformats.org/drawingml/2006/table">
            <a:tbl>
              <a:tblPr>
                <a:noFill/>
                <a:tableStyleId>{3D7D59D7-DF91-47F0-BCBC-DAAD57FB8C79}</a:tableStyleId>
              </a:tblPr>
              <a:tblGrid>
                <a:gridCol w="3246125"/>
                <a:gridCol w="1051550"/>
                <a:gridCol w="960125"/>
                <a:gridCol w="1600200"/>
                <a:gridCol w="1508750"/>
                <a:gridCol w="685800"/>
                <a:gridCol w="685800"/>
                <a:gridCol w="1325875"/>
              </a:tblGrid>
              <a:tr h="420625">
                <a:tc>
                  <a:txBody>
                    <a:bodyPr/>
                    <a:lstStyle/>
                    <a:p>
                      <a:pPr indent="0" lvl="0" marL="0" marR="0" rtl="0" algn="ctr">
                        <a:spcBef>
                          <a:spcPts val="0"/>
                        </a:spcBef>
                        <a:spcAft>
                          <a:spcPts val="0"/>
                        </a:spcAft>
                        <a:buNone/>
                      </a:pPr>
                      <a:r>
                        <a:rPr b="1" lang="en-US" sz="900" u="none" cap="none" strike="noStrike">
                          <a:solidFill>
                            <a:srgbClr val="FFFFFF"/>
                          </a:solidFill>
                          <a:latin typeface="Calibri"/>
                          <a:ea typeface="Calibri"/>
                          <a:cs typeface="Calibri"/>
                          <a:sym typeface="Calibri"/>
                        </a:rPr>
                        <a:t>Cluster &amp; Persona</a:t>
                      </a:r>
                      <a:endParaRPr/>
                    </a:p>
                  </a:txBody>
                  <a:tcPr marT="27425" marB="27425" marR="54875" marL="54875" anchor="ctr">
                    <a:lnB cap="flat" cmpd="sng" w="9525">
                      <a:solidFill>
                        <a:srgbClr val="C9DCEA"/>
                      </a:solidFill>
                      <a:prstDash val="solid"/>
                      <a:round/>
                      <a:headEnd len="sm" w="sm" type="none"/>
                      <a:tailEnd len="sm" w="sm" type="none"/>
                    </a:lnB>
                    <a:solidFill>
                      <a:srgbClr val="306998"/>
                    </a:solidFill>
                  </a:tcPr>
                </a:tc>
                <a:tc>
                  <a:txBody>
                    <a:bodyPr/>
                    <a:lstStyle/>
                    <a:p>
                      <a:pPr indent="0" lvl="0" marL="0" marR="0" rtl="0" algn="ctr">
                        <a:spcBef>
                          <a:spcPts val="0"/>
                        </a:spcBef>
                        <a:spcAft>
                          <a:spcPts val="0"/>
                        </a:spcAft>
                        <a:buNone/>
                      </a:pPr>
                      <a:r>
                        <a:rPr b="1" lang="en-US" sz="900" u="none" cap="none" strike="noStrike">
                          <a:solidFill>
                            <a:srgbClr val="FFFFFF"/>
                          </a:solidFill>
                          <a:latin typeface="Calibri"/>
                          <a:ea typeface="Calibri"/>
                          <a:cs typeface="Calibri"/>
                          <a:sym typeface="Calibri"/>
                        </a:rPr>
                        <a:t>Recency (days)</a:t>
                      </a:r>
                      <a:endParaRPr/>
                    </a:p>
                  </a:txBody>
                  <a:tcPr marT="27425" marB="27425" marR="54875" marL="54875" anchor="ctr">
                    <a:lnB cap="flat" cmpd="sng" w="9525">
                      <a:solidFill>
                        <a:srgbClr val="C9DCEA"/>
                      </a:solidFill>
                      <a:prstDash val="solid"/>
                      <a:round/>
                      <a:headEnd len="sm" w="sm" type="none"/>
                      <a:tailEnd len="sm" w="sm" type="none"/>
                    </a:lnB>
                    <a:solidFill>
                      <a:srgbClr val="306998"/>
                    </a:solidFill>
                  </a:tcPr>
                </a:tc>
                <a:tc>
                  <a:txBody>
                    <a:bodyPr/>
                    <a:lstStyle/>
                    <a:p>
                      <a:pPr indent="0" lvl="0" marL="0" marR="0" rtl="0" algn="ctr">
                        <a:spcBef>
                          <a:spcPts val="0"/>
                        </a:spcBef>
                        <a:spcAft>
                          <a:spcPts val="0"/>
                        </a:spcAft>
                        <a:buNone/>
                      </a:pPr>
                      <a:r>
                        <a:rPr b="1" lang="en-US" sz="900" u="none" cap="none" strike="noStrike">
                          <a:solidFill>
                            <a:srgbClr val="FFFFFF"/>
                          </a:solidFill>
                          <a:latin typeface="Calibri"/>
                          <a:ea typeface="Calibri"/>
                          <a:cs typeface="Calibri"/>
                          <a:sym typeface="Calibri"/>
                        </a:rPr>
                        <a:t>Trx count</a:t>
                      </a:r>
                      <a:endParaRPr/>
                    </a:p>
                  </a:txBody>
                  <a:tcPr marT="27425" marB="27425" marR="54875" marL="54875" anchor="ctr">
                    <a:lnB cap="flat" cmpd="sng" w="9525">
                      <a:solidFill>
                        <a:srgbClr val="C9DCEA"/>
                      </a:solidFill>
                      <a:prstDash val="solid"/>
                      <a:round/>
                      <a:headEnd len="sm" w="sm" type="none"/>
                      <a:tailEnd len="sm" w="sm" type="none"/>
                    </a:lnB>
                    <a:solidFill>
                      <a:srgbClr val="306998"/>
                    </a:solidFill>
                  </a:tcPr>
                </a:tc>
                <a:tc>
                  <a:txBody>
                    <a:bodyPr/>
                    <a:lstStyle/>
                    <a:p>
                      <a:pPr indent="0" lvl="0" marL="0" marR="0" rtl="0" algn="ctr">
                        <a:spcBef>
                          <a:spcPts val="0"/>
                        </a:spcBef>
                        <a:spcAft>
                          <a:spcPts val="0"/>
                        </a:spcAft>
                        <a:buNone/>
                      </a:pPr>
                      <a:r>
                        <a:rPr b="1" lang="en-US" sz="900" u="none" cap="none" strike="noStrike">
                          <a:solidFill>
                            <a:srgbClr val="FFFFFF"/>
                          </a:solidFill>
                          <a:latin typeface="Calibri"/>
                          <a:ea typeface="Calibri"/>
                          <a:cs typeface="Calibri"/>
                          <a:sym typeface="Calibri"/>
                        </a:rPr>
                        <a:t>Avg spend (Rp)</a:t>
                      </a:r>
                      <a:endParaRPr/>
                    </a:p>
                  </a:txBody>
                  <a:tcPr marT="27425" marB="27425" marR="54875" marL="54875" anchor="ctr">
                    <a:lnB cap="flat" cmpd="sng" w="9525">
                      <a:solidFill>
                        <a:srgbClr val="C9DCEA"/>
                      </a:solidFill>
                      <a:prstDash val="solid"/>
                      <a:round/>
                      <a:headEnd len="sm" w="sm" type="none"/>
                      <a:tailEnd len="sm" w="sm" type="none"/>
                    </a:lnB>
                    <a:solidFill>
                      <a:srgbClr val="306998"/>
                    </a:solidFill>
                  </a:tcPr>
                </a:tc>
                <a:tc>
                  <a:txBody>
                    <a:bodyPr/>
                    <a:lstStyle/>
                    <a:p>
                      <a:pPr indent="0" lvl="0" marL="0" marR="0" rtl="0" algn="ctr">
                        <a:spcBef>
                          <a:spcPts val="0"/>
                        </a:spcBef>
                        <a:spcAft>
                          <a:spcPts val="0"/>
                        </a:spcAft>
                        <a:buNone/>
                      </a:pPr>
                      <a:r>
                        <a:rPr b="1" lang="en-US" sz="900" u="none" cap="none" strike="noStrike">
                          <a:solidFill>
                            <a:srgbClr val="FFFFFF"/>
                          </a:solidFill>
                          <a:latin typeface="Calibri"/>
                          <a:ea typeface="Calibri"/>
                          <a:cs typeface="Calibri"/>
                          <a:sym typeface="Calibri"/>
                        </a:rPr>
                        <a:t>Avg limit (Rp)</a:t>
                      </a:r>
                      <a:endParaRPr/>
                    </a:p>
                  </a:txBody>
                  <a:tcPr marT="27425" marB="27425" marR="54875" marL="54875" anchor="ctr">
                    <a:lnB cap="flat" cmpd="sng" w="9525">
                      <a:solidFill>
                        <a:srgbClr val="C9DCEA"/>
                      </a:solidFill>
                      <a:prstDash val="solid"/>
                      <a:round/>
                      <a:headEnd len="sm" w="sm" type="none"/>
                      <a:tailEnd len="sm" w="sm" type="none"/>
                    </a:lnB>
                    <a:solidFill>
                      <a:srgbClr val="306998"/>
                    </a:solidFill>
                  </a:tcPr>
                </a:tc>
                <a:tc>
                  <a:txBody>
                    <a:bodyPr/>
                    <a:lstStyle/>
                    <a:p>
                      <a:pPr indent="0" lvl="0" marL="0" marR="0" rtl="0" algn="ctr">
                        <a:spcBef>
                          <a:spcPts val="0"/>
                        </a:spcBef>
                        <a:spcAft>
                          <a:spcPts val="0"/>
                        </a:spcAft>
                        <a:buNone/>
                      </a:pPr>
                      <a:r>
                        <a:rPr b="1" lang="en-US" sz="900" u="none" cap="none" strike="noStrike">
                          <a:solidFill>
                            <a:srgbClr val="FFFFFF"/>
                          </a:solidFill>
                          <a:latin typeface="Calibri"/>
                          <a:ea typeface="Calibri"/>
                          <a:cs typeface="Calibri"/>
                          <a:sym typeface="Calibri"/>
                        </a:rPr>
                        <a:t>DTI</a:t>
                      </a:r>
                      <a:endParaRPr/>
                    </a:p>
                  </a:txBody>
                  <a:tcPr marT="27425" marB="27425" marR="54875" marL="54875" anchor="ctr">
                    <a:lnB cap="flat" cmpd="sng" w="9525">
                      <a:solidFill>
                        <a:srgbClr val="C9DCEA"/>
                      </a:solidFill>
                      <a:prstDash val="solid"/>
                      <a:round/>
                      <a:headEnd len="sm" w="sm" type="none"/>
                      <a:tailEnd len="sm" w="sm" type="none"/>
                    </a:lnB>
                    <a:solidFill>
                      <a:srgbClr val="306998"/>
                    </a:solidFill>
                  </a:tcPr>
                </a:tc>
                <a:tc>
                  <a:txBody>
                    <a:bodyPr/>
                    <a:lstStyle/>
                    <a:p>
                      <a:pPr indent="0" lvl="0" marL="0" marR="0" rtl="0" algn="ctr">
                        <a:spcBef>
                          <a:spcPts val="0"/>
                        </a:spcBef>
                        <a:spcAft>
                          <a:spcPts val="0"/>
                        </a:spcAft>
                        <a:buNone/>
                      </a:pPr>
                      <a:r>
                        <a:rPr b="1" lang="en-US" sz="900" u="none" cap="none" strike="noStrike">
                          <a:solidFill>
                            <a:srgbClr val="FFFFFF"/>
                          </a:solidFill>
                          <a:latin typeface="Calibri"/>
                          <a:ea typeface="Calibri"/>
                          <a:cs typeface="Calibri"/>
                          <a:sym typeface="Calibri"/>
                        </a:rPr>
                        <a:t>Age</a:t>
                      </a:r>
                      <a:endParaRPr/>
                    </a:p>
                  </a:txBody>
                  <a:tcPr marT="27425" marB="27425" marR="54875" marL="54875" anchor="ctr">
                    <a:lnB cap="flat" cmpd="sng" w="9525">
                      <a:solidFill>
                        <a:srgbClr val="C9DCEA"/>
                      </a:solidFill>
                      <a:prstDash val="solid"/>
                      <a:round/>
                      <a:headEnd len="sm" w="sm" type="none"/>
                      <a:tailEnd len="sm" w="sm" type="none"/>
                    </a:lnB>
                    <a:solidFill>
                      <a:srgbClr val="306998"/>
                    </a:solidFill>
                  </a:tcPr>
                </a:tc>
                <a:tc>
                  <a:txBody>
                    <a:bodyPr/>
                    <a:lstStyle/>
                    <a:p>
                      <a:pPr indent="0" lvl="0" marL="0" marR="0" rtl="0" algn="ctr">
                        <a:spcBef>
                          <a:spcPts val="0"/>
                        </a:spcBef>
                        <a:spcAft>
                          <a:spcPts val="0"/>
                        </a:spcAft>
                        <a:buNone/>
                      </a:pPr>
                      <a:r>
                        <a:rPr b="1" lang="en-US" sz="900" u="none" cap="none" strike="noStrike">
                          <a:solidFill>
                            <a:srgbClr val="FFFFFF"/>
                          </a:solidFill>
                          <a:latin typeface="Calibri"/>
                          <a:ea typeface="Calibri"/>
                          <a:cs typeface="Calibri"/>
                          <a:sym typeface="Calibri"/>
                        </a:rPr>
                        <a:t>Customers</a:t>
                      </a:r>
                      <a:endParaRPr/>
                    </a:p>
                  </a:txBody>
                  <a:tcPr marT="27425" marB="27425" marR="54875" marL="54875" anchor="ctr">
                    <a:lnB cap="flat" cmpd="sng" w="9525">
                      <a:solidFill>
                        <a:srgbClr val="C9DCEA"/>
                      </a:solidFill>
                      <a:prstDash val="solid"/>
                      <a:round/>
                      <a:headEnd len="sm" w="sm" type="none"/>
                      <a:tailEnd len="sm" w="sm" type="none"/>
                    </a:lnB>
                    <a:solidFill>
                      <a:srgbClr val="306998"/>
                    </a:solidFill>
                  </a:tcPr>
                </a:tc>
              </a:tr>
              <a:tr h="420625">
                <a:tc>
                  <a:txBody>
                    <a:bodyPr/>
                    <a:lstStyle/>
                    <a:p>
                      <a:pPr indent="0" lvl="0" marL="0" marR="0" rtl="0" algn="l">
                        <a:spcBef>
                          <a:spcPts val="0"/>
                        </a:spcBef>
                        <a:spcAft>
                          <a:spcPts val="0"/>
                        </a:spcAft>
                        <a:buNone/>
                      </a:pPr>
                      <a:r>
                        <a:rPr b="0" lang="en-US" sz="900" u="none" cap="none" strike="noStrike">
                          <a:solidFill>
                            <a:srgbClr val="1B2A38"/>
                          </a:solidFill>
                          <a:latin typeface="Calibri"/>
                          <a:ea typeface="Calibri"/>
                          <a:cs typeface="Calibri"/>
                          <a:sym typeface="Calibri"/>
                        </a:rPr>
                        <a:t>0 · High-Value Active Spenders</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6</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494</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419.526.599</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112.548.948</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0,07</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64</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479 (24,7%)</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r>
              <a:tr h="420625">
                <a:tc>
                  <a:txBody>
                    <a:bodyPr/>
                    <a:lstStyle/>
                    <a:p>
                      <a:pPr indent="0" lvl="0" marL="0" marR="0" rtl="0" algn="l">
                        <a:spcBef>
                          <a:spcPts val="0"/>
                        </a:spcBef>
                        <a:spcAft>
                          <a:spcPts val="0"/>
                        </a:spcAft>
                        <a:buNone/>
                      </a:pPr>
                      <a:r>
                        <a:rPr b="0" lang="en-US" sz="900" u="none" cap="none" strike="noStrike">
                          <a:solidFill>
                            <a:srgbClr val="1B2A38"/>
                          </a:solidFill>
                          <a:latin typeface="Calibri"/>
                          <a:ea typeface="Calibri"/>
                          <a:cs typeface="Calibri"/>
                          <a:sym typeface="Calibri"/>
                        </a:rPr>
                        <a:t>1 · Young Light Users</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604</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0</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6.626</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68.755.051</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0,13</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41</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253 (13,1%)</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r>
              <a:tr h="420625">
                <a:tc>
                  <a:txBody>
                    <a:bodyPr/>
                    <a:lstStyle/>
                    <a:p>
                      <a:pPr indent="0" lvl="0" marL="0" marR="0" rtl="0" algn="l">
                        <a:spcBef>
                          <a:spcPts val="0"/>
                        </a:spcBef>
                        <a:spcAft>
                          <a:spcPts val="0"/>
                        </a:spcAft>
                        <a:buNone/>
                      </a:pPr>
                      <a:r>
                        <a:rPr b="0" lang="en-US" sz="900" u="none" cap="none" strike="noStrike">
                          <a:solidFill>
                            <a:srgbClr val="1B2A38"/>
                          </a:solidFill>
                          <a:latin typeface="Calibri"/>
                          <a:ea typeface="Calibri"/>
                          <a:cs typeface="Calibri"/>
                          <a:sym typeface="Calibri"/>
                        </a:rPr>
                        <a:t>2 · Leveraged Heavy Spenders</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9</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477</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356.515.481</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68.882.540</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0,34</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46</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715 (36,9%)</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r>
              <a:tr h="420625">
                <a:tc>
                  <a:txBody>
                    <a:bodyPr/>
                    <a:lstStyle/>
                    <a:p>
                      <a:pPr indent="0" lvl="0" marL="0" marR="0" rtl="0" algn="l">
                        <a:spcBef>
                          <a:spcPts val="0"/>
                        </a:spcBef>
                        <a:spcAft>
                          <a:spcPts val="0"/>
                        </a:spcAft>
                        <a:buNone/>
                      </a:pPr>
                      <a:r>
                        <a:rPr b="0" lang="en-US" sz="900" u="none" cap="none" strike="noStrike">
                          <a:solidFill>
                            <a:srgbClr val="1B2A38"/>
                          </a:solidFill>
                          <a:latin typeface="Calibri"/>
                          <a:ea typeface="Calibri"/>
                          <a:cs typeface="Calibri"/>
                          <a:sym typeface="Calibri"/>
                        </a:rPr>
                        <a:t>3 · High-Burden Low Spenders</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604</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0</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0</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35.737.059</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0,35</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25</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491 (25,3%)</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r>
            </a:tbl>
          </a:graphicData>
        </a:graphic>
      </p:graphicFrame>
      <p:sp>
        <p:nvSpPr>
          <p:cNvPr id="566" name="Google Shape;566;p36"/>
          <p:cNvSpPr/>
          <p:nvPr/>
        </p:nvSpPr>
        <p:spPr>
          <a:xfrm>
            <a:off x="548640" y="3520440"/>
            <a:ext cx="11064240" cy="2606040"/>
          </a:xfrm>
          <a:prstGeom prst="roundRect">
            <a:avLst>
              <a:gd fmla="val 4000" name="adj"/>
            </a:avLst>
          </a:prstGeom>
          <a:solidFill>
            <a:srgbClr val="FFD43B"/>
          </a:solidFill>
          <a:ln cap="flat" cmpd="sng" w="12700">
            <a:solidFill>
              <a:srgbClr val="FFD43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67" name="Google Shape;567;p36"/>
          <p:cNvSpPr txBox="1"/>
          <p:nvPr/>
        </p:nvSpPr>
        <p:spPr>
          <a:xfrm>
            <a:off x="731520" y="3639312"/>
            <a:ext cx="10744200" cy="320040"/>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lang="en-US" sz="1500">
                <a:solidFill>
                  <a:srgbClr val="1B2A38"/>
                </a:solidFill>
                <a:latin typeface="Cambria"/>
                <a:ea typeface="Cambria"/>
                <a:cs typeface="Cambria"/>
                <a:sym typeface="Cambria"/>
              </a:rPr>
              <a:t>Interpretation</a:t>
            </a:r>
            <a:endParaRPr/>
          </a:p>
        </p:txBody>
      </p:sp>
      <p:sp>
        <p:nvSpPr>
          <p:cNvPr id="568" name="Google Shape;568;p36"/>
          <p:cNvSpPr txBox="1"/>
          <p:nvPr/>
        </p:nvSpPr>
        <p:spPr>
          <a:xfrm>
            <a:off x="731525" y="3977652"/>
            <a:ext cx="10744200" cy="1462800"/>
          </a:xfrm>
          <a:prstGeom prst="rect">
            <a:avLst/>
          </a:prstGeom>
          <a:noFill/>
          <a:ln>
            <a:noFill/>
          </a:ln>
        </p:spPr>
        <p:txBody>
          <a:bodyPr anchorCtr="0" anchor="t" bIns="0" lIns="0" spcFirstLastPara="1" rIns="0" wrap="square" tIns="0">
            <a:spAutoFit/>
          </a:bodyPr>
          <a:lstStyle/>
          <a:p>
            <a:pPr indent="-295275" lvl="0" marL="457200" marR="0" rtl="0" algn="l">
              <a:lnSpc>
                <a:spcPct val="115000"/>
              </a:lnSpc>
              <a:spcBef>
                <a:spcPts val="0"/>
              </a:spcBef>
              <a:spcAft>
                <a:spcPts val="0"/>
              </a:spcAft>
              <a:buClr>
                <a:srgbClr val="1B2A38"/>
              </a:buClr>
              <a:buSzPts val="1050"/>
              <a:buFont typeface="Calibri"/>
              <a:buAutoNum type="arabicPeriod"/>
            </a:pPr>
            <a:r>
              <a:rPr b="0" lang="en-US" sz="1050">
                <a:solidFill>
                  <a:srgbClr val="1B2A38"/>
                </a:solidFill>
                <a:latin typeface="Calibri"/>
                <a:ea typeface="Calibri"/>
                <a:cs typeface="Calibri"/>
                <a:sym typeface="Calibri"/>
              </a:rPr>
              <a:t>Cluster 0 · High-Value Active Spenders  [ R High | F High | M High | Limit High | DTI Low | Age High ] </a:t>
            </a:r>
            <a:r>
              <a:rPr lang="en-US" sz="1050">
                <a:solidFill>
                  <a:srgbClr val="1B2A38"/>
                </a:solidFill>
                <a:latin typeface="Calibri"/>
                <a:ea typeface="Calibri"/>
                <a:cs typeface="Calibri"/>
                <a:sym typeface="Calibri"/>
              </a:rPr>
              <a:t>: </a:t>
            </a:r>
            <a:r>
              <a:rPr b="0" lang="en-US" sz="1050">
                <a:solidFill>
                  <a:srgbClr val="1B2A38"/>
                </a:solidFill>
                <a:latin typeface="Calibri"/>
                <a:ea typeface="Calibri"/>
                <a:cs typeface="Calibri"/>
                <a:sym typeface="Calibri"/>
              </a:rPr>
              <a:t>transacted 6 days ago, the highest average spend and the highest limit, the lowest debt burden at 0,07, median age 64 and 70,0% retired. The ideal customer of the portfolio.</a:t>
            </a:r>
            <a:endParaRPr/>
          </a:p>
          <a:p>
            <a:pPr indent="-295275" lvl="0" marL="457200" marR="0" rtl="0" algn="l">
              <a:lnSpc>
                <a:spcPct val="115000"/>
              </a:lnSpc>
              <a:spcBef>
                <a:spcPts val="0"/>
              </a:spcBef>
              <a:spcAft>
                <a:spcPts val="0"/>
              </a:spcAft>
              <a:buClr>
                <a:srgbClr val="1B2A38"/>
              </a:buClr>
              <a:buSzPts val="1050"/>
              <a:buFont typeface="Calibri"/>
              <a:buAutoNum type="arabicPeriod"/>
            </a:pPr>
            <a:r>
              <a:rPr b="0" lang="en-US" sz="1050">
                <a:solidFill>
                  <a:srgbClr val="1B2A38"/>
                </a:solidFill>
                <a:latin typeface="Calibri"/>
                <a:ea typeface="Calibri"/>
                <a:cs typeface="Calibri"/>
                <a:sym typeface="Calibri"/>
              </a:rPr>
              <a:t>Cluster 1 · Young Light Users  [ R Low | F Low | M Med | Limit Low | DTI Low | Age Low ] </a:t>
            </a:r>
            <a:r>
              <a:rPr lang="en-US" sz="1050">
                <a:solidFill>
                  <a:srgbClr val="1B2A38"/>
                </a:solidFill>
                <a:latin typeface="Calibri"/>
                <a:ea typeface="Calibri"/>
                <a:cs typeface="Calibri"/>
                <a:sym typeface="Calibri"/>
              </a:rPr>
              <a:t>: </a:t>
            </a:r>
            <a:r>
              <a:rPr b="0" lang="en-US" sz="1050">
                <a:solidFill>
                  <a:srgbClr val="1B2A38"/>
                </a:solidFill>
                <a:latin typeface="Calibri"/>
                <a:ea typeface="Calibri"/>
                <a:cs typeface="Calibri"/>
                <a:sym typeface="Calibri"/>
              </a:rPr>
              <a:t> no transaction for 604 days, yet still holds Rp 68,8 juta of approved limit on average and a low DTI of 0,13. Approved capacity that is simply not being used.</a:t>
            </a:r>
            <a:endParaRPr/>
          </a:p>
          <a:p>
            <a:pPr indent="-295275" lvl="0" marL="457200" marR="0" rtl="0" algn="l">
              <a:lnSpc>
                <a:spcPct val="115000"/>
              </a:lnSpc>
              <a:spcBef>
                <a:spcPts val="0"/>
              </a:spcBef>
              <a:spcAft>
                <a:spcPts val="0"/>
              </a:spcAft>
              <a:buClr>
                <a:srgbClr val="1B2A38"/>
              </a:buClr>
              <a:buSzPts val="1050"/>
              <a:buFont typeface="Calibri"/>
              <a:buAutoNum type="arabicPeriod"/>
            </a:pPr>
            <a:r>
              <a:rPr b="0" lang="en-US" sz="1050">
                <a:solidFill>
                  <a:srgbClr val="1B2A38"/>
                </a:solidFill>
                <a:latin typeface="Calibri"/>
                <a:ea typeface="Calibri"/>
                <a:cs typeface="Calibri"/>
                <a:sym typeface="Calibri"/>
              </a:rPr>
              <a:t>Cluster 2 · Leveraged Heavy Spenders  [ R High | F High | M High | Limit High | DTI High | Age High ] </a:t>
            </a:r>
            <a:r>
              <a:rPr lang="en-US" sz="1050">
                <a:solidFill>
                  <a:srgbClr val="1B2A38"/>
                </a:solidFill>
                <a:latin typeface="Calibri"/>
                <a:ea typeface="Calibri"/>
                <a:cs typeface="Calibri"/>
                <a:sym typeface="Calibri"/>
              </a:rPr>
              <a:t>:</a:t>
            </a:r>
            <a:r>
              <a:rPr b="0" lang="en-US" sz="1050">
                <a:solidFill>
                  <a:srgbClr val="1B2A38"/>
                </a:solidFill>
                <a:latin typeface="Calibri"/>
                <a:ea typeface="Calibri"/>
                <a:cs typeface="Calibri"/>
                <a:sym typeface="Calibri"/>
              </a:rPr>
              <a:t> just as active as Cluster 0 and the largest group at 36,9%, but carries a DTI of 0,34 and the highest fraud rate at 0,25%. The biggest revenue source and the biggest exposure at once.</a:t>
            </a:r>
            <a:endParaRPr/>
          </a:p>
          <a:p>
            <a:pPr indent="-295275" lvl="0" marL="457200" marR="0" rtl="0" algn="l">
              <a:lnSpc>
                <a:spcPct val="115000"/>
              </a:lnSpc>
              <a:spcBef>
                <a:spcPts val="0"/>
              </a:spcBef>
              <a:spcAft>
                <a:spcPts val="0"/>
              </a:spcAft>
              <a:buClr>
                <a:srgbClr val="1B2A38"/>
              </a:buClr>
              <a:buSzPts val="1050"/>
              <a:buFont typeface="Calibri"/>
              <a:buAutoNum type="arabicPeriod"/>
            </a:pPr>
            <a:r>
              <a:rPr b="0" lang="en-US" sz="1050">
                <a:solidFill>
                  <a:srgbClr val="1B2A38"/>
                </a:solidFill>
                <a:latin typeface="Calibri"/>
                <a:ea typeface="Calibri"/>
                <a:cs typeface="Calibri"/>
                <a:sym typeface="Calibri"/>
              </a:rPr>
              <a:t>Cluster 3 · High-Burden Low Spenders  [ R Low | F Low | M Low | Limit Low | DTI High | Age Low ] </a:t>
            </a:r>
            <a:r>
              <a:rPr lang="en-US" sz="1050">
                <a:solidFill>
                  <a:srgbClr val="1B2A38"/>
                </a:solidFill>
                <a:latin typeface="Calibri"/>
                <a:ea typeface="Calibri"/>
                <a:cs typeface="Calibri"/>
                <a:sym typeface="Calibri"/>
              </a:rPr>
              <a:t>:</a:t>
            </a:r>
            <a:r>
              <a:rPr b="0" lang="en-US" sz="1050">
                <a:solidFill>
                  <a:srgbClr val="1B2A38"/>
                </a:solidFill>
                <a:latin typeface="Calibri"/>
                <a:ea typeface="Calibri"/>
                <a:cs typeface="Calibri"/>
                <a:sym typeface="Calibri"/>
              </a:rPr>
              <a:t> dormant as well, with the smallest limit, the highest DTI at 0,35 and the youngest median age at 25. Inactive and already leveraged.</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B"/>
        </a:solidFill>
      </p:bgPr>
    </p:bg>
    <p:spTree>
      <p:nvGrpSpPr>
        <p:cNvPr id="572" name="Shape 572"/>
        <p:cNvGrpSpPr/>
        <p:nvPr/>
      </p:nvGrpSpPr>
      <p:grpSpPr>
        <a:xfrm>
          <a:off x="0" y="0"/>
          <a:ext cx="0" cy="0"/>
          <a:chOff x="0" y="0"/>
          <a:chExt cx="0" cy="0"/>
        </a:xfrm>
      </p:grpSpPr>
      <p:sp>
        <p:nvSpPr>
          <p:cNvPr id="573" name="Google Shape;573;p37"/>
          <p:cNvSpPr/>
          <p:nvPr/>
        </p:nvSpPr>
        <p:spPr>
          <a:xfrm>
            <a:off x="548640" y="457200"/>
            <a:ext cx="502920" cy="502920"/>
          </a:xfrm>
          <a:prstGeom prst="ellipse">
            <a:avLst/>
          </a:prstGeom>
          <a:solidFill>
            <a:srgbClr val="306998"/>
          </a:solidFill>
          <a:ln cap="flat" cmpd="sng" w="12700">
            <a:solidFill>
              <a:srgbClr val="30699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74" name="Google Shape;574;p37"/>
          <p:cNvSpPr txBox="1"/>
          <p:nvPr/>
        </p:nvSpPr>
        <p:spPr>
          <a:xfrm>
            <a:off x="548640" y="457200"/>
            <a:ext cx="502920" cy="502920"/>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lang="en-US" sz="1400">
                <a:solidFill>
                  <a:srgbClr val="FFFFFF"/>
                </a:solidFill>
                <a:latin typeface="Cambria"/>
                <a:ea typeface="Cambria"/>
                <a:cs typeface="Cambria"/>
                <a:sym typeface="Cambria"/>
              </a:rPr>
              <a:t>c</a:t>
            </a:r>
            <a:endParaRPr/>
          </a:p>
        </p:txBody>
      </p:sp>
      <p:sp>
        <p:nvSpPr>
          <p:cNvPr id="575" name="Google Shape;575;p37"/>
          <p:cNvSpPr txBox="1"/>
          <p:nvPr/>
        </p:nvSpPr>
        <p:spPr>
          <a:xfrm>
            <a:off x="1188720" y="384048"/>
            <a:ext cx="10424160" cy="685800"/>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lang="en-US" sz="2400">
                <a:solidFill>
                  <a:srgbClr val="2B5B84"/>
                </a:solidFill>
                <a:latin typeface="Cambria"/>
                <a:ea typeface="Cambria"/>
                <a:cs typeface="Cambria"/>
                <a:sym typeface="Cambria"/>
              </a:rPr>
              <a:t>Cluster Centres (Visualisation &amp; Insight)</a:t>
            </a:r>
            <a:endParaRPr/>
          </a:p>
        </p:txBody>
      </p:sp>
      <p:sp>
        <p:nvSpPr>
          <p:cNvPr id="576" name="Google Shape;576;p37"/>
          <p:cNvSpPr txBox="1"/>
          <p:nvPr/>
        </p:nvSpPr>
        <p:spPr>
          <a:xfrm>
            <a:off x="457200" y="6492240"/>
            <a:ext cx="7315200" cy="27432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lang="en-US" sz="900">
                <a:solidFill>
                  <a:srgbClr val="5A7185"/>
                </a:solidFill>
                <a:latin typeface="Calibri"/>
                <a:ea typeface="Calibri"/>
                <a:cs typeface="Calibri"/>
                <a:sym typeface="Calibri"/>
              </a:rPr>
              <a:t>Credit Card &amp; User Data Analysis – Milestone 3</a:t>
            </a:r>
            <a:endParaRPr/>
          </a:p>
        </p:txBody>
      </p:sp>
      <p:sp>
        <p:nvSpPr>
          <p:cNvPr id="577" name="Google Shape;577;p37"/>
          <p:cNvSpPr txBox="1"/>
          <p:nvPr/>
        </p:nvSpPr>
        <p:spPr>
          <a:xfrm>
            <a:off x="11247120" y="6492240"/>
            <a:ext cx="457200" cy="274320"/>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None/>
            </a:pPr>
            <a:r>
              <a:rPr b="0" lang="en-US" sz="900">
                <a:solidFill>
                  <a:srgbClr val="5A7185"/>
                </a:solidFill>
                <a:latin typeface="Calibri"/>
                <a:ea typeface="Calibri"/>
                <a:cs typeface="Calibri"/>
                <a:sym typeface="Calibri"/>
              </a:rPr>
              <a:t>37</a:t>
            </a:r>
            <a:endParaRPr/>
          </a:p>
        </p:txBody>
      </p:sp>
      <p:sp>
        <p:nvSpPr>
          <p:cNvPr id="578" name="Google Shape;578;p37"/>
          <p:cNvSpPr txBox="1"/>
          <p:nvPr/>
        </p:nvSpPr>
        <p:spPr>
          <a:xfrm>
            <a:off x="548640" y="1325880"/>
            <a:ext cx="5486400" cy="320040"/>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lang="en-US" sz="1300">
                <a:solidFill>
                  <a:srgbClr val="5A7185"/>
                </a:solidFill>
                <a:latin typeface="Calibri"/>
                <a:ea typeface="Calibri"/>
                <a:cs typeface="Calibri"/>
                <a:sym typeface="Calibri"/>
              </a:rPr>
              <a:t>Visualisation</a:t>
            </a:r>
            <a:endParaRPr/>
          </a:p>
        </p:txBody>
      </p:sp>
      <p:sp>
        <p:nvSpPr>
          <p:cNvPr id="579" name="Google Shape;579;p37"/>
          <p:cNvSpPr/>
          <p:nvPr/>
        </p:nvSpPr>
        <p:spPr>
          <a:xfrm>
            <a:off x="548640" y="1691640"/>
            <a:ext cx="6035040" cy="4663440"/>
          </a:xfrm>
          <a:prstGeom prst="roundRect">
            <a:avLst>
              <a:gd fmla="val 3000" name="adj"/>
            </a:avLst>
          </a:prstGeom>
          <a:solidFill>
            <a:srgbClr val="FFFFFF"/>
          </a:solidFill>
          <a:ln cap="flat" cmpd="sng" w="19050">
            <a:solidFill>
              <a:srgbClr val="C9DC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heatmap.png" id="580" name="Google Shape;580;p37"/>
          <p:cNvPicPr preferRelativeResize="0"/>
          <p:nvPr/>
        </p:nvPicPr>
        <p:blipFill rotWithShape="1">
          <a:blip r:embed="rId3">
            <a:alphaModFix/>
          </a:blip>
          <a:srcRect b="0" l="0" r="0" t="0"/>
          <a:stretch/>
        </p:blipFill>
        <p:spPr>
          <a:xfrm>
            <a:off x="786392" y="2148840"/>
            <a:ext cx="5423936" cy="3657600"/>
          </a:xfrm>
          <a:prstGeom prst="rect">
            <a:avLst/>
          </a:prstGeom>
          <a:noFill/>
          <a:ln>
            <a:noFill/>
          </a:ln>
        </p:spPr>
      </p:pic>
      <p:sp>
        <p:nvSpPr>
          <p:cNvPr id="581" name="Google Shape;581;p37"/>
          <p:cNvSpPr/>
          <p:nvPr/>
        </p:nvSpPr>
        <p:spPr>
          <a:xfrm>
            <a:off x="6812280" y="1691640"/>
            <a:ext cx="4800600" cy="2331720"/>
          </a:xfrm>
          <a:prstGeom prst="roundRect">
            <a:avLst>
              <a:gd fmla="val 6000" name="adj"/>
            </a:avLst>
          </a:prstGeom>
          <a:solidFill>
            <a:srgbClr val="FFFFFF"/>
          </a:solidFill>
          <a:ln cap="flat" cmpd="sng" w="19050">
            <a:solidFill>
              <a:srgbClr val="FFD43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82" name="Google Shape;582;p37"/>
          <p:cNvSpPr txBox="1"/>
          <p:nvPr/>
        </p:nvSpPr>
        <p:spPr>
          <a:xfrm>
            <a:off x="6995160" y="1810512"/>
            <a:ext cx="4480560" cy="320040"/>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lang="en-US" sz="1300">
                <a:solidFill>
                  <a:srgbClr val="1B2A38"/>
                </a:solidFill>
                <a:latin typeface="Cambria"/>
                <a:ea typeface="Cambria"/>
                <a:cs typeface="Cambria"/>
                <a:sym typeface="Cambria"/>
              </a:rPr>
              <a:t>What the chart shows</a:t>
            </a:r>
            <a:endParaRPr/>
          </a:p>
        </p:txBody>
      </p:sp>
      <p:sp>
        <p:nvSpPr>
          <p:cNvPr id="583" name="Google Shape;583;p37"/>
          <p:cNvSpPr txBox="1"/>
          <p:nvPr/>
        </p:nvSpPr>
        <p:spPr>
          <a:xfrm>
            <a:off x="6995160" y="2148840"/>
            <a:ext cx="4480560" cy="176479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lang="en-US" sz="1050">
                <a:solidFill>
                  <a:srgbClr val="1B2A38"/>
                </a:solidFill>
                <a:latin typeface="Calibri"/>
                <a:ea typeface="Calibri"/>
                <a:cs typeface="Calibri"/>
                <a:sym typeface="Calibri"/>
              </a:rPr>
              <a:t>Green is above the portfolio average on that feature, red below. Values are the scaled cluster centres.</a:t>
            </a:r>
            <a:endParaRPr/>
          </a:p>
          <a:p>
            <a:pPr indent="0" lvl="0" marL="0" marR="0" rtl="0" algn="l">
              <a:lnSpc>
                <a:spcPct val="115000"/>
              </a:lnSpc>
              <a:spcBef>
                <a:spcPts val="600"/>
              </a:spcBef>
              <a:spcAft>
                <a:spcPts val="0"/>
              </a:spcAft>
              <a:buNone/>
            </a:pPr>
            <a:r>
              <a:rPr b="0" lang="en-US" sz="1050">
                <a:solidFill>
                  <a:srgbClr val="1B2A38"/>
                </a:solidFill>
                <a:latin typeface="Calibri"/>
                <a:ea typeface="Calibri"/>
                <a:cs typeface="Calibri"/>
                <a:sym typeface="Calibri"/>
              </a:rPr>
              <a:t>Activity is the first split: C0 and C2 are red on recency (recent) and green on frequency and value, while C1 and C3 are the mirror image.</a:t>
            </a:r>
            <a:endParaRPr/>
          </a:p>
          <a:p>
            <a:pPr indent="0" lvl="0" marL="0" marR="0" rtl="0" algn="l">
              <a:lnSpc>
                <a:spcPct val="115000"/>
              </a:lnSpc>
              <a:spcBef>
                <a:spcPts val="600"/>
              </a:spcBef>
              <a:spcAft>
                <a:spcPts val="0"/>
              </a:spcAft>
              <a:buNone/>
            </a:pPr>
            <a:r>
              <a:rPr b="0" lang="en-US" sz="1050">
                <a:solidFill>
                  <a:srgbClr val="1B2A38"/>
                </a:solidFill>
                <a:latin typeface="Calibri"/>
                <a:ea typeface="Calibri"/>
                <a:cs typeface="Calibri"/>
                <a:sym typeface="Calibri"/>
              </a:rPr>
              <a:t>Debt burden is the second: C0 sits at -1,12 on DTI against +0,54 for C2, and C1 at -0,69 against +0,65 for C3.</a:t>
            </a:r>
            <a:endParaRPr/>
          </a:p>
        </p:txBody>
      </p:sp>
      <p:sp>
        <p:nvSpPr>
          <p:cNvPr id="584" name="Google Shape;584;p37"/>
          <p:cNvSpPr/>
          <p:nvPr/>
        </p:nvSpPr>
        <p:spPr>
          <a:xfrm>
            <a:off x="6812280" y="4160520"/>
            <a:ext cx="4800600" cy="2194560"/>
          </a:xfrm>
          <a:prstGeom prst="roundRect">
            <a:avLst>
              <a:gd fmla="val 4000" name="adj"/>
            </a:avLst>
          </a:prstGeom>
          <a:solidFill>
            <a:srgbClr val="FFD43B"/>
          </a:solidFill>
          <a:ln cap="flat" cmpd="sng" w="12700">
            <a:solidFill>
              <a:srgbClr val="FFD43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85" name="Google Shape;585;p37"/>
          <p:cNvSpPr txBox="1"/>
          <p:nvPr/>
        </p:nvSpPr>
        <p:spPr>
          <a:xfrm>
            <a:off x="6995160" y="4279392"/>
            <a:ext cx="4480560" cy="320040"/>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lang="en-US" sz="1500">
                <a:solidFill>
                  <a:srgbClr val="1B2A38"/>
                </a:solidFill>
                <a:latin typeface="Cambria"/>
                <a:ea typeface="Cambria"/>
                <a:cs typeface="Cambria"/>
                <a:sym typeface="Cambria"/>
              </a:rPr>
              <a:t>Insight</a:t>
            </a:r>
            <a:endParaRPr/>
          </a:p>
        </p:txBody>
      </p:sp>
      <p:sp>
        <p:nvSpPr>
          <p:cNvPr id="586" name="Google Shape;586;p37"/>
          <p:cNvSpPr txBox="1"/>
          <p:nvPr/>
        </p:nvSpPr>
        <p:spPr>
          <a:xfrm>
            <a:off x="6995160" y="4617720"/>
            <a:ext cx="4480560" cy="1618488"/>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lang="en-US" sz="1100">
                <a:solidFill>
                  <a:srgbClr val="1B2A38"/>
                </a:solidFill>
                <a:latin typeface="Calibri"/>
                <a:ea typeface="Calibri"/>
                <a:cs typeface="Calibri"/>
                <a:sym typeface="Calibri"/>
              </a:rPr>
              <a:t>The model found two axes rather than one: active versus dormant, and low versus high debt burden. That produces one healthy and one leveraged segment on each side, which is exactly the split needed to decide who can be encouraged to spend more and who cannot.</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B"/>
        </a:solidFill>
      </p:bgPr>
    </p:bg>
    <p:spTree>
      <p:nvGrpSpPr>
        <p:cNvPr id="590" name="Shape 590"/>
        <p:cNvGrpSpPr/>
        <p:nvPr/>
      </p:nvGrpSpPr>
      <p:grpSpPr>
        <a:xfrm>
          <a:off x="0" y="0"/>
          <a:ext cx="0" cy="0"/>
          <a:chOff x="0" y="0"/>
          <a:chExt cx="0" cy="0"/>
        </a:xfrm>
      </p:grpSpPr>
      <p:sp>
        <p:nvSpPr>
          <p:cNvPr id="591" name="Google Shape;591;p38"/>
          <p:cNvSpPr/>
          <p:nvPr/>
        </p:nvSpPr>
        <p:spPr>
          <a:xfrm>
            <a:off x="548640" y="457200"/>
            <a:ext cx="502920" cy="502920"/>
          </a:xfrm>
          <a:prstGeom prst="ellipse">
            <a:avLst/>
          </a:prstGeom>
          <a:solidFill>
            <a:srgbClr val="306998"/>
          </a:solidFill>
          <a:ln cap="flat" cmpd="sng" w="12700">
            <a:solidFill>
              <a:srgbClr val="30699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2" name="Google Shape;592;p38"/>
          <p:cNvSpPr txBox="1"/>
          <p:nvPr/>
        </p:nvSpPr>
        <p:spPr>
          <a:xfrm>
            <a:off x="548640" y="457200"/>
            <a:ext cx="502920" cy="502920"/>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lang="en-US" sz="1400">
                <a:solidFill>
                  <a:srgbClr val="FFFFFF"/>
                </a:solidFill>
                <a:latin typeface="Cambria"/>
                <a:ea typeface="Cambria"/>
                <a:cs typeface="Cambria"/>
                <a:sym typeface="Cambria"/>
              </a:rPr>
              <a:t>d</a:t>
            </a:r>
            <a:endParaRPr/>
          </a:p>
        </p:txBody>
      </p:sp>
      <p:sp>
        <p:nvSpPr>
          <p:cNvPr id="593" name="Google Shape;593;p38"/>
          <p:cNvSpPr txBox="1"/>
          <p:nvPr/>
        </p:nvSpPr>
        <p:spPr>
          <a:xfrm>
            <a:off x="1188720" y="384048"/>
            <a:ext cx="10424160" cy="685800"/>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lang="en-US" sz="2400">
                <a:solidFill>
                  <a:srgbClr val="2B5B84"/>
                </a:solidFill>
                <a:latin typeface="Cambria"/>
                <a:ea typeface="Cambria"/>
                <a:cs typeface="Cambria"/>
                <a:sym typeface="Cambria"/>
              </a:rPr>
              <a:t>Segment Value &amp; Prioritisation</a:t>
            </a:r>
            <a:endParaRPr/>
          </a:p>
        </p:txBody>
      </p:sp>
      <p:sp>
        <p:nvSpPr>
          <p:cNvPr id="594" name="Google Shape;594;p38"/>
          <p:cNvSpPr txBox="1"/>
          <p:nvPr/>
        </p:nvSpPr>
        <p:spPr>
          <a:xfrm>
            <a:off x="457200" y="6492240"/>
            <a:ext cx="7315200" cy="27432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lang="en-US" sz="900">
                <a:solidFill>
                  <a:srgbClr val="5A7185"/>
                </a:solidFill>
                <a:latin typeface="Calibri"/>
                <a:ea typeface="Calibri"/>
                <a:cs typeface="Calibri"/>
                <a:sym typeface="Calibri"/>
              </a:rPr>
              <a:t>Credit Card &amp; User Data Analysis – Milestone 3</a:t>
            </a:r>
            <a:endParaRPr/>
          </a:p>
        </p:txBody>
      </p:sp>
      <p:sp>
        <p:nvSpPr>
          <p:cNvPr id="595" name="Google Shape;595;p38"/>
          <p:cNvSpPr txBox="1"/>
          <p:nvPr/>
        </p:nvSpPr>
        <p:spPr>
          <a:xfrm>
            <a:off x="11247120" y="6492240"/>
            <a:ext cx="457200" cy="274320"/>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None/>
            </a:pPr>
            <a:r>
              <a:rPr b="0" lang="en-US" sz="900">
                <a:solidFill>
                  <a:srgbClr val="5A7185"/>
                </a:solidFill>
                <a:latin typeface="Calibri"/>
                <a:ea typeface="Calibri"/>
                <a:cs typeface="Calibri"/>
                <a:sym typeface="Calibri"/>
              </a:rPr>
              <a:t>38</a:t>
            </a:r>
            <a:endParaRPr/>
          </a:p>
        </p:txBody>
      </p:sp>
      <p:graphicFrame>
        <p:nvGraphicFramePr>
          <p:cNvPr id="596" name="Google Shape;596;p38"/>
          <p:cNvGraphicFramePr/>
          <p:nvPr/>
        </p:nvGraphicFramePr>
        <p:xfrm>
          <a:off x="548640" y="1234440"/>
          <a:ext cx="3000000" cy="3000000"/>
        </p:xfrm>
        <a:graphic>
          <a:graphicData uri="http://schemas.openxmlformats.org/drawingml/2006/table">
            <a:tbl>
              <a:tblPr>
                <a:noFill/>
                <a:tableStyleId>{3D7D59D7-DF91-47F0-BCBC-DAAD57FB8C79}</a:tableStyleId>
              </a:tblPr>
              <a:tblGrid>
                <a:gridCol w="3246125"/>
                <a:gridCol w="1508750"/>
                <a:gridCol w="960125"/>
                <a:gridCol w="1691650"/>
                <a:gridCol w="1417325"/>
                <a:gridCol w="777250"/>
                <a:gridCol w="1463050"/>
              </a:tblGrid>
              <a:tr h="384050">
                <a:tc>
                  <a:txBody>
                    <a:bodyPr/>
                    <a:lstStyle/>
                    <a:p>
                      <a:pPr indent="0" lvl="0" marL="0" marR="0" rtl="0" algn="ctr">
                        <a:spcBef>
                          <a:spcPts val="0"/>
                        </a:spcBef>
                        <a:spcAft>
                          <a:spcPts val="0"/>
                        </a:spcAft>
                        <a:buNone/>
                      </a:pPr>
                      <a:r>
                        <a:rPr b="1" lang="en-US" sz="900" u="none" cap="none" strike="noStrike">
                          <a:solidFill>
                            <a:srgbClr val="FFFFFF"/>
                          </a:solidFill>
                          <a:latin typeface="Calibri"/>
                          <a:ea typeface="Calibri"/>
                          <a:cs typeface="Calibri"/>
                          <a:sym typeface="Calibri"/>
                        </a:rPr>
                        <a:t>Cluster &amp; Persona</a:t>
                      </a:r>
                      <a:endParaRPr/>
                    </a:p>
                  </a:txBody>
                  <a:tcPr marT="27425" marB="27425" marR="54875" marL="54875" anchor="ctr">
                    <a:lnB cap="flat" cmpd="sng" w="9525">
                      <a:solidFill>
                        <a:srgbClr val="C9DCEA"/>
                      </a:solidFill>
                      <a:prstDash val="solid"/>
                      <a:round/>
                      <a:headEnd len="sm" w="sm" type="none"/>
                      <a:tailEnd len="sm" w="sm" type="none"/>
                    </a:lnB>
                    <a:solidFill>
                      <a:srgbClr val="306998"/>
                    </a:solidFill>
                  </a:tcPr>
                </a:tc>
                <a:tc>
                  <a:txBody>
                    <a:bodyPr/>
                    <a:lstStyle/>
                    <a:p>
                      <a:pPr indent="0" lvl="0" marL="0" marR="0" rtl="0" algn="ctr">
                        <a:spcBef>
                          <a:spcPts val="0"/>
                        </a:spcBef>
                        <a:spcAft>
                          <a:spcPts val="0"/>
                        </a:spcAft>
                        <a:buNone/>
                      </a:pPr>
                      <a:r>
                        <a:rPr b="1" lang="en-US" sz="900" u="none" cap="none" strike="noStrike">
                          <a:solidFill>
                            <a:srgbClr val="FFFFFF"/>
                          </a:solidFill>
                          <a:latin typeface="Calibri"/>
                          <a:ea typeface="Calibri"/>
                          <a:cs typeface="Calibri"/>
                          <a:sym typeface="Calibri"/>
                        </a:rPr>
                        <a:t>MDR revenue</a:t>
                      </a:r>
                      <a:endParaRPr/>
                    </a:p>
                  </a:txBody>
                  <a:tcPr marT="27425" marB="27425" marR="54875" marL="54875" anchor="ctr">
                    <a:lnB cap="flat" cmpd="sng" w="9525">
                      <a:solidFill>
                        <a:srgbClr val="C9DCEA"/>
                      </a:solidFill>
                      <a:prstDash val="solid"/>
                      <a:round/>
                      <a:headEnd len="sm" w="sm" type="none"/>
                      <a:tailEnd len="sm" w="sm" type="none"/>
                    </a:lnB>
                    <a:solidFill>
                      <a:srgbClr val="306998"/>
                    </a:solidFill>
                  </a:tcPr>
                </a:tc>
                <a:tc>
                  <a:txBody>
                    <a:bodyPr/>
                    <a:lstStyle/>
                    <a:p>
                      <a:pPr indent="0" lvl="0" marL="0" marR="0" rtl="0" algn="ctr">
                        <a:spcBef>
                          <a:spcPts val="0"/>
                        </a:spcBef>
                        <a:spcAft>
                          <a:spcPts val="0"/>
                        </a:spcAft>
                        <a:buNone/>
                      </a:pPr>
                      <a:r>
                        <a:rPr b="1" lang="en-US" sz="900" u="none" cap="none" strike="noStrike">
                          <a:solidFill>
                            <a:srgbClr val="FFFFFF"/>
                          </a:solidFill>
                          <a:latin typeface="Calibri"/>
                          <a:ea typeface="Calibri"/>
                          <a:cs typeface="Calibri"/>
                          <a:sym typeface="Calibri"/>
                        </a:rPr>
                        <a:t>Share</a:t>
                      </a:r>
                      <a:endParaRPr/>
                    </a:p>
                  </a:txBody>
                  <a:tcPr marT="27425" marB="27425" marR="54875" marL="54875" anchor="ctr">
                    <a:lnB cap="flat" cmpd="sng" w="9525">
                      <a:solidFill>
                        <a:srgbClr val="C9DCEA"/>
                      </a:solidFill>
                      <a:prstDash val="solid"/>
                      <a:round/>
                      <a:headEnd len="sm" w="sm" type="none"/>
                      <a:tailEnd len="sm" w="sm" type="none"/>
                    </a:lnB>
                    <a:solidFill>
                      <a:srgbClr val="306998"/>
                    </a:solidFill>
                  </a:tcPr>
                </a:tc>
                <a:tc>
                  <a:txBody>
                    <a:bodyPr/>
                    <a:lstStyle/>
                    <a:p>
                      <a:pPr indent="0" lvl="0" marL="0" marR="0" rtl="0" algn="ctr">
                        <a:spcBef>
                          <a:spcPts val="0"/>
                        </a:spcBef>
                        <a:spcAft>
                          <a:spcPts val="0"/>
                        </a:spcAft>
                        <a:buNone/>
                      </a:pPr>
                      <a:r>
                        <a:rPr b="1" lang="en-US" sz="900" u="none" cap="none" strike="noStrike">
                          <a:solidFill>
                            <a:srgbClr val="FFFFFF"/>
                          </a:solidFill>
                          <a:latin typeface="Calibri"/>
                          <a:ea typeface="Calibri"/>
                          <a:cs typeface="Calibri"/>
                          <a:sym typeface="Calibri"/>
                        </a:rPr>
                        <a:t>Revenue / customer</a:t>
                      </a:r>
                      <a:endParaRPr/>
                    </a:p>
                  </a:txBody>
                  <a:tcPr marT="27425" marB="27425" marR="54875" marL="54875" anchor="ctr">
                    <a:lnB cap="flat" cmpd="sng" w="9525">
                      <a:solidFill>
                        <a:srgbClr val="C9DCEA"/>
                      </a:solidFill>
                      <a:prstDash val="solid"/>
                      <a:round/>
                      <a:headEnd len="sm" w="sm" type="none"/>
                      <a:tailEnd len="sm" w="sm" type="none"/>
                    </a:lnB>
                    <a:solidFill>
                      <a:srgbClr val="306998"/>
                    </a:solidFill>
                  </a:tcPr>
                </a:tc>
                <a:tc>
                  <a:txBody>
                    <a:bodyPr/>
                    <a:lstStyle/>
                    <a:p>
                      <a:pPr indent="0" lvl="0" marL="0" marR="0" rtl="0" algn="ctr">
                        <a:spcBef>
                          <a:spcPts val="0"/>
                        </a:spcBef>
                        <a:spcAft>
                          <a:spcPts val="0"/>
                        </a:spcAft>
                        <a:buNone/>
                      </a:pPr>
                      <a:r>
                        <a:rPr b="1" lang="en-US" sz="900" u="none" cap="none" strike="noStrike">
                          <a:solidFill>
                            <a:srgbClr val="FFFFFF"/>
                          </a:solidFill>
                          <a:latin typeface="Calibri"/>
                          <a:ea typeface="Calibri"/>
                          <a:cs typeface="Calibri"/>
                          <a:sym typeface="Calibri"/>
                        </a:rPr>
                        <a:t>Spend-to-limit</a:t>
                      </a:r>
                      <a:endParaRPr/>
                    </a:p>
                  </a:txBody>
                  <a:tcPr marT="27425" marB="27425" marR="54875" marL="54875" anchor="ctr">
                    <a:lnB cap="flat" cmpd="sng" w="9525">
                      <a:solidFill>
                        <a:srgbClr val="C9DCEA"/>
                      </a:solidFill>
                      <a:prstDash val="solid"/>
                      <a:round/>
                      <a:headEnd len="sm" w="sm" type="none"/>
                      <a:tailEnd len="sm" w="sm" type="none"/>
                    </a:lnB>
                    <a:solidFill>
                      <a:srgbClr val="306998"/>
                    </a:solidFill>
                  </a:tcPr>
                </a:tc>
                <a:tc>
                  <a:txBody>
                    <a:bodyPr/>
                    <a:lstStyle/>
                    <a:p>
                      <a:pPr indent="0" lvl="0" marL="0" marR="0" rtl="0" algn="ctr">
                        <a:spcBef>
                          <a:spcPts val="0"/>
                        </a:spcBef>
                        <a:spcAft>
                          <a:spcPts val="0"/>
                        </a:spcAft>
                        <a:buNone/>
                      </a:pPr>
                      <a:r>
                        <a:rPr b="1" lang="en-US" sz="900" u="none" cap="none" strike="noStrike">
                          <a:solidFill>
                            <a:srgbClr val="FFFFFF"/>
                          </a:solidFill>
                          <a:latin typeface="Calibri"/>
                          <a:ea typeface="Calibri"/>
                          <a:cs typeface="Calibri"/>
                          <a:sym typeface="Calibri"/>
                        </a:rPr>
                        <a:t>DTI</a:t>
                      </a:r>
                      <a:endParaRPr/>
                    </a:p>
                  </a:txBody>
                  <a:tcPr marT="27425" marB="27425" marR="54875" marL="54875" anchor="ctr">
                    <a:lnB cap="flat" cmpd="sng" w="9525">
                      <a:solidFill>
                        <a:srgbClr val="C9DCEA"/>
                      </a:solidFill>
                      <a:prstDash val="solid"/>
                      <a:round/>
                      <a:headEnd len="sm" w="sm" type="none"/>
                      <a:tailEnd len="sm" w="sm" type="none"/>
                    </a:lnB>
                    <a:solidFill>
                      <a:srgbClr val="306998"/>
                    </a:solidFill>
                  </a:tcPr>
                </a:tc>
                <a:tc>
                  <a:txBody>
                    <a:bodyPr/>
                    <a:lstStyle/>
                    <a:p>
                      <a:pPr indent="0" lvl="0" marL="0" marR="0" rtl="0" algn="ctr">
                        <a:spcBef>
                          <a:spcPts val="0"/>
                        </a:spcBef>
                        <a:spcAft>
                          <a:spcPts val="0"/>
                        </a:spcAft>
                        <a:buNone/>
                      </a:pPr>
                      <a:r>
                        <a:rPr b="1" lang="en-US" sz="900" u="none" cap="none" strike="noStrike">
                          <a:solidFill>
                            <a:srgbClr val="FFFFFF"/>
                          </a:solidFill>
                          <a:latin typeface="Calibri"/>
                          <a:ea typeface="Calibri"/>
                          <a:cs typeface="Calibri"/>
                          <a:sym typeface="Calibri"/>
                        </a:rPr>
                        <a:t>Growth score</a:t>
                      </a:r>
                      <a:endParaRPr/>
                    </a:p>
                  </a:txBody>
                  <a:tcPr marT="27425" marB="27425" marR="54875" marL="54875" anchor="ctr">
                    <a:lnB cap="flat" cmpd="sng" w="9525">
                      <a:solidFill>
                        <a:srgbClr val="C9DCEA"/>
                      </a:solidFill>
                      <a:prstDash val="solid"/>
                      <a:round/>
                      <a:headEnd len="sm" w="sm" type="none"/>
                      <a:tailEnd len="sm" w="sm" type="none"/>
                    </a:lnB>
                    <a:solidFill>
                      <a:srgbClr val="306998"/>
                    </a:solidFill>
                  </a:tcPr>
                </a:tc>
              </a:tr>
              <a:tr h="384050">
                <a:tc>
                  <a:txBody>
                    <a:bodyPr/>
                    <a:lstStyle/>
                    <a:p>
                      <a:pPr indent="0" lvl="0" marL="0" marR="0" rtl="0" algn="l">
                        <a:spcBef>
                          <a:spcPts val="0"/>
                        </a:spcBef>
                        <a:spcAft>
                          <a:spcPts val="0"/>
                        </a:spcAft>
                        <a:buNone/>
                      </a:pPr>
                      <a:r>
                        <a:rPr b="0" lang="en-US" sz="900" u="none" cap="none" strike="noStrike">
                          <a:solidFill>
                            <a:srgbClr val="1B2A38"/>
                          </a:solidFill>
                          <a:latin typeface="Calibri"/>
                          <a:ea typeface="Calibri"/>
                          <a:cs typeface="Calibri"/>
                          <a:sym typeface="Calibri"/>
                        </a:rPr>
                        <a:t>2 · Leveraged Heavy Spenders</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Rp 3,82 M</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55,9%</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Rp 5.347.732</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5,18x</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0,34</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0,02</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r>
              <a:tr h="384050">
                <a:tc>
                  <a:txBody>
                    <a:bodyPr/>
                    <a:lstStyle/>
                    <a:p>
                      <a:pPr indent="0" lvl="0" marL="0" marR="0" rtl="0" algn="l">
                        <a:spcBef>
                          <a:spcPts val="0"/>
                        </a:spcBef>
                        <a:spcAft>
                          <a:spcPts val="0"/>
                        </a:spcAft>
                        <a:buNone/>
                      </a:pPr>
                      <a:r>
                        <a:rPr b="0" lang="en-US" sz="900" u="none" cap="none" strike="noStrike">
                          <a:solidFill>
                            <a:srgbClr val="1B2A38"/>
                          </a:solidFill>
                          <a:latin typeface="Calibri"/>
                          <a:ea typeface="Calibri"/>
                          <a:cs typeface="Calibri"/>
                          <a:sym typeface="Calibri"/>
                        </a:rPr>
                        <a:t>0 · High-Value Active Spenders</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Rp 3,01 M</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44,1%</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Rp 6.292.899</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3,73x</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0,07</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0,57</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r>
              <a:tr h="384050">
                <a:tc>
                  <a:txBody>
                    <a:bodyPr/>
                    <a:lstStyle/>
                    <a:p>
                      <a:pPr indent="0" lvl="0" marL="0" marR="0" rtl="0" algn="l">
                        <a:spcBef>
                          <a:spcPts val="0"/>
                        </a:spcBef>
                        <a:spcAft>
                          <a:spcPts val="0"/>
                        </a:spcAft>
                        <a:buNone/>
                      </a:pPr>
                      <a:r>
                        <a:rPr b="0" lang="en-US" sz="900" u="none" cap="none" strike="noStrike">
                          <a:solidFill>
                            <a:srgbClr val="1B2A38"/>
                          </a:solidFill>
                          <a:latin typeface="Calibri"/>
                          <a:ea typeface="Calibri"/>
                          <a:cs typeface="Calibri"/>
                          <a:sym typeface="Calibri"/>
                        </a:rPr>
                        <a:t>1 · Young Light Users</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Rp 25.146</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0,0%</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Rp 99</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0,00x</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0,13</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0,91</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r>
              <a:tr h="384050">
                <a:tc>
                  <a:txBody>
                    <a:bodyPr/>
                    <a:lstStyle/>
                    <a:p>
                      <a:pPr indent="0" lvl="0" marL="0" marR="0" rtl="0" algn="l">
                        <a:spcBef>
                          <a:spcPts val="0"/>
                        </a:spcBef>
                        <a:spcAft>
                          <a:spcPts val="0"/>
                        </a:spcAft>
                        <a:buNone/>
                      </a:pPr>
                      <a:r>
                        <a:rPr b="0" lang="en-US" sz="900" u="none" cap="none" strike="noStrike">
                          <a:solidFill>
                            <a:srgbClr val="1B2A38"/>
                          </a:solidFill>
                          <a:latin typeface="Calibri"/>
                          <a:ea typeface="Calibri"/>
                          <a:cs typeface="Calibri"/>
                          <a:sym typeface="Calibri"/>
                        </a:rPr>
                        <a:t>3 · High-Burden Low Spenders</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Rp 0</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0,0%</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Rp 0</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0,00x</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0,35</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0" marR="0" rtl="0" algn="r">
                        <a:spcBef>
                          <a:spcPts val="0"/>
                        </a:spcBef>
                        <a:spcAft>
                          <a:spcPts val="0"/>
                        </a:spcAft>
                        <a:buNone/>
                      </a:pPr>
                      <a:r>
                        <a:rPr b="0" lang="en-US" sz="900" u="none" cap="none" strike="noStrike">
                          <a:solidFill>
                            <a:srgbClr val="1B2A38"/>
                          </a:solidFill>
                          <a:latin typeface="Calibri"/>
                          <a:ea typeface="Calibri"/>
                          <a:cs typeface="Calibri"/>
                          <a:sym typeface="Calibri"/>
                        </a:rPr>
                        <a:t>0,60</a:t>
                      </a:r>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r>
            </a:tbl>
          </a:graphicData>
        </a:graphic>
      </p:graphicFrame>
      <p:sp>
        <p:nvSpPr>
          <p:cNvPr id="597" name="Google Shape;597;p38"/>
          <p:cNvSpPr/>
          <p:nvPr/>
        </p:nvSpPr>
        <p:spPr>
          <a:xfrm>
            <a:off x="548640" y="3246120"/>
            <a:ext cx="11064240" cy="1417320"/>
          </a:xfrm>
          <a:prstGeom prst="roundRect">
            <a:avLst>
              <a:gd fmla="val 4000" name="adj"/>
            </a:avLst>
          </a:prstGeom>
          <a:solidFill>
            <a:srgbClr val="FFD43B"/>
          </a:solidFill>
          <a:ln cap="flat" cmpd="sng" w="12700">
            <a:solidFill>
              <a:srgbClr val="FFD43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8" name="Google Shape;598;p38"/>
          <p:cNvSpPr txBox="1"/>
          <p:nvPr/>
        </p:nvSpPr>
        <p:spPr>
          <a:xfrm>
            <a:off x="731520" y="3364991"/>
            <a:ext cx="10744200" cy="320040"/>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lang="en-US" sz="1500">
                <a:solidFill>
                  <a:srgbClr val="1B2A38"/>
                </a:solidFill>
                <a:latin typeface="Cambria"/>
                <a:ea typeface="Cambria"/>
                <a:cs typeface="Cambria"/>
                <a:sym typeface="Cambria"/>
              </a:rPr>
              <a:t>Insight</a:t>
            </a:r>
            <a:endParaRPr/>
          </a:p>
        </p:txBody>
      </p:sp>
      <p:sp>
        <p:nvSpPr>
          <p:cNvPr id="599" name="Google Shape;599;p38"/>
          <p:cNvSpPr txBox="1"/>
          <p:nvPr/>
        </p:nvSpPr>
        <p:spPr>
          <a:xfrm>
            <a:off x="731520" y="3703320"/>
            <a:ext cx="10744200" cy="841248"/>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lang="en-US" sz="1100">
                <a:solidFill>
                  <a:srgbClr val="1B2A38"/>
                </a:solidFill>
                <a:latin typeface="Calibri"/>
                <a:ea typeface="Calibri"/>
                <a:cs typeface="Calibri"/>
                <a:sym typeface="Calibri"/>
              </a:rPr>
              <a:t>All MDR revenue comes from the two active segments, and the larger of them is also the more leveraged. The growth score ranks Young Light Users first because it holds approved capacity at a DTI of 0,13, well under the portfolio median of 0,27. High-Burden Low Spenders ranks second on capacity alone and is excluded anyway: at a DTI of 0,35 it sits above that median, so activating it would convert revenue into credit risk on a 1,5% margin.</a:t>
            </a:r>
            <a:endParaRPr/>
          </a:p>
        </p:txBody>
      </p:sp>
      <p:sp>
        <p:nvSpPr>
          <p:cNvPr id="600" name="Google Shape;600;p38"/>
          <p:cNvSpPr/>
          <p:nvPr/>
        </p:nvSpPr>
        <p:spPr>
          <a:xfrm>
            <a:off x="548650" y="4892050"/>
            <a:ext cx="3566100" cy="1280100"/>
          </a:xfrm>
          <a:prstGeom prst="roundRect">
            <a:avLst>
              <a:gd fmla="val 4000" name="adj"/>
            </a:avLst>
          </a:prstGeom>
          <a:solidFill>
            <a:srgbClr val="FFFFFF"/>
          </a:solidFill>
          <a:ln cap="flat" cmpd="sng" w="19050">
            <a:solidFill>
              <a:srgbClr val="C9DC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01" name="Google Shape;601;p38"/>
          <p:cNvSpPr txBox="1"/>
          <p:nvPr/>
        </p:nvSpPr>
        <p:spPr>
          <a:xfrm>
            <a:off x="731525" y="5029200"/>
            <a:ext cx="2971800" cy="400200"/>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lang="en-US" sz="2600">
                <a:solidFill>
                  <a:srgbClr val="2B5B84"/>
                </a:solidFill>
                <a:latin typeface="Cambria"/>
                <a:ea typeface="Cambria"/>
                <a:cs typeface="Cambria"/>
                <a:sym typeface="Cambria"/>
              </a:rPr>
              <a:t>38,4%</a:t>
            </a:r>
            <a:endParaRPr/>
          </a:p>
        </p:txBody>
      </p:sp>
      <p:sp>
        <p:nvSpPr>
          <p:cNvPr id="602" name="Google Shape;602;p38"/>
          <p:cNvSpPr txBox="1"/>
          <p:nvPr/>
        </p:nvSpPr>
        <p:spPr>
          <a:xfrm>
            <a:off x="731525" y="5577840"/>
            <a:ext cx="2971800" cy="1539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lang="en-US" sz="1000">
                <a:solidFill>
                  <a:srgbClr val="5A7185"/>
                </a:solidFill>
                <a:latin typeface="Calibri"/>
                <a:ea typeface="Calibri"/>
                <a:cs typeface="Calibri"/>
                <a:sym typeface="Calibri"/>
              </a:rPr>
              <a:t>of customers made no transaction in 6 months</a:t>
            </a:r>
            <a:endParaRPr/>
          </a:p>
        </p:txBody>
      </p:sp>
      <p:sp>
        <p:nvSpPr>
          <p:cNvPr id="603" name="Google Shape;603;p38"/>
          <p:cNvSpPr/>
          <p:nvPr/>
        </p:nvSpPr>
        <p:spPr>
          <a:xfrm>
            <a:off x="4389120" y="4892040"/>
            <a:ext cx="3429000" cy="1280160"/>
          </a:xfrm>
          <a:prstGeom prst="roundRect">
            <a:avLst>
              <a:gd fmla="val 4000" name="adj"/>
            </a:avLst>
          </a:prstGeom>
          <a:solidFill>
            <a:srgbClr val="FFFFFF"/>
          </a:solidFill>
          <a:ln cap="flat" cmpd="sng" w="19050">
            <a:solidFill>
              <a:srgbClr val="C9DC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04" name="Google Shape;604;p38"/>
          <p:cNvSpPr txBox="1"/>
          <p:nvPr/>
        </p:nvSpPr>
        <p:spPr>
          <a:xfrm>
            <a:off x="4617720" y="5029200"/>
            <a:ext cx="2971800" cy="548640"/>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lang="en-US" sz="2600">
                <a:solidFill>
                  <a:srgbClr val="2B5B84"/>
                </a:solidFill>
                <a:latin typeface="Cambria"/>
                <a:ea typeface="Cambria"/>
                <a:cs typeface="Cambria"/>
                <a:sym typeface="Cambria"/>
              </a:rPr>
              <a:t>Rp 34,9 M</a:t>
            </a:r>
            <a:endParaRPr/>
          </a:p>
        </p:txBody>
      </p:sp>
      <p:sp>
        <p:nvSpPr>
          <p:cNvPr id="605" name="Google Shape;605;p38"/>
          <p:cNvSpPr txBox="1"/>
          <p:nvPr/>
        </p:nvSpPr>
        <p:spPr>
          <a:xfrm>
            <a:off x="4617720" y="5577840"/>
            <a:ext cx="2971800" cy="50292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lang="en-US" sz="1000">
                <a:solidFill>
                  <a:srgbClr val="5A7185"/>
                </a:solidFill>
                <a:latin typeface="Calibri"/>
                <a:ea typeface="Calibri"/>
                <a:cs typeface="Calibri"/>
                <a:sym typeface="Calibri"/>
              </a:rPr>
              <a:t>of approved limit idle in those two segments</a:t>
            </a:r>
            <a:endParaRPr/>
          </a:p>
        </p:txBody>
      </p:sp>
      <p:sp>
        <p:nvSpPr>
          <p:cNvPr id="606" name="Google Shape;606;p38"/>
          <p:cNvSpPr/>
          <p:nvPr/>
        </p:nvSpPr>
        <p:spPr>
          <a:xfrm>
            <a:off x="8092440" y="4892040"/>
            <a:ext cx="3429000" cy="1280160"/>
          </a:xfrm>
          <a:prstGeom prst="roundRect">
            <a:avLst>
              <a:gd fmla="val 4000" name="adj"/>
            </a:avLst>
          </a:prstGeom>
          <a:solidFill>
            <a:srgbClr val="FFFFFF"/>
          </a:solidFill>
          <a:ln cap="flat" cmpd="sng" w="19050">
            <a:solidFill>
              <a:srgbClr val="C9DC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07" name="Google Shape;607;p38"/>
          <p:cNvSpPr txBox="1"/>
          <p:nvPr/>
        </p:nvSpPr>
        <p:spPr>
          <a:xfrm>
            <a:off x="8321040" y="5029200"/>
            <a:ext cx="2971800" cy="548640"/>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lang="en-US" sz="2600">
                <a:solidFill>
                  <a:srgbClr val="2B5B84"/>
                </a:solidFill>
                <a:latin typeface="Cambria"/>
                <a:ea typeface="Cambria"/>
                <a:cs typeface="Cambria"/>
                <a:sym typeface="Cambria"/>
              </a:rPr>
              <a:t>55,9%</a:t>
            </a:r>
            <a:endParaRPr/>
          </a:p>
        </p:txBody>
      </p:sp>
      <p:sp>
        <p:nvSpPr>
          <p:cNvPr id="608" name="Google Shape;608;p38"/>
          <p:cNvSpPr txBox="1"/>
          <p:nvPr/>
        </p:nvSpPr>
        <p:spPr>
          <a:xfrm>
            <a:off x="8321040" y="5577840"/>
            <a:ext cx="2971800" cy="50292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lang="en-US" sz="1000">
                <a:solidFill>
                  <a:srgbClr val="5A7185"/>
                </a:solidFill>
                <a:latin typeface="Calibri"/>
                <a:ea typeface="Calibri"/>
                <a:cs typeface="Calibri"/>
                <a:sym typeface="Calibri"/>
              </a:rPr>
              <a:t>of MDR revenue from one segment at DTI 0,34</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B"/>
        </a:solidFill>
      </p:bgPr>
    </p:bg>
    <p:spTree>
      <p:nvGrpSpPr>
        <p:cNvPr id="612" name="Shape 612"/>
        <p:cNvGrpSpPr/>
        <p:nvPr/>
      </p:nvGrpSpPr>
      <p:grpSpPr>
        <a:xfrm>
          <a:off x="0" y="0"/>
          <a:ext cx="0" cy="0"/>
          <a:chOff x="0" y="0"/>
          <a:chExt cx="0" cy="0"/>
        </a:xfrm>
      </p:grpSpPr>
      <p:sp>
        <p:nvSpPr>
          <p:cNvPr id="613" name="Google Shape;613;p39"/>
          <p:cNvSpPr txBox="1"/>
          <p:nvPr/>
        </p:nvSpPr>
        <p:spPr>
          <a:xfrm>
            <a:off x="548640" y="457200"/>
            <a:ext cx="10972800" cy="548640"/>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lang="en-US" sz="2400">
                <a:solidFill>
                  <a:srgbClr val="2B5B84"/>
                </a:solidFill>
                <a:latin typeface="Cambria"/>
                <a:ea typeface="Cambria"/>
                <a:cs typeface="Cambria"/>
                <a:sym typeface="Cambria"/>
              </a:rPr>
              <a:t>Summary of Milestone 3</a:t>
            </a:r>
            <a:endParaRPr/>
          </a:p>
        </p:txBody>
      </p:sp>
      <p:sp>
        <p:nvSpPr>
          <p:cNvPr id="614" name="Google Shape;614;p39"/>
          <p:cNvSpPr txBox="1"/>
          <p:nvPr/>
        </p:nvSpPr>
        <p:spPr>
          <a:xfrm>
            <a:off x="457200" y="6492240"/>
            <a:ext cx="7315200" cy="27432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lang="en-US" sz="900">
                <a:solidFill>
                  <a:srgbClr val="5A7185"/>
                </a:solidFill>
                <a:latin typeface="Calibri"/>
                <a:ea typeface="Calibri"/>
                <a:cs typeface="Calibri"/>
                <a:sym typeface="Calibri"/>
              </a:rPr>
              <a:t>Credit Card &amp; User Data Analysis – Milestone 3</a:t>
            </a:r>
            <a:endParaRPr/>
          </a:p>
        </p:txBody>
      </p:sp>
      <p:sp>
        <p:nvSpPr>
          <p:cNvPr id="615" name="Google Shape;615;p39"/>
          <p:cNvSpPr txBox="1"/>
          <p:nvPr/>
        </p:nvSpPr>
        <p:spPr>
          <a:xfrm>
            <a:off x="11247120" y="6492240"/>
            <a:ext cx="457200" cy="274320"/>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None/>
            </a:pPr>
            <a:r>
              <a:rPr b="0" lang="en-US" sz="900">
                <a:solidFill>
                  <a:srgbClr val="5A7185"/>
                </a:solidFill>
                <a:latin typeface="Calibri"/>
                <a:ea typeface="Calibri"/>
                <a:cs typeface="Calibri"/>
                <a:sym typeface="Calibri"/>
              </a:rPr>
              <a:t>39</a:t>
            </a:r>
            <a:endParaRPr/>
          </a:p>
        </p:txBody>
      </p:sp>
      <p:sp>
        <p:nvSpPr>
          <p:cNvPr id="616" name="Google Shape;616;p39"/>
          <p:cNvSpPr txBox="1"/>
          <p:nvPr/>
        </p:nvSpPr>
        <p:spPr>
          <a:xfrm>
            <a:off x="868680" y="1325880"/>
            <a:ext cx="10378500" cy="2501400"/>
          </a:xfrm>
          <a:prstGeom prst="rect">
            <a:avLst/>
          </a:prstGeom>
          <a:noFill/>
          <a:ln>
            <a:noFill/>
          </a:ln>
        </p:spPr>
        <p:txBody>
          <a:bodyPr anchorCtr="0" anchor="t" bIns="0" lIns="0" spcFirstLastPara="1" rIns="0" wrap="square" tIns="0">
            <a:spAutoFit/>
          </a:bodyPr>
          <a:lstStyle/>
          <a:p>
            <a:pPr indent="-307975" lvl="0" marL="457200" marR="0" rtl="0" algn="l">
              <a:lnSpc>
                <a:spcPct val="150000"/>
              </a:lnSpc>
              <a:spcBef>
                <a:spcPts val="0"/>
              </a:spcBef>
              <a:spcAft>
                <a:spcPts val="0"/>
              </a:spcAft>
              <a:buClr>
                <a:srgbClr val="1B2A38"/>
              </a:buClr>
              <a:buSzPts val="1250"/>
              <a:buFont typeface="Calibri"/>
              <a:buChar char="●"/>
            </a:pPr>
            <a:r>
              <a:rPr b="0" lang="en-US" sz="1250">
                <a:solidFill>
                  <a:srgbClr val="1B2A38"/>
                </a:solidFill>
                <a:latin typeface="Calibri"/>
                <a:ea typeface="Calibri"/>
                <a:cs typeface="Calibri"/>
                <a:sym typeface="Calibri"/>
              </a:rPr>
              <a:t>Method: k-means on the three RFM columns plus credit_limit, DTI and age, run on 1.938 users after PowerTransformer scaling, which cut the worst skew from 3,06 to 0,05.</a:t>
            </a:r>
            <a:endParaRPr/>
          </a:p>
          <a:p>
            <a:pPr indent="-307975" lvl="0" marL="457200" marR="0" rtl="0" algn="l">
              <a:lnSpc>
                <a:spcPct val="150000"/>
              </a:lnSpc>
              <a:spcBef>
                <a:spcPts val="0"/>
              </a:spcBef>
              <a:spcAft>
                <a:spcPts val="0"/>
              </a:spcAft>
              <a:buClr>
                <a:srgbClr val="1B2A38"/>
              </a:buClr>
              <a:buSzPts val="1250"/>
              <a:buFont typeface="Calibri"/>
              <a:buChar char="●"/>
            </a:pPr>
            <a:r>
              <a:rPr b="0" lang="en-US" sz="1250">
                <a:solidFill>
                  <a:srgbClr val="1B2A38"/>
                </a:solidFill>
                <a:latin typeface="Calibri"/>
                <a:ea typeface="Calibri"/>
                <a:cs typeface="Calibri"/>
                <a:sym typeface="Calibri"/>
              </a:rPr>
              <a:t>Number of clusters: the elbow bends between k = 3 and k = 4, and the silhouette score is 0,3765 at k = 3 against 0,3001 at k = 4. k = 4 is chosen because it separates the dormant customers by debt burden, which k = 3 hides.</a:t>
            </a:r>
            <a:endParaRPr/>
          </a:p>
          <a:p>
            <a:pPr indent="-307975" lvl="0" marL="457200" marR="0" rtl="0" algn="l">
              <a:lnSpc>
                <a:spcPct val="150000"/>
              </a:lnSpc>
              <a:spcBef>
                <a:spcPts val="0"/>
              </a:spcBef>
              <a:spcAft>
                <a:spcPts val="0"/>
              </a:spcAft>
              <a:buClr>
                <a:srgbClr val="1B2A38"/>
              </a:buClr>
              <a:buSzPts val="1250"/>
              <a:buFont typeface="Calibri"/>
              <a:buChar char="●"/>
            </a:pPr>
            <a:r>
              <a:rPr b="0" lang="en-US" sz="1250">
                <a:solidFill>
                  <a:srgbClr val="1B2A38"/>
                </a:solidFill>
                <a:latin typeface="Calibri"/>
                <a:ea typeface="Calibri"/>
                <a:cs typeface="Calibri"/>
                <a:sym typeface="Calibri"/>
              </a:rPr>
              <a:t>The portfolio splits on two axes, not one: active versus dormant, and low versus high DTI. That gives one healthy and one leveraged segment on each side.</a:t>
            </a:r>
            <a:endParaRPr/>
          </a:p>
          <a:p>
            <a:pPr indent="-307975" lvl="0" marL="457200" marR="0" rtl="0" algn="l">
              <a:lnSpc>
                <a:spcPct val="150000"/>
              </a:lnSpc>
              <a:spcBef>
                <a:spcPts val="0"/>
              </a:spcBef>
              <a:spcAft>
                <a:spcPts val="0"/>
              </a:spcAft>
              <a:buClr>
                <a:srgbClr val="1B2A38"/>
              </a:buClr>
              <a:buSzPts val="1250"/>
              <a:buFont typeface="Calibri"/>
              <a:buChar char="●"/>
            </a:pPr>
            <a:r>
              <a:rPr b="0" lang="en-US" sz="1250">
                <a:solidFill>
                  <a:srgbClr val="1B2A38"/>
                </a:solidFill>
                <a:latin typeface="Calibri"/>
                <a:ea typeface="Calibri"/>
                <a:cs typeface="Calibri"/>
                <a:sym typeface="Calibri"/>
              </a:rPr>
              <a:t>All MDR revenue comes from the two active segments: Leveraged Heavy Spenders 55,9% and High-Value Active Spenders 44,1%. The second returns more per customer (Rp 6,29 juta against Rp 5,35 juta) at a far lower DTI.</a:t>
            </a:r>
            <a:endParaRPr/>
          </a:p>
          <a:p>
            <a:pPr indent="-307975" lvl="0" marL="457200" marR="0" rtl="0" algn="l">
              <a:lnSpc>
                <a:spcPct val="150000"/>
              </a:lnSpc>
              <a:spcBef>
                <a:spcPts val="0"/>
              </a:spcBef>
              <a:spcAft>
                <a:spcPts val="0"/>
              </a:spcAft>
              <a:buClr>
                <a:srgbClr val="1B2A38"/>
              </a:buClr>
              <a:buSzPts val="1250"/>
              <a:buFont typeface="Calibri"/>
              <a:buChar char="●"/>
            </a:pPr>
            <a:r>
              <a:rPr b="0" lang="en-US" sz="1250">
                <a:solidFill>
                  <a:srgbClr val="1B2A38"/>
                </a:solidFill>
                <a:latin typeface="Calibri"/>
                <a:ea typeface="Calibri"/>
                <a:cs typeface="Calibri"/>
                <a:sym typeface="Calibri"/>
              </a:rPr>
              <a:t>744 customers, 38,4% of the base, made no transaction at all in six months while holding roughly Rp 34,9 miliar of approved credit limit between them.</a:t>
            </a:r>
            <a:endParaRPr/>
          </a:p>
          <a:p>
            <a:pPr indent="-307975" lvl="0" marL="457200" marR="0" rtl="0" algn="l">
              <a:lnSpc>
                <a:spcPct val="150000"/>
              </a:lnSpc>
              <a:spcBef>
                <a:spcPts val="0"/>
              </a:spcBef>
              <a:spcAft>
                <a:spcPts val="0"/>
              </a:spcAft>
              <a:buClr>
                <a:srgbClr val="1B2A38"/>
              </a:buClr>
              <a:buSzPts val="1250"/>
              <a:buFont typeface="Calibri"/>
              <a:buChar char="●"/>
            </a:pPr>
            <a:r>
              <a:rPr b="0" lang="en-US" sz="1250">
                <a:solidFill>
                  <a:srgbClr val="1B2A38"/>
                </a:solidFill>
                <a:latin typeface="Calibri"/>
                <a:ea typeface="Calibri"/>
                <a:cs typeface="Calibri"/>
                <a:sym typeface="Calibri"/>
              </a:rPr>
              <a:t>Only one of the two dormant segments is safe to activate: Cluster 1 sits at a DTI of 0,13 against a portfolio median of 0,27, while Cluster 3 sits at 0,35.</a:t>
            </a:r>
            <a:endParaRPr/>
          </a:p>
        </p:txBody>
      </p:sp>
      <p:sp>
        <p:nvSpPr>
          <p:cNvPr id="617" name="Google Shape;617;p39"/>
          <p:cNvSpPr/>
          <p:nvPr/>
        </p:nvSpPr>
        <p:spPr>
          <a:xfrm>
            <a:off x="685800" y="4892040"/>
            <a:ext cx="3429000" cy="1280160"/>
          </a:xfrm>
          <a:prstGeom prst="roundRect">
            <a:avLst>
              <a:gd fmla="val 4000" name="adj"/>
            </a:avLst>
          </a:prstGeom>
          <a:solidFill>
            <a:srgbClr val="FFFFFF"/>
          </a:solidFill>
          <a:ln cap="flat" cmpd="sng" w="19050">
            <a:solidFill>
              <a:srgbClr val="C9DC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18" name="Google Shape;618;p39"/>
          <p:cNvSpPr txBox="1"/>
          <p:nvPr/>
        </p:nvSpPr>
        <p:spPr>
          <a:xfrm>
            <a:off x="914400" y="5029200"/>
            <a:ext cx="2971800" cy="548640"/>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lang="en-US" sz="2600">
                <a:solidFill>
                  <a:srgbClr val="2B5B84"/>
                </a:solidFill>
                <a:latin typeface="Cambria"/>
                <a:ea typeface="Cambria"/>
                <a:cs typeface="Cambria"/>
                <a:sym typeface="Cambria"/>
              </a:rPr>
              <a:t>k = 4</a:t>
            </a:r>
            <a:endParaRPr/>
          </a:p>
        </p:txBody>
      </p:sp>
      <p:sp>
        <p:nvSpPr>
          <p:cNvPr id="619" name="Google Shape;619;p39"/>
          <p:cNvSpPr txBox="1"/>
          <p:nvPr/>
        </p:nvSpPr>
        <p:spPr>
          <a:xfrm>
            <a:off x="914400" y="5577840"/>
            <a:ext cx="2971800" cy="50292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lang="en-US" sz="1000">
                <a:solidFill>
                  <a:srgbClr val="5A7185"/>
                </a:solidFill>
                <a:latin typeface="Calibri"/>
                <a:ea typeface="Calibri"/>
                <a:cs typeface="Calibri"/>
                <a:sym typeface="Calibri"/>
              </a:rPr>
              <a:t>chosen, silhouette 0,3001</a:t>
            </a:r>
            <a:endParaRPr/>
          </a:p>
        </p:txBody>
      </p:sp>
      <p:sp>
        <p:nvSpPr>
          <p:cNvPr id="620" name="Google Shape;620;p39"/>
          <p:cNvSpPr/>
          <p:nvPr/>
        </p:nvSpPr>
        <p:spPr>
          <a:xfrm>
            <a:off x="4389120" y="4892040"/>
            <a:ext cx="3429000" cy="1280160"/>
          </a:xfrm>
          <a:prstGeom prst="roundRect">
            <a:avLst>
              <a:gd fmla="val 4000" name="adj"/>
            </a:avLst>
          </a:prstGeom>
          <a:solidFill>
            <a:srgbClr val="FFFFFF"/>
          </a:solidFill>
          <a:ln cap="flat" cmpd="sng" w="19050">
            <a:solidFill>
              <a:srgbClr val="C9DC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21" name="Google Shape;621;p39"/>
          <p:cNvSpPr txBox="1"/>
          <p:nvPr/>
        </p:nvSpPr>
        <p:spPr>
          <a:xfrm>
            <a:off x="4617720" y="5029200"/>
            <a:ext cx="2971800" cy="548640"/>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lang="en-US" sz="2600">
                <a:solidFill>
                  <a:srgbClr val="2B5B84"/>
                </a:solidFill>
                <a:latin typeface="Cambria"/>
                <a:ea typeface="Cambria"/>
                <a:cs typeface="Cambria"/>
                <a:sym typeface="Cambria"/>
              </a:rPr>
              <a:t>744</a:t>
            </a:r>
            <a:endParaRPr/>
          </a:p>
        </p:txBody>
      </p:sp>
      <p:sp>
        <p:nvSpPr>
          <p:cNvPr id="622" name="Google Shape;622;p39"/>
          <p:cNvSpPr txBox="1"/>
          <p:nvPr/>
        </p:nvSpPr>
        <p:spPr>
          <a:xfrm>
            <a:off x="4617720" y="5577840"/>
            <a:ext cx="2971800" cy="50292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lang="en-US" sz="1000">
                <a:solidFill>
                  <a:srgbClr val="5A7185"/>
                </a:solidFill>
                <a:latin typeface="Calibri"/>
                <a:ea typeface="Calibri"/>
                <a:cs typeface="Calibri"/>
                <a:sym typeface="Calibri"/>
              </a:rPr>
              <a:t>dormant customers, zero transactions</a:t>
            </a:r>
            <a:endParaRPr/>
          </a:p>
        </p:txBody>
      </p:sp>
      <p:sp>
        <p:nvSpPr>
          <p:cNvPr id="623" name="Google Shape;623;p39"/>
          <p:cNvSpPr/>
          <p:nvPr/>
        </p:nvSpPr>
        <p:spPr>
          <a:xfrm>
            <a:off x="8092440" y="4892040"/>
            <a:ext cx="3429000" cy="1280160"/>
          </a:xfrm>
          <a:prstGeom prst="roundRect">
            <a:avLst>
              <a:gd fmla="val 4000" name="adj"/>
            </a:avLst>
          </a:prstGeom>
          <a:solidFill>
            <a:srgbClr val="FFFFFF"/>
          </a:solidFill>
          <a:ln cap="flat" cmpd="sng" w="19050">
            <a:solidFill>
              <a:srgbClr val="C9DC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24" name="Google Shape;624;p39"/>
          <p:cNvSpPr txBox="1"/>
          <p:nvPr/>
        </p:nvSpPr>
        <p:spPr>
          <a:xfrm>
            <a:off x="8321040" y="5029200"/>
            <a:ext cx="2971800" cy="548640"/>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lang="en-US" sz="2600">
                <a:solidFill>
                  <a:srgbClr val="2B5B84"/>
                </a:solidFill>
                <a:latin typeface="Cambria"/>
                <a:ea typeface="Cambria"/>
                <a:cs typeface="Cambria"/>
                <a:sym typeface="Cambria"/>
              </a:rPr>
              <a:t>Rp 261 jt</a:t>
            </a:r>
            <a:endParaRPr/>
          </a:p>
        </p:txBody>
      </p:sp>
      <p:sp>
        <p:nvSpPr>
          <p:cNvPr id="625" name="Google Shape;625;p39"/>
          <p:cNvSpPr txBox="1"/>
          <p:nvPr/>
        </p:nvSpPr>
        <p:spPr>
          <a:xfrm>
            <a:off x="8321040" y="5577840"/>
            <a:ext cx="2971800" cy="50292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lang="en-US" sz="1000">
                <a:solidFill>
                  <a:srgbClr val="5A7185"/>
                </a:solidFill>
                <a:latin typeface="Calibri"/>
                <a:ea typeface="Calibri"/>
                <a:cs typeface="Calibri"/>
                <a:sym typeface="Calibri"/>
              </a:rPr>
              <a:t>potential MDR if Cluster 1 spends 1x its limit</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B"/>
        </a:solidFill>
      </p:bgPr>
    </p:bg>
    <p:spTree>
      <p:nvGrpSpPr>
        <p:cNvPr id="629" name="Shape 629"/>
        <p:cNvGrpSpPr/>
        <p:nvPr/>
      </p:nvGrpSpPr>
      <p:grpSpPr>
        <a:xfrm>
          <a:off x="0" y="0"/>
          <a:ext cx="0" cy="0"/>
          <a:chOff x="0" y="0"/>
          <a:chExt cx="0" cy="0"/>
        </a:xfrm>
      </p:grpSpPr>
      <p:sp>
        <p:nvSpPr>
          <p:cNvPr id="630" name="Google Shape;630;p40"/>
          <p:cNvSpPr/>
          <p:nvPr/>
        </p:nvSpPr>
        <p:spPr>
          <a:xfrm>
            <a:off x="548640" y="457200"/>
            <a:ext cx="502920" cy="502920"/>
          </a:xfrm>
          <a:prstGeom prst="ellipse">
            <a:avLst/>
          </a:prstGeom>
          <a:solidFill>
            <a:srgbClr val="306998"/>
          </a:solidFill>
          <a:ln cap="flat" cmpd="sng" w="12700">
            <a:solidFill>
              <a:srgbClr val="30699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31" name="Google Shape;631;p40"/>
          <p:cNvSpPr txBox="1"/>
          <p:nvPr/>
        </p:nvSpPr>
        <p:spPr>
          <a:xfrm>
            <a:off x="548640" y="457200"/>
            <a:ext cx="502920" cy="502920"/>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lang="en-US" sz="1400">
                <a:solidFill>
                  <a:srgbClr val="FFFFFF"/>
                </a:solidFill>
                <a:latin typeface="Cambria"/>
                <a:ea typeface="Cambria"/>
                <a:cs typeface="Cambria"/>
                <a:sym typeface="Cambria"/>
              </a:rPr>
              <a:t>e</a:t>
            </a:r>
            <a:endParaRPr/>
          </a:p>
        </p:txBody>
      </p:sp>
      <p:sp>
        <p:nvSpPr>
          <p:cNvPr id="632" name="Google Shape;632;p40"/>
          <p:cNvSpPr txBox="1"/>
          <p:nvPr/>
        </p:nvSpPr>
        <p:spPr>
          <a:xfrm>
            <a:off x="1188720" y="384048"/>
            <a:ext cx="10424160" cy="685800"/>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lang="en-US" sz="2400">
                <a:solidFill>
                  <a:srgbClr val="2B5B84"/>
                </a:solidFill>
                <a:latin typeface="Cambria"/>
                <a:ea typeface="Cambria"/>
                <a:cs typeface="Cambria"/>
                <a:sym typeface="Cambria"/>
              </a:rPr>
              <a:t>Recommendations for the Performance Management Lead</a:t>
            </a:r>
            <a:endParaRPr/>
          </a:p>
        </p:txBody>
      </p:sp>
      <p:sp>
        <p:nvSpPr>
          <p:cNvPr id="633" name="Google Shape;633;p40"/>
          <p:cNvSpPr txBox="1"/>
          <p:nvPr/>
        </p:nvSpPr>
        <p:spPr>
          <a:xfrm>
            <a:off x="457200" y="6492240"/>
            <a:ext cx="7315200" cy="27432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lang="en-US" sz="900">
                <a:solidFill>
                  <a:srgbClr val="5A7185"/>
                </a:solidFill>
                <a:latin typeface="Calibri"/>
                <a:ea typeface="Calibri"/>
                <a:cs typeface="Calibri"/>
                <a:sym typeface="Calibri"/>
              </a:rPr>
              <a:t>Credit Card &amp; User Data Analysis – Milestone 3</a:t>
            </a:r>
            <a:endParaRPr/>
          </a:p>
        </p:txBody>
      </p:sp>
      <p:sp>
        <p:nvSpPr>
          <p:cNvPr id="634" name="Google Shape;634;p40"/>
          <p:cNvSpPr txBox="1"/>
          <p:nvPr/>
        </p:nvSpPr>
        <p:spPr>
          <a:xfrm>
            <a:off x="11247120" y="6492240"/>
            <a:ext cx="457200" cy="274320"/>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None/>
            </a:pPr>
            <a:r>
              <a:rPr b="0" lang="en-US" sz="900">
                <a:solidFill>
                  <a:srgbClr val="5A7185"/>
                </a:solidFill>
                <a:latin typeface="Calibri"/>
                <a:ea typeface="Calibri"/>
                <a:cs typeface="Calibri"/>
                <a:sym typeface="Calibri"/>
              </a:rPr>
              <a:t>40</a:t>
            </a:r>
            <a:endParaRPr/>
          </a:p>
        </p:txBody>
      </p:sp>
      <p:graphicFrame>
        <p:nvGraphicFramePr>
          <p:cNvPr id="635" name="Google Shape;635;p40"/>
          <p:cNvGraphicFramePr/>
          <p:nvPr/>
        </p:nvGraphicFramePr>
        <p:xfrm>
          <a:off x="548640" y="1170432"/>
          <a:ext cx="3000000" cy="3000000"/>
        </p:xfrm>
        <a:graphic>
          <a:graphicData uri="http://schemas.openxmlformats.org/drawingml/2006/table">
            <a:tbl>
              <a:tblPr>
                <a:noFill/>
                <a:tableStyleId>{3D7D59D7-DF91-47F0-BCBC-DAAD57FB8C79}</a:tableStyleId>
              </a:tblPr>
              <a:tblGrid>
                <a:gridCol w="2057400"/>
                <a:gridCol w="3337550"/>
                <a:gridCol w="3017525"/>
                <a:gridCol w="2651750"/>
              </a:tblGrid>
              <a:tr h="676650">
                <a:tc>
                  <a:txBody>
                    <a:bodyPr/>
                    <a:lstStyle/>
                    <a:p>
                      <a:pPr indent="0" lvl="0" marL="476250" marR="0" rtl="0" algn="ctr">
                        <a:spcBef>
                          <a:spcPts val="0"/>
                        </a:spcBef>
                        <a:spcAft>
                          <a:spcPts val="0"/>
                        </a:spcAft>
                        <a:buNone/>
                      </a:pPr>
                      <a:r>
                        <a:rPr b="1" lang="en-US" sz="1200" u="none" cap="none" strike="noStrike">
                          <a:solidFill>
                            <a:srgbClr val="FFFFFF"/>
                          </a:solidFill>
                          <a:latin typeface="Calibri"/>
                          <a:ea typeface="Calibri"/>
                          <a:cs typeface="Calibri"/>
                          <a:sym typeface="Calibri"/>
                        </a:rPr>
                        <a:t>Priority</a:t>
                      </a:r>
                      <a:endParaRPr sz="1200"/>
                    </a:p>
                  </a:txBody>
                  <a:tcPr marT="27425" marB="27425" marR="54875" marL="54875" anchor="ctr">
                    <a:lnB cap="flat" cmpd="sng" w="9525">
                      <a:solidFill>
                        <a:srgbClr val="C9DCEA"/>
                      </a:solidFill>
                      <a:prstDash val="solid"/>
                      <a:round/>
                      <a:headEnd len="sm" w="sm" type="none"/>
                      <a:tailEnd len="sm" w="sm" type="none"/>
                    </a:lnB>
                    <a:solidFill>
                      <a:srgbClr val="306998"/>
                    </a:solidFill>
                  </a:tcPr>
                </a:tc>
                <a:tc>
                  <a:txBody>
                    <a:bodyPr/>
                    <a:lstStyle/>
                    <a:p>
                      <a:pPr indent="0" lvl="0" marL="476250" marR="0" rtl="0" algn="ctr">
                        <a:spcBef>
                          <a:spcPts val="0"/>
                        </a:spcBef>
                        <a:spcAft>
                          <a:spcPts val="0"/>
                        </a:spcAft>
                        <a:buNone/>
                      </a:pPr>
                      <a:r>
                        <a:rPr b="1" lang="en-US" sz="1200" u="none" cap="none" strike="noStrike">
                          <a:solidFill>
                            <a:srgbClr val="FFFFFF"/>
                          </a:solidFill>
                          <a:latin typeface="Calibri"/>
                          <a:ea typeface="Calibri"/>
                          <a:cs typeface="Calibri"/>
                          <a:sym typeface="Calibri"/>
                        </a:rPr>
                        <a:t>Action</a:t>
                      </a:r>
                      <a:endParaRPr sz="1200"/>
                    </a:p>
                  </a:txBody>
                  <a:tcPr marT="27425" marB="27425" marR="54875" marL="54875" anchor="ctr">
                    <a:lnB cap="flat" cmpd="sng" w="9525">
                      <a:solidFill>
                        <a:srgbClr val="C9DCEA"/>
                      </a:solidFill>
                      <a:prstDash val="solid"/>
                      <a:round/>
                      <a:headEnd len="sm" w="sm" type="none"/>
                      <a:tailEnd len="sm" w="sm" type="none"/>
                    </a:lnB>
                    <a:solidFill>
                      <a:srgbClr val="306998"/>
                    </a:solidFill>
                  </a:tcPr>
                </a:tc>
                <a:tc>
                  <a:txBody>
                    <a:bodyPr/>
                    <a:lstStyle/>
                    <a:p>
                      <a:pPr indent="0" lvl="0" marL="476250" marR="0" rtl="0" algn="ctr">
                        <a:spcBef>
                          <a:spcPts val="0"/>
                        </a:spcBef>
                        <a:spcAft>
                          <a:spcPts val="0"/>
                        </a:spcAft>
                        <a:buNone/>
                      </a:pPr>
                      <a:r>
                        <a:rPr b="1" lang="en-US" sz="1200" u="none" cap="none" strike="noStrike">
                          <a:solidFill>
                            <a:srgbClr val="FFFFFF"/>
                          </a:solidFill>
                          <a:latin typeface="Calibri"/>
                          <a:ea typeface="Calibri"/>
                          <a:cs typeface="Calibri"/>
                          <a:sym typeface="Calibri"/>
                        </a:rPr>
                        <a:t>Why (evidence)</a:t>
                      </a:r>
                      <a:endParaRPr sz="1200"/>
                    </a:p>
                  </a:txBody>
                  <a:tcPr marT="27425" marB="27425" marR="54875" marL="54875" anchor="ctr">
                    <a:lnB cap="flat" cmpd="sng" w="9525">
                      <a:solidFill>
                        <a:srgbClr val="C9DCEA"/>
                      </a:solidFill>
                      <a:prstDash val="solid"/>
                      <a:round/>
                      <a:headEnd len="sm" w="sm" type="none"/>
                      <a:tailEnd len="sm" w="sm" type="none"/>
                    </a:lnB>
                    <a:solidFill>
                      <a:srgbClr val="306998"/>
                    </a:solidFill>
                  </a:tcPr>
                </a:tc>
                <a:tc>
                  <a:txBody>
                    <a:bodyPr/>
                    <a:lstStyle/>
                    <a:p>
                      <a:pPr indent="0" lvl="0" marL="476250" marR="0" rtl="0" algn="ctr">
                        <a:spcBef>
                          <a:spcPts val="0"/>
                        </a:spcBef>
                        <a:spcAft>
                          <a:spcPts val="0"/>
                        </a:spcAft>
                        <a:buNone/>
                      </a:pPr>
                      <a:r>
                        <a:rPr b="1" lang="en-US" sz="1200" u="none" cap="none" strike="noStrike">
                          <a:solidFill>
                            <a:srgbClr val="FFFFFF"/>
                          </a:solidFill>
                          <a:latin typeface="Calibri"/>
                          <a:ea typeface="Calibri"/>
                          <a:cs typeface="Calibri"/>
                          <a:sym typeface="Calibri"/>
                        </a:rPr>
                        <a:t>Expected effect</a:t>
                      </a:r>
                      <a:endParaRPr sz="1200"/>
                    </a:p>
                  </a:txBody>
                  <a:tcPr marT="27425" marB="27425" marR="54875" marL="54875" anchor="ctr">
                    <a:lnB cap="flat" cmpd="sng" w="9525">
                      <a:solidFill>
                        <a:srgbClr val="C9DCEA"/>
                      </a:solidFill>
                      <a:prstDash val="solid"/>
                      <a:round/>
                      <a:headEnd len="sm" w="sm" type="none"/>
                      <a:tailEnd len="sm" w="sm" type="none"/>
                    </a:lnB>
                    <a:solidFill>
                      <a:srgbClr val="306998"/>
                    </a:solidFill>
                  </a:tcPr>
                </a:tc>
              </a:tr>
              <a:tr h="442575">
                <a:tc>
                  <a:txBody>
                    <a:bodyPr/>
                    <a:lstStyle/>
                    <a:p>
                      <a:pPr indent="0" lvl="0" marL="476250" marR="0" rtl="0" algn="l">
                        <a:spcBef>
                          <a:spcPts val="0"/>
                        </a:spcBef>
                        <a:spcAft>
                          <a:spcPts val="0"/>
                        </a:spcAft>
                        <a:buNone/>
                      </a:pPr>
                      <a:r>
                        <a:rPr b="0" lang="en-US" sz="1200" u="none" cap="none" strike="noStrike">
                          <a:solidFill>
                            <a:srgbClr val="1B2A38"/>
                          </a:solidFill>
                          <a:latin typeface="Calibri"/>
                          <a:ea typeface="Calibri"/>
                          <a:cs typeface="Calibri"/>
                          <a:sym typeface="Calibri"/>
                        </a:rPr>
                        <a:t>1. Reactivate the dormant low-risk segment</a:t>
                      </a:r>
                      <a:endParaRPr sz="1200"/>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476250" rtl="0" algn="l">
                        <a:spcBef>
                          <a:spcPts val="0"/>
                        </a:spcBef>
                        <a:spcAft>
                          <a:spcPts val="0"/>
                        </a:spcAft>
                        <a:buClr>
                          <a:schemeClr val="dk1"/>
                        </a:buClr>
                        <a:buFont typeface="Arial"/>
                        <a:buNone/>
                      </a:pPr>
                      <a:r>
                        <a:rPr lang="en-US" sz="1200">
                          <a:solidFill>
                            <a:srgbClr val="1B2A38"/>
                          </a:solidFill>
                          <a:latin typeface="Calibri"/>
                          <a:ea typeface="Calibri"/>
                          <a:cs typeface="Calibri"/>
                          <a:sym typeface="Calibri"/>
                        </a:rPr>
                        <a:t>Win-back offer for Young Light Users (253) </a:t>
                      </a:r>
                      <a:endParaRPr sz="1200">
                        <a:solidFill>
                          <a:schemeClr val="dk1"/>
                        </a:solidFill>
                      </a:endParaRPr>
                    </a:p>
                    <a:p>
                      <a:pPr indent="0" lvl="0" marL="476250" marR="0" rtl="0" algn="l">
                        <a:spcBef>
                          <a:spcPts val="0"/>
                        </a:spcBef>
                        <a:spcAft>
                          <a:spcPts val="0"/>
                        </a:spcAft>
                        <a:buNone/>
                      </a:pPr>
                      <a:r>
                        <a:t/>
                      </a:r>
                      <a:endParaRPr sz="1200">
                        <a:solidFill>
                          <a:srgbClr val="1B2A38"/>
                        </a:solidFill>
                        <a:latin typeface="Calibri"/>
                        <a:ea typeface="Calibri"/>
                        <a:cs typeface="Calibri"/>
                        <a:sym typeface="Calibri"/>
                      </a:endParaRPr>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476250" marR="0" rtl="0" algn="l">
                        <a:spcBef>
                          <a:spcPts val="0"/>
                        </a:spcBef>
                        <a:spcAft>
                          <a:spcPts val="0"/>
                        </a:spcAft>
                        <a:buNone/>
                      </a:pPr>
                      <a:r>
                        <a:rPr lang="en-US" sz="1200">
                          <a:solidFill>
                            <a:srgbClr val="1B2A38"/>
                          </a:solidFill>
                          <a:latin typeface="Calibri"/>
                          <a:ea typeface="Calibri"/>
                          <a:cs typeface="Calibri"/>
                          <a:sym typeface="Calibri"/>
                        </a:rPr>
                        <a:t>0 transactions; DTI 0.13; Rp68.8M limit/user </a:t>
                      </a:r>
                      <a:endParaRPr sz="1200"/>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476250" marR="0" rtl="0" algn="l">
                        <a:spcBef>
                          <a:spcPts val="0"/>
                        </a:spcBef>
                        <a:spcAft>
                          <a:spcPts val="0"/>
                        </a:spcAft>
                        <a:buNone/>
                      </a:pPr>
                      <a:r>
                        <a:rPr b="0" lang="en-US" sz="1200" u="none" cap="none" strike="noStrike">
                          <a:solidFill>
                            <a:srgbClr val="1B2A38"/>
                          </a:solidFill>
                          <a:latin typeface="Calibri"/>
                          <a:ea typeface="Calibri"/>
                          <a:cs typeface="Calibri"/>
                          <a:sym typeface="Calibri"/>
                        </a:rPr>
                        <a:t>About Rp 261 juta of extra MDR revenue if the segment spends one times its limit, with no new credit granted.</a:t>
                      </a:r>
                      <a:endParaRPr sz="1200"/>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r>
              <a:tr h="676650">
                <a:tc>
                  <a:txBody>
                    <a:bodyPr/>
                    <a:lstStyle/>
                    <a:p>
                      <a:pPr indent="0" lvl="0" marL="476250" marR="0" rtl="0" algn="l">
                        <a:spcBef>
                          <a:spcPts val="0"/>
                        </a:spcBef>
                        <a:spcAft>
                          <a:spcPts val="0"/>
                        </a:spcAft>
                        <a:buNone/>
                      </a:pPr>
                      <a:r>
                        <a:rPr b="0" lang="en-US" sz="1200" u="none" cap="none" strike="noStrike">
                          <a:solidFill>
                            <a:srgbClr val="1B2A38"/>
                          </a:solidFill>
                          <a:latin typeface="Calibri"/>
                          <a:ea typeface="Calibri"/>
                          <a:cs typeface="Calibri"/>
                          <a:sym typeface="Calibri"/>
                        </a:rPr>
                        <a:t>2. Protect the two active segments</a:t>
                      </a:r>
                      <a:endParaRPr sz="1200"/>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476250" marR="0" rtl="0" algn="l">
                        <a:spcBef>
                          <a:spcPts val="0"/>
                        </a:spcBef>
                        <a:spcAft>
                          <a:spcPts val="0"/>
                        </a:spcAft>
                        <a:buNone/>
                      </a:pPr>
                      <a:r>
                        <a:rPr b="0" lang="en-US" sz="1200" u="none" cap="none" strike="noStrike">
                          <a:solidFill>
                            <a:srgbClr val="1B2A38"/>
                          </a:solidFill>
                          <a:latin typeface="Calibri"/>
                          <a:ea typeface="Calibri"/>
                          <a:cs typeface="Calibri"/>
                          <a:sym typeface="Calibri"/>
                        </a:rPr>
                        <a:t>Premium tier, priority servicing and proactive limit reviews so a transaction is never declined for headroom.</a:t>
                      </a:r>
                      <a:endParaRPr sz="1200"/>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476250" marR="0" rtl="0" algn="l">
                        <a:spcBef>
                          <a:spcPts val="0"/>
                        </a:spcBef>
                        <a:spcAft>
                          <a:spcPts val="0"/>
                        </a:spcAft>
                        <a:buNone/>
                      </a:pPr>
                      <a:r>
                        <a:rPr b="0" lang="en-US" sz="1200" u="none" cap="none" strike="noStrike">
                          <a:solidFill>
                            <a:srgbClr val="1B2A38"/>
                          </a:solidFill>
                          <a:latin typeface="Calibri"/>
                          <a:ea typeface="Calibri"/>
                          <a:cs typeface="Calibri"/>
                          <a:sym typeface="Calibri"/>
                        </a:rPr>
                        <a:t>They produce 100% of MDR revenue; Cluster 0 alone returns Rp 6,29 juta per customer at a DTI of 0,07.</a:t>
                      </a:r>
                      <a:endParaRPr sz="1200"/>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476250" marR="0" rtl="0" algn="l">
                        <a:spcBef>
                          <a:spcPts val="0"/>
                        </a:spcBef>
                        <a:spcAft>
                          <a:spcPts val="0"/>
                        </a:spcAft>
                        <a:buNone/>
                      </a:pPr>
                      <a:r>
                        <a:rPr b="0" lang="en-US" sz="1200" u="none" cap="none" strike="noStrike">
                          <a:solidFill>
                            <a:srgbClr val="1B2A38"/>
                          </a:solidFill>
                          <a:latin typeface="Calibri"/>
                          <a:ea typeface="Calibri"/>
                          <a:cs typeface="Calibri"/>
                          <a:sym typeface="Calibri"/>
                        </a:rPr>
                        <a:t>Retention of all current revenue, which is worth more than any activation campaign.</a:t>
                      </a:r>
                      <a:endParaRPr sz="1200"/>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r>
              <a:tr h="676650">
                <a:tc>
                  <a:txBody>
                    <a:bodyPr/>
                    <a:lstStyle/>
                    <a:p>
                      <a:pPr indent="0" lvl="0" marL="476250" marR="0" rtl="0" algn="l">
                        <a:spcBef>
                          <a:spcPts val="0"/>
                        </a:spcBef>
                        <a:spcAft>
                          <a:spcPts val="0"/>
                        </a:spcAft>
                        <a:buNone/>
                      </a:pPr>
                      <a:r>
                        <a:rPr b="0" lang="en-US" sz="1200" u="none" cap="none" strike="noStrike">
                          <a:solidFill>
                            <a:srgbClr val="1B2A38"/>
                          </a:solidFill>
                          <a:latin typeface="Calibri"/>
                          <a:ea typeface="Calibri"/>
                          <a:cs typeface="Calibri"/>
                          <a:sym typeface="Calibri"/>
                        </a:rPr>
                        <a:t>3. Grow the leveraged segment carefully</a:t>
                      </a:r>
                      <a:endParaRPr sz="1200"/>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476250" marR="0" rtl="0" algn="l">
                        <a:spcBef>
                          <a:spcPts val="0"/>
                        </a:spcBef>
                        <a:spcAft>
                          <a:spcPts val="0"/>
                        </a:spcAft>
                        <a:buNone/>
                      </a:pPr>
                      <a:r>
                        <a:rPr b="0" lang="en-US" sz="1200" u="none" cap="none" strike="noStrike">
                          <a:solidFill>
                            <a:srgbClr val="1B2A38"/>
                          </a:solidFill>
                          <a:latin typeface="Calibri"/>
                          <a:ea typeface="Calibri"/>
                          <a:cs typeface="Calibri"/>
                          <a:sym typeface="Calibri"/>
                        </a:rPr>
                        <a:t>Keep promos for Leveraged Heavy Spenders volume-based rather than limit-based, and pair them with velocity checks.</a:t>
                      </a:r>
                      <a:endParaRPr sz="1200"/>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476250" marR="0" rtl="0" algn="l">
                        <a:spcBef>
                          <a:spcPts val="0"/>
                        </a:spcBef>
                        <a:spcAft>
                          <a:spcPts val="0"/>
                        </a:spcAft>
                        <a:buNone/>
                      </a:pPr>
                      <a:r>
                        <a:rPr b="0" lang="en-US" sz="1200" u="none" cap="none" strike="noStrike">
                          <a:solidFill>
                            <a:srgbClr val="1B2A38"/>
                          </a:solidFill>
                          <a:latin typeface="Calibri"/>
                          <a:ea typeface="Calibri"/>
                          <a:cs typeface="Calibri"/>
                          <a:sym typeface="Calibri"/>
                        </a:rPr>
                        <a:t>Largest revenue share at 55,9%, but a DTI of 0,34 and the highest fraud rate in the portfolio at 0,25%.</a:t>
                      </a:r>
                      <a:endParaRPr sz="1200"/>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476250" marR="0" rtl="0" algn="l">
                        <a:spcBef>
                          <a:spcPts val="0"/>
                        </a:spcBef>
                        <a:spcAft>
                          <a:spcPts val="0"/>
                        </a:spcAft>
                        <a:buNone/>
                      </a:pPr>
                      <a:r>
                        <a:rPr b="0" lang="en-US" sz="1200" u="none" cap="none" strike="noStrike">
                          <a:solidFill>
                            <a:srgbClr val="1B2A38"/>
                          </a:solidFill>
                          <a:latin typeface="Calibri"/>
                          <a:ea typeface="Calibri"/>
                          <a:cs typeface="Calibri"/>
                          <a:sym typeface="Calibri"/>
                        </a:rPr>
                        <a:t>More transaction volume without raising default or fraud exposure on a 1,5% margin.</a:t>
                      </a:r>
                      <a:endParaRPr sz="1200"/>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r>
              <a:tr h="676650">
                <a:tc>
                  <a:txBody>
                    <a:bodyPr/>
                    <a:lstStyle/>
                    <a:p>
                      <a:pPr indent="0" lvl="0" marL="476250" marR="0" rtl="0" algn="l">
                        <a:spcBef>
                          <a:spcPts val="0"/>
                        </a:spcBef>
                        <a:spcAft>
                          <a:spcPts val="0"/>
                        </a:spcAft>
                        <a:buNone/>
                      </a:pPr>
                      <a:r>
                        <a:rPr b="0" lang="en-US" sz="1200" u="none" cap="none" strike="noStrike">
                          <a:solidFill>
                            <a:srgbClr val="1B2A38"/>
                          </a:solidFill>
                          <a:latin typeface="Calibri"/>
                          <a:ea typeface="Calibri"/>
                          <a:cs typeface="Calibri"/>
                          <a:sym typeface="Calibri"/>
                        </a:rPr>
                        <a:t>4. Do not activate the high-burden dormant segment</a:t>
                      </a:r>
                      <a:endParaRPr sz="1200"/>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476250" marR="0" rtl="0" algn="l">
                        <a:spcBef>
                          <a:spcPts val="0"/>
                        </a:spcBef>
                        <a:spcAft>
                          <a:spcPts val="0"/>
                        </a:spcAft>
                        <a:buNone/>
                      </a:pPr>
                      <a:r>
                        <a:rPr b="0" lang="en-US" sz="1200" u="none" cap="none" strike="noStrike">
                          <a:solidFill>
                            <a:srgbClr val="1B2A38"/>
                          </a:solidFill>
                          <a:latin typeface="Calibri"/>
                          <a:ea typeface="Calibri"/>
                          <a:cs typeface="Calibri"/>
                          <a:sym typeface="Calibri"/>
                        </a:rPr>
                        <a:t>Exclude High-Burden Low Spenders (491 users) from spend promos and offer restructuring and a limit review instead.</a:t>
                      </a:r>
                      <a:endParaRPr sz="1200"/>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476250" marR="0" rtl="0" algn="l">
                        <a:spcBef>
                          <a:spcPts val="0"/>
                        </a:spcBef>
                        <a:spcAft>
                          <a:spcPts val="0"/>
                        </a:spcAft>
                        <a:buNone/>
                      </a:pPr>
                      <a:r>
                        <a:rPr b="0" lang="en-US" sz="1200" u="none" cap="none" strike="noStrike">
                          <a:solidFill>
                            <a:srgbClr val="1B2A38"/>
                          </a:solidFill>
                          <a:latin typeface="Calibri"/>
                          <a:ea typeface="Calibri"/>
                          <a:cs typeface="Calibri"/>
                          <a:sym typeface="Calibri"/>
                        </a:rPr>
                        <a:t>DTI 0,35 against a portfolio median of 0,27, the smallest limit, the youngest group and zero transactions.</a:t>
                      </a:r>
                      <a:endParaRPr sz="1200"/>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c>
                  <a:txBody>
                    <a:bodyPr/>
                    <a:lstStyle/>
                    <a:p>
                      <a:pPr indent="0" lvl="0" marL="476250" marR="0" rtl="0" algn="l">
                        <a:spcBef>
                          <a:spcPts val="0"/>
                        </a:spcBef>
                        <a:spcAft>
                          <a:spcPts val="0"/>
                        </a:spcAft>
                        <a:buNone/>
                      </a:pPr>
                      <a:r>
                        <a:rPr b="0" lang="en-US" sz="1200" u="none" cap="none" strike="noStrike">
                          <a:solidFill>
                            <a:srgbClr val="1B2A38"/>
                          </a:solidFill>
                          <a:latin typeface="Calibri"/>
                          <a:ea typeface="Calibri"/>
                          <a:cs typeface="Calibri"/>
                          <a:sym typeface="Calibri"/>
                        </a:rPr>
                        <a:t>Avoids turning a dormant segment into new bad debt.</a:t>
                      </a:r>
                      <a:endParaRPr sz="1200"/>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E7F0FA"/>
                    </a:solidFill>
                  </a:tcPr>
                </a:tc>
              </a:tr>
              <a:tr h="676650">
                <a:tc>
                  <a:txBody>
                    <a:bodyPr/>
                    <a:lstStyle/>
                    <a:p>
                      <a:pPr indent="0" lvl="0" marL="476250" marR="0" rtl="0" algn="l">
                        <a:spcBef>
                          <a:spcPts val="0"/>
                        </a:spcBef>
                        <a:spcAft>
                          <a:spcPts val="0"/>
                        </a:spcAft>
                        <a:buNone/>
                      </a:pPr>
                      <a:r>
                        <a:rPr b="0" lang="en-US" sz="1200" u="none" cap="none" strike="noStrike">
                          <a:solidFill>
                            <a:srgbClr val="1B2A38"/>
                          </a:solidFill>
                          <a:latin typeface="Calibri"/>
                          <a:ea typeface="Calibri"/>
                          <a:cs typeface="Calibri"/>
                          <a:sym typeface="Calibri"/>
                        </a:rPr>
                        <a:t>5. Target on behaviour, not on age</a:t>
                      </a:r>
                      <a:endParaRPr sz="1200"/>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476250" marR="0" rtl="0" algn="l">
                        <a:spcBef>
                          <a:spcPts val="0"/>
                        </a:spcBef>
                        <a:spcAft>
                          <a:spcPts val="0"/>
                        </a:spcAft>
                        <a:buNone/>
                      </a:pPr>
                      <a:r>
                        <a:rPr b="0" lang="en-US" sz="1200" u="none" cap="none" strike="noStrike">
                          <a:solidFill>
                            <a:srgbClr val="1B2A38"/>
                          </a:solidFill>
                          <a:latin typeface="Calibri"/>
                          <a:ea typeface="Calibri"/>
                          <a:cs typeface="Calibri"/>
                          <a:sym typeface="Calibri"/>
                        </a:rPr>
                        <a:t>Use recency and DTI as the targeting keys instead of age or retirement status.</a:t>
                      </a:r>
                      <a:endParaRPr sz="1200"/>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476250" marR="0" rtl="0" algn="l">
                        <a:spcBef>
                          <a:spcPts val="0"/>
                        </a:spcBef>
                        <a:spcAft>
                          <a:spcPts val="0"/>
                        </a:spcAft>
                        <a:buNone/>
                      </a:pPr>
                      <a:r>
                        <a:rPr b="0" lang="en-US" sz="1200" u="none" cap="none" strike="noStrike">
                          <a:solidFill>
                            <a:srgbClr val="1B2A38"/>
                          </a:solidFill>
                          <a:latin typeface="Calibri"/>
                          <a:ea typeface="Calibri"/>
                          <a:cs typeface="Calibri"/>
                          <a:sym typeface="Calibri"/>
                        </a:rPr>
                        <a:t>The best segment is the oldest (median 64, 70,0% retired, DTI 0,07) while the riskiest is the youngest (median 25).</a:t>
                      </a:r>
                      <a:endParaRPr sz="1200"/>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c>
                  <a:txBody>
                    <a:bodyPr/>
                    <a:lstStyle/>
                    <a:p>
                      <a:pPr indent="0" lvl="0" marL="476250" marR="0" rtl="0" algn="l">
                        <a:spcBef>
                          <a:spcPts val="0"/>
                        </a:spcBef>
                        <a:spcAft>
                          <a:spcPts val="0"/>
                        </a:spcAft>
                        <a:buNone/>
                      </a:pPr>
                      <a:r>
                        <a:rPr b="0" lang="en-US" sz="1200" u="none" cap="none" strike="noStrike">
                          <a:solidFill>
                            <a:srgbClr val="1B2A38"/>
                          </a:solidFill>
                          <a:latin typeface="Calibri"/>
                          <a:ea typeface="Calibri"/>
                          <a:cs typeface="Calibri"/>
                          <a:sym typeface="Calibri"/>
                        </a:rPr>
                        <a:t>Campaigns land on customers who can pay rather than on a demographic proxy.</a:t>
                      </a:r>
                      <a:endParaRPr sz="1200"/>
                    </a:p>
                  </a:txBody>
                  <a:tcPr marT="27425" marB="27425" marR="54875" marL="54875" anchor="ctr">
                    <a:lnT cap="flat" cmpd="sng" w="9525">
                      <a:solidFill>
                        <a:srgbClr val="C9DCEA"/>
                      </a:solidFill>
                      <a:prstDash val="solid"/>
                      <a:round/>
                      <a:headEnd len="sm" w="sm" type="none"/>
                      <a:tailEnd len="sm" w="sm" type="none"/>
                    </a:lnT>
                    <a:lnB cap="flat" cmpd="sng" w="9525">
                      <a:solidFill>
                        <a:srgbClr val="C9DCEA"/>
                      </a:solidFill>
                      <a:prstDash val="solid"/>
                      <a:round/>
                      <a:headEnd len="sm" w="sm" type="none"/>
                      <a:tailEnd len="sm" w="sm" type="none"/>
                    </a:lnB>
                    <a:solidFill>
                      <a:srgbClr val="FFFFFF"/>
                    </a:solidFill>
                  </a:tcPr>
                </a:tc>
              </a:tr>
            </a:tbl>
          </a:graphicData>
        </a:graphic>
      </p:graphicFrame>
      <p:graphicFrame>
        <p:nvGraphicFramePr>
          <p:cNvPr id="636" name="Google Shape;636;p40"/>
          <p:cNvGraphicFramePr/>
          <p:nvPr/>
        </p:nvGraphicFramePr>
        <p:xfrm>
          <a:off x="152400" y="152400"/>
          <a:ext cx="3000000" cy="3000000"/>
        </p:xfrm>
        <a:graphic>
          <a:graphicData uri="http://schemas.openxmlformats.org/drawingml/2006/table">
            <a:tbl>
              <a:tblPr>
                <a:noFill/>
                <a:tableStyleId>{3D7D59D7-DF91-47F0-BCBC-DAAD57FB8C79}</a:tableStyleId>
              </a:tblPr>
              <a:tblGrid>
                <a:gridCol w="600075"/>
              </a:tblGrid>
              <a:tr h="190500">
                <a:tc>
                  <a:txBody>
                    <a:bodyPr/>
                    <a:lstStyle/>
                    <a:p>
                      <a:pPr indent="0" lvl="0" marL="0" rtl="0" algn="l">
                        <a:spcBef>
                          <a:spcPts val="0"/>
                        </a:spcBef>
                        <a:spcAft>
                          <a:spcPts val="0"/>
                        </a:spcAft>
                        <a:buNone/>
                      </a:pPr>
                      <a:r>
                        <a:t/>
                      </a:r>
                      <a:endParaRPr/>
                    </a:p>
                  </a:txBody>
                  <a:tcPr marT="91425" marB="91425" marR="91425" marL="91425"/>
                </a:tc>
              </a:tr>
            </a:tbl>
          </a:graphicData>
        </a:graphic>
      </p:graphicFrame>
      <p:graphicFrame>
        <p:nvGraphicFramePr>
          <p:cNvPr id="637" name="Google Shape;637;p40"/>
          <p:cNvGraphicFramePr/>
          <p:nvPr/>
        </p:nvGraphicFramePr>
        <p:xfrm>
          <a:off x="304800" y="304800"/>
          <a:ext cx="3000000" cy="3000000"/>
        </p:xfrm>
        <a:graphic>
          <a:graphicData uri="http://schemas.openxmlformats.org/drawingml/2006/table">
            <a:tbl>
              <a:tblPr>
                <a:noFill/>
                <a:tableStyleId>{3D7D59D7-DF91-47F0-BCBC-DAAD57FB8C79}</a:tableStyleId>
              </a:tblPr>
              <a:tblGrid>
                <a:gridCol w="1333500"/>
              </a:tblGrid>
              <a:tr h="190500">
                <a:tc>
                  <a:txBody>
                    <a:bodyPr/>
                    <a:lstStyle/>
                    <a:p>
                      <a:pPr indent="0" lvl="0" marL="0" rtl="0" algn="l">
                        <a:spcBef>
                          <a:spcPts val="0"/>
                        </a:spcBef>
                        <a:spcAft>
                          <a:spcPts val="0"/>
                        </a:spcAft>
                        <a:buNone/>
                      </a:pPr>
                      <a:r>
                        <a:t/>
                      </a:r>
                      <a:endParaRPr b="1" sz="1100"/>
                    </a:p>
                  </a:txBody>
                  <a:tcPr marT="91425" marB="91425" marR="91425" marL="91425"/>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06998"/>
        </a:solidFill>
      </p:bgPr>
    </p:bg>
    <p:spTree>
      <p:nvGrpSpPr>
        <p:cNvPr id="642" name="Shape 642"/>
        <p:cNvGrpSpPr/>
        <p:nvPr/>
      </p:nvGrpSpPr>
      <p:grpSpPr>
        <a:xfrm>
          <a:off x="0" y="0"/>
          <a:ext cx="0" cy="0"/>
          <a:chOff x="0" y="0"/>
          <a:chExt cx="0" cy="0"/>
        </a:xfrm>
      </p:grpSpPr>
      <p:sp>
        <p:nvSpPr>
          <p:cNvPr id="643" name="Google Shape;643;p41"/>
          <p:cNvSpPr/>
          <p:nvPr/>
        </p:nvSpPr>
        <p:spPr>
          <a:xfrm>
            <a:off x="-1463040" y="-1463040"/>
            <a:ext cx="3840480" cy="3840480"/>
          </a:xfrm>
          <a:prstGeom prst="ellipse">
            <a:avLst/>
          </a:prstGeom>
          <a:solidFill>
            <a:srgbClr val="FFD43B">
              <a:alpha val="4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41"/>
          <p:cNvSpPr/>
          <p:nvPr/>
        </p:nvSpPr>
        <p:spPr>
          <a:xfrm>
            <a:off x="10058400" y="4754880"/>
            <a:ext cx="3657600" cy="3657600"/>
          </a:xfrm>
          <a:prstGeom prst="ellipse">
            <a:avLst/>
          </a:prstGeom>
          <a:solidFill>
            <a:srgbClr val="4B8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41"/>
          <p:cNvSpPr txBox="1"/>
          <p:nvPr/>
        </p:nvSpPr>
        <p:spPr>
          <a:xfrm>
            <a:off x="731520" y="2743200"/>
            <a:ext cx="1069848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D43B"/>
              </a:buClr>
              <a:buSzPts val="4000"/>
              <a:buFont typeface="Cambria"/>
              <a:buNone/>
            </a:pPr>
            <a:r>
              <a:rPr b="1" lang="en-US" sz="4000">
                <a:solidFill>
                  <a:srgbClr val="FFD43B"/>
                </a:solidFill>
                <a:latin typeface="Cambria"/>
                <a:ea typeface="Cambria"/>
                <a:cs typeface="Cambria"/>
                <a:sym typeface="Cambria"/>
              </a:rPr>
              <a:t>Thank You!!!</a:t>
            </a:r>
            <a:endParaRPr sz="4000">
              <a:solidFill>
                <a:schemeClr val="dk1"/>
              </a:solidFill>
              <a:latin typeface="Calibri"/>
              <a:ea typeface="Calibri"/>
              <a:cs typeface="Calibri"/>
              <a:sym typeface="Calibri"/>
            </a:endParaRPr>
          </a:p>
        </p:txBody>
      </p:sp>
      <p:sp>
        <p:nvSpPr>
          <p:cNvPr id="646" name="Google Shape;646;p41"/>
          <p:cNvSpPr txBox="1"/>
          <p:nvPr/>
        </p:nvSpPr>
        <p:spPr>
          <a:xfrm>
            <a:off x="731520" y="539496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US" sz="1400">
                <a:solidFill>
                  <a:srgbClr val="FFFFFF"/>
                </a:solidFill>
                <a:latin typeface="Calibri"/>
                <a:ea typeface="Calibri"/>
                <a:cs typeface="Calibri"/>
                <a:sym typeface="Calibri"/>
              </a:rPr>
              <a:t>Reinaldy Zulfananda Arkaan</a:t>
            </a:r>
            <a:endParaRPr sz="1400">
              <a:solidFill>
                <a:schemeClr val="dk1"/>
              </a:solidFill>
              <a:latin typeface="Calibri"/>
              <a:ea typeface="Calibri"/>
              <a:cs typeface="Calibri"/>
              <a:sym typeface="Calibri"/>
            </a:endParaRPr>
          </a:p>
        </p:txBody>
      </p:sp>
      <p:sp>
        <p:nvSpPr>
          <p:cNvPr id="647" name="Google Shape;647;p41"/>
          <p:cNvSpPr txBox="1"/>
          <p:nvPr/>
        </p:nvSpPr>
        <p:spPr>
          <a:xfrm>
            <a:off x="731520" y="5614416"/>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DCEA"/>
              </a:buClr>
              <a:buSzPts val="1200"/>
              <a:buFont typeface="Calibri"/>
              <a:buNone/>
            </a:pPr>
            <a:r>
              <a:rPr lang="en-US" sz="1200">
                <a:solidFill>
                  <a:srgbClr val="C9DCEA"/>
                </a:solidFill>
                <a:latin typeface="Calibri"/>
                <a:ea typeface="Calibri"/>
                <a:cs typeface="Calibri"/>
                <a:sym typeface="Calibri"/>
              </a:rPr>
              <a:t>RevoU Full Stack Data Analytics  |  [W7W8W9 JUN26]  |  Intermediate</a:t>
            </a:r>
            <a:endParaRPr sz="1200">
              <a:solidFill>
                <a:schemeClr val="dk1"/>
              </a:solidFill>
              <a:latin typeface="Calibri"/>
              <a:ea typeface="Calibri"/>
              <a:cs typeface="Calibri"/>
              <a:sym typeface="Calibri"/>
            </a:endParaRPr>
          </a:p>
        </p:txBody>
      </p:sp>
      <p:sp>
        <p:nvSpPr>
          <p:cNvPr id="648" name="Google Shape;648;p41"/>
          <p:cNvSpPr txBox="1"/>
          <p:nvPr/>
        </p:nvSpPr>
        <p:spPr>
          <a:xfrm>
            <a:off x="731520" y="5943600"/>
            <a:ext cx="9189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DCEA"/>
              </a:buClr>
              <a:buSzPts val="1200"/>
              <a:buFont typeface="Calibri"/>
              <a:buNone/>
            </a:pPr>
            <a:r>
              <a:rPr lang="en-US" sz="1200">
                <a:solidFill>
                  <a:srgbClr val="C9DCEA"/>
                </a:solidFill>
                <a:latin typeface="Calibri"/>
                <a:ea typeface="Calibri"/>
                <a:cs typeface="Calibri"/>
                <a:sym typeface="Calibri"/>
              </a:rPr>
              <a:t>LinkedIn: https://www.linkedin.com/in/reinaldy-zulfananda-arkaan-30567a179</a:t>
            </a:r>
            <a:endParaRPr sz="1200">
              <a:solidFill>
                <a:schemeClr val="dk1"/>
              </a:solidFill>
              <a:latin typeface="Calibri"/>
              <a:ea typeface="Calibri"/>
              <a:cs typeface="Calibri"/>
              <a:sym typeface="Calibri"/>
            </a:endParaRPr>
          </a:p>
        </p:txBody>
      </p:sp>
      <p:sp>
        <p:nvSpPr>
          <p:cNvPr id="649" name="Google Shape;649;p41"/>
          <p:cNvSpPr txBox="1"/>
          <p:nvPr/>
        </p:nvSpPr>
        <p:spPr>
          <a:xfrm>
            <a:off x="731520" y="6217920"/>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DCEA"/>
              </a:buClr>
              <a:buSzPts val="1200"/>
              <a:buFont typeface="Calibri"/>
              <a:buNone/>
            </a:pPr>
            <a:r>
              <a:rPr lang="en-US" sz="1200">
                <a:solidFill>
                  <a:schemeClr val="lt1"/>
                </a:solidFill>
                <a:latin typeface="Calibri"/>
                <a:ea typeface="Calibri"/>
                <a:cs typeface="Calibri"/>
                <a:sym typeface="Calibri"/>
              </a:rPr>
              <a:t>Google Colab:</a:t>
            </a:r>
            <a:r>
              <a:rPr lang="en-US" sz="1200">
                <a:solidFill>
                  <a:schemeClr val="lt1"/>
                </a:solidFill>
                <a:latin typeface="Calibri"/>
                <a:ea typeface="Calibri"/>
                <a:cs typeface="Calibri"/>
                <a:sym typeface="Calibri"/>
              </a:rPr>
              <a:t> https://colab.research.google.com/drive/1IaXcBLqGQ3wUA5VCGSwyp2JRQMFFfC7Q?usp=sharing</a:t>
            </a:r>
            <a:endParaRPr sz="1200">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2026-09-04T02:31:50Z</dcterms:created>
  <dc:creator>PptxGenJS</dc:creator>
</cp:coreProperties>
</file>
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1" r:id="rId4"/>
    <p:sldId id="260" r:id="rId5"/>
    <p:sldId id="276" r:id="rId6"/>
    <p:sldId id="270" r:id="rId7"/>
    <p:sldId id="263" r:id="rId8"/>
    <p:sldId id="261" r:id="rId9"/>
    <p:sldId id="275" r:id="rId10"/>
    <p:sldId id="267" r:id="rId11"/>
    <p:sldId id="272" r:id="rId12"/>
    <p:sldId id="273" r:id="rId13"/>
    <p:sldId id="27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01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C28A8-6D17-D540-DD8A-8A0F4EA0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3379A-88EC-1272-5969-A055F4C4E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5A817-F86E-D4B8-F73C-0B13893FB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375E9-3B39-4A89-DAB0-EB9244395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03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B3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651760"/>
            <a:ext cx="3840480" cy="3840480"/>
          </a:xfrm>
          <a:prstGeom prst="ellipse">
            <a:avLst/>
          </a:prstGeom>
          <a:solidFill>
            <a:srgbClr val="2B2621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-2103120"/>
            <a:ext cx="3291840" cy="3291840"/>
          </a:xfrm>
          <a:prstGeom prst="ellipse">
            <a:avLst/>
          </a:prstGeom>
          <a:solidFill>
            <a:srgbClr val="2B2621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640080"/>
            <a:ext cx="914400" cy="9144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REVOU FULL STACK DATA ANALYTICS  ·  </a:t>
            </a:r>
            <a:r>
              <a:rPr lang="en-US" sz="1100" b="1" kern="0" spc="30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JUN26  </a:t>
            </a:r>
            <a:r>
              <a:rPr lang="en-US" sz="1100" b="1" kern="0" spc="3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WEEK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B26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Is Corporate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B26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Segment Profit Falling?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5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RevoShion sales grew 20.4% last year, but profit in the Corporate segment dropped 13.6%. This deck works through why.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4206240"/>
            <a:ext cx="5790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6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Reinaldy  Zulfananda Arkaan ·  10 July 2026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B26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[W1 JUN26 UBP] Reinaldy Zulfananda </a:t>
            </a:r>
            <a:r>
              <a:rPr lang="en-US" sz="1200" dirty="0" err="1">
                <a:solidFill>
                  <a:srgbClr val="2B262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Arkaan_Intermediate</a:t>
            </a:r>
            <a:endParaRPr lang="en-US" sz="1200" dirty="0">
              <a:solidFill>
                <a:srgbClr val="2B2621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Linkedin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: https://www.linkedin.com/in/reinaldy-zulfananda-arkaan-30567a179/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190" y="62589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621"/>
                </a:solidFill>
                <a:latin typeface="Bookman Old Style" pitchFamily="34" charset="0"/>
              </a:rPr>
              <a:t>DASHBOARD 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335019" y="4132772"/>
            <a:ext cx="8552790" cy="73593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lIns="0" tIns="0" rIns="0" bIns="0" rtlCol="0" anchor="ctr"/>
          <a:lstStyle/>
          <a:p>
            <a:pPr algn="just"/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: </a:t>
            </a:r>
          </a:p>
          <a:p>
            <a:pPr algn="just"/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https://public.tableau.com/views/SuperstoreDashboard_16709573699130/</a:t>
            </a:r>
            <a:r>
              <a:rPr lang="en-US" sz="900" dirty="0" err="1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SuperstoreDashboard</a:t>
            </a: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?:language=</a:t>
            </a:r>
            <a:r>
              <a:rPr lang="en-US" sz="900" dirty="0" err="1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-US&amp;_</a:t>
            </a:r>
            <a:r>
              <a:rPr lang="en-US" sz="900" dirty="0" err="1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</a:t>
            </a: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=1*1uzi50u*_ga*MTYxNzc0NjI4Ni4xNzQ2NTM2NTQ2*_ga_8YLN0SNXVS*czE3NDk0NDAxOTIkbzY1JGcxJHQxNzQ5NDQwMTkyJGo2MCRsMCRoMA..*_</a:t>
            </a:r>
            <a:r>
              <a:rPr lang="en-US" sz="900" dirty="0" err="1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gcl_au</a:t>
            </a: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*NjY4MDc3NTUxLjE3NDY1MzY1NDYuMTY5NjQyODYzNi4xNzQ3ODM4MjExLjE3NDc4MzgyMTI.&amp;:</a:t>
            </a:r>
            <a:r>
              <a:rPr lang="en-US" sz="900" dirty="0" err="1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=&amp;:redirect=auth&amp;:</a:t>
            </a:r>
            <a:r>
              <a:rPr lang="en-US" sz="900" dirty="0" err="1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display_count</a:t>
            </a: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=n&amp;:origin=</a:t>
            </a:r>
            <a:r>
              <a:rPr lang="en-US" sz="900" dirty="0" err="1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viz_share_link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3A5DF7-DF5E-99D5-B0EC-5DDF0E49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9" y="544226"/>
            <a:ext cx="6739757" cy="34947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DB0374F-1E08-686C-DED1-00F3AD295AB5}"/>
              </a:ext>
            </a:extLst>
          </p:cNvPr>
          <p:cNvSpPr txBox="1"/>
          <p:nvPr/>
        </p:nvSpPr>
        <p:spPr>
          <a:xfrm>
            <a:off x="7323082" y="552108"/>
            <a:ext cx="1564727" cy="267765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This analysis is based on a publicly available dataset and does not reflect real-world financial or business insights.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Revoshion</a:t>
            </a:r>
            <a:r>
              <a:rPr lang="en-US" sz="1200" dirty="0"/>
              <a:t> is a fictional entity, and the results presented here are purely for educational purposes.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RC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621"/>
                </a:solidFill>
                <a:latin typeface="Bookman Old Style" pitchFamily="34" charset="0"/>
                <a:ea typeface="Bookman Old Style" charset="0"/>
                <a:cs typeface="Bookman Old Style" charset="0"/>
              </a:rPr>
              <a:t>DARCI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80000"/>
            <a:ext cx="8229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071"/>
                </a:solidFill>
                <a:latin typeface="Arial" pitchFamily="34" charset="0"/>
                <a:ea typeface="Arial" charset="0"/>
                <a:cs typeface="Arial" charset="0"/>
              </a:rPr>
              <a:t>Who decides, who owns it, and who needs to hear about it.</a:t>
            </a:r>
          </a:p>
        </p:txBody>
      </p:sp>
      <p:graphicFrame>
        <p:nvGraphicFramePr>
          <p:cNvPr id="10" name="DARC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023388"/>
              </p:ext>
            </p:extLst>
          </p:nvPr>
        </p:nvGraphicFramePr>
        <p:xfrm>
          <a:off x="457200" y="1250000"/>
          <a:ext cx="8229600" cy="3275488"/>
        </p:xfrm>
        <a:graphic>
          <a:graphicData uri="http://schemas.openxmlformats.org/drawingml/2006/table">
            <a:tbl>
              <a:tblPr firstRow="1" firstCol="1">
                <a:noFill/>
              </a:tblPr>
              <a:tblGrid>
                <a:gridCol w="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240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Role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Who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D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Decider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Head of Sales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A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Accountable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Corporate Sales Manager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R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Responsible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Data Analyst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C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Consulted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Marketing Manager, Finance Manager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I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Informed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C-Level</a:t>
                      </a: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PageNum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charset="0"/>
                <a:cs typeface="Arial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6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Identification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79"/>
            <a:ext cx="8229600" cy="1712923"/>
          </a:xfrm>
          <a:prstGeom prst="roundRect">
            <a:avLst>
              <a:gd name="adj" fmla="val 6452"/>
            </a:avLst>
          </a:prstGeom>
          <a:solidFill>
            <a:srgbClr val="FDF3D6"/>
          </a:solidFill>
          <a:ln/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61872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Bookman Old Style" panose="02050604050505020204" pitchFamily="18" charset="0"/>
              </a:rPr>
              <a:t>How can the Corporate segment increase its profit by 10% over the next 2 months after experiencing a 13.6% profit decline despite an increase in sales?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6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79"/>
            <a:ext cx="8229600" cy="1712923"/>
          </a:xfrm>
          <a:prstGeom prst="roundRect">
            <a:avLst>
              <a:gd name="adj" fmla="val 6452"/>
            </a:avLst>
          </a:prstGeom>
          <a:solidFill>
            <a:srgbClr val="FDF3D6"/>
          </a:solidFill>
          <a:ln/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61872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Bookman Old Style" panose="02050604050505020204" pitchFamily="18" charset="0"/>
              </a:rPr>
              <a:t>To identify the key factors contributing to the 13.6% decline in Corporate segment profit despite sales growth, and propose recommendations to improve Corporate profit by 10% over the </a:t>
            </a:r>
            <a:r>
              <a:rPr lang="en-US" sz="1600">
                <a:latin typeface="Bookman Old Style" panose="02050604050505020204" pitchFamily="18" charset="0"/>
              </a:rPr>
              <a:t>next 2 </a:t>
            </a:r>
            <a:r>
              <a:rPr lang="en-US" sz="1600" dirty="0">
                <a:latin typeface="Bookman Old Style" panose="02050604050505020204" pitchFamily="18" charset="0"/>
              </a:rPr>
              <a:t>months.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ssu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0" dirty="0">
                <a:solidFill>
                  <a:srgbClr val="2B2621"/>
                </a:solidFill>
                <a:latin typeface="Bookman Old Style" pitchFamily="34" charset="0"/>
                <a:cs typeface="Bookman Old Style" pitchFamily="34" charset="0"/>
              </a:rPr>
              <a:t>Root Cause Analysis (Issue Tree)</a:t>
            </a:r>
          </a:p>
        </p:txBody>
      </p:sp>
      <p:sp>
        <p:nvSpPr>
          <p:cNvPr id="103" name="S104"/>
          <p:cNvSpPr/>
          <p:nvPr/>
        </p:nvSpPr>
        <p:spPr>
          <a:xfrm>
            <a:off x="457200" y="2267712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2B2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106"/>
          <p:cNvSpPr/>
          <p:nvPr/>
        </p:nvSpPr>
        <p:spPr>
          <a:xfrm>
            <a:off x="457200" y="234086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Corporate Profit</a:t>
            </a:r>
          </a:p>
          <a:p>
            <a:pPr marL="0" indent="0" algn="ctr">
              <a:buNone/>
            </a:pPr>
            <a:r>
              <a:rPr lang="en-US" sz="1300" b="1" i="0" dirty="0">
                <a:solidFill>
                  <a:srgbClr val="F5B301"/>
                </a:solidFill>
                <a:latin typeface="Arial" pitchFamily="34" charset="0"/>
                <a:cs typeface="Arial" pitchFamily="34" charset="0"/>
              </a:rPr>
              <a:t>−13.6% YoY</a:t>
            </a:r>
          </a:p>
        </p:txBody>
      </p:sp>
      <p:cxnSp>
        <p:nvCxnSpPr>
          <p:cNvPr id="107" name="L108"/>
          <p:cNvCxnSpPr/>
          <p:nvPr/>
        </p:nvCxnSpPr>
        <p:spPr>
          <a:xfrm>
            <a:off x="2487168" y="1325880"/>
            <a:ext cx="0" cy="2798064"/>
          </a:xfrm>
          <a:prstGeom prst="line">
            <a:avLst/>
          </a:prstGeom>
          <a:ln w="12700">
            <a:solidFill>
              <a:srgbClr val="C9BFA6"/>
            </a:solidFill>
          </a:ln>
        </p:spPr>
      </p:cxnSp>
      <p:cxnSp>
        <p:nvCxnSpPr>
          <p:cNvPr id="109" name="L110"/>
          <p:cNvCxnSpPr/>
          <p:nvPr/>
        </p:nvCxnSpPr>
        <p:spPr>
          <a:xfrm>
            <a:off x="2240280" y="2724912"/>
            <a:ext cx="246888" cy="0"/>
          </a:xfrm>
          <a:prstGeom prst="line">
            <a:avLst/>
          </a:prstGeom>
          <a:ln w="12700">
            <a:solidFill>
              <a:srgbClr val="C9BFA6"/>
            </a:solidFill>
          </a:ln>
        </p:spPr>
      </p:cxnSp>
      <p:cxnSp>
        <p:nvCxnSpPr>
          <p:cNvPr id="111" name="L112"/>
          <p:cNvCxnSpPr/>
          <p:nvPr/>
        </p:nvCxnSpPr>
        <p:spPr>
          <a:xfrm>
            <a:off x="2487168" y="1325880"/>
            <a:ext cx="256032" cy="0"/>
          </a:xfrm>
          <a:prstGeom prst="line">
            <a:avLst/>
          </a:prstGeom>
          <a:ln w="12700">
            <a:solidFill>
              <a:srgbClr val="C9BFA6"/>
            </a:solidFill>
          </a:ln>
        </p:spPr>
      </p:cxnSp>
      <p:sp>
        <p:nvSpPr>
          <p:cNvPr id="113" name="S114"/>
          <p:cNvSpPr/>
          <p:nvPr/>
        </p:nvSpPr>
        <p:spPr>
          <a:xfrm>
            <a:off x="2743200" y="932688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116"/>
          <p:cNvSpPr/>
          <p:nvPr/>
        </p:nvSpPr>
        <p:spPr>
          <a:xfrm>
            <a:off x="2834640" y="106070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Product Mix</a:t>
            </a:r>
          </a:p>
          <a:p>
            <a:pPr marL="0" indent="0" algn="ctr">
              <a:buNone/>
            </a:pPr>
            <a:r>
              <a:rPr lang="en-US" sz="700" b="0" i="1" dirty="0">
                <a:solidFill>
                  <a:srgbClr val="7A5E12"/>
                </a:solidFill>
                <a:latin typeface="Arial" pitchFamily="34" charset="0"/>
                <a:cs typeface="Arial" pitchFamily="34" charset="0"/>
              </a:rPr>
              <a:t>What is being sold</a:t>
            </a:r>
          </a:p>
        </p:txBody>
      </p:sp>
      <p:cxnSp>
        <p:nvCxnSpPr>
          <p:cNvPr id="117" name="L118"/>
          <p:cNvCxnSpPr/>
          <p:nvPr/>
        </p:nvCxnSpPr>
        <p:spPr>
          <a:xfrm>
            <a:off x="4892040" y="1325880"/>
            <a:ext cx="228600" cy="0"/>
          </a:xfrm>
          <a:prstGeom prst="line">
            <a:avLst/>
          </a:prstGeom>
          <a:ln w="12700">
            <a:solidFill>
              <a:srgbClr val="D8CDB4"/>
            </a:solidFill>
          </a:ln>
        </p:spPr>
      </p:cxnSp>
      <p:sp>
        <p:nvSpPr>
          <p:cNvPr id="119" name="S120"/>
          <p:cNvSpPr/>
          <p:nvPr/>
        </p:nvSpPr>
        <p:spPr>
          <a:xfrm>
            <a:off x="5120640" y="932688"/>
            <a:ext cx="3566160" cy="786384"/>
          </a:xfrm>
          <a:prstGeom prst="roundRect">
            <a:avLst>
              <a:gd name="adj" fmla="val 9000"/>
            </a:avLst>
          </a:prstGeom>
          <a:solidFill>
            <a:srgbClr val="FD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122"/>
          <p:cNvSpPr/>
          <p:nvPr/>
        </p:nvSpPr>
        <p:spPr>
          <a:xfrm>
            <a:off x="5257800" y="10424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Furniture over-weighted in Corporate orders</a:t>
            </a:r>
          </a:p>
          <a:p>
            <a:pPr marL="0" indent="0" algn="l">
              <a:lnSpc>
                <a:spcPct val="132000"/>
              </a:lnSpc>
              <a:buNone/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Negative-margin sub-categories (Tables, Bookcases)</a:t>
            </a:r>
          </a:p>
          <a:p>
            <a:pPr>
              <a:lnSpc>
                <a:spcPct val="132000"/>
              </a:lnSpc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Higher contribution from low-profit Furniture products.</a:t>
            </a:r>
            <a:endParaRPr lang="en-US" sz="750" b="0" i="0" dirty="0">
              <a:solidFill>
                <a:srgbClr val="2B2621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123" name="L124"/>
          <p:cNvCxnSpPr/>
          <p:nvPr/>
        </p:nvCxnSpPr>
        <p:spPr>
          <a:xfrm>
            <a:off x="2487168" y="2258568"/>
            <a:ext cx="256032" cy="0"/>
          </a:xfrm>
          <a:prstGeom prst="line">
            <a:avLst/>
          </a:prstGeom>
          <a:ln w="12700">
            <a:solidFill>
              <a:srgbClr val="C9BFA6"/>
            </a:solidFill>
          </a:ln>
        </p:spPr>
      </p:cxnSp>
      <p:sp>
        <p:nvSpPr>
          <p:cNvPr id="125" name="S126"/>
          <p:cNvSpPr/>
          <p:nvPr/>
        </p:nvSpPr>
        <p:spPr>
          <a:xfrm>
            <a:off x="2743200" y="1865376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128"/>
          <p:cNvSpPr/>
          <p:nvPr/>
        </p:nvSpPr>
        <p:spPr>
          <a:xfrm>
            <a:off x="2834640" y="1993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Pricing &amp; Discount</a:t>
            </a:r>
          </a:p>
          <a:p>
            <a:pPr marL="0" indent="0" algn="ctr">
              <a:buNone/>
            </a:pPr>
            <a:r>
              <a:rPr lang="en-US" sz="700" b="0" i="1" dirty="0">
                <a:solidFill>
                  <a:srgbClr val="7A5E12"/>
                </a:solidFill>
                <a:latin typeface="Arial" pitchFamily="34" charset="0"/>
                <a:cs typeface="Arial" pitchFamily="34" charset="0"/>
              </a:rPr>
              <a:t>At what price it is sold</a:t>
            </a:r>
          </a:p>
        </p:txBody>
      </p:sp>
      <p:cxnSp>
        <p:nvCxnSpPr>
          <p:cNvPr id="129" name="L130"/>
          <p:cNvCxnSpPr/>
          <p:nvPr/>
        </p:nvCxnSpPr>
        <p:spPr>
          <a:xfrm>
            <a:off x="4892040" y="2258568"/>
            <a:ext cx="228600" cy="0"/>
          </a:xfrm>
          <a:prstGeom prst="line">
            <a:avLst/>
          </a:prstGeom>
          <a:ln w="12700">
            <a:solidFill>
              <a:srgbClr val="D8CDB4"/>
            </a:solidFill>
          </a:ln>
        </p:spPr>
      </p:cxnSp>
      <p:sp>
        <p:nvSpPr>
          <p:cNvPr id="131" name="S132"/>
          <p:cNvSpPr/>
          <p:nvPr/>
        </p:nvSpPr>
        <p:spPr>
          <a:xfrm>
            <a:off x="5120640" y="1865376"/>
            <a:ext cx="3566160" cy="786384"/>
          </a:xfrm>
          <a:prstGeom prst="roundRect">
            <a:avLst>
              <a:gd name="adj" fmla="val 9000"/>
            </a:avLst>
          </a:prstGeom>
          <a:solidFill>
            <a:srgbClr val="FD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134"/>
          <p:cNvSpPr/>
          <p:nvPr/>
        </p:nvSpPr>
        <p:spPr>
          <a:xfrm>
            <a:off x="5257800" y="19751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Corporate </a:t>
            </a:r>
            <a:r>
              <a:rPr lang="en-US" sz="800" dirty="0"/>
              <a:t>customers may receive higher discounts, reducing profit margins.</a:t>
            </a:r>
            <a:endParaRPr lang="en-US" sz="750" b="0" i="0" dirty="0">
              <a:solidFill>
                <a:srgbClr val="2B262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32000"/>
              </a:lnSpc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</a:t>
            </a:r>
            <a:r>
              <a:rPr lang="en-US" sz="800" dirty="0"/>
              <a:t>Discount policies may not sufficiently protect profit margins.</a:t>
            </a:r>
            <a:endParaRPr lang="en-US" sz="750" b="0" i="0" dirty="0">
              <a:solidFill>
                <a:srgbClr val="2B2621"/>
              </a:solidFill>
              <a:latin typeface="Arial" pitchFamily="34" charset="0"/>
              <a:cs typeface="Arial" pitchFamily="34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Discount used to hit sales targets, not profit targets</a:t>
            </a:r>
          </a:p>
        </p:txBody>
      </p:sp>
      <p:cxnSp>
        <p:nvCxnSpPr>
          <p:cNvPr id="135" name="L136"/>
          <p:cNvCxnSpPr/>
          <p:nvPr/>
        </p:nvCxnSpPr>
        <p:spPr>
          <a:xfrm>
            <a:off x="2487168" y="3191256"/>
            <a:ext cx="256032" cy="0"/>
          </a:xfrm>
          <a:prstGeom prst="line">
            <a:avLst/>
          </a:prstGeom>
          <a:ln w="12700">
            <a:solidFill>
              <a:srgbClr val="C9BFA6"/>
            </a:solidFill>
          </a:ln>
        </p:spPr>
      </p:cxnSp>
      <p:sp>
        <p:nvSpPr>
          <p:cNvPr id="137" name="S138"/>
          <p:cNvSpPr/>
          <p:nvPr/>
        </p:nvSpPr>
        <p:spPr>
          <a:xfrm>
            <a:off x="2743200" y="2798064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T140"/>
          <p:cNvSpPr/>
          <p:nvPr/>
        </p:nvSpPr>
        <p:spPr>
          <a:xfrm>
            <a:off x="2834640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Customer Behaviour</a:t>
            </a:r>
          </a:p>
          <a:p>
            <a:pPr marL="0" indent="0" algn="ctr">
              <a:buNone/>
            </a:pPr>
            <a:r>
              <a:rPr lang="en-US" sz="700" b="0" i="1" dirty="0">
                <a:solidFill>
                  <a:srgbClr val="7A5E12"/>
                </a:solidFill>
                <a:latin typeface="Arial" pitchFamily="34" charset="0"/>
                <a:cs typeface="Arial" pitchFamily="34" charset="0"/>
              </a:rPr>
              <a:t>How it is bought</a:t>
            </a:r>
          </a:p>
        </p:txBody>
      </p:sp>
      <p:cxnSp>
        <p:nvCxnSpPr>
          <p:cNvPr id="141" name="L142"/>
          <p:cNvCxnSpPr/>
          <p:nvPr/>
        </p:nvCxnSpPr>
        <p:spPr>
          <a:xfrm>
            <a:off x="4892040" y="3191256"/>
            <a:ext cx="228600" cy="0"/>
          </a:xfrm>
          <a:prstGeom prst="line">
            <a:avLst/>
          </a:prstGeom>
          <a:ln w="12700">
            <a:solidFill>
              <a:srgbClr val="D8CDB4"/>
            </a:solidFill>
          </a:ln>
        </p:spPr>
      </p:cxnSp>
      <p:sp>
        <p:nvSpPr>
          <p:cNvPr id="143" name="S144"/>
          <p:cNvSpPr/>
          <p:nvPr/>
        </p:nvSpPr>
        <p:spPr>
          <a:xfrm>
            <a:off x="5120640" y="2798064"/>
            <a:ext cx="3566160" cy="786384"/>
          </a:xfrm>
          <a:prstGeom prst="roundRect">
            <a:avLst>
              <a:gd name="adj" fmla="val 9000"/>
            </a:avLst>
          </a:prstGeom>
          <a:solidFill>
            <a:srgbClr val="FD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T146"/>
          <p:cNvSpPr/>
          <p:nvPr/>
        </p:nvSpPr>
        <p:spPr>
          <a:xfrm>
            <a:off x="5257800" y="29077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Order frequency up (+28.3%) but customers flat (+8.6%)</a:t>
            </a:r>
          </a:p>
          <a:p>
            <a:pPr marL="0" indent="0" algn="l">
              <a:lnSpc>
                <a:spcPct val="132000"/>
              </a:lnSpc>
              <a:buNone/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Smaller average basket per Corporate order</a:t>
            </a:r>
          </a:p>
          <a:p>
            <a:pPr marL="0" indent="0" algn="l">
              <a:lnSpc>
                <a:spcPct val="132000"/>
              </a:lnSpc>
              <a:buNone/>
            </a:pPr>
            <a:r>
              <a:rPr lang="en-US" sz="7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Revenue concentrated in a few high-leverage accounts</a:t>
            </a:r>
          </a:p>
        </p:txBody>
      </p:sp>
      <p:cxnSp>
        <p:nvCxnSpPr>
          <p:cNvPr id="147" name="L148"/>
          <p:cNvCxnSpPr/>
          <p:nvPr/>
        </p:nvCxnSpPr>
        <p:spPr>
          <a:xfrm>
            <a:off x="2487168" y="4123944"/>
            <a:ext cx="256032" cy="0"/>
          </a:xfrm>
          <a:prstGeom prst="line">
            <a:avLst/>
          </a:prstGeom>
          <a:ln w="12700">
            <a:solidFill>
              <a:srgbClr val="C9BFA6"/>
            </a:solidFill>
          </a:ln>
        </p:spPr>
      </p:cxnSp>
      <p:sp>
        <p:nvSpPr>
          <p:cNvPr id="149" name="S150"/>
          <p:cNvSpPr/>
          <p:nvPr/>
        </p:nvSpPr>
        <p:spPr>
          <a:xfrm>
            <a:off x="2743200" y="3730752"/>
            <a:ext cx="2148840" cy="786384"/>
          </a:xfrm>
          <a:prstGeom prst="roundRect">
            <a:avLst>
              <a:gd name="adj" fmla="val 9000"/>
            </a:avLst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152"/>
          <p:cNvSpPr/>
          <p:nvPr/>
        </p:nvSpPr>
        <p:spPr>
          <a:xfrm>
            <a:off x="2834640" y="38587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Cost to Serve</a:t>
            </a:r>
          </a:p>
          <a:p>
            <a:pPr marL="0" indent="0" algn="ctr">
              <a:buNone/>
            </a:pPr>
            <a:r>
              <a:rPr lang="en-US" sz="700" b="0" i="1" dirty="0">
                <a:solidFill>
                  <a:srgbClr val="7A5E12"/>
                </a:solidFill>
                <a:latin typeface="Arial" pitchFamily="34" charset="0"/>
                <a:cs typeface="Arial" pitchFamily="34" charset="0"/>
              </a:rPr>
              <a:t>What it costs to deliver</a:t>
            </a:r>
          </a:p>
        </p:txBody>
      </p:sp>
      <p:cxnSp>
        <p:nvCxnSpPr>
          <p:cNvPr id="153" name="L154"/>
          <p:cNvCxnSpPr/>
          <p:nvPr/>
        </p:nvCxnSpPr>
        <p:spPr>
          <a:xfrm>
            <a:off x="4892040" y="4123944"/>
            <a:ext cx="228600" cy="0"/>
          </a:xfrm>
          <a:prstGeom prst="line">
            <a:avLst/>
          </a:prstGeom>
          <a:ln w="12700">
            <a:solidFill>
              <a:srgbClr val="D8CDB4"/>
            </a:solidFill>
          </a:ln>
        </p:spPr>
      </p:cxnSp>
      <p:sp>
        <p:nvSpPr>
          <p:cNvPr id="155" name="S156"/>
          <p:cNvSpPr/>
          <p:nvPr/>
        </p:nvSpPr>
        <p:spPr>
          <a:xfrm>
            <a:off x="5120640" y="3730752"/>
            <a:ext cx="3566160" cy="786384"/>
          </a:xfrm>
          <a:prstGeom prst="roundRect">
            <a:avLst>
              <a:gd name="adj" fmla="val 9000"/>
            </a:avLst>
          </a:prstGeom>
          <a:solidFill>
            <a:srgbClr val="FD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T158"/>
          <p:cNvSpPr/>
          <p:nvPr/>
        </p:nvSpPr>
        <p:spPr>
          <a:xfrm>
            <a:off x="5257800" y="38404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750" i="0" dirty="0">
                <a:solidFill>
                  <a:srgbClr val="2B2621"/>
                </a:solidFill>
                <a:latin typeface="Arial" panose="020B0604020202020204" pitchFamily="34" charset="0"/>
                <a:cs typeface="Arial" pitchFamily="34" charset="0"/>
              </a:rPr>
              <a:t>•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Operational costs may increase as order frequency grows.</a:t>
            </a:r>
            <a:endParaRPr lang="en-US" sz="750" i="0" dirty="0">
              <a:solidFill>
                <a:srgbClr val="2B262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32000"/>
              </a:lnSpc>
            </a:pPr>
            <a:r>
              <a:rPr lang="en-US" sz="75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Furniture products may incur higher fulfillment costs.</a:t>
            </a:r>
            <a:endParaRPr lang="en-US" sz="750" i="0" dirty="0">
              <a:solidFill>
                <a:srgbClr val="2B262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32000"/>
              </a:lnSpc>
            </a:pPr>
            <a:r>
              <a:rPr lang="en-US" sz="75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•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Furniture products may generate higher operational costs.</a:t>
            </a:r>
            <a:endParaRPr lang="en-US" sz="750" i="0" dirty="0">
              <a:solidFill>
                <a:srgbClr val="2B2621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61" name="T162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i="0" dirty="0">
                <a:solidFill>
                  <a:srgbClr val="8A8071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6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Hypothesis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770417"/>
              </p:ext>
            </p:extLst>
          </p:nvPr>
        </p:nvGraphicFramePr>
        <p:xfrm>
          <a:off x="457200" y="975347"/>
          <a:ext cx="8229600" cy="3051711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Root Causes</a:t>
                      </a:r>
                      <a:endParaRPr lang="en-US" sz="1200" dirty="0">
                        <a:latin typeface="Bookman Old Style" charset="0"/>
                        <a:ea typeface="Bookman Old Style" charset="0"/>
                        <a:cs typeface="Bookman Old Style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pitchFamily="34" charset="-122"/>
                          <a:cs typeface="Bookman Old Style" pitchFamily="34" charset="-120"/>
                        </a:rPr>
                        <a:t>Hypothesis</a:t>
                      </a:r>
                      <a:endParaRPr lang="en-US" sz="1200" dirty="0">
                        <a:latin typeface="Bookman Old Style" charset="0"/>
                        <a:ea typeface="Bookman Old Style" charset="0"/>
                        <a:cs typeface="Bookman Old Style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Prioritization</a:t>
                      </a:r>
                      <a:endParaRPr lang="en-US" sz="1200" dirty="0">
                        <a:latin typeface="Bookman Old Style" charset="0"/>
                        <a:ea typeface="Bookman Old Style" charset="0"/>
                        <a:cs typeface="Bookman Old Style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Product Mix (Furniture)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Furniture</a:t>
                      </a:r>
                      <a:r>
                        <a:rPr lang="en-US" sz="1200" dirty="0"/>
                        <a:t> is the primary driver of the Corporate profit decline.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Mix (Low-Margin SKUs)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Sales growth is driven by low-margin products.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5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 err="1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Customer</a:t>
                      </a: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 Behaviour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Corporate profit depends on a small number of key accounts.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Cost to Serve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Rising fulfilment, shipping and return costs on Furniture erode profit per order.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72712C-C59A-7558-1676-2CDA44C0E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832336"/>
              </p:ext>
            </p:extLst>
          </p:nvPr>
        </p:nvGraphicFramePr>
        <p:xfrm>
          <a:off x="457200" y="4027058"/>
          <a:ext cx="8229600" cy="65836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813874184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710031619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1675612687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Pricing &amp; </a:t>
                      </a:r>
                      <a:r>
                        <a:rPr lang="en-US" sz="1150" dirty="0" err="1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Discount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Excessive volume discounts to Corporate reduce the profit margin.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8851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6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Metrics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8" name="Google Shape;156;p23">
            <a:extLst>
              <a:ext uri="{FF2B5EF4-FFF2-40B4-BE49-F238E27FC236}">
                <a16:creationId xmlns:a16="http://schemas.microsoft.com/office/drawing/2014/main" id="{259F8259-5A2B-33B7-A475-AECFACC131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6680031"/>
              </p:ext>
            </p:extLst>
          </p:nvPr>
        </p:nvGraphicFramePr>
        <p:xfrm>
          <a:off x="457200" y="1049999"/>
          <a:ext cx="8229600" cy="306085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1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3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29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latin typeface="Bookman Old Style" panose="02050604050505020204" pitchFamily="18" charset="0"/>
                          <a:ea typeface="Lexend"/>
                          <a:cs typeface="Lexend"/>
                          <a:sym typeface="Lexend"/>
                        </a:rPr>
                        <a:t>Prioritized Hypotheses</a:t>
                      </a:r>
                      <a:endParaRPr sz="1400" b="1" dirty="0">
                        <a:latin typeface="Bookman Old Style" panose="02050604050505020204" pitchFamily="18" charset="0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6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latin typeface="Bookman Old Style" panose="02050604050505020204" pitchFamily="18" charset="0"/>
                          <a:ea typeface="Lexend"/>
                          <a:cs typeface="Lexend"/>
                          <a:sym typeface="Lexend"/>
                        </a:rPr>
                        <a:t>Metrics</a:t>
                      </a:r>
                      <a:endParaRPr sz="1400" b="1">
                        <a:latin typeface="Bookman Old Style" panose="02050604050505020204" pitchFamily="18" charset="0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6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latin typeface="Bookman Old Style" panose="02050604050505020204" pitchFamily="18" charset="0"/>
                          <a:ea typeface="Lexend"/>
                          <a:cs typeface="Lexend"/>
                          <a:sym typeface="Lexend"/>
                        </a:rPr>
                        <a:t>Reasoning</a:t>
                      </a:r>
                      <a:endParaRPr sz="1400" b="1" dirty="0">
                        <a:latin typeface="Bookman Old Style" panose="02050604050505020204" pitchFamily="18" charset="0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B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5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Furniture drives the Corporate profit decline.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Gross profit margin % of Furniture in Corporate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Furniture is the only category in decline (-56.6%). Margin tells us if it is being sold below cost.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5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Sales growth comes from low-margin products.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Profit per $1 of sales, by category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Sales rose 20.4% while profit rose only 14.2%, so the mix is thinning margin.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5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Excessive discounts erode Corporate margin.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Average discount rate % per Corporate order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A discount ceiling is the fastest lever and can be enforced within one quarter.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5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Corporate profit depends on a few key accounts.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Revenue share % of the top 10 Corporate accounts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Canon alone holds $20.3K of profit, so a handful of buyers can push for discounts.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5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Cost to serve rises with order frequency.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Profit per order, plus average order value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/>
                        <a:t>Orders rose 28.3% but customers only 8.6%, so each order is getting smaller.</a:t>
                      </a:r>
                      <a:endParaRPr dirty="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54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0" dirty="0">
                <a:solidFill>
                  <a:srgbClr val="2B2621"/>
                </a:solidFill>
                <a:latin typeface="Bookman Old Style" pitchFamily="34" charset="0"/>
                <a:cs typeface="Bookman Old Style" pitchFamily="34" charset="0"/>
              </a:rPr>
              <a:t>Key Insights from the Dashboard</a:t>
            </a:r>
          </a:p>
        </p:txBody>
      </p:sp>
      <p:sp>
        <p:nvSpPr>
          <p:cNvPr id="55" name="Shape 56"/>
          <p:cNvSpPr/>
          <p:nvPr/>
        </p:nvSpPr>
        <p:spPr>
          <a:xfrm>
            <a:off x="457200" y="960120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8"/>
          <p:cNvSpPr/>
          <p:nvPr/>
        </p:nvSpPr>
        <p:spPr>
          <a:xfrm>
            <a:off x="658368" y="1133856"/>
            <a:ext cx="64008" cy="384048"/>
          </a:xfrm>
          <a:prstGeom prst="rect">
            <a:avLst/>
          </a:prstGeom>
          <a:solidFill>
            <a:srgbClr val="B444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60"/>
          <p:cNvSpPr/>
          <p:nvPr/>
        </p:nvSpPr>
        <p:spPr>
          <a:xfrm>
            <a:off x="868680" y="11064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Segment</a:t>
            </a:r>
          </a:p>
        </p:txBody>
      </p:sp>
      <p:sp>
        <p:nvSpPr>
          <p:cNvPr id="61" name="Text 62"/>
          <p:cNvSpPr/>
          <p:nvPr/>
        </p:nvSpPr>
        <p:spPr>
          <a:xfrm>
            <a:off x="3108960" y="108813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Corporate is the only segment with negative profit growth, down 13.6% to $26.8K, while Consumer grew 27.4% and Home Office 40.3%.</a:t>
            </a:r>
          </a:p>
        </p:txBody>
      </p:sp>
      <p:sp>
        <p:nvSpPr>
          <p:cNvPr id="63" name="Shape 64"/>
          <p:cNvSpPr/>
          <p:nvPr/>
        </p:nvSpPr>
        <p:spPr>
          <a:xfrm>
            <a:off x="457200" y="1810512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EAD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6"/>
          <p:cNvSpPr/>
          <p:nvPr/>
        </p:nvSpPr>
        <p:spPr>
          <a:xfrm>
            <a:off x="658368" y="1984248"/>
            <a:ext cx="64008" cy="384048"/>
          </a:xfrm>
          <a:prstGeom prst="rect">
            <a:avLst/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8"/>
          <p:cNvSpPr/>
          <p:nvPr/>
        </p:nvSpPr>
        <p:spPr>
          <a:xfrm>
            <a:off x="868680" y="19568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Category</a:t>
            </a:r>
          </a:p>
        </p:txBody>
      </p:sp>
      <p:sp>
        <p:nvSpPr>
          <p:cNvPr id="69" name="Text 70"/>
          <p:cNvSpPr/>
          <p:nvPr/>
        </p:nvSpPr>
        <p:spPr>
          <a:xfrm>
            <a:off x="3108960" y="193852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Furniture is the only category in decline, down 56.6% to $3.0K, while Technology grew 27.4% and Office Supplies 13.3%.</a:t>
            </a:r>
          </a:p>
        </p:txBody>
      </p:sp>
      <p:sp>
        <p:nvSpPr>
          <p:cNvPr id="71" name="Shape 72"/>
          <p:cNvSpPr/>
          <p:nvPr/>
        </p:nvSpPr>
        <p:spPr>
          <a:xfrm>
            <a:off x="457200" y="2660904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4"/>
          <p:cNvSpPr/>
          <p:nvPr/>
        </p:nvSpPr>
        <p:spPr>
          <a:xfrm>
            <a:off x="658368" y="2834640"/>
            <a:ext cx="64008" cy="384048"/>
          </a:xfrm>
          <a:prstGeom prst="rect">
            <a:avLst/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6"/>
          <p:cNvSpPr/>
          <p:nvPr/>
        </p:nvSpPr>
        <p:spPr>
          <a:xfrm>
            <a:off x="868680" y="2807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Margin</a:t>
            </a:r>
          </a:p>
        </p:txBody>
      </p:sp>
      <p:sp>
        <p:nvSpPr>
          <p:cNvPr id="77" name="Text 78"/>
          <p:cNvSpPr/>
          <p:nvPr/>
        </p:nvSpPr>
        <p:spPr>
          <a:xfrm>
            <a:off x="3108960" y="27889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Sales grew 20.4% but profit only 14.2%. That six-point gap means margin is thinning while demand holds up.</a:t>
            </a:r>
          </a:p>
        </p:txBody>
      </p:sp>
      <p:sp>
        <p:nvSpPr>
          <p:cNvPr id="79" name="Shape 80"/>
          <p:cNvSpPr/>
          <p:nvPr/>
        </p:nvSpPr>
        <p:spPr>
          <a:xfrm>
            <a:off x="457200" y="3511296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EAD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82"/>
          <p:cNvSpPr/>
          <p:nvPr/>
        </p:nvSpPr>
        <p:spPr>
          <a:xfrm>
            <a:off x="658368" y="3685032"/>
            <a:ext cx="64008" cy="384048"/>
          </a:xfrm>
          <a:prstGeom prst="rect">
            <a:avLst/>
          </a:prstGeom>
          <a:solidFill>
            <a:srgbClr val="5C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4"/>
          <p:cNvSpPr/>
          <p:nvPr/>
        </p:nvSpPr>
        <p:spPr>
          <a:xfrm>
            <a:off x="868680" y="36576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Orders and accounts</a:t>
            </a:r>
          </a:p>
        </p:txBody>
      </p:sp>
      <p:sp>
        <p:nvSpPr>
          <p:cNvPr id="85" name="Text 86"/>
          <p:cNvSpPr/>
          <p:nvPr/>
        </p:nvSpPr>
        <p:spPr>
          <a:xfrm>
            <a:off x="3108960" y="363931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Orders rose 28.3% while customers rose only 8.6%. Canon alone holds $20.3K of profit, so the buyer base is narrow.</a:t>
            </a:r>
          </a:p>
        </p:txBody>
      </p:sp>
      <p:sp>
        <p:nvSpPr>
          <p:cNvPr id="89" name="Text 90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i="0" dirty="0">
                <a:solidFill>
                  <a:srgbClr val="8A8071"/>
                </a:solidFill>
                <a:latin typeface="Arial" pitchFamily="34" charset="0"/>
                <a:cs typeface="Arial" pitchFamily="34" charset="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62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OBIPR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7" name="OBIP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951279"/>
              </p:ext>
            </p:extLst>
          </p:nvPr>
        </p:nvGraphicFramePr>
        <p:xfrm>
          <a:off x="457200" y="974598"/>
          <a:ext cx="8229600" cy="3380625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1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Observation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Business Impact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Isolation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Prioritization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B2621"/>
                          </a:solidFill>
                          <a:latin typeface="Bookman Old Style" pitchFamily="34" charset="0"/>
                          <a:ea typeface="Bookman Old Style" charset="0"/>
                          <a:cs typeface="Bookman Old Style" charset="0"/>
                        </a:rPr>
                        <a:t>Recommendation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3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Furniture profit fell 56.6% to $3.0K, the only category in the red.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The single biggest drag on Corporate profit.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Compare margin per Furniture sub-category, Corporate only.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High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Biggest impact. Needs margin data first.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Delist or reprice Tables and Bookcases for Corporate.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Sales grew 20.4% but profit grew only 14.2%.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Margin thins on every extra dollar of revenue.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Compare discount rate by segment and margin per discount band.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High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An internal policy change, so it is the fastest lever.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Cap Corporate discounts at 15% and require approval above that.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Orders rose 28.3% while customers rose 8.6%.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The same accounts order more often, so profit per order falls.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Track average order value and profit per order, Corporate vs Consumer.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6D0B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Medium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6D0B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Easy to enforce, but it only lifts order economics.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Set a minimum order value and bundle low-margin items.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2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B2621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Canon holds $20.3K of profit and the top customer $6.8K.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A few accounts hold enough weight to push for discounts.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Measure revenue share of the top 10 accounts.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6D0B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Medium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8A6D0B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A durable fix, but slow to show up in profit.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45403A"/>
                          </a:solidFill>
                          <a:latin typeface="Arial" pitchFamily="34" charset="0"/>
                          <a:ea typeface="Arial" charset="0"/>
                          <a:cs typeface="Arial" charset="0"/>
                        </a:rPr>
                        <a:t>Run a B2B acquisition programme to widen the base.</a:t>
                      </a:r>
                    </a:p>
                  </a:txBody>
                  <a:tcPr marL="68580" marR="68580" marT="54864" marB="5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54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i="0" dirty="0">
                <a:solidFill>
                  <a:srgbClr val="2B2621"/>
                </a:solidFill>
                <a:latin typeface="Bookman Old Style" pitchFamily="34" charset="0"/>
                <a:cs typeface="Bookman Old Style" pitchFamily="34" charset="0"/>
              </a:rPr>
              <a:t>Key Takeaways</a:t>
            </a:r>
          </a:p>
        </p:txBody>
      </p:sp>
      <p:sp>
        <p:nvSpPr>
          <p:cNvPr id="55" name="Shape 56"/>
          <p:cNvSpPr/>
          <p:nvPr/>
        </p:nvSpPr>
        <p:spPr>
          <a:xfrm>
            <a:off x="457200" y="960120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8"/>
          <p:cNvSpPr/>
          <p:nvPr/>
        </p:nvSpPr>
        <p:spPr>
          <a:xfrm>
            <a:off x="658368" y="1133856"/>
            <a:ext cx="64008" cy="384048"/>
          </a:xfrm>
          <a:prstGeom prst="rect">
            <a:avLst/>
          </a:prstGeom>
          <a:solidFill>
            <a:srgbClr val="B444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60"/>
          <p:cNvSpPr/>
          <p:nvPr/>
        </p:nvSpPr>
        <p:spPr>
          <a:xfrm>
            <a:off x="868680" y="11064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Top root causes</a:t>
            </a:r>
          </a:p>
        </p:txBody>
      </p:sp>
      <p:sp>
        <p:nvSpPr>
          <p:cNvPr id="61" name="Text 62"/>
          <p:cNvSpPr/>
          <p:nvPr/>
        </p:nvSpPr>
        <p:spPr>
          <a:xfrm>
            <a:off x="3108960" y="108813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Furniture profit collapse, low-margin sales mix, excessive discounting, and dependence on a few key accounts.</a:t>
            </a:r>
          </a:p>
        </p:txBody>
      </p:sp>
      <p:sp>
        <p:nvSpPr>
          <p:cNvPr id="63" name="Shape 64"/>
          <p:cNvSpPr/>
          <p:nvPr/>
        </p:nvSpPr>
        <p:spPr>
          <a:xfrm>
            <a:off x="457200" y="1810512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EAD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6"/>
          <p:cNvSpPr/>
          <p:nvPr/>
        </p:nvSpPr>
        <p:spPr>
          <a:xfrm>
            <a:off x="658368" y="1984248"/>
            <a:ext cx="64008" cy="384048"/>
          </a:xfrm>
          <a:prstGeom prst="rect">
            <a:avLst/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8"/>
          <p:cNvSpPr/>
          <p:nvPr/>
        </p:nvSpPr>
        <p:spPr>
          <a:xfrm>
            <a:off x="868680" y="19568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What the data shows</a:t>
            </a:r>
          </a:p>
        </p:txBody>
      </p:sp>
      <p:sp>
        <p:nvSpPr>
          <p:cNvPr id="69" name="Text 70"/>
          <p:cNvSpPr/>
          <p:nvPr/>
        </p:nvSpPr>
        <p:spPr>
          <a:xfrm>
            <a:off x="3108960" y="193852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Corporate is the only losing segment and Furniture the only losing category. Whether the two are connected still needs segment-level data.</a:t>
            </a:r>
          </a:p>
        </p:txBody>
      </p:sp>
      <p:sp>
        <p:nvSpPr>
          <p:cNvPr id="71" name="Shape 72"/>
          <p:cNvSpPr/>
          <p:nvPr/>
        </p:nvSpPr>
        <p:spPr>
          <a:xfrm>
            <a:off x="457200" y="2660904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FD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4"/>
          <p:cNvSpPr/>
          <p:nvPr/>
        </p:nvSpPr>
        <p:spPr>
          <a:xfrm>
            <a:off x="658368" y="2834640"/>
            <a:ext cx="64008" cy="384048"/>
          </a:xfrm>
          <a:prstGeom prst="rect">
            <a:avLst/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6"/>
          <p:cNvSpPr/>
          <p:nvPr/>
        </p:nvSpPr>
        <p:spPr>
          <a:xfrm>
            <a:off x="868680" y="2807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What must be verified</a:t>
            </a:r>
          </a:p>
        </p:txBody>
      </p:sp>
      <p:sp>
        <p:nvSpPr>
          <p:cNvPr id="77" name="Text 78"/>
          <p:cNvSpPr/>
          <p:nvPr/>
        </p:nvSpPr>
        <p:spPr>
          <a:xfrm>
            <a:off x="3108960" y="27889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Transaction-level discount rates, margins for Tables and Bookcases, and revenue share of the top 10 accounts.</a:t>
            </a:r>
          </a:p>
        </p:txBody>
      </p:sp>
      <p:sp>
        <p:nvSpPr>
          <p:cNvPr id="79" name="Shape 80"/>
          <p:cNvSpPr/>
          <p:nvPr/>
        </p:nvSpPr>
        <p:spPr>
          <a:xfrm>
            <a:off x="457200" y="3511296"/>
            <a:ext cx="8229600" cy="731520"/>
          </a:xfrm>
          <a:prstGeom prst="roundRect">
            <a:avLst>
              <a:gd name="adj" fmla="val 6000"/>
            </a:avLst>
          </a:prstGeom>
          <a:solidFill>
            <a:srgbClr val="EAD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82"/>
          <p:cNvSpPr/>
          <p:nvPr/>
        </p:nvSpPr>
        <p:spPr>
          <a:xfrm>
            <a:off x="658368" y="3685032"/>
            <a:ext cx="64008" cy="384048"/>
          </a:xfrm>
          <a:prstGeom prst="rect">
            <a:avLst/>
          </a:prstGeom>
          <a:solidFill>
            <a:srgbClr val="5C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4"/>
          <p:cNvSpPr/>
          <p:nvPr/>
        </p:nvSpPr>
        <p:spPr>
          <a:xfrm>
            <a:off x="868680" y="36576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Sequenced action</a:t>
            </a:r>
          </a:p>
        </p:txBody>
      </p:sp>
      <p:sp>
        <p:nvSpPr>
          <p:cNvPr id="85" name="Text 86"/>
          <p:cNvSpPr/>
          <p:nvPr/>
        </p:nvSpPr>
        <p:spPr>
          <a:xfrm>
            <a:off x="3108960" y="363931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0" i="0" dirty="0">
                <a:solidFill>
                  <a:srgbClr val="2B2621"/>
                </a:solidFill>
                <a:latin typeface="Arial" pitchFamily="34" charset="0"/>
                <a:cs typeface="Arial" pitchFamily="34" charset="0"/>
              </a:rPr>
              <a:t>Start with a cap on discounts. Fix the Furniture assortment next, then order economics, and widen the account base last.</a:t>
            </a:r>
          </a:p>
        </p:txBody>
      </p:sp>
      <p:sp>
        <p:nvSpPr>
          <p:cNvPr id="89" name="Text 90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i="0" dirty="0">
                <a:solidFill>
                  <a:srgbClr val="8A8071"/>
                </a:solidFill>
                <a:latin typeface="Arial" pitchFamily="34" charset="0"/>
                <a:cs typeface="Arial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siness Impact">
    <p:bg>
      <p:bgPr>
        <a:solidFill>
          <a:srgbClr val="2B2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9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F5B301"/>
                </a:solidFill>
                <a:latin typeface="Bookman Old Style" panose="02050604050505020204" pitchFamily="18" charset="0"/>
                <a:cs typeface="Arial" pitchFamily="34" charset="0"/>
              </a:rPr>
              <a:t>BUSINESS IMPACT STATEMENT</a:t>
            </a:r>
          </a:p>
        </p:txBody>
      </p:sp>
      <p:sp>
        <p:nvSpPr>
          <p:cNvPr id="93" name="Text 94"/>
          <p:cNvSpPr/>
          <p:nvPr/>
        </p:nvSpPr>
        <p:spPr>
          <a:xfrm>
            <a:off x="457200" y="109728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0" i="0" dirty="0">
                <a:solidFill>
                  <a:srgbClr val="FFFFFF"/>
                </a:solidFill>
                <a:latin typeface="Bookman Old Style" pitchFamily="34" charset="0"/>
                <a:cs typeface="Bookman Old Style" pitchFamily="34" charset="0"/>
              </a:rPr>
              <a:t>Capping discounts, repricing the Furniture assortment, and rewarding order value over order volume should bring Corporate profit back to growth without giving up the 20.4% sales momentum RevoShion already has.</a:t>
            </a:r>
          </a:p>
        </p:txBody>
      </p:sp>
      <p:sp>
        <p:nvSpPr>
          <p:cNvPr id="95" name="Text 96"/>
          <p:cNvSpPr/>
          <p:nvPr/>
        </p:nvSpPr>
        <p:spPr>
          <a:xfrm>
            <a:off x="457200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i="0" dirty="0">
                <a:solidFill>
                  <a:srgbClr val="F5B301"/>
                </a:solidFill>
                <a:latin typeface="Bookman Old Style" pitchFamily="34" charset="0"/>
                <a:cs typeface="Bookman Old Style" pitchFamily="34" charset="0"/>
              </a:rPr>
              <a:t>−13.6%</a:t>
            </a:r>
          </a:p>
        </p:txBody>
      </p:sp>
      <p:sp>
        <p:nvSpPr>
          <p:cNvPr id="97" name="Text 98"/>
          <p:cNvSpPr/>
          <p:nvPr/>
        </p:nvSpPr>
        <p:spPr>
          <a:xfrm>
            <a:off x="457200" y="3566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0" i="0" dirty="0">
                <a:solidFill>
                  <a:srgbClr val="C8C0B4"/>
                </a:solidFill>
                <a:latin typeface="Arial" pitchFamily="34" charset="0"/>
                <a:cs typeface="Arial" pitchFamily="34" charset="0"/>
              </a:rPr>
              <a:t>Corporate profit today</a:t>
            </a:r>
          </a:p>
        </p:txBody>
      </p:sp>
      <p:sp>
        <p:nvSpPr>
          <p:cNvPr id="99" name="Text 100"/>
          <p:cNvSpPr/>
          <p:nvPr/>
        </p:nvSpPr>
        <p:spPr>
          <a:xfrm>
            <a:off x="2514600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i="0" dirty="0">
                <a:solidFill>
                  <a:srgbClr val="F5B301"/>
                </a:solidFill>
                <a:latin typeface="Bookman Old Style" pitchFamily="34" charset="0"/>
                <a:cs typeface="Bookman Old Style" pitchFamily="34" charset="0"/>
              </a:rPr>
              <a:t>≥ +5%</a:t>
            </a:r>
          </a:p>
        </p:txBody>
      </p:sp>
      <p:sp>
        <p:nvSpPr>
          <p:cNvPr id="101" name="Text 102"/>
          <p:cNvSpPr/>
          <p:nvPr/>
        </p:nvSpPr>
        <p:spPr>
          <a:xfrm>
            <a:off x="2514600" y="3566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0" i="0" dirty="0">
                <a:solidFill>
                  <a:srgbClr val="C8C0B4"/>
                </a:solidFill>
                <a:latin typeface="Arial" pitchFamily="34" charset="0"/>
                <a:cs typeface="Arial" pitchFamily="34" charset="0"/>
              </a:rPr>
              <a:t>Target YoY profit growth</a:t>
            </a:r>
          </a:p>
        </p:txBody>
      </p:sp>
      <p:sp>
        <p:nvSpPr>
          <p:cNvPr id="103" name="Text 104"/>
          <p:cNvSpPr/>
          <p:nvPr/>
        </p:nvSpPr>
        <p:spPr>
          <a:xfrm>
            <a:off x="4572000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i="0" dirty="0">
                <a:solidFill>
                  <a:srgbClr val="F5B301"/>
                </a:solidFill>
                <a:latin typeface="Bookman Old Style" pitchFamily="34" charset="0"/>
                <a:cs typeface="Bookman Old Style" pitchFamily="34" charset="0"/>
              </a:rPr>
              <a:t>5</a:t>
            </a:r>
          </a:p>
        </p:txBody>
      </p:sp>
      <p:sp>
        <p:nvSpPr>
          <p:cNvPr id="105" name="Text 106"/>
          <p:cNvSpPr/>
          <p:nvPr/>
        </p:nvSpPr>
        <p:spPr>
          <a:xfrm>
            <a:off x="4572000" y="3566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0" i="0" dirty="0">
                <a:solidFill>
                  <a:srgbClr val="C8C0B4"/>
                </a:solidFill>
                <a:latin typeface="Arial" pitchFamily="34" charset="0"/>
                <a:cs typeface="Arial" pitchFamily="34" charset="0"/>
              </a:rPr>
              <a:t>Hypotheses to validate</a:t>
            </a:r>
          </a:p>
        </p:txBody>
      </p:sp>
      <p:sp>
        <p:nvSpPr>
          <p:cNvPr id="107" name="Text 108"/>
          <p:cNvSpPr/>
          <p:nvPr/>
        </p:nvSpPr>
        <p:spPr>
          <a:xfrm>
            <a:off x="6629400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i="0" dirty="0">
                <a:solidFill>
                  <a:srgbClr val="F5B301"/>
                </a:solidFill>
                <a:latin typeface="Bookman Old Style" pitchFamily="34" charset="0"/>
                <a:cs typeface="Bookman Old Style" pitchFamily="34" charset="0"/>
              </a:rPr>
              <a:t>2 quarters</a:t>
            </a:r>
          </a:p>
        </p:txBody>
      </p:sp>
      <p:sp>
        <p:nvSpPr>
          <p:cNvPr id="109" name="Text 110"/>
          <p:cNvSpPr/>
          <p:nvPr/>
        </p:nvSpPr>
        <p:spPr>
          <a:xfrm>
            <a:off x="6629400" y="3566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0" i="0" dirty="0">
                <a:solidFill>
                  <a:srgbClr val="C8C0B4"/>
                </a:solidFill>
                <a:latin typeface="Arial" pitchFamily="34" charset="0"/>
                <a:cs typeface="Arial" pitchFamily="34" charset="0"/>
              </a:rPr>
              <a:t>To first margin recovery</a:t>
            </a:r>
          </a:p>
        </p:txBody>
      </p:sp>
      <p:sp>
        <p:nvSpPr>
          <p:cNvPr id="111" name="Shape 112"/>
          <p:cNvSpPr/>
          <p:nvPr/>
        </p:nvSpPr>
        <p:spPr>
          <a:xfrm>
            <a:off x="457200" y="4114800"/>
            <a:ext cx="1005840" cy="27432"/>
          </a:xfrm>
          <a:prstGeom prst="rect">
            <a:avLst/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6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i="0" dirty="0">
                <a:solidFill>
                  <a:srgbClr val="8F877A"/>
                </a:solidFill>
                <a:latin typeface="Arial" pitchFamily="34" charset="0"/>
                <a:cs typeface="Arial" pitchFamily="34" charset="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2B2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166"/>
          <p:cNvSpPr/>
          <p:nvPr/>
        </p:nvSpPr>
        <p:spPr>
          <a:xfrm>
            <a:off x="457200" y="1600200"/>
            <a:ext cx="1005840" cy="36576"/>
          </a:xfrm>
          <a:prstGeom prst="rect">
            <a:avLst/>
          </a:prstGeom>
          <a:solidFill>
            <a:srgbClr val="F5B3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T168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i="0" dirty="0">
                <a:solidFill>
                  <a:srgbClr val="FFFFFF"/>
                </a:solidFill>
                <a:latin typeface="Bookman Old Style" pitchFamily="34" charset="0"/>
                <a:cs typeface="Bookman Old Style" pitchFamily="34" charset="0"/>
              </a:rPr>
              <a:t>Thank You</a:t>
            </a:r>
          </a:p>
        </p:txBody>
      </p:sp>
      <p:sp>
        <p:nvSpPr>
          <p:cNvPr id="173" name="T174"/>
          <p:cNvSpPr/>
          <p:nvPr/>
        </p:nvSpPr>
        <p:spPr>
          <a:xfrm>
            <a:off x="8412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0" i="0" dirty="0">
                <a:solidFill>
                  <a:srgbClr val="8F877A"/>
                </a:solidFill>
                <a:latin typeface="Arial" pitchFamily="34" charset="0"/>
                <a:cs typeface="Arial" pitchFamily="34" charset="0"/>
              </a:rPr>
              <a:t>13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963DB47D-817A-F0B4-C2CA-8F0D3CE414C0}"/>
              </a:ext>
            </a:extLst>
          </p:cNvPr>
          <p:cNvSpPr/>
          <p:nvPr/>
        </p:nvSpPr>
        <p:spPr>
          <a:xfrm>
            <a:off x="594360" y="4206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Reinaldy  Zulfananda Arkaan ·  10 July 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[W1 OCT25 UBP] Reinaldy_Intermediate</a:t>
            </a:r>
            <a:endParaRPr lang="en-US" sz="12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267665E-51AB-05D8-A106-65B9E5B3E1B9}"/>
              </a:ext>
            </a:extLst>
          </p:cNvPr>
          <p:cNvSpPr/>
          <p:nvPr/>
        </p:nvSpPr>
        <p:spPr>
          <a:xfrm>
            <a:off x="746760" y="4358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Reinaldy  Zulfananda Arkaan ·  10 July 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[W1 OCT25 UBP] Reinaldy_Intermediate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37912-C566-BA68-98F7-7616527E89DA}"/>
              </a:ext>
            </a:extLst>
          </p:cNvPr>
          <p:cNvSpPr txBox="1"/>
          <p:nvPr/>
        </p:nvSpPr>
        <p:spPr>
          <a:xfrm>
            <a:off x="390196" y="2512367"/>
            <a:ext cx="7114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Bookman Old Style" panose="02050604050505020204" pitchFamily="18" charset="0"/>
                <a:ea typeface="Arial" pitchFamily="34" charset="-122"/>
                <a:cs typeface="Times New Roman" panose="02020603050405020304" pitchFamily="18" charset="0"/>
              </a:rPr>
              <a:t>Reinaldy  Zulfananda Arkaan ·  10 July 2026</a:t>
            </a:r>
            <a:endParaRPr lang="en-US" sz="1200" dirty="0">
              <a:solidFill>
                <a:schemeClr val="bg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Bookman Old Style" panose="02050604050505020204" pitchFamily="18" charset="0"/>
                <a:ea typeface="Arial" pitchFamily="34" charset="-122"/>
                <a:cs typeface="Times New Roman" panose="02020603050405020304" pitchFamily="18" charset="0"/>
              </a:rPr>
              <a:t>[W1 JUN26 UBP] </a:t>
            </a:r>
            <a:r>
              <a:rPr lang="en-US" sz="1200" dirty="0" err="1">
                <a:solidFill>
                  <a:schemeClr val="bg1"/>
                </a:solidFill>
                <a:latin typeface="Bookman Old Style" panose="02050604050505020204" pitchFamily="18" charset="0"/>
                <a:ea typeface="Arial" pitchFamily="34" charset="-122"/>
                <a:cs typeface="Times New Roman" panose="02020603050405020304" pitchFamily="18" charset="0"/>
              </a:rPr>
              <a:t>Reinaldy_Zulfananda_Arkaan_Intermediate</a:t>
            </a:r>
            <a:endParaRPr lang="en-US" sz="1200" dirty="0">
              <a:solidFill>
                <a:schemeClr val="bg1"/>
              </a:solidFill>
              <a:latin typeface="Bookman Old Style" panose="020506040505050202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r>
              <a:rPr lang="en-US" sz="1200" b="1" dirty="0" err="1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Linkedin</a:t>
            </a:r>
            <a:r>
              <a:rPr lang="en-US" sz="1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: https://www.linkedin.com/in/reinaldy-zulfananda-arkaan-30567a179/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1265</Words>
  <Application>Microsoft Office PowerPoint</Application>
  <PresentationFormat>On-screen Show (16:9)</PresentationFormat>
  <Paragraphs>181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Bookman Old Style</vt:lpstr>
      <vt:lpstr>Lexend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RevoShion - Analisis Penurunan Profit Segmen Corporate</dc:title>
  <dc:subject>PptxGenJS Presentation</dc:subject>
  <dc:creator>Reinaldy</dc:creator>
  <cp:lastModifiedBy>Reinaldy Zulfananda Arkaan</cp:lastModifiedBy>
  <cp:revision>22</cp:revision>
  <dcterms:created xsi:type="dcterms:W3CDTF">2026-07-06T03:31:29Z</dcterms:created>
  <dcterms:modified xsi:type="dcterms:W3CDTF">2026-08-05T06:03:44Z</dcterms:modified>
</cp:coreProperties>
</file>
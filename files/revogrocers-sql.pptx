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10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79223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a:effectLst/>
      </p:bgPr>
    </p:bg>
    <p:spTree>
      <p:nvGrpSpPr>
        <p:cNvPr id="1" name=""/>
        <p:cNvGrpSpPr/>
        <p:nvPr/>
      </p:nvGrpSpPr>
      <p:grpSpPr>
        <a:xfrm>
          <a:off x="0" y="0"/>
          <a:ext cx="0" cy="0"/>
          <a:chOff x="0" y="0"/>
          <a:chExt cx="0" cy="0"/>
        </a:xfrm>
      </p:grpSpPr>
      <p:sp>
        <p:nvSpPr>
          <p:cNvPr id="2" name="Text 0"/>
          <p:cNvSpPr/>
          <p:nvPr/>
        </p:nvSpPr>
        <p:spPr>
          <a:xfrm>
            <a:off x="822960" y="2103120"/>
            <a:ext cx="10058400" cy="822960"/>
          </a:xfrm>
          <a:prstGeom prst="rect">
            <a:avLst/>
          </a:prstGeom>
          <a:noFill/>
          <a:ln/>
        </p:spPr>
        <p:txBody>
          <a:bodyPr wrap="square" rtlCol="0" anchor="ctr"/>
          <a:lstStyle/>
          <a:p>
            <a:pPr marL="0" indent="0" algn="l">
              <a:buNone/>
            </a:pPr>
            <a:r>
              <a:rPr lang="en-US" sz="5400" b="1" dirty="0">
                <a:solidFill>
                  <a:srgbClr val="FFFFFF"/>
                </a:solidFill>
                <a:latin typeface="Cambria" pitchFamily="34" charset="0"/>
                <a:ea typeface="Cambria" pitchFamily="34" charset="-122"/>
                <a:cs typeface="Cambria" pitchFamily="34" charset="-120"/>
              </a:rPr>
              <a:t>RevoGrocers</a:t>
            </a:r>
            <a:endParaRPr lang="en-US" sz="5400" dirty="0"/>
          </a:p>
        </p:txBody>
      </p:sp>
      <p:sp>
        <p:nvSpPr>
          <p:cNvPr id="3" name="Text 1"/>
          <p:cNvSpPr/>
          <p:nvPr/>
        </p:nvSpPr>
        <p:spPr>
          <a:xfrm>
            <a:off x="822960" y="2926080"/>
            <a:ext cx="10058400" cy="731520"/>
          </a:xfrm>
          <a:prstGeom prst="rect">
            <a:avLst/>
          </a:prstGeom>
          <a:noFill/>
          <a:ln/>
        </p:spPr>
        <p:txBody>
          <a:bodyPr wrap="square" rtlCol="0" anchor="ctr"/>
          <a:lstStyle/>
          <a:p>
            <a:pPr marL="0" indent="0" algn="l">
              <a:buNone/>
            </a:pPr>
            <a:r>
              <a:rPr lang="en-US" sz="3400" dirty="0">
                <a:solidFill>
                  <a:srgbClr val="97BC62"/>
                </a:solidFill>
                <a:latin typeface="Cambria" pitchFamily="34" charset="0"/>
                <a:ea typeface="Cambria" pitchFamily="34" charset="-122"/>
                <a:cs typeface="Cambria" pitchFamily="34" charset="-120"/>
              </a:rPr>
              <a:t>Sales Performance Analysis</a:t>
            </a:r>
            <a:endParaRPr lang="en-US" sz="3400" dirty="0"/>
          </a:p>
        </p:txBody>
      </p:sp>
      <p:sp>
        <p:nvSpPr>
          <p:cNvPr id="4" name="Text 2"/>
          <p:cNvSpPr/>
          <p:nvPr/>
        </p:nvSpPr>
        <p:spPr>
          <a:xfrm>
            <a:off x="822960" y="3794760"/>
            <a:ext cx="10058400" cy="457200"/>
          </a:xfrm>
          <a:prstGeom prst="rect">
            <a:avLst/>
          </a:prstGeom>
          <a:noFill/>
          <a:ln/>
        </p:spPr>
        <p:txBody>
          <a:bodyPr wrap="square" rtlCol="0" anchor="ctr"/>
          <a:lstStyle/>
          <a:p>
            <a:pPr marL="0" indent="0" algn="l">
              <a:buNone/>
            </a:pPr>
            <a:r>
              <a:rPr lang="en-US" sz="1600" i="1" dirty="0">
                <a:solidFill>
                  <a:srgbClr val="F5F7F2"/>
                </a:solidFill>
                <a:latin typeface="Calibri" pitchFamily="34" charset="0"/>
                <a:ea typeface="Calibri" pitchFamily="34" charset="-122"/>
                <a:cs typeface="Calibri" pitchFamily="34" charset="-120"/>
              </a:rPr>
              <a:t>Sales performance analysis across product categories using SQL (BigQuery)</a:t>
            </a:r>
            <a:endParaRPr lang="en-US" sz="1600" dirty="0"/>
          </a:p>
        </p:txBody>
      </p:sp>
      <p:sp>
        <p:nvSpPr>
          <p:cNvPr id="5" name="Text 3"/>
          <p:cNvSpPr/>
          <p:nvPr/>
        </p:nvSpPr>
        <p:spPr>
          <a:xfrm>
            <a:off x="822960" y="4846320"/>
            <a:ext cx="10058400" cy="1463040"/>
          </a:xfrm>
          <a:prstGeom prst="rect">
            <a:avLst/>
          </a:prstGeom>
          <a:noFill/>
          <a:ln/>
        </p:spPr>
        <p:txBody>
          <a:bodyPr wrap="square" rtlCol="0" anchor="ctr"/>
          <a:lstStyle/>
          <a:p>
            <a:pPr>
              <a:lnSpc>
                <a:spcPct val="115000"/>
              </a:lnSpc>
            </a:pPr>
            <a:r>
              <a:rPr lang="en-US" sz="1400" b="1" dirty="0">
                <a:solidFill>
                  <a:schemeClr val="bg1"/>
                </a:solidFill>
                <a:latin typeface="Cambria" panose="02040503050406030204" pitchFamily="18" charset="0"/>
                <a:ea typeface="Cambria" panose="02040503050406030204" pitchFamily="18" charset="0"/>
                <a:cs typeface="Arial" panose="020B0604020202020204" pitchFamily="34" charset="0"/>
              </a:rPr>
              <a:t>Reinaldy Zulfananda Arkaan</a:t>
            </a:r>
          </a:p>
          <a:p>
            <a:pPr>
              <a:lnSpc>
                <a:spcPct val="115000"/>
              </a:lnSpc>
            </a:pPr>
            <a:r>
              <a:rPr lang="en-US" sz="1400" b="1" dirty="0" err="1">
                <a:solidFill>
                  <a:schemeClr val="bg1"/>
                </a:solidFill>
                <a:latin typeface="Cambria" panose="02040503050406030204" pitchFamily="18" charset="0"/>
                <a:ea typeface="Cambria" panose="02040503050406030204" pitchFamily="18" charset="0"/>
                <a:cs typeface="Arial" panose="020B0604020202020204" pitchFamily="34" charset="0"/>
              </a:rPr>
              <a:t>RevoU</a:t>
            </a:r>
            <a:r>
              <a:rPr lang="en-US" sz="1400" b="1" dirty="0">
                <a:solidFill>
                  <a:schemeClr val="bg1"/>
                </a:solidFill>
                <a:latin typeface="Cambria" panose="02040503050406030204" pitchFamily="18" charset="0"/>
                <a:ea typeface="Cambria" panose="02040503050406030204" pitchFamily="18" charset="0"/>
                <a:cs typeface="Arial" panose="020B0604020202020204" pitchFamily="34" charset="0"/>
              </a:rPr>
              <a:t> Full Stack Data Analytics  | [W4W5 JUN26]  | Intermediate</a:t>
            </a:r>
          </a:p>
          <a:p>
            <a:pPr>
              <a:lnSpc>
                <a:spcPct val="115000"/>
              </a:lnSpc>
            </a:pPr>
            <a:r>
              <a:rPr lang="en-US" sz="1400" b="1" dirty="0">
                <a:solidFill>
                  <a:schemeClr val="bg1"/>
                </a:solidFill>
                <a:latin typeface="Cambria" panose="02040503050406030204" pitchFamily="18" charset="0"/>
                <a:ea typeface="Cambria" panose="02040503050406030204" pitchFamily="18" charset="0"/>
                <a:cs typeface="Arial" panose="020B0604020202020204" pitchFamily="34" charset="0"/>
              </a:rPr>
              <a:t>Submission date: 7 August, 2026</a:t>
            </a:r>
          </a:p>
          <a:p>
            <a:pPr>
              <a:lnSpc>
                <a:spcPct val="115000"/>
              </a:lnSpc>
            </a:pPr>
            <a:r>
              <a:rPr lang="en-US" sz="1400" b="1" dirty="0">
                <a:solidFill>
                  <a:schemeClr val="bg1"/>
                </a:solidFill>
                <a:latin typeface="Cambria" panose="02040503050406030204" pitchFamily="18" charset="0"/>
                <a:ea typeface="Cambria" panose="02040503050406030204" pitchFamily="18" charset="0"/>
                <a:cs typeface="Arial" panose="020B0604020202020204" pitchFamily="34" charset="0"/>
              </a:rPr>
              <a:t>LinkedIn: https://www.linkedin.com/in/reinaldy-zulfananda-arkaan-30567a179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Business Overview &amp; Disclaimer</a:t>
            </a:r>
            <a:endParaRPr lang="en-US" sz="3400" dirty="0"/>
          </a:p>
        </p:txBody>
      </p:sp>
      <p:sp>
        <p:nvSpPr>
          <p:cNvPr id="3" name="Shape 1"/>
          <p:cNvSpPr/>
          <p:nvPr/>
        </p:nvSpPr>
        <p:spPr>
          <a:xfrm>
            <a:off x="548640" y="1371600"/>
            <a:ext cx="5394960" cy="4389120"/>
          </a:xfrm>
          <a:prstGeom prst="roundRect">
            <a:avLst>
              <a:gd name="adj" fmla="val 2083"/>
            </a:avLst>
          </a:prstGeom>
          <a:solidFill>
            <a:srgbClr val="FFFFFF"/>
          </a:solidFill>
          <a:ln w="12700">
            <a:solidFill>
              <a:srgbClr val="97BC62"/>
            </a:solidFill>
            <a:prstDash val="solid"/>
          </a:ln>
          <a:effectLst>
            <a:outerShdw blurRad="76200" dist="25400" dir="5400000" algn="bl" rotWithShape="0">
              <a:srgbClr val="BBBBBB">
                <a:alpha val="40000"/>
              </a:srgbClr>
            </a:outerShdw>
          </a:effectLst>
        </p:spPr>
      </p:sp>
      <p:sp>
        <p:nvSpPr>
          <p:cNvPr id="4" name="Text 2"/>
          <p:cNvSpPr/>
          <p:nvPr/>
        </p:nvSpPr>
        <p:spPr>
          <a:xfrm>
            <a:off x="822960" y="1554480"/>
            <a:ext cx="4846320" cy="365760"/>
          </a:xfrm>
          <a:prstGeom prst="rect">
            <a:avLst/>
          </a:prstGeom>
          <a:noFill/>
          <a:ln/>
        </p:spPr>
        <p:txBody>
          <a:bodyPr wrap="square" rtlCol="0" anchor="ctr"/>
          <a:lstStyle/>
          <a:p>
            <a:pPr marL="0" indent="0">
              <a:buNone/>
            </a:pPr>
            <a:r>
              <a:rPr lang="en-US" sz="1900" b="1" dirty="0">
                <a:solidFill>
                  <a:srgbClr val="2C5F2D"/>
                </a:solidFill>
                <a:latin typeface="Cambria" pitchFamily="34" charset="0"/>
                <a:ea typeface="Cambria" pitchFamily="34" charset="-122"/>
                <a:cs typeface="Cambria" pitchFamily="34" charset="-120"/>
              </a:rPr>
              <a:t>Company Overview</a:t>
            </a:r>
            <a:endParaRPr lang="en-US" sz="1900" dirty="0"/>
          </a:p>
        </p:txBody>
      </p:sp>
      <p:sp>
        <p:nvSpPr>
          <p:cNvPr id="5" name="Text 3"/>
          <p:cNvSpPr/>
          <p:nvPr/>
        </p:nvSpPr>
        <p:spPr>
          <a:xfrm>
            <a:off x="822960" y="2011680"/>
            <a:ext cx="4846320" cy="3566160"/>
          </a:xfrm>
          <a:prstGeom prst="rect">
            <a:avLst/>
          </a:prstGeom>
          <a:noFill/>
          <a:ln/>
        </p:spPr>
        <p:txBody>
          <a:bodyPr wrap="square" rtlCol="0" anchor="t"/>
          <a:lstStyle/>
          <a:p>
            <a:pPr marL="342900" indent="-342900">
              <a:spcAft>
                <a:spcPts val="600"/>
              </a:spcAft>
              <a:buSzPct val="100000"/>
              <a:buChar char="•"/>
            </a:pPr>
            <a:r>
              <a:rPr lang="en-US" sz="1500" dirty="0">
                <a:solidFill>
                  <a:srgbClr val="1F2D1F"/>
                </a:solidFill>
                <a:latin typeface="Calibri" pitchFamily="34" charset="0"/>
                <a:ea typeface="Calibri" pitchFamily="34" charset="-122"/>
                <a:cs typeface="Calibri" pitchFamily="34" charset="-120"/>
              </a:rPr>
              <a:t>RevoGrocers is a fictional grocery retail business operating across multiple locations and selling a wide range of grocery products.</a:t>
            </a:r>
            <a:endParaRPr lang="en-US" sz="1500" dirty="0"/>
          </a:p>
          <a:p>
            <a:pPr marL="342900" indent="-342900">
              <a:spcAft>
                <a:spcPts val="600"/>
              </a:spcAft>
              <a:buSzPct val="100000"/>
              <a:buChar char="•"/>
            </a:pPr>
            <a:r>
              <a:rPr lang="en-US" sz="1500" dirty="0">
                <a:solidFill>
                  <a:srgbClr val="1F2D1F"/>
                </a:solidFill>
                <a:latin typeface="Calibri" pitchFamily="34" charset="0"/>
                <a:ea typeface="Calibri" pitchFamily="34" charset="-122"/>
                <a:cs typeface="Calibri" pitchFamily="34" charset="-120"/>
              </a:rPr>
              <a:t>It aims to optimize sales strategies, improve customer experience, and maximize revenue through data-driven decisions.</a:t>
            </a:r>
            <a:endParaRPr lang="en-US" sz="1500" dirty="0"/>
          </a:p>
        </p:txBody>
      </p:sp>
      <p:sp>
        <p:nvSpPr>
          <p:cNvPr id="6" name="Shape 4"/>
          <p:cNvSpPr/>
          <p:nvPr/>
        </p:nvSpPr>
        <p:spPr>
          <a:xfrm>
            <a:off x="6217920" y="1371600"/>
            <a:ext cx="5394960" cy="4389120"/>
          </a:xfrm>
          <a:prstGeom prst="roundRect">
            <a:avLst>
              <a:gd name="adj" fmla="val 2083"/>
            </a:avLst>
          </a:prstGeom>
          <a:solidFill>
            <a:srgbClr val="FFFFFF"/>
          </a:solidFill>
          <a:ln w="12700">
            <a:solidFill>
              <a:srgbClr val="97BC62"/>
            </a:solidFill>
            <a:prstDash val="solid"/>
          </a:ln>
          <a:effectLst>
            <a:outerShdw blurRad="76200" dist="25400" dir="5400000" algn="bl" rotWithShape="0">
              <a:srgbClr val="BBBBBB">
                <a:alpha val="40000"/>
              </a:srgbClr>
            </a:outerShdw>
          </a:effectLst>
        </p:spPr>
      </p:sp>
      <p:sp>
        <p:nvSpPr>
          <p:cNvPr id="7" name="Text 5"/>
          <p:cNvSpPr/>
          <p:nvPr/>
        </p:nvSpPr>
        <p:spPr>
          <a:xfrm>
            <a:off x="6492240" y="1554480"/>
            <a:ext cx="4846320" cy="365760"/>
          </a:xfrm>
          <a:prstGeom prst="rect">
            <a:avLst/>
          </a:prstGeom>
          <a:noFill/>
          <a:ln/>
        </p:spPr>
        <p:txBody>
          <a:bodyPr wrap="square" rtlCol="0" anchor="ctr"/>
          <a:lstStyle/>
          <a:p>
            <a:pPr marL="0" indent="0">
              <a:buNone/>
            </a:pPr>
            <a:r>
              <a:rPr lang="en-US" sz="1900" b="1" dirty="0">
                <a:solidFill>
                  <a:srgbClr val="2C5F2D"/>
                </a:solidFill>
                <a:latin typeface="Cambria" pitchFamily="34" charset="0"/>
                <a:ea typeface="Cambria" pitchFamily="34" charset="-122"/>
                <a:cs typeface="Cambria" pitchFamily="34" charset="-120"/>
              </a:rPr>
              <a:t>Disclaimer</a:t>
            </a:r>
            <a:endParaRPr lang="en-US" sz="1900" dirty="0"/>
          </a:p>
        </p:txBody>
      </p:sp>
      <p:sp>
        <p:nvSpPr>
          <p:cNvPr id="8" name="Text 6"/>
          <p:cNvSpPr/>
          <p:nvPr/>
        </p:nvSpPr>
        <p:spPr>
          <a:xfrm>
            <a:off x="6492240" y="2011680"/>
            <a:ext cx="4846320" cy="3566160"/>
          </a:xfrm>
          <a:prstGeom prst="rect">
            <a:avLst/>
          </a:prstGeom>
          <a:noFill/>
          <a:ln/>
        </p:spPr>
        <p:txBody>
          <a:bodyPr wrap="square" rtlCol="0" anchor="t"/>
          <a:lstStyle/>
          <a:p>
            <a:pPr marL="342900" indent="-342900">
              <a:spcAft>
                <a:spcPts val="600"/>
              </a:spcAft>
              <a:buSzPct val="100000"/>
              <a:buChar char="•"/>
            </a:pPr>
            <a:r>
              <a:rPr lang="en-US" sz="1500" dirty="0">
                <a:solidFill>
                  <a:srgbClr val="1F2D1F"/>
                </a:solidFill>
                <a:latin typeface="Calibri" pitchFamily="34" charset="0"/>
                <a:ea typeface="Calibri" pitchFamily="34" charset="-122"/>
                <a:cs typeface="Calibri" pitchFamily="34" charset="-120"/>
              </a:rPr>
              <a:t>This analysis uses a public dataset from Kaggle (Grocery Sales Dataset).</a:t>
            </a:r>
            <a:endParaRPr lang="en-US" sz="1500" dirty="0"/>
          </a:p>
          <a:p>
            <a:pPr marL="342900" indent="-342900">
              <a:spcAft>
                <a:spcPts val="600"/>
              </a:spcAft>
              <a:buSzPct val="100000"/>
              <a:buChar char="•"/>
            </a:pPr>
            <a:r>
              <a:rPr lang="en-US" sz="1500" dirty="0">
                <a:solidFill>
                  <a:srgbClr val="1F2D1F"/>
                </a:solidFill>
                <a:latin typeface="Calibri" pitchFamily="34" charset="0"/>
                <a:ea typeface="Calibri" pitchFamily="34" charset="-122"/>
                <a:cs typeface="Calibri" pitchFamily="34" charset="-120"/>
              </a:rPr>
              <a:t>RevoGrocers is a fictional entity created for educational purposes.</a:t>
            </a:r>
            <a:endParaRPr lang="en-US" sz="1500" dirty="0"/>
          </a:p>
          <a:p>
            <a:pPr marL="342900" indent="-342900">
              <a:spcAft>
                <a:spcPts val="600"/>
              </a:spcAft>
              <a:buSzPct val="100000"/>
              <a:buChar char="•"/>
            </a:pPr>
            <a:r>
              <a:rPr lang="en-US" sz="1500" dirty="0">
                <a:solidFill>
                  <a:srgbClr val="1F2D1F"/>
                </a:solidFill>
                <a:latin typeface="Calibri" pitchFamily="34" charset="0"/>
                <a:ea typeface="Calibri" pitchFamily="34" charset="-122"/>
                <a:cs typeface="Calibri" pitchFamily="34" charset="-120"/>
              </a:rPr>
              <a:t>All insights and recommendations are based on this dataset and do not reflect real-world data.</a:t>
            </a:r>
            <a:endParaRPr lang="en-US" sz="1500" dirty="0"/>
          </a:p>
        </p:txBody>
      </p:sp>
      <p:sp>
        <p:nvSpPr>
          <p:cNvPr id="9" name="Text 7"/>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10" name="Text 8"/>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Dataset Overview &amp; Project Goal</a:t>
            </a:r>
            <a:endParaRPr lang="en-US" sz="3400" dirty="0"/>
          </a:p>
        </p:txBody>
      </p:sp>
      <p:sp>
        <p:nvSpPr>
          <p:cNvPr id="3" name="Shape 1"/>
          <p:cNvSpPr/>
          <p:nvPr/>
        </p:nvSpPr>
        <p:spPr>
          <a:xfrm>
            <a:off x="548640" y="1371600"/>
            <a:ext cx="3566160" cy="4389120"/>
          </a:xfrm>
          <a:prstGeom prst="roundRect">
            <a:avLst>
              <a:gd name="adj" fmla="val 2564"/>
            </a:avLst>
          </a:prstGeom>
          <a:solidFill>
            <a:srgbClr val="FFFFFF"/>
          </a:solidFill>
          <a:ln w="12700">
            <a:solidFill>
              <a:srgbClr val="97BC62"/>
            </a:solidFill>
            <a:prstDash val="solid"/>
          </a:ln>
        </p:spPr>
      </p:sp>
      <p:sp>
        <p:nvSpPr>
          <p:cNvPr id="4" name="Text 2"/>
          <p:cNvSpPr/>
          <p:nvPr/>
        </p:nvSpPr>
        <p:spPr>
          <a:xfrm>
            <a:off x="777240" y="1508760"/>
            <a:ext cx="3108960" cy="365760"/>
          </a:xfrm>
          <a:prstGeom prst="rect">
            <a:avLst/>
          </a:prstGeom>
          <a:noFill/>
          <a:ln/>
        </p:spPr>
        <p:txBody>
          <a:bodyPr wrap="square" rtlCol="0" anchor="ctr"/>
          <a:lstStyle/>
          <a:p>
            <a:pPr marL="0" indent="0">
              <a:buNone/>
            </a:pPr>
            <a:r>
              <a:rPr lang="en-US" sz="1800" b="1" dirty="0">
                <a:solidFill>
                  <a:srgbClr val="2C5F2D"/>
                </a:solidFill>
                <a:latin typeface="Cambria" pitchFamily="34" charset="0"/>
                <a:ea typeface="Cambria" pitchFamily="34" charset="-122"/>
                <a:cs typeface="Cambria" pitchFamily="34" charset="-120"/>
              </a:rPr>
              <a:t>Key Tables</a:t>
            </a:r>
            <a:endParaRPr lang="en-US" sz="1800" dirty="0"/>
          </a:p>
        </p:txBody>
      </p:sp>
      <p:sp>
        <p:nvSpPr>
          <p:cNvPr id="5" name="Text 3"/>
          <p:cNvSpPr/>
          <p:nvPr/>
        </p:nvSpPr>
        <p:spPr>
          <a:xfrm>
            <a:off x="777240" y="1965960"/>
            <a:ext cx="3108960" cy="3657600"/>
          </a:xfrm>
          <a:prstGeom prst="rect">
            <a:avLst/>
          </a:prstGeom>
          <a:noFill/>
          <a:ln/>
        </p:spPr>
        <p:txBody>
          <a:bodyPr wrap="square" rtlCol="0" anchor="t"/>
          <a:lstStyle/>
          <a:p>
            <a:pPr marL="342900" indent="-342900">
              <a:spcAft>
                <a:spcPts val="600"/>
              </a:spcAft>
              <a:buSzPct val="100000"/>
              <a:buChar char="•"/>
            </a:pPr>
            <a:r>
              <a:rPr lang="en-US" sz="1500" dirty="0">
                <a:solidFill>
                  <a:srgbClr val="1F2D1F"/>
                </a:solidFill>
                <a:latin typeface="Calibri" pitchFamily="34" charset="0"/>
                <a:ea typeface="Calibri" pitchFamily="34" charset="-122"/>
                <a:cs typeface="Calibri" pitchFamily="34" charset="-120"/>
              </a:rPr>
              <a:t>sales : transactional data</a:t>
            </a:r>
            <a:endParaRPr lang="en-US" sz="1500" dirty="0"/>
          </a:p>
          <a:p>
            <a:pPr marL="342900" indent="-342900">
              <a:spcAft>
                <a:spcPts val="600"/>
              </a:spcAft>
              <a:buSzPct val="100000"/>
              <a:buChar char="•"/>
            </a:pPr>
            <a:r>
              <a:rPr lang="en-US" sz="1500" dirty="0">
                <a:solidFill>
                  <a:srgbClr val="1F2D1F"/>
                </a:solidFill>
                <a:latin typeface="Calibri" pitchFamily="34" charset="0"/>
                <a:ea typeface="Calibri" pitchFamily="34" charset="-122"/>
                <a:cs typeface="Calibri" pitchFamily="34" charset="-120"/>
              </a:rPr>
              <a:t>Products : product details</a:t>
            </a:r>
            <a:endParaRPr lang="en-US" sz="1500" dirty="0"/>
          </a:p>
          <a:p>
            <a:pPr marL="342900" indent="-342900">
              <a:spcAft>
                <a:spcPts val="600"/>
              </a:spcAft>
              <a:buSzPct val="100000"/>
              <a:buChar char="•"/>
            </a:pPr>
            <a:r>
              <a:rPr lang="en-US" sz="1500" dirty="0">
                <a:solidFill>
                  <a:srgbClr val="1F2D1F"/>
                </a:solidFill>
                <a:latin typeface="Calibri" pitchFamily="34" charset="0"/>
                <a:ea typeface="Calibri" pitchFamily="34" charset="-122"/>
                <a:cs typeface="Calibri" pitchFamily="34" charset="-120"/>
              </a:rPr>
              <a:t>categories : product category info</a:t>
            </a:r>
            <a:endParaRPr lang="en-US" sz="1500" dirty="0"/>
          </a:p>
        </p:txBody>
      </p:sp>
      <p:sp>
        <p:nvSpPr>
          <p:cNvPr id="6" name="Shape 4"/>
          <p:cNvSpPr/>
          <p:nvPr/>
        </p:nvSpPr>
        <p:spPr>
          <a:xfrm>
            <a:off x="4297680" y="1371600"/>
            <a:ext cx="3566160" cy="4389120"/>
          </a:xfrm>
          <a:prstGeom prst="roundRect">
            <a:avLst>
              <a:gd name="adj" fmla="val 2564"/>
            </a:avLst>
          </a:prstGeom>
          <a:solidFill>
            <a:srgbClr val="FFFFFF"/>
          </a:solidFill>
          <a:ln w="12700">
            <a:solidFill>
              <a:srgbClr val="97BC62"/>
            </a:solidFill>
            <a:prstDash val="solid"/>
          </a:ln>
        </p:spPr>
      </p:sp>
      <p:sp>
        <p:nvSpPr>
          <p:cNvPr id="7" name="Text 5"/>
          <p:cNvSpPr/>
          <p:nvPr/>
        </p:nvSpPr>
        <p:spPr>
          <a:xfrm>
            <a:off x="4526280" y="1508760"/>
            <a:ext cx="3108960" cy="365760"/>
          </a:xfrm>
          <a:prstGeom prst="rect">
            <a:avLst/>
          </a:prstGeom>
          <a:noFill/>
          <a:ln/>
        </p:spPr>
        <p:txBody>
          <a:bodyPr wrap="square" rtlCol="0" anchor="ctr"/>
          <a:lstStyle/>
          <a:p>
            <a:pPr marL="0" indent="0">
              <a:buNone/>
            </a:pPr>
            <a:r>
              <a:rPr lang="en-US" sz="1800" b="1" dirty="0">
                <a:solidFill>
                  <a:srgbClr val="2C5F2D"/>
                </a:solidFill>
                <a:latin typeface="Cambria" pitchFamily="34" charset="0"/>
                <a:ea typeface="Cambria" pitchFamily="34" charset="-122"/>
                <a:cs typeface="Cambria" pitchFamily="34" charset="-120"/>
              </a:rPr>
              <a:t>Relevant Fields</a:t>
            </a:r>
            <a:endParaRPr lang="en-US" sz="1800" dirty="0"/>
          </a:p>
        </p:txBody>
      </p:sp>
      <p:sp>
        <p:nvSpPr>
          <p:cNvPr id="8" name="Text 6"/>
          <p:cNvSpPr/>
          <p:nvPr/>
        </p:nvSpPr>
        <p:spPr>
          <a:xfrm>
            <a:off x="4526280" y="1965960"/>
            <a:ext cx="3108960" cy="3657600"/>
          </a:xfrm>
          <a:prstGeom prst="rect">
            <a:avLst/>
          </a:prstGeom>
          <a:noFill/>
          <a:ln/>
        </p:spPr>
        <p:txBody>
          <a:bodyPr wrap="square" rtlCol="0" anchor="t"/>
          <a:lstStyle/>
          <a:p>
            <a:pPr marL="342900" indent="-342900">
              <a:spcAft>
                <a:spcPts val="600"/>
              </a:spcAft>
              <a:buSzPct val="100000"/>
              <a:buChar char="•"/>
            </a:pPr>
            <a:r>
              <a:rPr lang="en-US" sz="1500" dirty="0">
                <a:solidFill>
                  <a:srgbClr val="1F2D1F"/>
                </a:solidFill>
                <a:latin typeface="Calibri" pitchFamily="34" charset="0"/>
                <a:ea typeface="Calibri" pitchFamily="34" charset="-122"/>
                <a:cs typeface="Calibri" pitchFamily="34" charset="-120"/>
              </a:rPr>
              <a:t>Quantity : units sold</a:t>
            </a:r>
            <a:endParaRPr lang="en-US" sz="1500" dirty="0"/>
          </a:p>
          <a:p>
            <a:pPr marL="342900" indent="-342900">
              <a:spcAft>
                <a:spcPts val="600"/>
              </a:spcAft>
              <a:buSzPct val="100000"/>
              <a:buChar char="•"/>
            </a:pPr>
            <a:r>
              <a:rPr lang="en-US" sz="1500" dirty="0">
                <a:solidFill>
                  <a:srgbClr val="1F2D1F"/>
                </a:solidFill>
                <a:latin typeface="Calibri" pitchFamily="34" charset="0"/>
                <a:ea typeface="Calibri" pitchFamily="34" charset="-122"/>
                <a:cs typeface="Calibri" pitchFamily="34" charset="-120"/>
              </a:rPr>
              <a:t>Price : unit price</a:t>
            </a:r>
            <a:endParaRPr lang="en-US" sz="1500" dirty="0"/>
          </a:p>
          <a:p>
            <a:pPr marL="342900" indent="-342900">
              <a:spcAft>
                <a:spcPts val="600"/>
              </a:spcAft>
              <a:buSzPct val="100000"/>
              <a:buChar char="•"/>
            </a:pPr>
            <a:r>
              <a:rPr lang="en-US" sz="1500" dirty="0">
                <a:solidFill>
                  <a:srgbClr val="1F2D1F"/>
                </a:solidFill>
                <a:latin typeface="Calibri" pitchFamily="34" charset="0"/>
                <a:ea typeface="Calibri" pitchFamily="34" charset="-122"/>
                <a:cs typeface="Calibri" pitchFamily="34" charset="-120"/>
              </a:rPr>
              <a:t>Discount : price discount</a:t>
            </a:r>
            <a:endParaRPr lang="en-US" sz="1500" dirty="0"/>
          </a:p>
          <a:p>
            <a:pPr marL="342900" indent="-342900">
              <a:spcAft>
                <a:spcPts val="600"/>
              </a:spcAft>
              <a:buSzPct val="100000"/>
              <a:buChar char="•"/>
            </a:pPr>
            <a:r>
              <a:rPr lang="en-US" sz="1500" dirty="0" err="1">
                <a:solidFill>
                  <a:srgbClr val="1F2D1F"/>
                </a:solidFill>
                <a:latin typeface="Calibri" pitchFamily="34" charset="0"/>
                <a:ea typeface="Calibri" pitchFamily="34" charset="-122"/>
                <a:cs typeface="Calibri" pitchFamily="34" charset="-120"/>
              </a:rPr>
              <a:t>CategoryName</a:t>
            </a:r>
            <a:r>
              <a:rPr lang="en-US" sz="1500" dirty="0">
                <a:solidFill>
                  <a:srgbClr val="1F2D1F"/>
                </a:solidFill>
                <a:latin typeface="Calibri" pitchFamily="34" charset="0"/>
                <a:ea typeface="Calibri" pitchFamily="34" charset="-122"/>
                <a:cs typeface="Calibri" pitchFamily="34" charset="-120"/>
              </a:rPr>
              <a:t> :  product category</a:t>
            </a:r>
            <a:endParaRPr lang="en-US" sz="1500" dirty="0"/>
          </a:p>
          <a:p>
            <a:pPr marL="342900" indent="-342900">
              <a:spcAft>
                <a:spcPts val="600"/>
              </a:spcAft>
              <a:buSzPct val="100000"/>
              <a:buChar char="•"/>
            </a:pPr>
            <a:r>
              <a:rPr lang="en-US" sz="1500" dirty="0" err="1">
                <a:solidFill>
                  <a:srgbClr val="1F2D1F"/>
                </a:solidFill>
                <a:latin typeface="Calibri" pitchFamily="34" charset="0"/>
                <a:ea typeface="Calibri" pitchFamily="34" charset="-122"/>
                <a:cs typeface="Calibri" pitchFamily="34" charset="-120"/>
              </a:rPr>
              <a:t>CustomerID</a:t>
            </a:r>
            <a:r>
              <a:rPr lang="en-US" sz="1500" dirty="0">
                <a:solidFill>
                  <a:srgbClr val="1F2D1F"/>
                </a:solidFill>
                <a:latin typeface="Calibri" pitchFamily="34" charset="0"/>
                <a:ea typeface="Calibri" pitchFamily="34" charset="-122"/>
                <a:cs typeface="Calibri" pitchFamily="34" charset="-120"/>
              </a:rPr>
              <a:t> : unique buyers</a:t>
            </a:r>
            <a:endParaRPr lang="en-US" sz="1500" dirty="0"/>
          </a:p>
        </p:txBody>
      </p:sp>
      <p:sp>
        <p:nvSpPr>
          <p:cNvPr id="9" name="Shape 7"/>
          <p:cNvSpPr/>
          <p:nvPr/>
        </p:nvSpPr>
        <p:spPr>
          <a:xfrm>
            <a:off x="8046720" y="1371600"/>
            <a:ext cx="3566160" cy="4389120"/>
          </a:xfrm>
          <a:prstGeom prst="roundRect">
            <a:avLst>
              <a:gd name="adj" fmla="val 2564"/>
            </a:avLst>
          </a:prstGeom>
          <a:solidFill>
            <a:srgbClr val="2C5F2D"/>
          </a:solidFill>
          <a:ln w="12700">
            <a:solidFill>
              <a:srgbClr val="2C5F2D"/>
            </a:solidFill>
            <a:prstDash val="solid"/>
          </a:ln>
        </p:spPr>
      </p:sp>
      <p:sp>
        <p:nvSpPr>
          <p:cNvPr id="10" name="Text 8"/>
          <p:cNvSpPr/>
          <p:nvPr/>
        </p:nvSpPr>
        <p:spPr>
          <a:xfrm>
            <a:off x="8275320" y="1508760"/>
            <a:ext cx="3108960" cy="365760"/>
          </a:xfrm>
          <a:prstGeom prst="rect">
            <a:avLst/>
          </a:prstGeom>
          <a:noFill/>
          <a:ln/>
        </p:spPr>
        <p:txBody>
          <a:bodyPr wrap="square"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Project Goal</a:t>
            </a:r>
            <a:endParaRPr lang="en-US" sz="1800" dirty="0"/>
          </a:p>
        </p:txBody>
      </p:sp>
      <p:sp>
        <p:nvSpPr>
          <p:cNvPr id="11" name="Text 9"/>
          <p:cNvSpPr/>
          <p:nvPr/>
        </p:nvSpPr>
        <p:spPr>
          <a:xfrm>
            <a:off x="8275320" y="1965960"/>
            <a:ext cx="3108960" cy="3657600"/>
          </a:xfrm>
          <a:prstGeom prst="rect">
            <a:avLst/>
          </a:prstGeom>
          <a:noFill/>
          <a:ln/>
        </p:spPr>
        <p:txBody>
          <a:bodyPr wrap="square" rtlCol="0" anchor="t"/>
          <a:lstStyle/>
          <a:p>
            <a:pPr marL="342900" indent="-342900">
              <a:spcAft>
                <a:spcPts val="800"/>
              </a:spcAft>
              <a:buSzPct val="100000"/>
              <a:buChar char="•"/>
            </a:pPr>
            <a:r>
              <a:rPr lang="en-US" sz="1400" dirty="0">
                <a:solidFill>
                  <a:srgbClr val="F5F7F2"/>
                </a:solidFill>
                <a:latin typeface="Calibri" pitchFamily="34" charset="0"/>
                <a:ea typeface="Calibri" pitchFamily="34" charset="-122"/>
                <a:cs typeface="Calibri" pitchFamily="34" charset="-120"/>
              </a:rPr>
              <a:t>Identify the most profitable product categories.</a:t>
            </a:r>
            <a:endParaRPr lang="en-US" sz="1400" dirty="0"/>
          </a:p>
          <a:p>
            <a:pPr marL="342900" indent="-342900">
              <a:spcAft>
                <a:spcPts val="800"/>
              </a:spcAft>
              <a:buSzPct val="100000"/>
              <a:buChar char="•"/>
            </a:pPr>
            <a:r>
              <a:rPr lang="en-US" sz="1400" dirty="0">
                <a:solidFill>
                  <a:srgbClr val="F5F7F2"/>
                </a:solidFill>
                <a:latin typeface="Calibri" pitchFamily="34" charset="0"/>
                <a:ea typeface="Calibri" pitchFamily="34" charset="-122"/>
                <a:cs typeface="Calibri" pitchFamily="34" charset="-120"/>
              </a:rPr>
              <a:t>Analyze the drivers of revenue (units sold vs. customer count).</a:t>
            </a:r>
            <a:endParaRPr lang="en-US" sz="1400" dirty="0"/>
          </a:p>
          <a:p>
            <a:pPr marL="342900" indent="-342900">
              <a:buSzPct val="100000"/>
              <a:buChar char="•"/>
            </a:pPr>
            <a:r>
              <a:rPr lang="en-US" sz="1400" dirty="0">
                <a:solidFill>
                  <a:srgbClr val="F5F7F2"/>
                </a:solidFill>
                <a:latin typeface="Calibri" pitchFamily="34" charset="0"/>
                <a:ea typeface="Calibri" pitchFamily="34" charset="-122"/>
                <a:cs typeface="Calibri" pitchFamily="34" charset="-120"/>
              </a:rPr>
              <a:t>Evaluate pricing strategies and their impact on sales.</a:t>
            </a:r>
            <a:endParaRPr lang="en-US" sz="1400" dirty="0"/>
          </a:p>
        </p:txBody>
      </p:sp>
      <p:sp>
        <p:nvSpPr>
          <p:cNvPr id="12" name="Text 10"/>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13" name="Text 11"/>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2"/>
        </a:solidFill>
        <a:effectLst/>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Entity Relationship Diagram (ERD)</a:t>
            </a:r>
            <a:endParaRPr lang="en-US" sz="3400" dirty="0"/>
          </a:p>
        </p:txBody>
      </p:sp>
      <p:sp>
        <p:nvSpPr>
          <p:cNvPr id="3" name="Text 1"/>
          <p:cNvSpPr/>
          <p:nvPr/>
        </p:nvSpPr>
        <p:spPr>
          <a:xfrm>
            <a:off x="548640" y="1097280"/>
            <a:ext cx="11064240" cy="365760"/>
          </a:xfrm>
          <a:prstGeom prst="rect">
            <a:avLst/>
          </a:prstGeom>
          <a:noFill/>
          <a:ln/>
        </p:spPr>
        <p:txBody>
          <a:bodyPr wrap="square" rtlCol="0" anchor="ctr"/>
          <a:lstStyle/>
          <a:p>
            <a:pPr marL="0" indent="0">
              <a:buNone/>
            </a:pPr>
            <a:r>
              <a:rPr lang="en-US" sz="1400" i="1" dirty="0">
                <a:solidFill>
                  <a:srgbClr val="5A6B57"/>
                </a:solidFill>
                <a:latin typeface="Calibri" pitchFamily="34" charset="0"/>
                <a:ea typeface="Calibri" pitchFamily="34" charset="-122"/>
                <a:cs typeface="Calibri" pitchFamily="34" charset="-120"/>
              </a:rPr>
              <a:t>Table relationships in the grocery_dataset that underpin every analysis query.</a:t>
            </a:r>
            <a:endParaRPr lang="en-US" sz="1400" dirty="0"/>
          </a:p>
        </p:txBody>
      </p:sp>
      <p:sp>
        <p:nvSpPr>
          <p:cNvPr id="4" name="Shape 2"/>
          <p:cNvSpPr/>
          <p:nvPr/>
        </p:nvSpPr>
        <p:spPr>
          <a:xfrm>
            <a:off x="548640" y="1691640"/>
            <a:ext cx="11064240" cy="4206240"/>
          </a:xfrm>
          <a:prstGeom prst="roundRect">
            <a:avLst>
              <a:gd name="adj" fmla="val 1739"/>
            </a:avLst>
          </a:prstGeom>
          <a:solidFill>
            <a:srgbClr val="FFFFFF"/>
          </a:solidFill>
          <a:ln w="12700">
            <a:solidFill>
              <a:srgbClr val="97BC62"/>
            </a:solidFill>
            <a:prstDash val="solid"/>
          </a:ln>
          <a:effectLst>
            <a:outerShdw blurRad="76200" dist="25400" dir="5400000" algn="bl" rotWithShape="0">
              <a:srgbClr val="BBBBBB">
                <a:alpha val="40000"/>
              </a:srgbClr>
            </a:outerShdw>
          </a:effectLst>
        </p:spPr>
      </p:sp>
      <p:pic>
        <p:nvPicPr>
          <p:cNvPr id="5" name="Image 0" descr="erd.png"/>
          <p:cNvPicPr>
            <a:picLocks noChangeAspect="1"/>
          </p:cNvPicPr>
          <p:nvPr/>
        </p:nvPicPr>
        <p:blipFill>
          <a:blip r:embed="rId3"/>
          <a:stretch>
            <a:fillRect/>
          </a:stretch>
        </p:blipFill>
        <p:spPr>
          <a:xfrm>
            <a:off x="868680" y="2087947"/>
            <a:ext cx="10424160" cy="3413626"/>
          </a:xfrm>
          <a:prstGeom prst="rect">
            <a:avLst/>
          </a:prstGeom>
        </p:spPr>
      </p:pic>
      <p:sp>
        <p:nvSpPr>
          <p:cNvPr id="6" name="Text 3"/>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7" name="Text 4"/>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Methodology</a:t>
            </a:r>
            <a:endParaRPr lang="en-US" sz="3400" dirty="0"/>
          </a:p>
        </p:txBody>
      </p:sp>
      <p:sp>
        <p:nvSpPr>
          <p:cNvPr id="3" name="Shape 1"/>
          <p:cNvSpPr/>
          <p:nvPr/>
        </p:nvSpPr>
        <p:spPr>
          <a:xfrm>
            <a:off x="548640" y="1554480"/>
            <a:ext cx="2651760" cy="3291840"/>
          </a:xfrm>
          <a:prstGeom prst="roundRect">
            <a:avLst>
              <a:gd name="adj" fmla="val 3448"/>
            </a:avLst>
          </a:prstGeom>
          <a:solidFill>
            <a:srgbClr val="FFFFFF"/>
          </a:solidFill>
          <a:ln w="12700">
            <a:solidFill>
              <a:srgbClr val="97BC62"/>
            </a:solidFill>
            <a:prstDash val="solid"/>
          </a:ln>
          <a:effectLst>
            <a:outerShdw blurRad="63500" dist="25400" dir="5400000" algn="bl" rotWithShape="0">
              <a:srgbClr val="BBBBBB">
                <a:alpha val="40000"/>
              </a:srgbClr>
            </a:outerShdw>
          </a:effectLst>
        </p:spPr>
      </p:sp>
      <p:sp>
        <p:nvSpPr>
          <p:cNvPr id="4" name="Shape 2"/>
          <p:cNvSpPr/>
          <p:nvPr/>
        </p:nvSpPr>
        <p:spPr>
          <a:xfrm>
            <a:off x="1508760" y="1783080"/>
            <a:ext cx="731520" cy="731520"/>
          </a:xfrm>
          <a:prstGeom prst="ellipse">
            <a:avLst/>
          </a:prstGeom>
          <a:solidFill>
            <a:srgbClr val="6E8B4E"/>
          </a:solidFill>
          <a:ln/>
        </p:spPr>
      </p:sp>
      <p:sp>
        <p:nvSpPr>
          <p:cNvPr id="5" name="Text 3"/>
          <p:cNvSpPr/>
          <p:nvPr/>
        </p:nvSpPr>
        <p:spPr>
          <a:xfrm>
            <a:off x="1508760" y="1783080"/>
            <a:ext cx="731520" cy="7315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6" name="Text 4"/>
          <p:cNvSpPr/>
          <p:nvPr/>
        </p:nvSpPr>
        <p:spPr>
          <a:xfrm>
            <a:off x="685800" y="2697480"/>
            <a:ext cx="2377440" cy="457200"/>
          </a:xfrm>
          <a:prstGeom prst="rect">
            <a:avLst/>
          </a:prstGeom>
          <a:noFill/>
          <a:ln/>
        </p:spPr>
        <p:txBody>
          <a:bodyPr wrap="square" rtlCol="0" anchor="ctr"/>
          <a:lstStyle/>
          <a:p>
            <a:pPr marL="0" indent="0" algn="ctr">
              <a:buNone/>
            </a:pPr>
            <a:r>
              <a:rPr lang="en-US" sz="1600" b="1" dirty="0">
                <a:solidFill>
                  <a:srgbClr val="2C5F2D"/>
                </a:solidFill>
                <a:latin typeface="Cambria" pitchFamily="34" charset="0"/>
                <a:ea typeface="Cambria" pitchFamily="34" charset="-122"/>
                <a:cs typeface="Cambria" pitchFamily="34" charset="-120"/>
              </a:rPr>
              <a:t>Data Setup</a:t>
            </a:r>
            <a:endParaRPr lang="en-US" sz="1600" dirty="0"/>
          </a:p>
        </p:txBody>
      </p:sp>
      <p:sp>
        <p:nvSpPr>
          <p:cNvPr id="7" name="Text 5"/>
          <p:cNvSpPr/>
          <p:nvPr/>
        </p:nvSpPr>
        <p:spPr>
          <a:xfrm>
            <a:off x="731520" y="3200400"/>
            <a:ext cx="2286000" cy="1463040"/>
          </a:xfrm>
          <a:prstGeom prst="rect">
            <a:avLst/>
          </a:prstGeom>
          <a:noFill/>
          <a:ln/>
        </p:spPr>
        <p:txBody>
          <a:bodyPr wrap="square" rtlCol="0" anchor="t"/>
          <a:lstStyle/>
          <a:p>
            <a:pPr marL="0" indent="0" algn="ctr">
              <a:buNone/>
            </a:pPr>
            <a:r>
              <a:rPr lang="en-US" sz="1250" dirty="0">
                <a:solidFill>
                  <a:srgbClr val="1F2D1F"/>
                </a:solidFill>
                <a:latin typeface="Calibri" pitchFamily="34" charset="0"/>
                <a:ea typeface="Calibri" pitchFamily="34" charset="-122"/>
                <a:cs typeface="Calibri" pitchFamily="34" charset="-120"/>
              </a:rPr>
              <a:t>Add the grocery_dataset in BigQuery (project fsda-sql-01).</a:t>
            </a:r>
            <a:endParaRPr lang="en-US" sz="1250" dirty="0"/>
          </a:p>
        </p:txBody>
      </p:sp>
      <p:sp>
        <p:nvSpPr>
          <p:cNvPr id="8" name="Shape 6"/>
          <p:cNvSpPr/>
          <p:nvPr/>
        </p:nvSpPr>
        <p:spPr>
          <a:xfrm>
            <a:off x="3337560" y="1554480"/>
            <a:ext cx="2651760" cy="3291840"/>
          </a:xfrm>
          <a:prstGeom prst="roundRect">
            <a:avLst>
              <a:gd name="adj" fmla="val 3448"/>
            </a:avLst>
          </a:prstGeom>
          <a:solidFill>
            <a:srgbClr val="FFFFFF"/>
          </a:solidFill>
          <a:ln w="12700">
            <a:solidFill>
              <a:srgbClr val="97BC62"/>
            </a:solidFill>
            <a:prstDash val="solid"/>
          </a:ln>
          <a:effectLst>
            <a:outerShdw blurRad="63500" dist="25400" dir="5400000" algn="bl" rotWithShape="0">
              <a:srgbClr val="BBBBBB">
                <a:alpha val="40000"/>
              </a:srgbClr>
            </a:outerShdw>
          </a:effectLst>
        </p:spPr>
      </p:sp>
      <p:sp>
        <p:nvSpPr>
          <p:cNvPr id="9" name="Shape 7"/>
          <p:cNvSpPr/>
          <p:nvPr/>
        </p:nvSpPr>
        <p:spPr>
          <a:xfrm>
            <a:off x="4297680" y="1783080"/>
            <a:ext cx="731520" cy="731520"/>
          </a:xfrm>
          <a:prstGeom prst="ellipse">
            <a:avLst/>
          </a:prstGeom>
          <a:solidFill>
            <a:srgbClr val="6E8B4E"/>
          </a:solidFill>
          <a:ln/>
        </p:spPr>
      </p:sp>
      <p:sp>
        <p:nvSpPr>
          <p:cNvPr id="10" name="Text 8"/>
          <p:cNvSpPr/>
          <p:nvPr/>
        </p:nvSpPr>
        <p:spPr>
          <a:xfrm>
            <a:off x="4297680" y="1783080"/>
            <a:ext cx="731520" cy="7315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1" name="Text 9"/>
          <p:cNvSpPr/>
          <p:nvPr/>
        </p:nvSpPr>
        <p:spPr>
          <a:xfrm>
            <a:off x="3474720" y="2697480"/>
            <a:ext cx="2377440" cy="457200"/>
          </a:xfrm>
          <a:prstGeom prst="rect">
            <a:avLst/>
          </a:prstGeom>
          <a:noFill/>
          <a:ln/>
        </p:spPr>
        <p:txBody>
          <a:bodyPr wrap="square" rtlCol="0" anchor="ctr"/>
          <a:lstStyle/>
          <a:p>
            <a:pPr marL="0" indent="0" algn="ctr">
              <a:buNone/>
            </a:pPr>
            <a:r>
              <a:rPr lang="en-US" sz="1600" b="1" dirty="0">
                <a:solidFill>
                  <a:srgbClr val="2C5F2D"/>
                </a:solidFill>
                <a:latin typeface="Cambria" pitchFamily="34" charset="0"/>
                <a:ea typeface="Cambria" pitchFamily="34" charset="-122"/>
                <a:cs typeface="Cambria" pitchFamily="34" charset="-120"/>
              </a:rPr>
              <a:t>Cleaning &amp; Transform</a:t>
            </a:r>
            <a:endParaRPr lang="en-US" sz="1600" dirty="0"/>
          </a:p>
        </p:txBody>
      </p:sp>
      <p:sp>
        <p:nvSpPr>
          <p:cNvPr id="12" name="Text 10"/>
          <p:cNvSpPr/>
          <p:nvPr/>
        </p:nvSpPr>
        <p:spPr>
          <a:xfrm>
            <a:off x="3520440" y="3200400"/>
            <a:ext cx="2286000" cy="1463040"/>
          </a:xfrm>
          <a:prstGeom prst="rect">
            <a:avLst/>
          </a:prstGeom>
          <a:noFill/>
          <a:ln/>
        </p:spPr>
        <p:txBody>
          <a:bodyPr wrap="square" rtlCol="0" anchor="t"/>
          <a:lstStyle/>
          <a:p>
            <a:pPr marL="0" indent="0" algn="ctr">
              <a:buNone/>
            </a:pPr>
            <a:r>
              <a:rPr lang="en-US" sz="1250" dirty="0">
                <a:solidFill>
                  <a:srgbClr val="1F2D1F"/>
                </a:solidFill>
                <a:latin typeface="Calibri" pitchFamily="34" charset="0"/>
                <a:ea typeface="Calibri" pitchFamily="34" charset="-122"/>
                <a:cs typeface="Calibri" pitchFamily="34" charset="-120"/>
              </a:rPr>
              <a:t>Data cleaning and transformation using SQL in BigQuery.</a:t>
            </a:r>
            <a:endParaRPr lang="en-US" sz="1250" dirty="0"/>
          </a:p>
        </p:txBody>
      </p:sp>
      <p:sp>
        <p:nvSpPr>
          <p:cNvPr id="13" name="Shape 11"/>
          <p:cNvSpPr/>
          <p:nvPr/>
        </p:nvSpPr>
        <p:spPr>
          <a:xfrm>
            <a:off x="6126480" y="1554480"/>
            <a:ext cx="2651760" cy="3291840"/>
          </a:xfrm>
          <a:prstGeom prst="roundRect">
            <a:avLst>
              <a:gd name="adj" fmla="val 3448"/>
            </a:avLst>
          </a:prstGeom>
          <a:solidFill>
            <a:srgbClr val="FFFFFF"/>
          </a:solidFill>
          <a:ln w="12700">
            <a:solidFill>
              <a:srgbClr val="97BC62"/>
            </a:solidFill>
            <a:prstDash val="solid"/>
          </a:ln>
          <a:effectLst>
            <a:outerShdw blurRad="63500" dist="25400" dir="5400000" algn="bl" rotWithShape="0">
              <a:srgbClr val="BBBBBB">
                <a:alpha val="40000"/>
              </a:srgbClr>
            </a:outerShdw>
          </a:effectLst>
        </p:spPr>
      </p:sp>
      <p:sp>
        <p:nvSpPr>
          <p:cNvPr id="14" name="Shape 12"/>
          <p:cNvSpPr/>
          <p:nvPr/>
        </p:nvSpPr>
        <p:spPr>
          <a:xfrm>
            <a:off x="7086600" y="1783080"/>
            <a:ext cx="731520" cy="731520"/>
          </a:xfrm>
          <a:prstGeom prst="ellipse">
            <a:avLst/>
          </a:prstGeom>
          <a:solidFill>
            <a:srgbClr val="6E8B4E"/>
          </a:solidFill>
          <a:ln/>
        </p:spPr>
      </p:sp>
      <p:sp>
        <p:nvSpPr>
          <p:cNvPr id="15" name="Text 13"/>
          <p:cNvSpPr/>
          <p:nvPr/>
        </p:nvSpPr>
        <p:spPr>
          <a:xfrm>
            <a:off x="7086600" y="1783080"/>
            <a:ext cx="731520" cy="7315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6" name="Text 14"/>
          <p:cNvSpPr/>
          <p:nvPr/>
        </p:nvSpPr>
        <p:spPr>
          <a:xfrm>
            <a:off x="6263640" y="2697480"/>
            <a:ext cx="2377440" cy="457200"/>
          </a:xfrm>
          <a:prstGeom prst="rect">
            <a:avLst/>
          </a:prstGeom>
          <a:noFill/>
          <a:ln/>
        </p:spPr>
        <p:txBody>
          <a:bodyPr wrap="square" rtlCol="0" anchor="ctr"/>
          <a:lstStyle/>
          <a:p>
            <a:pPr marL="0" indent="0" algn="ctr">
              <a:buNone/>
            </a:pPr>
            <a:r>
              <a:rPr lang="en-US" sz="1600" b="1" dirty="0">
                <a:solidFill>
                  <a:srgbClr val="2C5F2D"/>
                </a:solidFill>
                <a:latin typeface="Cambria" pitchFamily="34" charset="0"/>
                <a:ea typeface="Cambria" pitchFamily="34" charset="-122"/>
                <a:cs typeface="Cambria" pitchFamily="34" charset="-120"/>
              </a:rPr>
              <a:t>9 Business Questions</a:t>
            </a:r>
            <a:endParaRPr lang="en-US" sz="1600" dirty="0"/>
          </a:p>
        </p:txBody>
      </p:sp>
      <p:sp>
        <p:nvSpPr>
          <p:cNvPr id="17" name="Text 15"/>
          <p:cNvSpPr/>
          <p:nvPr/>
        </p:nvSpPr>
        <p:spPr>
          <a:xfrm>
            <a:off x="6309360" y="3200400"/>
            <a:ext cx="2286000" cy="1463040"/>
          </a:xfrm>
          <a:prstGeom prst="rect">
            <a:avLst/>
          </a:prstGeom>
          <a:noFill/>
          <a:ln/>
        </p:spPr>
        <p:txBody>
          <a:bodyPr wrap="square" rtlCol="0" anchor="t"/>
          <a:lstStyle/>
          <a:p>
            <a:pPr marL="0" indent="0" algn="ctr">
              <a:buNone/>
            </a:pPr>
            <a:r>
              <a:rPr lang="en-US" sz="1250" dirty="0">
                <a:solidFill>
                  <a:srgbClr val="1F2D1F"/>
                </a:solidFill>
                <a:latin typeface="Calibri" pitchFamily="34" charset="0"/>
                <a:ea typeface="Calibri" pitchFamily="34" charset="-122"/>
                <a:cs typeface="Calibri" pitchFamily="34" charset="-120"/>
              </a:rPr>
              <a:t>Break the analysis down into nine key business questions.</a:t>
            </a:r>
            <a:endParaRPr lang="en-US" sz="1250" dirty="0"/>
          </a:p>
        </p:txBody>
      </p:sp>
      <p:sp>
        <p:nvSpPr>
          <p:cNvPr id="18" name="Shape 16"/>
          <p:cNvSpPr/>
          <p:nvPr/>
        </p:nvSpPr>
        <p:spPr>
          <a:xfrm>
            <a:off x="8915400" y="1554480"/>
            <a:ext cx="2651760" cy="3291840"/>
          </a:xfrm>
          <a:prstGeom prst="roundRect">
            <a:avLst>
              <a:gd name="adj" fmla="val 3448"/>
            </a:avLst>
          </a:prstGeom>
          <a:solidFill>
            <a:srgbClr val="FFFFFF"/>
          </a:solidFill>
          <a:ln w="12700">
            <a:solidFill>
              <a:srgbClr val="97BC62"/>
            </a:solidFill>
            <a:prstDash val="solid"/>
          </a:ln>
          <a:effectLst>
            <a:outerShdw blurRad="63500" dist="25400" dir="5400000" algn="bl" rotWithShape="0">
              <a:srgbClr val="BBBBBB">
                <a:alpha val="40000"/>
              </a:srgbClr>
            </a:outerShdw>
          </a:effectLst>
        </p:spPr>
      </p:sp>
      <p:sp>
        <p:nvSpPr>
          <p:cNvPr id="19" name="Shape 17"/>
          <p:cNvSpPr/>
          <p:nvPr/>
        </p:nvSpPr>
        <p:spPr>
          <a:xfrm>
            <a:off x="9875520" y="1783080"/>
            <a:ext cx="731520" cy="731520"/>
          </a:xfrm>
          <a:prstGeom prst="ellipse">
            <a:avLst/>
          </a:prstGeom>
          <a:solidFill>
            <a:srgbClr val="6E8B4E"/>
          </a:solidFill>
          <a:ln/>
        </p:spPr>
      </p:sp>
      <p:sp>
        <p:nvSpPr>
          <p:cNvPr id="20" name="Text 18"/>
          <p:cNvSpPr/>
          <p:nvPr/>
        </p:nvSpPr>
        <p:spPr>
          <a:xfrm>
            <a:off x="9875520" y="1783080"/>
            <a:ext cx="731520" cy="731520"/>
          </a:xfrm>
          <a:prstGeom prst="rect">
            <a:avLst/>
          </a:prstGeom>
          <a:noFill/>
          <a:ln/>
        </p:spPr>
        <p:txBody>
          <a:bodyPr wrap="square"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4</a:t>
            </a:r>
            <a:endParaRPr lang="en-US" sz="2600" dirty="0"/>
          </a:p>
        </p:txBody>
      </p:sp>
      <p:sp>
        <p:nvSpPr>
          <p:cNvPr id="21" name="Text 19"/>
          <p:cNvSpPr/>
          <p:nvPr/>
        </p:nvSpPr>
        <p:spPr>
          <a:xfrm>
            <a:off x="9052560" y="2697480"/>
            <a:ext cx="2377440" cy="457200"/>
          </a:xfrm>
          <a:prstGeom prst="rect">
            <a:avLst/>
          </a:prstGeom>
          <a:noFill/>
          <a:ln/>
        </p:spPr>
        <p:txBody>
          <a:bodyPr wrap="square" rtlCol="0" anchor="ctr"/>
          <a:lstStyle/>
          <a:p>
            <a:pPr marL="0" indent="0" algn="ctr">
              <a:buNone/>
            </a:pPr>
            <a:r>
              <a:rPr lang="en-US" sz="1600" b="1" dirty="0">
                <a:solidFill>
                  <a:srgbClr val="2C5F2D"/>
                </a:solidFill>
                <a:latin typeface="Cambria" pitchFamily="34" charset="0"/>
                <a:ea typeface="Cambria" pitchFamily="34" charset="-122"/>
                <a:cs typeface="Cambria" pitchFamily="34" charset="-120"/>
              </a:rPr>
              <a:t>Insight (OBIPR)</a:t>
            </a:r>
            <a:endParaRPr lang="en-US" sz="1600" dirty="0"/>
          </a:p>
        </p:txBody>
      </p:sp>
      <p:sp>
        <p:nvSpPr>
          <p:cNvPr id="22" name="Text 20"/>
          <p:cNvSpPr/>
          <p:nvPr/>
        </p:nvSpPr>
        <p:spPr>
          <a:xfrm>
            <a:off x="9098280" y="3200400"/>
            <a:ext cx="2286000" cy="1463040"/>
          </a:xfrm>
          <a:prstGeom prst="rect">
            <a:avLst/>
          </a:prstGeom>
          <a:noFill/>
          <a:ln/>
        </p:spPr>
        <p:txBody>
          <a:bodyPr wrap="square" rtlCol="0" anchor="t"/>
          <a:lstStyle/>
          <a:p>
            <a:pPr marL="0" indent="0" algn="ctr">
              <a:buNone/>
            </a:pPr>
            <a:r>
              <a:rPr lang="en-US" sz="1250" dirty="0">
                <a:solidFill>
                  <a:srgbClr val="1F2D1F"/>
                </a:solidFill>
                <a:latin typeface="Calibri" pitchFamily="34" charset="0"/>
                <a:ea typeface="Calibri" pitchFamily="34" charset="-122"/>
                <a:cs typeface="Calibri" pitchFamily="34" charset="-120"/>
              </a:rPr>
              <a:t>Frame each query's insight with the OBIPR framework for recommendations.</a:t>
            </a:r>
            <a:endParaRPr lang="en-US" sz="1250" dirty="0"/>
          </a:p>
        </p:txBody>
      </p:sp>
      <p:sp>
        <p:nvSpPr>
          <p:cNvPr id="23" name="Text 21"/>
          <p:cNvSpPr/>
          <p:nvPr/>
        </p:nvSpPr>
        <p:spPr>
          <a:xfrm>
            <a:off x="548640" y="5120640"/>
            <a:ext cx="11064240" cy="731520"/>
          </a:xfrm>
          <a:prstGeom prst="rect">
            <a:avLst/>
          </a:prstGeom>
          <a:noFill/>
          <a:ln/>
        </p:spPr>
        <p:txBody>
          <a:bodyPr wrap="square" rtlCol="0" anchor="ctr"/>
          <a:lstStyle/>
          <a:p>
            <a:pPr marL="0" indent="0" algn="ctr">
              <a:buNone/>
            </a:pPr>
            <a:endParaRPr lang="en-US" sz="1300" dirty="0"/>
          </a:p>
        </p:txBody>
      </p:sp>
      <p:sp>
        <p:nvSpPr>
          <p:cNvPr id="24" name="Text 22"/>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25" name="Text 23"/>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2"/>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6E8B4E"/>
          </a:solidFill>
          <a:ln/>
        </p:spPr>
      </p:sp>
      <p:sp>
        <p:nvSpPr>
          <p:cNvPr id="3" name="Text 1"/>
          <p:cNvSpPr/>
          <p:nvPr/>
        </p:nvSpPr>
        <p:spPr>
          <a:xfrm>
            <a:off x="548640" y="45720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188720" y="384048"/>
            <a:ext cx="10424160" cy="731520"/>
          </a:xfrm>
          <a:prstGeom prst="rect">
            <a:avLst/>
          </a:prstGeom>
          <a:noFill/>
          <a:ln/>
        </p:spPr>
        <p:txBody>
          <a:bodyPr wrap="square"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Which category generates the highest revenue after discount?</a:t>
            </a:r>
            <a:endParaRPr lang="en-US" sz="2100" dirty="0"/>
          </a:p>
        </p:txBody>
      </p:sp>
      <p:sp>
        <p:nvSpPr>
          <p:cNvPr id="5" name="Text 3"/>
          <p:cNvSpPr/>
          <p:nvPr/>
        </p:nvSpPr>
        <p:spPr>
          <a:xfrm>
            <a:off x="548640" y="1325880"/>
            <a:ext cx="54864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SQL Query</a:t>
            </a:r>
            <a:endParaRPr lang="en-US" sz="1300" dirty="0"/>
          </a:p>
        </p:txBody>
      </p:sp>
      <p:sp>
        <p:nvSpPr>
          <p:cNvPr id="6" name="Shape 4"/>
          <p:cNvSpPr/>
          <p:nvPr/>
        </p:nvSpPr>
        <p:spPr>
          <a:xfrm>
            <a:off x="548640" y="1691640"/>
            <a:ext cx="6035040" cy="4663440"/>
          </a:xfrm>
          <a:prstGeom prst="roundRect">
            <a:avLst>
              <a:gd name="adj" fmla="val 1176"/>
            </a:avLst>
          </a:prstGeom>
          <a:solidFill>
            <a:srgbClr val="1E2B1E"/>
          </a:solidFill>
          <a:ln w="12700">
            <a:solidFill>
              <a:srgbClr val="1E2B1E"/>
            </a:solidFill>
            <a:prstDash val="solid"/>
          </a:ln>
        </p:spPr>
      </p:sp>
      <p:sp>
        <p:nvSpPr>
          <p:cNvPr id="7" name="Text 5"/>
          <p:cNvSpPr/>
          <p:nvPr/>
        </p:nvSpPr>
        <p:spPr>
          <a:xfrm>
            <a:off x="731520" y="1828800"/>
            <a:ext cx="5715000" cy="4389120"/>
          </a:xfrm>
          <a:prstGeom prst="rect">
            <a:avLst/>
          </a:prstGeom>
          <a:noFill/>
          <a:ln/>
        </p:spPr>
        <p:txBody>
          <a:bodyPr wrap="square" lIns="0" tIns="0" rIns="0" bIns="0" rtlCol="0" anchor="t"/>
          <a:lstStyle/>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SELECT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ROUND(SUM(</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s.quantity * p.price * (1 - s.discount)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 2) AS revenue_after_discount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FROM fsda-sql-01.grocery_dataset.sales 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JOIN fsda-sql-01.grocery_dataset.products p</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s.productid = p.productid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JOIN fsda-sql-01.grocery_dataset.categories c</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p.categoryid = c.categoryid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GROUP BY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ORDER BY revenue_after_discount DESC;</a:t>
            </a:r>
            <a:endParaRPr lang="en-US" sz="1000" dirty="0"/>
          </a:p>
        </p:txBody>
      </p:sp>
      <p:sp>
        <p:nvSpPr>
          <p:cNvPr id="8" name="Text 6"/>
          <p:cNvSpPr/>
          <p:nvPr/>
        </p:nvSpPr>
        <p:spPr>
          <a:xfrm>
            <a:off x="6812280" y="1325880"/>
            <a:ext cx="48006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Query Output</a:t>
            </a:r>
            <a:endParaRPr lang="en-US" sz="1300" dirty="0"/>
          </a:p>
        </p:txBody>
      </p:sp>
      <p:sp>
        <p:nvSpPr>
          <p:cNvPr id="9" name="Shape 7"/>
          <p:cNvSpPr/>
          <p:nvPr/>
        </p:nvSpPr>
        <p:spPr>
          <a:xfrm>
            <a:off x="6812280" y="1691640"/>
            <a:ext cx="4800600" cy="2331720"/>
          </a:xfrm>
          <a:prstGeom prst="roundRect">
            <a:avLst>
              <a:gd name="adj" fmla="val 2353"/>
            </a:avLst>
          </a:prstGeom>
          <a:solidFill>
            <a:srgbClr val="FFFFFF"/>
          </a:solidFill>
          <a:ln w="12700">
            <a:solidFill>
              <a:srgbClr val="97BC62"/>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903720" y="1764792"/>
          <a:ext cx="4617720" cy="1700784"/>
        </p:xfrm>
        <a:graphic>
          <a:graphicData uri="http://schemas.openxmlformats.org/drawingml/2006/table">
            <a:tbl>
              <a:tblPr/>
              <a:tblGrid>
                <a:gridCol w="23317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141732">
                <a:tc>
                  <a:txBody>
                    <a:bodyPr/>
                    <a:lstStyle/>
                    <a:p>
                      <a:pPr marL="0" indent="0" algn="ctr">
                        <a:buNone/>
                      </a:pPr>
                      <a:r>
                        <a:rPr lang="en-US" sz="750" b="1" dirty="0">
                          <a:solidFill>
                            <a:srgbClr val="FFFFFF"/>
                          </a:solidFill>
                          <a:latin typeface="Calibri" pitchFamily="34" charset="0"/>
                          <a:ea typeface="Calibri" pitchFamily="34" charset="-122"/>
                          <a:cs typeface="Calibri" pitchFamily="34" charset="-120"/>
                        </a:rPr>
                        <a:t>category</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50" b="1" dirty="0">
                          <a:solidFill>
                            <a:srgbClr val="FFFFFF"/>
                          </a:solidFill>
                          <a:latin typeface="Calibri" pitchFamily="34" charset="0"/>
                          <a:ea typeface="Calibri" pitchFamily="34" charset="-122"/>
                          <a:cs typeface="Calibri" pitchFamily="34" charset="-120"/>
                        </a:rPr>
                        <a:t>revenue</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Confections</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556930717.35</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Meat</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492888844.69</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2"/>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Poultry</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440025564.97</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Cereals</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427393431.91</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4"/>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Snails</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372084885.21</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Beverages</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366515024.01</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6"/>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Produce</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362861133.52</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Dairy</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354358156.77</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8"/>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Seafood</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330527987.47</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Grain</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323879126.65</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10"/>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Shell fish</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299598294.03</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1" name="Shape 8"/>
          <p:cNvSpPr/>
          <p:nvPr/>
        </p:nvSpPr>
        <p:spPr>
          <a:xfrm>
            <a:off x="6812280" y="4160520"/>
            <a:ext cx="4800600" cy="2194560"/>
          </a:xfrm>
          <a:prstGeom prst="roundRect">
            <a:avLst>
              <a:gd name="adj" fmla="val 2500"/>
            </a:avLst>
          </a:prstGeom>
          <a:solidFill>
            <a:srgbClr val="2C5F2D"/>
          </a:solidFill>
          <a:ln w="12700">
            <a:solidFill>
              <a:srgbClr val="2C5F2D"/>
            </a:solidFill>
            <a:prstDash val="solid"/>
          </a:ln>
        </p:spPr>
      </p:sp>
      <p:sp>
        <p:nvSpPr>
          <p:cNvPr id="12" name="Text 9"/>
          <p:cNvSpPr/>
          <p:nvPr/>
        </p:nvSpPr>
        <p:spPr>
          <a:xfrm>
            <a:off x="6995160" y="4279392"/>
            <a:ext cx="4480560" cy="320040"/>
          </a:xfrm>
          <a:prstGeom prst="rect">
            <a:avLst/>
          </a:prstGeom>
          <a:noFill/>
          <a:ln/>
        </p:spPr>
        <p:txBody>
          <a:bodyPr wrap="square" rtlCol="0" anchor="ctr"/>
          <a:lstStyle/>
          <a:p>
            <a:pPr marL="0" indent="0">
              <a:buNone/>
            </a:pPr>
            <a:r>
              <a:rPr lang="en-US" sz="1500" b="1" dirty="0">
                <a:solidFill>
                  <a:srgbClr val="97BC62"/>
                </a:solidFill>
                <a:latin typeface="Cambria" pitchFamily="34" charset="0"/>
                <a:ea typeface="Cambria" pitchFamily="34" charset="-122"/>
                <a:cs typeface="Cambria" pitchFamily="34" charset="-120"/>
              </a:rPr>
              <a:t>Insight</a:t>
            </a:r>
            <a:endParaRPr lang="en-US" sz="1500" dirty="0"/>
          </a:p>
        </p:txBody>
      </p:sp>
      <p:sp>
        <p:nvSpPr>
          <p:cNvPr id="13" name="Text 10"/>
          <p:cNvSpPr/>
          <p:nvPr/>
        </p:nvSpPr>
        <p:spPr>
          <a:xfrm>
            <a:off x="6995160" y="4645152"/>
            <a:ext cx="4480560" cy="1600200"/>
          </a:xfrm>
          <a:prstGeom prst="rect">
            <a:avLst/>
          </a:prstGeom>
          <a:noFill/>
          <a:ln/>
        </p:spPr>
        <p:txBody>
          <a:bodyPr wrap="square" rtlCol="0" anchor="t"/>
          <a:lstStyle/>
          <a:p>
            <a:pPr marL="0" indent="0">
              <a:lnSpc>
                <a:spcPct val="105000"/>
              </a:lnSpc>
              <a:buNone/>
            </a:pPr>
            <a:r>
              <a:rPr lang="en-US" sz="1200" dirty="0">
                <a:solidFill>
                  <a:srgbClr val="F5F7F2"/>
                </a:solidFill>
                <a:latin typeface="Calibri" pitchFamily="34" charset="0"/>
                <a:ea typeface="Calibri" pitchFamily="34" charset="-122"/>
                <a:cs typeface="Calibri" pitchFamily="34" charset="-120"/>
              </a:rPr>
              <a:t>Confections generates the highest revenue after discount at 556.93M, ahead of Meat (492.89M) and Poultry (440.03M). This signals strong demand for Confections, making it a top priority for sales strategy.</a:t>
            </a:r>
            <a:endParaRPr lang="en-US" sz="1200" dirty="0"/>
          </a:p>
        </p:txBody>
      </p:sp>
      <p:sp>
        <p:nvSpPr>
          <p:cNvPr id="14" name="Text 11"/>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15" name="Text 12"/>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2"/>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6E8B4E"/>
          </a:solidFill>
          <a:ln/>
        </p:spPr>
      </p:sp>
      <p:sp>
        <p:nvSpPr>
          <p:cNvPr id="3" name="Text 1"/>
          <p:cNvSpPr/>
          <p:nvPr/>
        </p:nvSpPr>
        <p:spPr>
          <a:xfrm>
            <a:off x="548640" y="45720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p:nvPr/>
        </p:nvSpPr>
        <p:spPr>
          <a:xfrm>
            <a:off x="1188720" y="384048"/>
            <a:ext cx="10424160" cy="731520"/>
          </a:xfrm>
          <a:prstGeom prst="rect">
            <a:avLst/>
          </a:prstGeom>
          <a:noFill/>
          <a:ln/>
        </p:spPr>
        <p:txBody>
          <a:bodyPr wrap="square"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How does revenue after discount relate to total units sold per category?</a:t>
            </a:r>
            <a:endParaRPr lang="en-US" sz="2100" dirty="0"/>
          </a:p>
        </p:txBody>
      </p:sp>
      <p:sp>
        <p:nvSpPr>
          <p:cNvPr id="5" name="Text 3"/>
          <p:cNvSpPr/>
          <p:nvPr/>
        </p:nvSpPr>
        <p:spPr>
          <a:xfrm>
            <a:off x="548640" y="1325880"/>
            <a:ext cx="54864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SQL Query</a:t>
            </a:r>
            <a:endParaRPr lang="en-US" sz="1300" dirty="0"/>
          </a:p>
        </p:txBody>
      </p:sp>
      <p:sp>
        <p:nvSpPr>
          <p:cNvPr id="6" name="Shape 4"/>
          <p:cNvSpPr/>
          <p:nvPr/>
        </p:nvSpPr>
        <p:spPr>
          <a:xfrm>
            <a:off x="548640" y="1691640"/>
            <a:ext cx="6035040" cy="4663440"/>
          </a:xfrm>
          <a:prstGeom prst="roundRect">
            <a:avLst>
              <a:gd name="adj" fmla="val 1176"/>
            </a:avLst>
          </a:prstGeom>
          <a:solidFill>
            <a:srgbClr val="1E2B1E"/>
          </a:solidFill>
          <a:ln w="12700">
            <a:solidFill>
              <a:srgbClr val="1E2B1E"/>
            </a:solidFill>
            <a:prstDash val="solid"/>
          </a:ln>
        </p:spPr>
      </p:sp>
      <p:sp>
        <p:nvSpPr>
          <p:cNvPr id="7" name="Text 5"/>
          <p:cNvSpPr/>
          <p:nvPr/>
        </p:nvSpPr>
        <p:spPr>
          <a:xfrm>
            <a:off x="731520" y="1828800"/>
            <a:ext cx="5715000" cy="4389120"/>
          </a:xfrm>
          <a:prstGeom prst="rect">
            <a:avLst/>
          </a:prstGeom>
          <a:noFill/>
          <a:ln/>
        </p:spPr>
        <p:txBody>
          <a:bodyPr wrap="square" lIns="0" tIns="0" rIns="0" bIns="0" rtlCol="0" anchor="t"/>
          <a:lstStyle/>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SELECT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SUM(s.quantity) AS total_units_sold,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ROUND(SUM(</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s.quantity * p.price * (1 - s.discount)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 2) AS revenue_after_discount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FROM fsda-sql-01.grocery_dataset.sales 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JOIN fsda-sql-01.grocery_dataset.products p</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s.productid = p.productid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JOIN fsda-sql-01.grocery_dataset.categories c</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p.categoryid = c.categoryid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GROUP BY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ORDER BY revenue_after_discount DESC;</a:t>
            </a:r>
            <a:endParaRPr lang="en-US" sz="1000" dirty="0"/>
          </a:p>
        </p:txBody>
      </p:sp>
      <p:sp>
        <p:nvSpPr>
          <p:cNvPr id="8" name="Text 6"/>
          <p:cNvSpPr/>
          <p:nvPr/>
        </p:nvSpPr>
        <p:spPr>
          <a:xfrm>
            <a:off x="6812280" y="1325880"/>
            <a:ext cx="48006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Query Output</a:t>
            </a:r>
            <a:endParaRPr lang="en-US" sz="1300" dirty="0"/>
          </a:p>
        </p:txBody>
      </p:sp>
      <p:sp>
        <p:nvSpPr>
          <p:cNvPr id="9" name="Shape 7"/>
          <p:cNvSpPr/>
          <p:nvPr/>
        </p:nvSpPr>
        <p:spPr>
          <a:xfrm>
            <a:off x="6812280" y="1691640"/>
            <a:ext cx="4800600" cy="2331720"/>
          </a:xfrm>
          <a:prstGeom prst="roundRect">
            <a:avLst>
              <a:gd name="adj" fmla="val 2353"/>
            </a:avLst>
          </a:prstGeom>
          <a:solidFill>
            <a:srgbClr val="FFFFFF"/>
          </a:solidFill>
          <a:ln w="12700">
            <a:solidFill>
              <a:srgbClr val="97BC62"/>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903720" y="1764792"/>
          <a:ext cx="4617720" cy="1700784"/>
        </p:xfrm>
        <a:graphic>
          <a:graphicData uri="http://schemas.openxmlformats.org/drawingml/2006/table">
            <a:tbl>
              <a:tblPr/>
              <a:tblGrid>
                <a:gridCol w="17830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141732">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category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units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revenue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Confections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11078474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556930717.35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Meat</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9719292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492888844.69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Poultry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9159847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440025564.97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Cereals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8735296</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427393431.91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4"/>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Snails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7199409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372084885.21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Beverages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7393693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366515024.01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6"/>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Produce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8174673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362861133.52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Dairy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6815143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354358156.77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8"/>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Seafood</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6996152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330527987.47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Grain</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5433152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323879126.65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1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Shell fish</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6983457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299598294.03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1" name="Shape 8"/>
          <p:cNvSpPr/>
          <p:nvPr/>
        </p:nvSpPr>
        <p:spPr>
          <a:xfrm>
            <a:off x="6812280" y="4160520"/>
            <a:ext cx="4800600" cy="2194560"/>
          </a:xfrm>
          <a:prstGeom prst="roundRect">
            <a:avLst>
              <a:gd name="adj" fmla="val 2500"/>
            </a:avLst>
          </a:prstGeom>
          <a:solidFill>
            <a:srgbClr val="2C5F2D"/>
          </a:solidFill>
          <a:ln w="12700">
            <a:solidFill>
              <a:srgbClr val="2C5F2D"/>
            </a:solidFill>
            <a:prstDash val="solid"/>
          </a:ln>
        </p:spPr>
      </p:sp>
      <p:sp>
        <p:nvSpPr>
          <p:cNvPr id="12" name="Text 9"/>
          <p:cNvSpPr/>
          <p:nvPr/>
        </p:nvSpPr>
        <p:spPr>
          <a:xfrm>
            <a:off x="6995160" y="4279392"/>
            <a:ext cx="4480560" cy="320040"/>
          </a:xfrm>
          <a:prstGeom prst="rect">
            <a:avLst/>
          </a:prstGeom>
          <a:noFill/>
          <a:ln/>
        </p:spPr>
        <p:txBody>
          <a:bodyPr wrap="square" rtlCol="0" anchor="ctr"/>
          <a:lstStyle/>
          <a:p>
            <a:pPr marL="0" indent="0">
              <a:buNone/>
            </a:pPr>
            <a:r>
              <a:rPr lang="en-US" sz="1500" b="1" dirty="0">
                <a:solidFill>
                  <a:srgbClr val="97BC62"/>
                </a:solidFill>
                <a:latin typeface="Cambria" pitchFamily="34" charset="0"/>
                <a:ea typeface="Cambria" pitchFamily="34" charset="-122"/>
                <a:cs typeface="Cambria" pitchFamily="34" charset="-120"/>
              </a:rPr>
              <a:t>Insight</a:t>
            </a:r>
            <a:endParaRPr lang="en-US" sz="1500" dirty="0"/>
          </a:p>
        </p:txBody>
      </p:sp>
      <p:sp>
        <p:nvSpPr>
          <p:cNvPr id="13" name="Text 10"/>
          <p:cNvSpPr/>
          <p:nvPr/>
        </p:nvSpPr>
        <p:spPr>
          <a:xfrm>
            <a:off x="6995160" y="4645152"/>
            <a:ext cx="4480560" cy="1600200"/>
          </a:xfrm>
          <a:prstGeom prst="rect">
            <a:avLst/>
          </a:prstGeom>
          <a:noFill/>
          <a:ln/>
        </p:spPr>
        <p:txBody>
          <a:bodyPr wrap="square" rtlCol="0" anchor="t"/>
          <a:lstStyle/>
          <a:p>
            <a:pPr marL="0" indent="0">
              <a:lnSpc>
                <a:spcPct val="105000"/>
              </a:lnSpc>
              <a:buNone/>
            </a:pPr>
            <a:r>
              <a:rPr lang="en-US" sz="1200" dirty="0">
                <a:solidFill>
                  <a:srgbClr val="F5F7F2"/>
                </a:solidFill>
                <a:latin typeface="Calibri" pitchFamily="34" charset="0"/>
                <a:ea typeface="Calibri" pitchFamily="34" charset="-122"/>
                <a:cs typeface="Calibri" pitchFamily="34" charset="-120"/>
              </a:rPr>
              <a:t>Confections leads with 11.08M units sold and 556.93M revenue. Revenue broadly rises with units sold, but the link is imperfect: Produce sells 8.17M units yet earns less than Cereals (8.74M units) because unit prices differ across categories.</a:t>
            </a:r>
            <a:endParaRPr lang="en-US" sz="1200" dirty="0"/>
          </a:p>
        </p:txBody>
      </p:sp>
      <p:sp>
        <p:nvSpPr>
          <p:cNvPr id="14" name="Text 11"/>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15" name="Text 12"/>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2"/>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6E8B4E"/>
          </a:solidFill>
          <a:ln/>
        </p:spPr>
      </p:sp>
      <p:sp>
        <p:nvSpPr>
          <p:cNvPr id="3" name="Text 1"/>
          <p:cNvSpPr/>
          <p:nvPr/>
        </p:nvSpPr>
        <p:spPr>
          <a:xfrm>
            <a:off x="548640" y="45720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p:nvPr/>
        </p:nvSpPr>
        <p:spPr>
          <a:xfrm>
            <a:off x="1188720" y="384048"/>
            <a:ext cx="10424160" cy="731520"/>
          </a:xfrm>
          <a:prstGeom prst="rect">
            <a:avLst/>
          </a:prstGeom>
          <a:noFill/>
          <a:ln/>
        </p:spPr>
        <p:txBody>
          <a:bodyPr wrap="square"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How does revenue after discount relate to the number of unique customers per category?</a:t>
            </a:r>
            <a:endParaRPr lang="en-US" sz="2100" dirty="0"/>
          </a:p>
        </p:txBody>
      </p:sp>
      <p:sp>
        <p:nvSpPr>
          <p:cNvPr id="5" name="Text 3"/>
          <p:cNvSpPr/>
          <p:nvPr/>
        </p:nvSpPr>
        <p:spPr>
          <a:xfrm>
            <a:off x="548640" y="1325880"/>
            <a:ext cx="54864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SQL Query</a:t>
            </a:r>
            <a:endParaRPr lang="en-US" sz="1300" dirty="0"/>
          </a:p>
        </p:txBody>
      </p:sp>
      <p:sp>
        <p:nvSpPr>
          <p:cNvPr id="6" name="Shape 4"/>
          <p:cNvSpPr/>
          <p:nvPr/>
        </p:nvSpPr>
        <p:spPr>
          <a:xfrm>
            <a:off x="548640" y="1691640"/>
            <a:ext cx="6035040" cy="4663440"/>
          </a:xfrm>
          <a:prstGeom prst="roundRect">
            <a:avLst>
              <a:gd name="adj" fmla="val 1176"/>
            </a:avLst>
          </a:prstGeom>
          <a:solidFill>
            <a:srgbClr val="1E2B1E"/>
          </a:solidFill>
          <a:ln w="12700">
            <a:solidFill>
              <a:srgbClr val="1E2B1E"/>
            </a:solidFill>
            <a:prstDash val="solid"/>
          </a:ln>
        </p:spPr>
      </p:sp>
      <p:sp>
        <p:nvSpPr>
          <p:cNvPr id="7" name="Text 5"/>
          <p:cNvSpPr/>
          <p:nvPr/>
        </p:nvSpPr>
        <p:spPr>
          <a:xfrm>
            <a:off x="731520" y="1828800"/>
            <a:ext cx="5715000" cy="4389120"/>
          </a:xfrm>
          <a:prstGeom prst="rect">
            <a:avLst/>
          </a:prstGeom>
          <a:noFill/>
          <a:ln/>
        </p:spPr>
        <p:txBody>
          <a:bodyPr wrap="square" lIns="0" tIns="0" rIns="0" bIns="0" rtlCol="0" anchor="t"/>
          <a:lstStyle/>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SELECT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COUNT(DISTINCT s.customerid) AS unique_customers,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ROUND(SUM(</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s.quantity * p.price * (1 - s.discount)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 2) AS revenue_after_discount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FROM fsda-sql-01.grocery_dataset.sales 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JOIN fsda-sql-01.grocery_dataset.products p</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s.productid = p.productid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JOIN fsda-sql-01.grocery_dataset.categories c</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p.categoryid = c.categoryid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GROUP BY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ORDER BY revenue_after_discount DESC;</a:t>
            </a:r>
            <a:endParaRPr lang="en-US" sz="1000" dirty="0"/>
          </a:p>
        </p:txBody>
      </p:sp>
      <p:sp>
        <p:nvSpPr>
          <p:cNvPr id="8" name="Text 6"/>
          <p:cNvSpPr/>
          <p:nvPr/>
        </p:nvSpPr>
        <p:spPr>
          <a:xfrm>
            <a:off x="6812280" y="1325880"/>
            <a:ext cx="48006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Query Output</a:t>
            </a:r>
            <a:endParaRPr lang="en-US" sz="1300" dirty="0"/>
          </a:p>
        </p:txBody>
      </p:sp>
      <p:sp>
        <p:nvSpPr>
          <p:cNvPr id="9" name="Shape 7"/>
          <p:cNvSpPr/>
          <p:nvPr/>
        </p:nvSpPr>
        <p:spPr>
          <a:xfrm>
            <a:off x="6812280" y="1691640"/>
            <a:ext cx="4800600" cy="2331720"/>
          </a:xfrm>
          <a:prstGeom prst="roundRect">
            <a:avLst>
              <a:gd name="adj" fmla="val 2353"/>
            </a:avLst>
          </a:prstGeom>
          <a:solidFill>
            <a:srgbClr val="FFFFFF"/>
          </a:solidFill>
          <a:ln w="12700">
            <a:solidFill>
              <a:srgbClr val="97BC62"/>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903720" y="1764792"/>
          <a:ext cx="4617720" cy="1700784"/>
        </p:xfrm>
        <a:graphic>
          <a:graphicData uri="http://schemas.openxmlformats.org/drawingml/2006/table">
            <a:tbl>
              <a:tblPr/>
              <a:tblGrid>
                <a:gridCol w="17830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141732">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category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customers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revenue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Confections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98743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556930717.35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Meat</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98701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492888844.69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Poultry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98679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440025564.97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Cereals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98651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427393431.91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4"/>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Snails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98376</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372084885.21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Beverages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98424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366515024.01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6"/>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Produce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98601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362861133.52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Dairy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98308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354358156.77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8"/>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Seafood</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98334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330527987.47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Grain</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97335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323879126.65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1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Shell fish</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98338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299598294.03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1" name="Shape 8"/>
          <p:cNvSpPr/>
          <p:nvPr/>
        </p:nvSpPr>
        <p:spPr>
          <a:xfrm>
            <a:off x="6812280" y="4160520"/>
            <a:ext cx="4800600" cy="2194560"/>
          </a:xfrm>
          <a:prstGeom prst="roundRect">
            <a:avLst>
              <a:gd name="adj" fmla="val 2500"/>
            </a:avLst>
          </a:prstGeom>
          <a:solidFill>
            <a:srgbClr val="2C5F2D"/>
          </a:solidFill>
          <a:ln w="12700">
            <a:solidFill>
              <a:srgbClr val="2C5F2D"/>
            </a:solidFill>
            <a:prstDash val="solid"/>
          </a:ln>
        </p:spPr>
      </p:sp>
      <p:sp>
        <p:nvSpPr>
          <p:cNvPr id="12" name="Text 9"/>
          <p:cNvSpPr/>
          <p:nvPr/>
        </p:nvSpPr>
        <p:spPr>
          <a:xfrm>
            <a:off x="6995160" y="4279392"/>
            <a:ext cx="4480560" cy="320040"/>
          </a:xfrm>
          <a:prstGeom prst="rect">
            <a:avLst/>
          </a:prstGeom>
          <a:noFill/>
          <a:ln/>
        </p:spPr>
        <p:txBody>
          <a:bodyPr wrap="square" rtlCol="0" anchor="ctr"/>
          <a:lstStyle/>
          <a:p>
            <a:pPr marL="0" indent="0">
              <a:buNone/>
            </a:pPr>
            <a:r>
              <a:rPr lang="en-US" sz="1500" b="1" dirty="0">
                <a:solidFill>
                  <a:srgbClr val="97BC62"/>
                </a:solidFill>
                <a:latin typeface="Cambria" pitchFamily="34" charset="0"/>
                <a:ea typeface="Cambria" pitchFamily="34" charset="-122"/>
                <a:cs typeface="Cambria" pitchFamily="34" charset="-120"/>
              </a:rPr>
              <a:t>Insight</a:t>
            </a:r>
            <a:endParaRPr lang="en-US" sz="1500" dirty="0"/>
          </a:p>
        </p:txBody>
      </p:sp>
      <p:sp>
        <p:nvSpPr>
          <p:cNvPr id="13" name="Text 10"/>
          <p:cNvSpPr/>
          <p:nvPr/>
        </p:nvSpPr>
        <p:spPr>
          <a:xfrm>
            <a:off x="6995160" y="4645152"/>
            <a:ext cx="4480560" cy="1600200"/>
          </a:xfrm>
          <a:prstGeom prst="rect">
            <a:avLst/>
          </a:prstGeom>
          <a:noFill/>
          <a:ln/>
        </p:spPr>
        <p:txBody>
          <a:bodyPr wrap="square" rtlCol="0" anchor="t"/>
          <a:lstStyle/>
          <a:p>
            <a:pPr marL="0" indent="0">
              <a:lnSpc>
                <a:spcPct val="105000"/>
              </a:lnSpc>
              <a:buNone/>
            </a:pPr>
            <a:r>
              <a:rPr lang="en-US" sz="1200" dirty="0">
                <a:solidFill>
                  <a:srgbClr val="F5F7F2"/>
                </a:solidFill>
                <a:latin typeface="Calibri" pitchFamily="34" charset="0"/>
                <a:ea typeface="Calibri" pitchFamily="34" charset="-122"/>
                <a:cs typeface="Calibri" pitchFamily="34" charset="-120"/>
              </a:rPr>
              <a:t>Unique customers are nearly identical across categories (roughly 97.3k to 98.7k), so revenue is not driven by customer count. The revenue gap comes from purchase volume per customer, not from acquiring more buyers.</a:t>
            </a:r>
            <a:endParaRPr lang="en-US" sz="1200" dirty="0"/>
          </a:p>
        </p:txBody>
      </p:sp>
      <p:sp>
        <p:nvSpPr>
          <p:cNvPr id="14" name="Text 11"/>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15" name="Text 12"/>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2"/>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6E8B4E"/>
          </a:solidFill>
          <a:ln/>
        </p:spPr>
      </p:sp>
      <p:sp>
        <p:nvSpPr>
          <p:cNvPr id="3" name="Text 1"/>
          <p:cNvSpPr/>
          <p:nvPr/>
        </p:nvSpPr>
        <p:spPr>
          <a:xfrm>
            <a:off x="548640" y="45720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188720" y="384048"/>
            <a:ext cx="10424160" cy="731520"/>
          </a:xfrm>
          <a:prstGeom prst="rect">
            <a:avLst/>
          </a:prstGeom>
          <a:noFill/>
          <a:ln/>
        </p:spPr>
        <p:txBody>
          <a:bodyPr wrap="square"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What is the average price per unit for each category in the catalogue?</a:t>
            </a:r>
            <a:endParaRPr lang="en-US" sz="2100" dirty="0"/>
          </a:p>
        </p:txBody>
      </p:sp>
      <p:sp>
        <p:nvSpPr>
          <p:cNvPr id="5" name="Text 3"/>
          <p:cNvSpPr/>
          <p:nvPr/>
        </p:nvSpPr>
        <p:spPr>
          <a:xfrm>
            <a:off x="548640" y="1325880"/>
            <a:ext cx="54864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SQL Query</a:t>
            </a:r>
            <a:endParaRPr lang="en-US" sz="1300" dirty="0"/>
          </a:p>
        </p:txBody>
      </p:sp>
      <p:sp>
        <p:nvSpPr>
          <p:cNvPr id="6" name="Shape 4"/>
          <p:cNvSpPr/>
          <p:nvPr/>
        </p:nvSpPr>
        <p:spPr>
          <a:xfrm>
            <a:off x="548640" y="1691640"/>
            <a:ext cx="6035040" cy="4663440"/>
          </a:xfrm>
          <a:prstGeom prst="roundRect">
            <a:avLst>
              <a:gd name="adj" fmla="val 1176"/>
            </a:avLst>
          </a:prstGeom>
          <a:solidFill>
            <a:srgbClr val="1E2B1E"/>
          </a:solidFill>
          <a:ln w="12700">
            <a:solidFill>
              <a:srgbClr val="1E2B1E"/>
            </a:solidFill>
            <a:prstDash val="solid"/>
          </a:ln>
        </p:spPr>
      </p:sp>
      <p:sp>
        <p:nvSpPr>
          <p:cNvPr id="7" name="Text 5"/>
          <p:cNvSpPr/>
          <p:nvPr/>
        </p:nvSpPr>
        <p:spPr>
          <a:xfrm>
            <a:off x="731520" y="1828800"/>
            <a:ext cx="5715000" cy="4389120"/>
          </a:xfrm>
          <a:prstGeom prst="rect">
            <a:avLst/>
          </a:prstGeom>
          <a:noFill/>
          <a:ln/>
        </p:spPr>
        <p:txBody>
          <a:bodyPr wrap="square" lIns="0" tIns="0" rIns="0" bIns="0" rtlCol="0" anchor="t"/>
          <a:lstStyle/>
          <a:p>
            <a:pPr marL="0" indent="0" algn="l">
              <a:lnSpc>
                <a:spcPct val="100000"/>
              </a:lnSpc>
              <a:buNone/>
            </a:pPr>
            <a:r>
              <a:rPr lang="en-US" sz="1050" dirty="0">
                <a:solidFill>
                  <a:srgbClr val="E8F0E0"/>
                </a:solidFill>
                <a:latin typeface="Courier New" pitchFamily="34" charset="0"/>
                <a:ea typeface="Courier New" pitchFamily="34" charset="-122"/>
                <a:cs typeface="Courier New" pitchFamily="34" charset="-120"/>
              </a:rPr>
              <a:t>SELECT</a:t>
            </a:r>
            <a:endParaRPr lang="en-US" sz="1050" dirty="0"/>
          </a:p>
          <a:p>
            <a:pPr marL="0" indent="0" algn="l">
              <a:lnSpc>
                <a:spcPct val="100000"/>
              </a:lnSpc>
              <a:buNone/>
            </a:pPr>
            <a:r>
              <a:rPr lang="en-US" sz="1050" dirty="0">
                <a:solidFill>
                  <a:srgbClr val="E8F0E0"/>
                </a:solidFill>
                <a:latin typeface="Courier New" pitchFamily="34" charset="0"/>
                <a:ea typeface="Courier New" pitchFamily="34" charset="-122"/>
                <a:cs typeface="Courier New" pitchFamily="34" charset="-120"/>
              </a:rPr>
              <a:t>  c.categoryname,</a:t>
            </a:r>
            <a:endParaRPr lang="en-US" sz="1050" dirty="0"/>
          </a:p>
          <a:p>
            <a:pPr marL="0" indent="0" algn="l">
              <a:lnSpc>
                <a:spcPct val="100000"/>
              </a:lnSpc>
              <a:buNone/>
            </a:pPr>
            <a:r>
              <a:rPr lang="en-US" sz="1050" dirty="0">
                <a:solidFill>
                  <a:srgbClr val="E8F0E0"/>
                </a:solidFill>
                <a:latin typeface="Courier New" pitchFamily="34" charset="0"/>
                <a:ea typeface="Courier New" pitchFamily="34" charset="-122"/>
                <a:cs typeface="Courier New" pitchFamily="34" charset="-120"/>
              </a:rPr>
              <a:t>  ROUND(AVG(p.price), 2) AS avg_price_per_unit</a:t>
            </a:r>
            <a:endParaRPr lang="en-US" sz="1050" dirty="0"/>
          </a:p>
          <a:p>
            <a:pPr marL="0" indent="0" algn="l">
              <a:lnSpc>
                <a:spcPct val="100000"/>
              </a:lnSpc>
              <a:buNone/>
            </a:pPr>
            <a:r>
              <a:rPr lang="en-US" sz="1050" dirty="0">
                <a:solidFill>
                  <a:srgbClr val="E8F0E0"/>
                </a:solidFill>
                <a:latin typeface="Courier New" pitchFamily="34" charset="0"/>
                <a:ea typeface="Courier New" pitchFamily="34" charset="-122"/>
                <a:cs typeface="Courier New" pitchFamily="34" charset="-120"/>
              </a:rPr>
              <a:t>FROM fsda-sql-01.grocery_dataset.products p</a:t>
            </a:r>
            <a:endParaRPr lang="en-US" sz="1050" dirty="0"/>
          </a:p>
          <a:p>
            <a:pPr marL="0" indent="0" algn="l">
              <a:lnSpc>
                <a:spcPct val="100000"/>
              </a:lnSpc>
              <a:buNone/>
            </a:pPr>
            <a:r>
              <a:rPr lang="en-US" sz="1050" dirty="0">
                <a:solidFill>
                  <a:srgbClr val="E8F0E0"/>
                </a:solidFill>
                <a:latin typeface="Courier New" pitchFamily="34" charset="0"/>
                <a:ea typeface="Courier New" pitchFamily="34" charset="-122"/>
                <a:cs typeface="Courier New" pitchFamily="34" charset="-120"/>
              </a:rPr>
              <a:t>JOIN fsda-sql-01.grocery_dataset.categories c</a:t>
            </a:r>
            <a:endParaRPr lang="en-US" sz="1050" dirty="0"/>
          </a:p>
          <a:p>
            <a:pPr marL="0" indent="0" algn="l">
              <a:lnSpc>
                <a:spcPct val="100000"/>
              </a:lnSpc>
              <a:buNone/>
            </a:pPr>
            <a:r>
              <a:rPr lang="en-US" sz="1050" dirty="0">
                <a:solidFill>
                  <a:srgbClr val="E8F0E0"/>
                </a:solidFill>
                <a:latin typeface="Courier New" pitchFamily="34" charset="0"/>
                <a:ea typeface="Courier New" pitchFamily="34" charset="-122"/>
                <a:cs typeface="Courier New" pitchFamily="34" charset="-120"/>
              </a:rPr>
              <a:t>  ON p.categoryid = c.categoryid</a:t>
            </a:r>
            <a:endParaRPr lang="en-US" sz="1050" dirty="0"/>
          </a:p>
          <a:p>
            <a:pPr marL="0" indent="0" algn="l">
              <a:lnSpc>
                <a:spcPct val="100000"/>
              </a:lnSpc>
              <a:buNone/>
            </a:pPr>
            <a:r>
              <a:rPr lang="en-US" sz="1050" dirty="0">
                <a:solidFill>
                  <a:srgbClr val="E8F0E0"/>
                </a:solidFill>
                <a:latin typeface="Courier New" pitchFamily="34" charset="0"/>
                <a:ea typeface="Courier New" pitchFamily="34" charset="-122"/>
                <a:cs typeface="Courier New" pitchFamily="34" charset="-120"/>
              </a:rPr>
              <a:t>GROUP BY c.categoryname</a:t>
            </a:r>
            <a:endParaRPr lang="en-US" sz="1050" dirty="0"/>
          </a:p>
          <a:p>
            <a:pPr marL="0" indent="0" algn="l">
              <a:lnSpc>
                <a:spcPct val="100000"/>
              </a:lnSpc>
              <a:buNone/>
            </a:pPr>
            <a:r>
              <a:rPr lang="en-US" sz="1050" dirty="0">
                <a:solidFill>
                  <a:srgbClr val="E8F0E0"/>
                </a:solidFill>
                <a:latin typeface="Courier New" pitchFamily="34" charset="0"/>
                <a:ea typeface="Courier New" pitchFamily="34" charset="-122"/>
                <a:cs typeface="Courier New" pitchFamily="34" charset="-120"/>
              </a:rPr>
              <a:t>ORDER BY avg_price_per_unit DESC;</a:t>
            </a:r>
            <a:endParaRPr lang="en-US" sz="1050" dirty="0"/>
          </a:p>
        </p:txBody>
      </p:sp>
      <p:sp>
        <p:nvSpPr>
          <p:cNvPr id="8" name="Text 6"/>
          <p:cNvSpPr/>
          <p:nvPr/>
        </p:nvSpPr>
        <p:spPr>
          <a:xfrm>
            <a:off x="6812280" y="1325880"/>
            <a:ext cx="48006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Query Output</a:t>
            </a:r>
            <a:endParaRPr lang="en-US" sz="1300" dirty="0"/>
          </a:p>
        </p:txBody>
      </p:sp>
      <p:sp>
        <p:nvSpPr>
          <p:cNvPr id="9" name="Shape 7"/>
          <p:cNvSpPr/>
          <p:nvPr/>
        </p:nvSpPr>
        <p:spPr>
          <a:xfrm>
            <a:off x="6812280" y="1691640"/>
            <a:ext cx="4800600" cy="2331720"/>
          </a:xfrm>
          <a:prstGeom prst="roundRect">
            <a:avLst>
              <a:gd name="adj" fmla="val 2353"/>
            </a:avLst>
          </a:prstGeom>
          <a:solidFill>
            <a:srgbClr val="FFFFFF"/>
          </a:solidFill>
          <a:ln w="12700">
            <a:solidFill>
              <a:srgbClr val="97BC62"/>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903720" y="1764792"/>
          <a:ext cx="4617720" cy="1700784"/>
        </p:xfrm>
        <a:graphic>
          <a:graphicData uri="http://schemas.openxmlformats.org/drawingml/2006/table">
            <a:tbl>
              <a:tblPr/>
              <a:tblGrid>
                <a:gridCol w="23317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141732">
                <a:tc>
                  <a:txBody>
                    <a:bodyPr/>
                    <a:lstStyle/>
                    <a:p>
                      <a:pPr marL="0" indent="0" algn="ctr">
                        <a:buNone/>
                      </a:pPr>
                      <a:r>
                        <a:rPr lang="en-US" sz="750" b="1" dirty="0">
                          <a:solidFill>
                            <a:srgbClr val="FFFFFF"/>
                          </a:solidFill>
                          <a:latin typeface="Calibri" pitchFamily="34" charset="0"/>
                          <a:ea typeface="Calibri" pitchFamily="34" charset="-122"/>
                          <a:cs typeface="Calibri" pitchFamily="34" charset="-120"/>
                        </a:rPr>
                        <a:t>category</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50" b="1" dirty="0">
                          <a:solidFill>
                            <a:srgbClr val="FFFFFF"/>
                          </a:solidFill>
                          <a:latin typeface="Calibri" pitchFamily="34" charset="0"/>
                          <a:ea typeface="Calibri" pitchFamily="34" charset="-122"/>
                          <a:cs typeface="Calibri" pitchFamily="34" charset="-120"/>
                        </a:rPr>
                        <a:t>avg_price</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Grain</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61.40</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Dairy</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53.56</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2"/>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Snails</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53.20</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Meat</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52.27</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4"/>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Confections</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51.85</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Beverages</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51.04</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6"/>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Cereals</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50.42</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Poultry</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49.46</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8"/>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Seafood</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48.67</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Produce</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45.80</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10"/>
                  </a:ext>
                </a:extLst>
              </a:tr>
              <a:tr h="141732">
                <a:tc>
                  <a:txBody>
                    <a:bodyPr/>
                    <a:lstStyle/>
                    <a:p>
                      <a:pPr marL="0" indent="0" algn="l">
                        <a:buNone/>
                      </a:pPr>
                      <a:r>
                        <a:rPr lang="en-US" sz="750" dirty="0">
                          <a:solidFill>
                            <a:srgbClr val="1F2D1F"/>
                          </a:solidFill>
                          <a:latin typeface="Calibri" pitchFamily="34" charset="0"/>
                          <a:ea typeface="Calibri" pitchFamily="34" charset="-122"/>
                          <a:cs typeface="Calibri" pitchFamily="34" charset="-120"/>
                        </a:rPr>
                        <a:t>Shell fish</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50" dirty="0">
                          <a:solidFill>
                            <a:srgbClr val="1F2D1F"/>
                          </a:solidFill>
                          <a:latin typeface="Calibri" pitchFamily="34" charset="0"/>
                          <a:ea typeface="Calibri" pitchFamily="34" charset="-122"/>
                          <a:cs typeface="Calibri" pitchFamily="34" charset="-120"/>
                        </a:rPr>
                        <a:t>44.27</a:t>
                      </a:r>
                      <a:endParaRPr lang="en-US" sz="7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1" name="Shape 8"/>
          <p:cNvSpPr/>
          <p:nvPr/>
        </p:nvSpPr>
        <p:spPr>
          <a:xfrm>
            <a:off x="6812280" y="4160520"/>
            <a:ext cx="4800600" cy="2194560"/>
          </a:xfrm>
          <a:prstGeom prst="roundRect">
            <a:avLst>
              <a:gd name="adj" fmla="val 2500"/>
            </a:avLst>
          </a:prstGeom>
          <a:solidFill>
            <a:srgbClr val="2C5F2D"/>
          </a:solidFill>
          <a:ln w="12700">
            <a:solidFill>
              <a:srgbClr val="2C5F2D"/>
            </a:solidFill>
            <a:prstDash val="solid"/>
          </a:ln>
        </p:spPr>
      </p:sp>
      <p:sp>
        <p:nvSpPr>
          <p:cNvPr id="12" name="Text 9"/>
          <p:cNvSpPr/>
          <p:nvPr/>
        </p:nvSpPr>
        <p:spPr>
          <a:xfrm>
            <a:off x="6995160" y="4279392"/>
            <a:ext cx="4480560" cy="320040"/>
          </a:xfrm>
          <a:prstGeom prst="rect">
            <a:avLst/>
          </a:prstGeom>
          <a:noFill/>
          <a:ln/>
        </p:spPr>
        <p:txBody>
          <a:bodyPr wrap="square" rtlCol="0" anchor="ctr"/>
          <a:lstStyle/>
          <a:p>
            <a:pPr marL="0" indent="0">
              <a:buNone/>
            </a:pPr>
            <a:r>
              <a:rPr lang="en-US" sz="1500" b="1" dirty="0">
                <a:solidFill>
                  <a:srgbClr val="97BC62"/>
                </a:solidFill>
                <a:latin typeface="Cambria" pitchFamily="34" charset="0"/>
                <a:ea typeface="Cambria" pitchFamily="34" charset="-122"/>
                <a:cs typeface="Cambria" pitchFamily="34" charset="-120"/>
              </a:rPr>
              <a:t>Insight</a:t>
            </a:r>
            <a:endParaRPr lang="en-US" sz="1500" dirty="0"/>
          </a:p>
        </p:txBody>
      </p:sp>
      <p:sp>
        <p:nvSpPr>
          <p:cNvPr id="13" name="Text 10"/>
          <p:cNvSpPr/>
          <p:nvPr/>
        </p:nvSpPr>
        <p:spPr>
          <a:xfrm>
            <a:off x="6995160" y="4645152"/>
            <a:ext cx="4480560" cy="1600200"/>
          </a:xfrm>
          <a:prstGeom prst="rect">
            <a:avLst/>
          </a:prstGeom>
          <a:noFill/>
          <a:ln/>
        </p:spPr>
        <p:txBody>
          <a:bodyPr wrap="square" rtlCol="0" anchor="t"/>
          <a:lstStyle/>
          <a:p>
            <a:pPr marL="0" indent="0">
              <a:lnSpc>
                <a:spcPct val="105000"/>
              </a:lnSpc>
              <a:buNone/>
            </a:pPr>
            <a:r>
              <a:rPr lang="en-US" sz="1200" dirty="0">
                <a:solidFill>
                  <a:srgbClr val="F5F7F2"/>
                </a:solidFill>
                <a:latin typeface="Calibri" pitchFamily="34" charset="0"/>
                <a:ea typeface="Calibri" pitchFamily="34" charset="-122"/>
                <a:cs typeface="Calibri" pitchFamily="34" charset="-120"/>
              </a:rPr>
              <a:t>Grain has the highest average price per unit at 61.40, while Shell fish is the lowest at 44.27. This reflects the price positioning of each category in the catalogue.</a:t>
            </a:r>
            <a:endParaRPr lang="en-US" sz="1200" dirty="0"/>
          </a:p>
        </p:txBody>
      </p:sp>
      <p:sp>
        <p:nvSpPr>
          <p:cNvPr id="14" name="Text 11"/>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15" name="Text 12"/>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2"/>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6E8B4E"/>
          </a:solidFill>
          <a:ln/>
        </p:spPr>
      </p:sp>
      <p:sp>
        <p:nvSpPr>
          <p:cNvPr id="3" name="Text 1"/>
          <p:cNvSpPr/>
          <p:nvPr/>
        </p:nvSpPr>
        <p:spPr>
          <a:xfrm>
            <a:off x="548640" y="45720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188720" y="384048"/>
            <a:ext cx="10424160" cy="731520"/>
          </a:xfrm>
          <a:prstGeom prst="rect">
            <a:avLst/>
          </a:prstGeom>
          <a:noFill/>
          <a:ln/>
        </p:spPr>
        <p:txBody>
          <a:bodyPr wrap="square"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How does average price per unit relate to the number of buyers per category?</a:t>
            </a:r>
            <a:endParaRPr lang="en-US" sz="2100" dirty="0"/>
          </a:p>
        </p:txBody>
      </p:sp>
      <p:sp>
        <p:nvSpPr>
          <p:cNvPr id="5" name="Text 3"/>
          <p:cNvSpPr/>
          <p:nvPr/>
        </p:nvSpPr>
        <p:spPr>
          <a:xfrm>
            <a:off x="548640" y="1325880"/>
            <a:ext cx="54864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SQL Query</a:t>
            </a:r>
            <a:endParaRPr lang="en-US" sz="1300" dirty="0"/>
          </a:p>
        </p:txBody>
      </p:sp>
      <p:sp>
        <p:nvSpPr>
          <p:cNvPr id="6" name="Shape 4"/>
          <p:cNvSpPr/>
          <p:nvPr/>
        </p:nvSpPr>
        <p:spPr>
          <a:xfrm>
            <a:off x="548640" y="1691640"/>
            <a:ext cx="6035040" cy="4663440"/>
          </a:xfrm>
          <a:prstGeom prst="roundRect">
            <a:avLst>
              <a:gd name="adj" fmla="val 1176"/>
            </a:avLst>
          </a:prstGeom>
          <a:solidFill>
            <a:srgbClr val="1E2B1E"/>
          </a:solidFill>
          <a:ln w="12700">
            <a:solidFill>
              <a:srgbClr val="1E2B1E"/>
            </a:solidFill>
            <a:prstDash val="solid"/>
          </a:ln>
        </p:spPr>
      </p:sp>
      <p:sp>
        <p:nvSpPr>
          <p:cNvPr id="7" name="Text 5"/>
          <p:cNvSpPr/>
          <p:nvPr/>
        </p:nvSpPr>
        <p:spPr>
          <a:xfrm>
            <a:off x="731520" y="1828800"/>
            <a:ext cx="5715000" cy="4389120"/>
          </a:xfrm>
          <a:prstGeom prst="rect">
            <a:avLst/>
          </a:prstGeom>
          <a:noFill/>
          <a:ln/>
        </p:spPr>
        <p:txBody>
          <a:bodyPr wrap="square" lIns="0" tIns="0" rIns="0" bIns="0" rtlCol="0" anchor="t"/>
          <a:lstStyle/>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WITH price_per_category AS (</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SELECT p.categoryid,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ROUND(AVG(p.price), 2) AS avg_price_per_unit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FROM fsda-sql-01.grocery_dataset.products p</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JOIN fsda-sql-01.grocery_dataset.categories c</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p.categoryid = c.categoryid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GROUP BY p.categoryid,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buyers_per_category AS (</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SELECT p.categoryid,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COUNT(DISTINCT s.customerid) AS unique_buyers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FROM fsda-sql-01.grocery_dataset.sales 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JOIN fsda-sql-01.grocery_dataset.products p</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s.productid = p.productid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GROUP BY p.categoryid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SELECT pc.categoryname, pc.avg_price_per_unit,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bc.unique_buyers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FROM price_per_category pc</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JOIN buyers_per_category bc</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pc.categoryid = bc.categoryid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ORDER BY pc.avg_price_per_unit DESC;</a:t>
            </a:r>
            <a:endParaRPr lang="en-US" sz="1000" dirty="0"/>
          </a:p>
        </p:txBody>
      </p:sp>
      <p:sp>
        <p:nvSpPr>
          <p:cNvPr id="8" name="Text 6"/>
          <p:cNvSpPr/>
          <p:nvPr/>
        </p:nvSpPr>
        <p:spPr>
          <a:xfrm>
            <a:off x="6812280" y="1325880"/>
            <a:ext cx="48006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Query Output</a:t>
            </a:r>
            <a:endParaRPr lang="en-US" sz="1300" dirty="0"/>
          </a:p>
        </p:txBody>
      </p:sp>
      <p:sp>
        <p:nvSpPr>
          <p:cNvPr id="9" name="Shape 7"/>
          <p:cNvSpPr/>
          <p:nvPr/>
        </p:nvSpPr>
        <p:spPr>
          <a:xfrm>
            <a:off x="6812280" y="1691640"/>
            <a:ext cx="4800600" cy="2331720"/>
          </a:xfrm>
          <a:prstGeom prst="roundRect">
            <a:avLst>
              <a:gd name="adj" fmla="val 2353"/>
            </a:avLst>
          </a:prstGeom>
          <a:solidFill>
            <a:srgbClr val="FFFFFF"/>
          </a:solidFill>
          <a:ln w="12700">
            <a:solidFill>
              <a:srgbClr val="97BC62"/>
            </a:solidFill>
            <a:prstDash val="solid"/>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903720" y="1764792"/>
          <a:ext cx="4617720" cy="1700784"/>
        </p:xfrm>
        <a:graphic>
          <a:graphicData uri="http://schemas.openxmlformats.org/drawingml/2006/table">
            <a:tbl>
              <a:tblPr/>
              <a:tblGrid>
                <a:gridCol w="178308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1417320">
                  <a:extLst>
                    <a:ext uri="{9D8B030D-6E8A-4147-A177-3AD203B41FA5}">
                      <a16:colId xmlns:a16="http://schemas.microsoft.com/office/drawing/2014/main" val="20002"/>
                    </a:ext>
                  </a:extLst>
                </a:gridCol>
              </a:tblGrid>
              <a:tr h="141732">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category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avg_price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buyers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Grain</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61.40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97335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Dairy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53.56</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98308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Snails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53.20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98376</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Meat</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52.27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98701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4"/>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Confections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51.85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98743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Beverages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51.04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98424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6"/>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Cereals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50.42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98651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Poultry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49.46</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98679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8"/>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Seafood</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48.67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98334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Produce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45.80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98601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1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Shell fish</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44.27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98338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0" name="Shape 8"/>
          <p:cNvSpPr/>
          <p:nvPr/>
        </p:nvSpPr>
        <p:spPr>
          <a:xfrm>
            <a:off x="6812280" y="4160520"/>
            <a:ext cx="4800600" cy="2194560"/>
          </a:xfrm>
          <a:prstGeom prst="roundRect">
            <a:avLst>
              <a:gd name="adj" fmla="val 2500"/>
            </a:avLst>
          </a:prstGeom>
          <a:solidFill>
            <a:srgbClr val="2C5F2D"/>
          </a:solidFill>
          <a:ln w="12700">
            <a:solidFill>
              <a:srgbClr val="2C5F2D"/>
            </a:solidFill>
            <a:prstDash val="solid"/>
          </a:ln>
        </p:spPr>
      </p:sp>
      <p:sp>
        <p:nvSpPr>
          <p:cNvPr id="12" name="Text 9"/>
          <p:cNvSpPr/>
          <p:nvPr/>
        </p:nvSpPr>
        <p:spPr>
          <a:xfrm>
            <a:off x="6995160" y="4279392"/>
            <a:ext cx="4480560" cy="320040"/>
          </a:xfrm>
          <a:prstGeom prst="rect">
            <a:avLst/>
          </a:prstGeom>
          <a:noFill/>
          <a:ln/>
        </p:spPr>
        <p:txBody>
          <a:bodyPr wrap="square" rtlCol="0" anchor="ctr"/>
          <a:lstStyle/>
          <a:p>
            <a:pPr marL="0" indent="0">
              <a:buNone/>
            </a:pPr>
            <a:r>
              <a:rPr lang="en-US" sz="1500" b="1" dirty="0">
                <a:solidFill>
                  <a:srgbClr val="97BC62"/>
                </a:solidFill>
                <a:latin typeface="Cambria" pitchFamily="34" charset="0"/>
                <a:ea typeface="Cambria" pitchFamily="34" charset="-122"/>
                <a:cs typeface="Cambria" pitchFamily="34" charset="-120"/>
              </a:rPr>
              <a:t>Insight</a:t>
            </a:r>
            <a:endParaRPr lang="en-US" sz="1500" dirty="0"/>
          </a:p>
        </p:txBody>
      </p:sp>
      <p:sp>
        <p:nvSpPr>
          <p:cNvPr id="13" name="Text 10"/>
          <p:cNvSpPr/>
          <p:nvPr/>
        </p:nvSpPr>
        <p:spPr>
          <a:xfrm>
            <a:off x="6995160" y="4645152"/>
            <a:ext cx="4480560" cy="1600200"/>
          </a:xfrm>
          <a:prstGeom prst="rect">
            <a:avLst/>
          </a:prstGeom>
          <a:noFill/>
          <a:ln/>
        </p:spPr>
        <p:txBody>
          <a:bodyPr wrap="square" rtlCol="0" anchor="t"/>
          <a:lstStyle/>
          <a:p>
            <a:pPr marL="0" indent="0">
              <a:lnSpc>
                <a:spcPct val="105000"/>
              </a:lnSpc>
              <a:buNone/>
            </a:pPr>
            <a:r>
              <a:rPr lang="en-US" sz="1200" dirty="0">
                <a:solidFill>
                  <a:srgbClr val="F5F7F2"/>
                </a:solidFill>
                <a:latin typeface="Calibri" pitchFamily="34" charset="0"/>
                <a:ea typeface="Calibri" pitchFamily="34" charset="-122"/>
                <a:cs typeface="Calibri" pitchFamily="34" charset="-120"/>
              </a:rPr>
              <a:t>The highest-priced category, Grain (61.40), also has the fewest unique buyers (97,335), while lower-priced categories draw slightly more. The spread in buyers is small, so price sensitivity exists but is weak.</a:t>
            </a:r>
            <a:endParaRPr lang="en-US" sz="1200" dirty="0"/>
          </a:p>
        </p:txBody>
      </p:sp>
      <p:sp>
        <p:nvSpPr>
          <p:cNvPr id="14" name="Text 11"/>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15" name="Text 12"/>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2"/>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6E8B4E"/>
          </a:solidFill>
          <a:ln/>
        </p:spPr>
      </p:sp>
      <p:sp>
        <p:nvSpPr>
          <p:cNvPr id="3" name="Text 1"/>
          <p:cNvSpPr/>
          <p:nvPr/>
        </p:nvSpPr>
        <p:spPr>
          <a:xfrm>
            <a:off x="548640" y="45720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p:cNvSpPr/>
          <p:nvPr/>
        </p:nvSpPr>
        <p:spPr>
          <a:xfrm>
            <a:off x="1188720" y="384048"/>
            <a:ext cx="10424160" cy="731520"/>
          </a:xfrm>
          <a:prstGeom prst="rect">
            <a:avLst/>
          </a:prstGeom>
          <a:noFill/>
          <a:ln/>
        </p:spPr>
        <p:txBody>
          <a:bodyPr wrap="square"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Which category contributes the most to total revenue (percentage)?</a:t>
            </a:r>
            <a:endParaRPr lang="en-US" sz="2100" dirty="0"/>
          </a:p>
        </p:txBody>
      </p:sp>
      <p:sp>
        <p:nvSpPr>
          <p:cNvPr id="5" name="Text 3"/>
          <p:cNvSpPr/>
          <p:nvPr/>
        </p:nvSpPr>
        <p:spPr>
          <a:xfrm>
            <a:off x="548640" y="1325880"/>
            <a:ext cx="54864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SQL Query</a:t>
            </a:r>
            <a:endParaRPr lang="en-US" sz="1300" dirty="0"/>
          </a:p>
        </p:txBody>
      </p:sp>
      <p:sp>
        <p:nvSpPr>
          <p:cNvPr id="6" name="Shape 4"/>
          <p:cNvSpPr/>
          <p:nvPr/>
        </p:nvSpPr>
        <p:spPr>
          <a:xfrm>
            <a:off x="548640" y="1691640"/>
            <a:ext cx="6035040" cy="4663440"/>
          </a:xfrm>
          <a:prstGeom prst="roundRect">
            <a:avLst>
              <a:gd name="adj" fmla="val 1176"/>
            </a:avLst>
          </a:prstGeom>
          <a:solidFill>
            <a:srgbClr val="1E2B1E"/>
          </a:solidFill>
          <a:ln w="12700">
            <a:solidFill>
              <a:srgbClr val="1E2B1E"/>
            </a:solidFill>
            <a:prstDash val="solid"/>
          </a:ln>
        </p:spPr>
      </p:sp>
      <p:sp>
        <p:nvSpPr>
          <p:cNvPr id="7" name="Text 5"/>
          <p:cNvSpPr/>
          <p:nvPr/>
        </p:nvSpPr>
        <p:spPr>
          <a:xfrm>
            <a:off x="731520" y="1828800"/>
            <a:ext cx="5715000" cy="4389120"/>
          </a:xfrm>
          <a:prstGeom prst="rect">
            <a:avLst/>
          </a:prstGeom>
          <a:noFill/>
          <a:ln/>
        </p:spPr>
        <p:txBody>
          <a:bodyPr wrap="square" lIns="0" tIns="0" rIns="0" bIns="0" rtlCol="0" anchor="t"/>
          <a:lstStyle/>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WITH category_revenue AS (</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SELECT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SUM(s.quantity * p.price * (1 - s.discount))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AS revenue_after_discount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FROM fsda-sql-01.grocery_dataset.sales 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JOIN fsda-sql-01.grocery_dataset.products p</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s.productid = p.productid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JOIN fsda-sql-01.grocery_dataset.categories c</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p.categoryid = c.categoryid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GROUP BY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SELECT 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ROUND(revenue_after_discount, 2) AS revenue,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ROUND(revenue_after_discount * 100.0 /</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SUM(revenue_after_discount) OVER (), 2)</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AS revenue_contribution_pct,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RANK() OVER (</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ORDER BY revenue_after_discount DESC</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 AS revenue_rank</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FROM category_revenue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ORDER BY revenue_contribution_pct DESC;</a:t>
            </a:r>
            <a:endParaRPr lang="en-US" sz="1000" dirty="0"/>
          </a:p>
        </p:txBody>
      </p:sp>
      <p:sp>
        <p:nvSpPr>
          <p:cNvPr id="8" name="Text 6"/>
          <p:cNvSpPr/>
          <p:nvPr/>
        </p:nvSpPr>
        <p:spPr>
          <a:xfrm>
            <a:off x="6812280" y="1325880"/>
            <a:ext cx="48006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Query Output</a:t>
            </a:r>
            <a:endParaRPr lang="en-US" sz="1300" dirty="0"/>
          </a:p>
        </p:txBody>
      </p:sp>
      <p:sp>
        <p:nvSpPr>
          <p:cNvPr id="9" name="Shape 7"/>
          <p:cNvSpPr/>
          <p:nvPr/>
        </p:nvSpPr>
        <p:spPr>
          <a:xfrm>
            <a:off x="6812280" y="1691640"/>
            <a:ext cx="4800600" cy="2331720"/>
          </a:xfrm>
          <a:prstGeom prst="roundRect">
            <a:avLst>
              <a:gd name="adj" fmla="val 2353"/>
            </a:avLst>
          </a:prstGeom>
          <a:solidFill>
            <a:srgbClr val="FFFFFF"/>
          </a:solidFill>
          <a:ln w="12700">
            <a:solidFill>
              <a:srgbClr val="97BC62"/>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903720" y="1764792"/>
          <a:ext cx="4620000" cy="1700784"/>
        </p:xfrm>
        <a:graphic>
          <a:graphicData uri="http://schemas.openxmlformats.org/drawingml/2006/table">
            <a:tbl>
              <a:tblPr/>
              <a:tblGrid>
                <a:gridCol w="160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950000">
                  <a:extLst>
                    <a:ext uri="{9D8B030D-6E8A-4147-A177-3AD203B41FA5}">
                      <a16:colId xmlns:a16="http://schemas.microsoft.com/office/drawing/2014/main" val="20002"/>
                    </a:ext>
                  </a:extLst>
                </a:gridCol>
                <a:gridCol w="620000">
                  <a:extLst>
                    <a:ext uri="{9D8B030D-6E8A-4147-A177-3AD203B41FA5}">
                      <a16:colId xmlns:a16="http://schemas.microsoft.com/office/drawing/2014/main" val="20003"/>
                    </a:ext>
                  </a:extLst>
                </a:gridCol>
              </a:tblGrid>
              <a:tr h="141732">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category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revenue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contrib%</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rank</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Confections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556930717.35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12.87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Meat</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492888844.69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11.39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Poultry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440025564.97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10.17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Cereals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427393431.91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4"/>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Snails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372084885.21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8.60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Beverages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366515024.01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8.47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6</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6"/>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Produce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362861133.52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8.39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Dairy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354358156.77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8.19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8"/>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Seafood</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330527987.47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7.64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Grain</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323879126.65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7.48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1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Shell fish</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299598294.03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6.92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1" name="Shape 8"/>
          <p:cNvSpPr/>
          <p:nvPr/>
        </p:nvSpPr>
        <p:spPr>
          <a:xfrm>
            <a:off x="6812280" y="4160520"/>
            <a:ext cx="4800600" cy="2194560"/>
          </a:xfrm>
          <a:prstGeom prst="roundRect">
            <a:avLst>
              <a:gd name="adj" fmla="val 2500"/>
            </a:avLst>
          </a:prstGeom>
          <a:solidFill>
            <a:srgbClr val="2C5F2D"/>
          </a:solidFill>
          <a:ln w="12700">
            <a:solidFill>
              <a:srgbClr val="2C5F2D"/>
            </a:solidFill>
            <a:prstDash val="solid"/>
          </a:ln>
        </p:spPr>
      </p:sp>
      <p:sp>
        <p:nvSpPr>
          <p:cNvPr id="10" name="Text 9"/>
          <p:cNvSpPr/>
          <p:nvPr/>
        </p:nvSpPr>
        <p:spPr>
          <a:xfrm>
            <a:off x="6995160" y="4279392"/>
            <a:ext cx="4480560" cy="320040"/>
          </a:xfrm>
          <a:prstGeom prst="rect">
            <a:avLst/>
          </a:prstGeom>
          <a:noFill/>
          <a:ln/>
        </p:spPr>
        <p:txBody>
          <a:bodyPr wrap="square" rtlCol="0" anchor="ctr"/>
          <a:lstStyle/>
          <a:p>
            <a:pPr marL="0" indent="0">
              <a:buNone/>
            </a:pPr>
            <a:r>
              <a:rPr lang="en-US" sz="1500" b="1" dirty="0">
                <a:solidFill>
                  <a:srgbClr val="97BC62"/>
                </a:solidFill>
                <a:latin typeface="Cambria" pitchFamily="34" charset="0"/>
                <a:ea typeface="Cambria" pitchFamily="34" charset="-122"/>
                <a:cs typeface="Cambria" pitchFamily="34" charset="-120"/>
              </a:rPr>
              <a:t>Insight</a:t>
            </a:r>
            <a:endParaRPr lang="en-US" sz="1500" dirty="0"/>
          </a:p>
        </p:txBody>
      </p:sp>
      <p:sp>
        <p:nvSpPr>
          <p:cNvPr id="13" name="Text 10"/>
          <p:cNvSpPr/>
          <p:nvPr/>
        </p:nvSpPr>
        <p:spPr>
          <a:xfrm>
            <a:off x="6995160" y="4645152"/>
            <a:ext cx="4480560" cy="1600200"/>
          </a:xfrm>
          <a:prstGeom prst="rect">
            <a:avLst/>
          </a:prstGeom>
          <a:noFill/>
          <a:ln/>
        </p:spPr>
        <p:txBody>
          <a:bodyPr wrap="square" rtlCol="0" anchor="t"/>
          <a:lstStyle/>
          <a:p>
            <a:pPr marL="0" indent="0">
              <a:lnSpc>
                <a:spcPct val="105000"/>
              </a:lnSpc>
              <a:buNone/>
            </a:pPr>
            <a:r>
              <a:rPr lang="en-US" sz="1200" dirty="0">
                <a:solidFill>
                  <a:srgbClr val="F5F7F2"/>
                </a:solidFill>
                <a:latin typeface="Calibri" pitchFamily="34" charset="0"/>
                <a:ea typeface="Calibri" pitchFamily="34" charset="-122"/>
                <a:cs typeface="Calibri" pitchFamily="34" charset="-120"/>
              </a:rPr>
              <a:t>Confections contributes 12.87% of total revenue after discount, the largest share, followed by Meat (11.39%) and Poultry (10.17%). The top four categories together drive about 44%, while Shell fish contributes the least at 6.92%.</a:t>
            </a:r>
            <a:endParaRPr lang="en-US" sz="1200" dirty="0"/>
          </a:p>
        </p:txBody>
      </p:sp>
      <p:sp>
        <p:nvSpPr>
          <p:cNvPr id="14" name="Text 11"/>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15" name="Text 12"/>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2"/>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6E8B4E"/>
          </a:solidFill>
          <a:ln/>
        </p:spPr>
      </p:sp>
      <p:sp>
        <p:nvSpPr>
          <p:cNvPr id="3" name="Text 1"/>
          <p:cNvSpPr/>
          <p:nvPr/>
        </p:nvSpPr>
        <p:spPr>
          <a:xfrm>
            <a:off x="548640" y="45720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4" name="Text 2"/>
          <p:cNvSpPr/>
          <p:nvPr/>
        </p:nvSpPr>
        <p:spPr>
          <a:xfrm>
            <a:off x="1188720" y="384048"/>
            <a:ext cx="10424160" cy="731520"/>
          </a:xfrm>
          <a:prstGeom prst="rect">
            <a:avLst/>
          </a:prstGeom>
          <a:noFill/>
          <a:ln/>
        </p:spPr>
        <p:txBody>
          <a:bodyPr wrap="square"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Which product category has the highest repeat purchase rate?</a:t>
            </a:r>
            <a:endParaRPr lang="en-US" sz="2100" dirty="0"/>
          </a:p>
        </p:txBody>
      </p:sp>
      <p:sp>
        <p:nvSpPr>
          <p:cNvPr id="5" name="Text 3"/>
          <p:cNvSpPr/>
          <p:nvPr/>
        </p:nvSpPr>
        <p:spPr>
          <a:xfrm>
            <a:off x="548640" y="1325880"/>
            <a:ext cx="54864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SQL Query</a:t>
            </a:r>
            <a:endParaRPr lang="en-US" sz="1300" dirty="0"/>
          </a:p>
        </p:txBody>
      </p:sp>
      <p:sp>
        <p:nvSpPr>
          <p:cNvPr id="6" name="Shape 4"/>
          <p:cNvSpPr/>
          <p:nvPr/>
        </p:nvSpPr>
        <p:spPr>
          <a:xfrm>
            <a:off x="548640" y="1691640"/>
            <a:ext cx="6035040" cy="4663440"/>
          </a:xfrm>
          <a:prstGeom prst="roundRect">
            <a:avLst>
              <a:gd name="adj" fmla="val 1176"/>
            </a:avLst>
          </a:prstGeom>
          <a:solidFill>
            <a:srgbClr val="1E2B1E"/>
          </a:solidFill>
          <a:ln w="12700">
            <a:solidFill>
              <a:srgbClr val="1E2B1E"/>
            </a:solidFill>
            <a:prstDash val="solid"/>
          </a:ln>
        </p:spPr>
      </p:sp>
      <p:sp>
        <p:nvSpPr>
          <p:cNvPr id="7" name="Text 5"/>
          <p:cNvSpPr/>
          <p:nvPr/>
        </p:nvSpPr>
        <p:spPr>
          <a:xfrm>
            <a:off x="731520" y="1828800"/>
            <a:ext cx="5715000" cy="4389120"/>
          </a:xfrm>
          <a:prstGeom prst="rect">
            <a:avLst/>
          </a:prstGeom>
          <a:noFill/>
          <a:ln/>
        </p:spPr>
        <p:txBody>
          <a:bodyPr wrap="square" lIns="0" tIns="0" rIns="0" bIns="0" rtlCol="0" anchor="t"/>
          <a:lstStyle/>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WITH repeat_customers AS (</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SELECT c.categoryname, s.customerid</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FROM fsda-sql-01.grocery_dataset.sales s</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JOIN fsda-sql-01.grocery_dataset.products p</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ON s.productid = p.productid</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JOIN fsda-sql-01.grocery_dataset.categories c</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ON p.categoryid = c.categoryid</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GROUP BY c.categoryname, s.customerid</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HAVING COUNT(DISTINCT s.transactionnumber) &gt; 1</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total_customers AS (</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SELECT c.categoryname,</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COUNT(DISTINCT s.customerid) AS total_customers</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FROM fsda-sql-01.grocery_dataset.sales s</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JOIN fsda-sql-01.grocery_dataset.products p</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ON s.productid = p.productid</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JOIN fsda-sql-01.grocery_dataset.categories c</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ON p.categoryid = c.categoryid</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GROUP BY c.categoryname</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SELECT t.categoryname, t.total_customers,</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COUNT(r.customerid) AS repeat_customers,</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ROUND(COUNT(r.customerid) * 100.0 /</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t.total_customers, 2)</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AS repeat_purchase_rate_pct</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FROM total_customers t</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LEFT JOIN repeat_customers r</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  ON t.categoryname = r.categoryname</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GROUP BY t.categoryname, t.total_customers</a:t>
            </a:r>
            <a:endParaRPr lang="en-US" sz="950" dirty="0"/>
          </a:p>
          <a:p>
            <a:pPr marL="0" indent="0" algn="l">
              <a:lnSpc>
                <a:spcPct val="100000"/>
              </a:lnSpc>
              <a:buNone/>
            </a:pPr>
            <a:r>
              <a:rPr lang="en-US" sz="950" dirty="0">
                <a:solidFill>
                  <a:srgbClr val="E8F0E0"/>
                </a:solidFill>
                <a:latin typeface="Courier New" pitchFamily="34" charset="0"/>
                <a:ea typeface="Courier New" pitchFamily="34" charset="-122"/>
                <a:cs typeface="Courier New" pitchFamily="34" charset="-120"/>
              </a:rPr>
              <a:t>ORDER BY repeat_purchase_rate_pct DESC;</a:t>
            </a:r>
            <a:endParaRPr lang="en-US" sz="950" dirty="0"/>
          </a:p>
        </p:txBody>
      </p:sp>
      <p:sp>
        <p:nvSpPr>
          <p:cNvPr id="8" name="Text 6"/>
          <p:cNvSpPr/>
          <p:nvPr/>
        </p:nvSpPr>
        <p:spPr>
          <a:xfrm>
            <a:off x="6812280" y="1325880"/>
            <a:ext cx="48006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Query Output</a:t>
            </a:r>
            <a:endParaRPr lang="en-US" sz="1300" dirty="0"/>
          </a:p>
        </p:txBody>
      </p:sp>
      <p:sp>
        <p:nvSpPr>
          <p:cNvPr id="9" name="Shape 7"/>
          <p:cNvSpPr/>
          <p:nvPr/>
        </p:nvSpPr>
        <p:spPr>
          <a:xfrm>
            <a:off x="6812280" y="1691640"/>
            <a:ext cx="4800600" cy="2331720"/>
          </a:xfrm>
          <a:prstGeom prst="roundRect">
            <a:avLst>
              <a:gd name="adj" fmla="val 2353"/>
            </a:avLst>
          </a:prstGeom>
          <a:solidFill>
            <a:srgbClr val="FFFFFF"/>
          </a:solidFill>
          <a:ln w="12700">
            <a:solidFill>
              <a:srgbClr val="97BC62"/>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903720" y="1764792"/>
          <a:ext cx="4617720" cy="1700784"/>
        </p:xfrm>
        <a:graphic>
          <a:graphicData uri="http://schemas.openxmlformats.org/drawingml/2006/table">
            <a:tbl>
              <a:tblPr/>
              <a:tblGrid>
                <a:gridCol w="15544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960120">
                  <a:extLst>
                    <a:ext uri="{9D8B030D-6E8A-4147-A177-3AD203B41FA5}">
                      <a16:colId xmlns:a16="http://schemas.microsoft.com/office/drawing/2014/main" val="20003"/>
                    </a:ext>
                  </a:extLst>
                </a:gridCol>
              </a:tblGrid>
              <a:tr h="141732">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category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total</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repeat</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rate%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Confections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98743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98598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99.85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Meat</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98701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98318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99.61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Poultry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98679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98122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99.44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Cereals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98651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97867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99.21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4"/>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Produce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98601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97550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98.93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Beverages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98424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96679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98.23</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6"/>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Snails</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98376</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96324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97.91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Seafood</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98334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96138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97.77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8"/>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Shell fish</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98338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96054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97.68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Dairy</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98308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95677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97.32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1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Grain</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97335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91184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93.68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1" name="Shape 8"/>
          <p:cNvSpPr/>
          <p:nvPr/>
        </p:nvSpPr>
        <p:spPr>
          <a:xfrm>
            <a:off x="6812280" y="4160520"/>
            <a:ext cx="4800600" cy="2194560"/>
          </a:xfrm>
          <a:prstGeom prst="roundRect">
            <a:avLst>
              <a:gd name="adj" fmla="val 2500"/>
            </a:avLst>
          </a:prstGeom>
          <a:solidFill>
            <a:srgbClr val="2C5F2D"/>
          </a:solidFill>
          <a:ln w="12700">
            <a:solidFill>
              <a:srgbClr val="2C5F2D"/>
            </a:solidFill>
            <a:prstDash val="solid"/>
          </a:ln>
        </p:spPr>
      </p:sp>
      <p:sp>
        <p:nvSpPr>
          <p:cNvPr id="12" name="Text 9"/>
          <p:cNvSpPr/>
          <p:nvPr/>
        </p:nvSpPr>
        <p:spPr>
          <a:xfrm>
            <a:off x="6995160" y="4279392"/>
            <a:ext cx="4480560" cy="320040"/>
          </a:xfrm>
          <a:prstGeom prst="rect">
            <a:avLst/>
          </a:prstGeom>
          <a:noFill/>
          <a:ln/>
        </p:spPr>
        <p:txBody>
          <a:bodyPr wrap="square" rtlCol="0" anchor="ctr"/>
          <a:lstStyle/>
          <a:p>
            <a:pPr marL="0" indent="0">
              <a:buNone/>
            </a:pPr>
            <a:r>
              <a:rPr lang="en-US" sz="1500" b="1" dirty="0">
                <a:solidFill>
                  <a:srgbClr val="97BC62"/>
                </a:solidFill>
                <a:latin typeface="Cambria" pitchFamily="34" charset="0"/>
                <a:ea typeface="Cambria" pitchFamily="34" charset="-122"/>
                <a:cs typeface="Cambria" pitchFamily="34" charset="-120"/>
              </a:rPr>
              <a:t>Insight</a:t>
            </a:r>
            <a:endParaRPr lang="en-US" sz="1500" dirty="0"/>
          </a:p>
        </p:txBody>
      </p:sp>
      <p:sp>
        <p:nvSpPr>
          <p:cNvPr id="10" name="Text 10"/>
          <p:cNvSpPr/>
          <p:nvPr/>
        </p:nvSpPr>
        <p:spPr>
          <a:xfrm>
            <a:off x="6995160" y="4645152"/>
            <a:ext cx="4480560" cy="1600200"/>
          </a:xfrm>
          <a:prstGeom prst="rect">
            <a:avLst/>
          </a:prstGeom>
          <a:noFill/>
          <a:ln/>
        </p:spPr>
        <p:txBody>
          <a:bodyPr wrap="square" rtlCol="0" anchor="t"/>
          <a:lstStyle/>
          <a:p>
            <a:pPr marL="0" indent="0">
              <a:lnSpc>
                <a:spcPct val="105000"/>
              </a:lnSpc>
              <a:buNone/>
            </a:pPr>
            <a:r>
              <a:rPr lang="en-US" sz="1200" dirty="0">
                <a:solidFill>
                  <a:srgbClr val="F5F7F2"/>
                </a:solidFill>
                <a:latin typeface="Calibri" pitchFamily="34" charset="0"/>
                <a:ea typeface="Calibri" pitchFamily="34" charset="-122"/>
                <a:cs typeface="Calibri" pitchFamily="34" charset="-120"/>
              </a:rPr>
              <a:t>Confections has the highest repeat purchase rate at 99.85%, with Grain the lowest at 93.68%. Repeat rates are extremely high across all categories (above 93%), indicating strong overall customer loyalty.</a:t>
            </a:r>
            <a:endParaRPr lang="en-US" sz="1200" dirty="0"/>
          </a:p>
        </p:txBody>
      </p:sp>
      <p:sp>
        <p:nvSpPr>
          <p:cNvPr id="14" name="Text 11"/>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15" name="Text 12"/>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2"/>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6E8B4E"/>
          </a:solidFill>
          <a:ln/>
        </p:spPr>
      </p:sp>
      <p:sp>
        <p:nvSpPr>
          <p:cNvPr id="3" name="Text 1"/>
          <p:cNvSpPr/>
          <p:nvPr/>
        </p:nvSpPr>
        <p:spPr>
          <a:xfrm>
            <a:off x="548640" y="45720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4" name="Text 2"/>
          <p:cNvSpPr/>
          <p:nvPr/>
        </p:nvSpPr>
        <p:spPr>
          <a:xfrm>
            <a:off x="1188720" y="384048"/>
            <a:ext cx="10424160" cy="731520"/>
          </a:xfrm>
          <a:prstGeom prst="rect">
            <a:avLst/>
          </a:prstGeom>
          <a:noFill/>
          <a:ln/>
        </p:spPr>
        <p:txBody>
          <a:bodyPr wrap="square"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Summary of all sales performance metrics per category</a:t>
            </a:r>
            <a:endParaRPr lang="en-US" sz="2100" dirty="0"/>
          </a:p>
        </p:txBody>
      </p:sp>
      <p:sp>
        <p:nvSpPr>
          <p:cNvPr id="5" name="Text 3"/>
          <p:cNvSpPr/>
          <p:nvPr/>
        </p:nvSpPr>
        <p:spPr>
          <a:xfrm>
            <a:off x="548640" y="1325880"/>
            <a:ext cx="54864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SQL Query</a:t>
            </a:r>
            <a:endParaRPr lang="en-US" sz="1300" dirty="0"/>
          </a:p>
        </p:txBody>
      </p:sp>
      <p:sp>
        <p:nvSpPr>
          <p:cNvPr id="6" name="Shape 4"/>
          <p:cNvSpPr/>
          <p:nvPr/>
        </p:nvSpPr>
        <p:spPr>
          <a:xfrm>
            <a:off x="548640" y="1691640"/>
            <a:ext cx="6035040" cy="4663440"/>
          </a:xfrm>
          <a:prstGeom prst="roundRect">
            <a:avLst>
              <a:gd name="adj" fmla="val 1176"/>
            </a:avLst>
          </a:prstGeom>
          <a:solidFill>
            <a:srgbClr val="1E2B1E"/>
          </a:solidFill>
          <a:ln w="12700">
            <a:solidFill>
              <a:srgbClr val="1E2B1E"/>
            </a:solidFill>
            <a:prstDash val="solid"/>
          </a:ln>
        </p:spPr>
      </p:sp>
      <p:sp>
        <p:nvSpPr>
          <p:cNvPr id="7" name="Text 5"/>
          <p:cNvSpPr/>
          <p:nvPr/>
        </p:nvSpPr>
        <p:spPr>
          <a:xfrm>
            <a:off x="731520" y="1828800"/>
            <a:ext cx="5715000" cy="4389120"/>
          </a:xfrm>
          <a:prstGeom prst="rect">
            <a:avLst/>
          </a:prstGeom>
          <a:noFill/>
          <a:ln/>
        </p:spPr>
        <p:txBody>
          <a:bodyPr wrap="square" lIns="0" tIns="0" rIns="0" bIns="0" rtlCol="0" anchor="t"/>
          <a:lstStyle/>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WITH category_metrics AS (</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SELECT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SUM(s.quantity) AS total_units_sold,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COUNT(DISTINCT s.customerid) AS unique_customers,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SUM(s.quantity * p.price * (1 - s.discount))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AS revenue_after_discount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FROM fsda-sql-01.grocery_dataset.sales 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JOIN fsda-sql-01.grocery_dataset.products p</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s.productid = p.productid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JOIN fsda-sql-01.grocery_dataset.categories c</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p.categoryid = c.categoryid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GROUP BY c.categoryname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SELECT categoryname, total_units_sold,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unique_customers,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ROUND(revenue_after_discount, 2) AS revenue,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ROUND(revenue_after_discount * 100.0 /</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SUM(revenue_after_discount) OVER (), 2)</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AS revenue_contribution_pct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FROM category_metrics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ORDER BY revenue DESC;</a:t>
            </a:r>
            <a:endParaRPr lang="en-US" sz="1000" dirty="0"/>
          </a:p>
        </p:txBody>
      </p:sp>
      <p:sp>
        <p:nvSpPr>
          <p:cNvPr id="8" name="Text 6"/>
          <p:cNvSpPr/>
          <p:nvPr/>
        </p:nvSpPr>
        <p:spPr>
          <a:xfrm>
            <a:off x="6812280" y="1325880"/>
            <a:ext cx="48006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Query Output</a:t>
            </a:r>
            <a:endParaRPr lang="en-US" sz="1300" dirty="0"/>
          </a:p>
        </p:txBody>
      </p:sp>
      <p:sp>
        <p:nvSpPr>
          <p:cNvPr id="9" name="Shape 7"/>
          <p:cNvSpPr/>
          <p:nvPr/>
        </p:nvSpPr>
        <p:spPr>
          <a:xfrm>
            <a:off x="6812280" y="1691640"/>
            <a:ext cx="4800600" cy="2331720"/>
          </a:xfrm>
          <a:prstGeom prst="roundRect">
            <a:avLst>
              <a:gd name="adj" fmla="val 2353"/>
            </a:avLst>
          </a:prstGeom>
          <a:solidFill>
            <a:srgbClr val="FFFFFF"/>
          </a:solidFill>
          <a:ln w="12700">
            <a:solidFill>
              <a:srgbClr val="97BC62"/>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903720" y="1764792"/>
          <a:ext cx="4617720" cy="1700784"/>
        </p:xfrm>
        <a:graphic>
          <a:graphicData uri="http://schemas.openxmlformats.org/drawingml/2006/table">
            <a:tbl>
              <a:tblPr/>
              <a:tblGrid>
                <a:gridCol w="109728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548640">
                  <a:extLst>
                    <a:ext uri="{9D8B030D-6E8A-4147-A177-3AD203B41FA5}">
                      <a16:colId xmlns:a16="http://schemas.microsoft.com/office/drawing/2014/main" val="20004"/>
                    </a:ext>
                  </a:extLst>
                </a:gridCol>
              </a:tblGrid>
              <a:tr h="141732">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category</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units</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cust.</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revenue</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141732">
                <a:tc>
                  <a:txBody>
                    <a:bodyPr/>
                    <a:lstStyle/>
                    <a:p>
                      <a:pPr marL="0" indent="0" algn="l">
                        <a:buNone/>
                      </a:pPr>
                      <a:r>
                        <a:rPr lang="en-US" sz="650" dirty="0">
                          <a:solidFill>
                            <a:srgbClr val="1F2D1F"/>
                          </a:solidFill>
                          <a:latin typeface="Calibri" pitchFamily="34" charset="0"/>
                          <a:ea typeface="Calibri" pitchFamily="34" charset="-122"/>
                          <a:cs typeface="Calibri" pitchFamily="34" charset="-120"/>
                        </a:rPr>
                        <a:t>Confections</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11078474</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98743</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556930717.35</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12.87</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1732">
                <a:tc>
                  <a:txBody>
                    <a:bodyPr/>
                    <a:lstStyle/>
                    <a:p>
                      <a:pPr marL="0" indent="0" algn="l">
                        <a:buNone/>
                      </a:pPr>
                      <a:r>
                        <a:rPr lang="en-US" sz="650" dirty="0">
                          <a:solidFill>
                            <a:srgbClr val="1F2D1F"/>
                          </a:solidFill>
                          <a:latin typeface="Calibri" pitchFamily="34" charset="0"/>
                          <a:ea typeface="Calibri" pitchFamily="34" charset="-122"/>
                          <a:cs typeface="Calibri" pitchFamily="34" charset="-120"/>
                        </a:rPr>
                        <a:t>Meat</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9719292</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98701</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492888844.69</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11.39</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2"/>
                  </a:ext>
                </a:extLst>
              </a:tr>
              <a:tr h="141732">
                <a:tc>
                  <a:txBody>
                    <a:bodyPr/>
                    <a:lstStyle/>
                    <a:p>
                      <a:pPr marL="0" indent="0" algn="l">
                        <a:buNone/>
                      </a:pPr>
                      <a:r>
                        <a:rPr lang="en-US" sz="650" dirty="0">
                          <a:solidFill>
                            <a:srgbClr val="1F2D1F"/>
                          </a:solidFill>
                          <a:latin typeface="Calibri" pitchFamily="34" charset="0"/>
                          <a:ea typeface="Calibri" pitchFamily="34" charset="-122"/>
                          <a:cs typeface="Calibri" pitchFamily="34" charset="-120"/>
                        </a:rPr>
                        <a:t>Poultry</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9159847</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98679</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440025564.97</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10.17</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41732">
                <a:tc>
                  <a:txBody>
                    <a:bodyPr/>
                    <a:lstStyle/>
                    <a:p>
                      <a:pPr marL="0" indent="0" algn="l">
                        <a:buNone/>
                      </a:pPr>
                      <a:r>
                        <a:rPr lang="en-US" sz="650" dirty="0">
                          <a:solidFill>
                            <a:srgbClr val="1F2D1F"/>
                          </a:solidFill>
                          <a:latin typeface="Calibri" pitchFamily="34" charset="0"/>
                          <a:ea typeface="Calibri" pitchFamily="34" charset="-122"/>
                          <a:cs typeface="Calibri" pitchFamily="34" charset="-120"/>
                        </a:rPr>
                        <a:t>Cereals</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8735296</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98651</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427393431.91</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9.88</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4"/>
                  </a:ext>
                </a:extLst>
              </a:tr>
              <a:tr h="141732">
                <a:tc>
                  <a:txBody>
                    <a:bodyPr/>
                    <a:lstStyle/>
                    <a:p>
                      <a:pPr marL="0" indent="0" algn="l">
                        <a:buNone/>
                      </a:pPr>
                      <a:r>
                        <a:rPr lang="en-US" sz="650" dirty="0">
                          <a:solidFill>
                            <a:srgbClr val="1F2D1F"/>
                          </a:solidFill>
                          <a:latin typeface="Calibri" pitchFamily="34" charset="0"/>
                          <a:ea typeface="Calibri" pitchFamily="34" charset="-122"/>
                          <a:cs typeface="Calibri" pitchFamily="34" charset="-120"/>
                        </a:rPr>
                        <a:t>Snails</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7199409</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98376</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372084885.21</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8.60</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41732">
                <a:tc>
                  <a:txBody>
                    <a:bodyPr/>
                    <a:lstStyle/>
                    <a:p>
                      <a:pPr marL="0" indent="0" algn="l">
                        <a:buNone/>
                      </a:pPr>
                      <a:r>
                        <a:rPr lang="en-US" sz="650" dirty="0">
                          <a:solidFill>
                            <a:srgbClr val="1F2D1F"/>
                          </a:solidFill>
                          <a:latin typeface="Calibri" pitchFamily="34" charset="0"/>
                          <a:ea typeface="Calibri" pitchFamily="34" charset="-122"/>
                          <a:cs typeface="Calibri" pitchFamily="34" charset="-120"/>
                        </a:rPr>
                        <a:t>Beverages</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7393693</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98424</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366515024.01</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8.47</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6"/>
                  </a:ext>
                </a:extLst>
              </a:tr>
              <a:tr h="141732">
                <a:tc>
                  <a:txBody>
                    <a:bodyPr/>
                    <a:lstStyle/>
                    <a:p>
                      <a:pPr marL="0" indent="0" algn="l">
                        <a:buNone/>
                      </a:pPr>
                      <a:r>
                        <a:rPr lang="en-US" sz="650" dirty="0">
                          <a:solidFill>
                            <a:srgbClr val="1F2D1F"/>
                          </a:solidFill>
                          <a:latin typeface="Calibri" pitchFamily="34" charset="0"/>
                          <a:ea typeface="Calibri" pitchFamily="34" charset="-122"/>
                          <a:cs typeface="Calibri" pitchFamily="34" charset="-120"/>
                        </a:rPr>
                        <a:t>Produce</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8174673</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98601</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362861133.52</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8.39</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41732">
                <a:tc>
                  <a:txBody>
                    <a:bodyPr/>
                    <a:lstStyle/>
                    <a:p>
                      <a:pPr marL="0" indent="0" algn="l">
                        <a:buNone/>
                      </a:pPr>
                      <a:r>
                        <a:rPr lang="en-US" sz="650" dirty="0">
                          <a:solidFill>
                            <a:srgbClr val="1F2D1F"/>
                          </a:solidFill>
                          <a:latin typeface="Calibri" pitchFamily="34" charset="0"/>
                          <a:ea typeface="Calibri" pitchFamily="34" charset="-122"/>
                          <a:cs typeface="Calibri" pitchFamily="34" charset="-120"/>
                        </a:rPr>
                        <a:t>Dairy</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6815143</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98308</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354358156.77</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8.19</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8"/>
                  </a:ext>
                </a:extLst>
              </a:tr>
              <a:tr h="141732">
                <a:tc>
                  <a:txBody>
                    <a:bodyPr/>
                    <a:lstStyle/>
                    <a:p>
                      <a:pPr marL="0" indent="0" algn="l">
                        <a:buNone/>
                      </a:pPr>
                      <a:r>
                        <a:rPr lang="en-US" sz="650" dirty="0">
                          <a:solidFill>
                            <a:srgbClr val="1F2D1F"/>
                          </a:solidFill>
                          <a:latin typeface="Calibri" pitchFamily="34" charset="0"/>
                          <a:ea typeface="Calibri" pitchFamily="34" charset="-122"/>
                          <a:cs typeface="Calibri" pitchFamily="34" charset="-120"/>
                        </a:rPr>
                        <a:t>Seafood</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6996152</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98334</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330527987.47</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7.64</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41732">
                <a:tc>
                  <a:txBody>
                    <a:bodyPr/>
                    <a:lstStyle/>
                    <a:p>
                      <a:pPr marL="0" indent="0" algn="l">
                        <a:buNone/>
                      </a:pPr>
                      <a:r>
                        <a:rPr lang="en-US" sz="650" dirty="0">
                          <a:solidFill>
                            <a:srgbClr val="1F2D1F"/>
                          </a:solidFill>
                          <a:latin typeface="Calibri" pitchFamily="34" charset="0"/>
                          <a:ea typeface="Calibri" pitchFamily="34" charset="-122"/>
                          <a:cs typeface="Calibri" pitchFamily="34" charset="-120"/>
                        </a:rPr>
                        <a:t>Grain</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5433152</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97335</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323879126.65</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7.48</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10"/>
                  </a:ext>
                </a:extLst>
              </a:tr>
              <a:tr h="141732">
                <a:tc>
                  <a:txBody>
                    <a:bodyPr/>
                    <a:lstStyle/>
                    <a:p>
                      <a:pPr marL="0" indent="0" algn="l">
                        <a:buNone/>
                      </a:pPr>
                      <a:r>
                        <a:rPr lang="en-US" sz="650" dirty="0">
                          <a:solidFill>
                            <a:srgbClr val="1F2D1F"/>
                          </a:solidFill>
                          <a:latin typeface="Calibri" pitchFamily="34" charset="0"/>
                          <a:ea typeface="Calibri" pitchFamily="34" charset="-122"/>
                          <a:cs typeface="Calibri" pitchFamily="34" charset="-120"/>
                        </a:rPr>
                        <a:t>Shell fish</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6983457</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98338</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299598294.03</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650" dirty="0">
                          <a:solidFill>
                            <a:srgbClr val="1F2D1F"/>
                          </a:solidFill>
                          <a:latin typeface="Calibri" pitchFamily="34" charset="0"/>
                          <a:ea typeface="Calibri" pitchFamily="34" charset="-122"/>
                          <a:cs typeface="Calibri" pitchFamily="34" charset="-120"/>
                        </a:rPr>
                        <a:t>6.92</a:t>
                      </a:r>
                      <a:endParaRPr lang="en-US" sz="65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1" name="Shape 8"/>
          <p:cNvSpPr/>
          <p:nvPr/>
        </p:nvSpPr>
        <p:spPr>
          <a:xfrm>
            <a:off x="6812280" y="4160520"/>
            <a:ext cx="4800600" cy="2194560"/>
          </a:xfrm>
          <a:prstGeom prst="roundRect">
            <a:avLst>
              <a:gd name="adj" fmla="val 2500"/>
            </a:avLst>
          </a:prstGeom>
          <a:solidFill>
            <a:srgbClr val="2C5F2D"/>
          </a:solidFill>
          <a:ln w="12700">
            <a:solidFill>
              <a:srgbClr val="2C5F2D"/>
            </a:solidFill>
            <a:prstDash val="solid"/>
          </a:ln>
        </p:spPr>
      </p:sp>
      <p:sp>
        <p:nvSpPr>
          <p:cNvPr id="12" name="Text 9"/>
          <p:cNvSpPr/>
          <p:nvPr/>
        </p:nvSpPr>
        <p:spPr>
          <a:xfrm>
            <a:off x="6995160" y="4279392"/>
            <a:ext cx="4480560" cy="320040"/>
          </a:xfrm>
          <a:prstGeom prst="rect">
            <a:avLst/>
          </a:prstGeom>
          <a:noFill/>
          <a:ln/>
        </p:spPr>
        <p:txBody>
          <a:bodyPr wrap="square" rtlCol="0" anchor="ctr"/>
          <a:lstStyle/>
          <a:p>
            <a:pPr marL="0" indent="0">
              <a:buNone/>
            </a:pPr>
            <a:r>
              <a:rPr lang="en-US" sz="1500" b="1" dirty="0">
                <a:solidFill>
                  <a:srgbClr val="97BC62"/>
                </a:solidFill>
                <a:latin typeface="Cambria" pitchFamily="34" charset="0"/>
                <a:ea typeface="Cambria" pitchFamily="34" charset="-122"/>
                <a:cs typeface="Cambria" pitchFamily="34" charset="-120"/>
              </a:rPr>
              <a:t>Insight</a:t>
            </a:r>
            <a:endParaRPr lang="en-US" sz="1500" dirty="0"/>
          </a:p>
        </p:txBody>
      </p:sp>
      <p:sp>
        <p:nvSpPr>
          <p:cNvPr id="13" name="Text 10"/>
          <p:cNvSpPr/>
          <p:nvPr/>
        </p:nvSpPr>
        <p:spPr>
          <a:xfrm>
            <a:off x="6995160" y="4645152"/>
            <a:ext cx="4480560" cy="1600200"/>
          </a:xfrm>
          <a:prstGeom prst="rect">
            <a:avLst/>
          </a:prstGeom>
          <a:noFill/>
          <a:ln/>
        </p:spPr>
        <p:txBody>
          <a:bodyPr wrap="square" rtlCol="0" anchor="t"/>
          <a:lstStyle/>
          <a:p>
            <a:pPr marL="0" indent="0">
              <a:lnSpc>
                <a:spcPct val="105000"/>
              </a:lnSpc>
              <a:buNone/>
            </a:pPr>
            <a:r>
              <a:rPr lang="en-US" sz="1200" dirty="0">
                <a:solidFill>
                  <a:srgbClr val="F5F7F2"/>
                </a:solidFill>
                <a:latin typeface="Calibri" pitchFamily="34" charset="0"/>
                <a:ea typeface="Calibri" pitchFamily="34" charset="-122"/>
                <a:cs typeface="Calibri" pitchFamily="34" charset="-120"/>
              </a:rPr>
              <a:t>Confections leads on revenue, contribution, and units sold, while customer counts stay uniform (~98k) across categories. Grain commands the highest average price yet posts among the lowest units and revenue, an anomaly worth noting.</a:t>
            </a:r>
            <a:endParaRPr lang="en-US" sz="1200" dirty="0"/>
          </a:p>
        </p:txBody>
      </p:sp>
      <p:sp>
        <p:nvSpPr>
          <p:cNvPr id="10" name="Text 11"/>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15" name="Text 12"/>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2"/>
        </a:solidFill>
        <a:effectLst/>
      </p:bgPr>
    </p:bg>
    <p:spTree>
      <p:nvGrpSpPr>
        <p:cNvPr id="1" name=""/>
        <p:cNvGrpSpPr/>
        <p:nvPr/>
      </p:nvGrpSpPr>
      <p:grpSpPr>
        <a:xfrm>
          <a:off x="0" y="0"/>
          <a:ext cx="0" cy="0"/>
          <a:chOff x="0" y="0"/>
          <a:chExt cx="0" cy="0"/>
        </a:xfrm>
      </p:grpSpPr>
      <p:sp>
        <p:nvSpPr>
          <p:cNvPr id="2" name="Shape 0"/>
          <p:cNvSpPr/>
          <p:nvPr/>
        </p:nvSpPr>
        <p:spPr>
          <a:xfrm>
            <a:off x="548640" y="457200"/>
            <a:ext cx="502920" cy="502920"/>
          </a:xfrm>
          <a:prstGeom prst="ellipse">
            <a:avLst/>
          </a:prstGeom>
          <a:solidFill>
            <a:srgbClr val="6E8B4E"/>
          </a:solidFill>
          <a:ln/>
        </p:spPr>
      </p:sp>
      <p:sp>
        <p:nvSpPr>
          <p:cNvPr id="3" name="Text 1"/>
          <p:cNvSpPr/>
          <p:nvPr/>
        </p:nvSpPr>
        <p:spPr>
          <a:xfrm>
            <a:off x="548640" y="457200"/>
            <a:ext cx="502920" cy="502920"/>
          </a:xfrm>
          <a:prstGeom prst="rect">
            <a:avLst/>
          </a:prstGeom>
          <a:noFill/>
          <a:ln/>
        </p:spPr>
        <p:txBody>
          <a:bodyPr wrap="square"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9</a:t>
            </a:r>
            <a:endParaRPr lang="en-US" sz="2000" dirty="0"/>
          </a:p>
        </p:txBody>
      </p:sp>
      <p:sp>
        <p:nvSpPr>
          <p:cNvPr id="4" name="Text 2"/>
          <p:cNvSpPr/>
          <p:nvPr/>
        </p:nvSpPr>
        <p:spPr>
          <a:xfrm>
            <a:off x="1188720" y="384048"/>
            <a:ext cx="10424160" cy="731520"/>
          </a:xfrm>
          <a:prstGeom prst="rect">
            <a:avLst/>
          </a:prstGeom>
          <a:noFill/>
          <a:ln/>
        </p:spPr>
        <p:txBody>
          <a:bodyPr wrap="square" rtlCol="0" anchor="ctr"/>
          <a:lstStyle/>
          <a:p>
            <a:pPr marL="0" indent="0">
              <a:buNone/>
            </a:pPr>
            <a:r>
              <a:rPr lang="en-US" sz="2100" b="1" dirty="0">
                <a:solidFill>
                  <a:srgbClr val="2C5F2D"/>
                </a:solidFill>
                <a:latin typeface="Cambria" pitchFamily="34" charset="0"/>
                <a:ea typeface="Cambria" pitchFamily="34" charset="-122"/>
                <a:cs typeface="Cambria" pitchFamily="34" charset="-120"/>
              </a:rPr>
              <a:t>What is the cumulative transaction of the top user? (window function)</a:t>
            </a:r>
            <a:endParaRPr lang="en-US" sz="2100" dirty="0"/>
          </a:p>
        </p:txBody>
      </p:sp>
      <p:sp>
        <p:nvSpPr>
          <p:cNvPr id="5" name="Text 3"/>
          <p:cNvSpPr/>
          <p:nvPr/>
        </p:nvSpPr>
        <p:spPr>
          <a:xfrm>
            <a:off x="548640" y="1325880"/>
            <a:ext cx="54864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SQL Query</a:t>
            </a:r>
            <a:endParaRPr lang="en-US" sz="1300" dirty="0"/>
          </a:p>
        </p:txBody>
      </p:sp>
      <p:sp>
        <p:nvSpPr>
          <p:cNvPr id="6" name="Shape 4"/>
          <p:cNvSpPr/>
          <p:nvPr/>
        </p:nvSpPr>
        <p:spPr>
          <a:xfrm>
            <a:off x="548640" y="1691640"/>
            <a:ext cx="6035040" cy="4663440"/>
          </a:xfrm>
          <a:prstGeom prst="roundRect">
            <a:avLst>
              <a:gd name="adj" fmla="val 1176"/>
            </a:avLst>
          </a:prstGeom>
          <a:solidFill>
            <a:srgbClr val="1E2B1E"/>
          </a:solidFill>
          <a:ln w="12700">
            <a:solidFill>
              <a:srgbClr val="1E2B1E"/>
            </a:solidFill>
            <a:prstDash val="solid"/>
          </a:ln>
        </p:spPr>
      </p:sp>
      <p:sp>
        <p:nvSpPr>
          <p:cNvPr id="7" name="Text 5"/>
          <p:cNvSpPr/>
          <p:nvPr/>
        </p:nvSpPr>
        <p:spPr>
          <a:xfrm>
            <a:off x="731520" y="1828800"/>
            <a:ext cx="5715000" cy="4389120"/>
          </a:xfrm>
          <a:prstGeom prst="rect">
            <a:avLst/>
          </a:prstGeom>
          <a:noFill/>
          <a:ln/>
        </p:spPr>
        <p:txBody>
          <a:bodyPr wrap="square" lIns="0" tIns="0" rIns="0" bIns="0" rtlCol="0" anchor="t"/>
          <a:lstStyle/>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WITH user_transactions AS (</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SELECT s.customerid, s.salesdate,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s.transactionnumber,</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SUM(s.quantity * p.price * (1 - s.discount))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AS transaction_value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FROM fsda-sql-01.grocery_dataset.sales 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JOIN fsda-sql-01.grocery_dataset.products p</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ON s.productid = p.productid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GROUP BY s.customerid, s.salesdate,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s.transactionnumber</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top_user AS (</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SELECT customerid FROM user_transactions</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GROUP BY customerid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ORDER BY SUM(transaction_value) DESC LIMIT 1</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SELECT ut.customerid, ut.salesdate,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ut.transactionnumber,</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ROUND(ut.transaction_value, 2) AS transaction_value,</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ROUND(SUM(ut.transaction_value) OVER (</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PARTITION BY ut.customerid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ORDER BY ut.salesdate, ut.transactionnumber</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ROWS BETWEEN UNBOUNDED PRECEDING</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      AND CURRENT ROW), 2) AS cumulative_transaction</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FROM user_transactions ut</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JOIN top_user tu ON ut.customerid = tu.customerid</a:t>
            </a:r>
            <a:endParaRPr lang="en-US" sz="1000" dirty="0"/>
          </a:p>
          <a:p>
            <a:pPr marL="0" indent="0" algn="l">
              <a:lnSpc>
                <a:spcPct val="100000"/>
              </a:lnSpc>
              <a:buNone/>
            </a:pPr>
            <a:r>
              <a:rPr lang="en-US" sz="1000" dirty="0">
                <a:solidFill>
                  <a:srgbClr val="E8F0E0"/>
                </a:solidFill>
                <a:latin typeface="Courier New" pitchFamily="34" charset="0"/>
                <a:ea typeface="Courier New" pitchFamily="34" charset="-122"/>
                <a:cs typeface="Courier New" pitchFamily="34" charset="-120"/>
              </a:rPr>
              <a:t>ORDER BY ut.salesdate, </a:t>
            </a:r>
            <a:r>
              <a:rPr lang="en-US" sz="1000" dirty="0" err="1">
                <a:solidFill>
                  <a:srgbClr val="E8F0E0"/>
                </a:solidFill>
                <a:latin typeface="Courier New" pitchFamily="34" charset="0"/>
                <a:ea typeface="Courier New" pitchFamily="34" charset="-122"/>
                <a:cs typeface="Courier New" pitchFamily="34" charset="-120"/>
              </a:rPr>
              <a:t>ut.transactionnumber</a:t>
            </a:r>
            <a:r>
              <a:rPr lang="en-US" sz="1000" dirty="0">
                <a:solidFill>
                  <a:srgbClr val="E8F0E0"/>
                </a:solidFill>
                <a:latin typeface="Courier New" pitchFamily="34" charset="0"/>
                <a:ea typeface="Courier New" pitchFamily="34" charset="-122"/>
                <a:cs typeface="Courier New" pitchFamily="34" charset="-120"/>
              </a:rPr>
              <a:t>;</a:t>
            </a:r>
            <a:endParaRPr lang="en-US" sz="1000" dirty="0"/>
          </a:p>
        </p:txBody>
      </p:sp>
      <p:sp>
        <p:nvSpPr>
          <p:cNvPr id="8" name="Text 6"/>
          <p:cNvSpPr/>
          <p:nvPr/>
        </p:nvSpPr>
        <p:spPr>
          <a:xfrm>
            <a:off x="6812280" y="1325880"/>
            <a:ext cx="4800600" cy="320040"/>
          </a:xfrm>
          <a:prstGeom prst="rect">
            <a:avLst/>
          </a:prstGeom>
          <a:noFill/>
          <a:ln/>
        </p:spPr>
        <p:txBody>
          <a:bodyPr wrap="square" rtlCol="0" anchor="ctr"/>
          <a:lstStyle/>
          <a:p>
            <a:pPr marL="0" indent="0">
              <a:buNone/>
            </a:pPr>
            <a:r>
              <a:rPr lang="en-US" sz="1300" b="1" dirty="0">
                <a:solidFill>
                  <a:srgbClr val="5A6B57"/>
                </a:solidFill>
                <a:latin typeface="Calibri" pitchFamily="34" charset="0"/>
                <a:ea typeface="Calibri" pitchFamily="34" charset="-122"/>
                <a:cs typeface="Calibri" pitchFamily="34" charset="-120"/>
              </a:rPr>
              <a:t>Query Output</a:t>
            </a:r>
            <a:endParaRPr lang="en-US" sz="1300" dirty="0"/>
          </a:p>
        </p:txBody>
      </p:sp>
      <p:sp>
        <p:nvSpPr>
          <p:cNvPr id="9" name="Shape 7"/>
          <p:cNvSpPr/>
          <p:nvPr/>
        </p:nvSpPr>
        <p:spPr>
          <a:xfrm>
            <a:off x="6812280" y="1691640"/>
            <a:ext cx="4800600" cy="2331720"/>
          </a:xfrm>
          <a:prstGeom prst="roundRect">
            <a:avLst>
              <a:gd name="adj" fmla="val 2353"/>
            </a:avLst>
          </a:prstGeom>
          <a:solidFill>
            <a:srgbClr val="FFFFFF"/>
          </a:solidFill>
          <a:ln w="12700">
            <a:solidFill>
              <a:srgbClr val="97BC62"/>
            </a:solidFill>
            <a:prstDash val="solid"/>
          </a:ln>
        </p:spPr>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903720" y="1764792"/>
          <a:ext cx="4617720" cy="1700784"/>
        </p:xfrm>
        <a:graphic>
          <a:graphicData uri="http://schemas.openxmlformats.org/drawingml/2006/table">
            <a:tbl>
              <a:tblPr/>
              <a:tblGrid>
                <a:gridCol w="100584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141732">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cust</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date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value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tc>
                  <a:txBody>
                    <a:bodyPr/>
                    <a:lstStyle/>
                    <a:p>
                      <a:pPr marL="0" indent="0" algn="ctr">
                        <a:buNone/>
                      </a:pPr>
                      <a:r>
                        <a:rPr lang="en-US" sz="700" b="1" dirty="0">
                          <a:solidFill>
                            <a:srgbClr val="FFFFFF"/>
                          </a:solidFill>
                          <a:latin typeface="Calibri" pitchFamily="34" charset="0"/>
                          <a:ea typeface="Calibri" pitchFamily="34" charset="-122"/>
                          <a:cs typeface="Calibri" pitchFamily="34" charset="-120"/>
                        </a:rPr>
                        <a:t>cumulative</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94800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2018-01-01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2366.35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6104.61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94800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2018-01-04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2251.31</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8355.92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2"/>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94800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2018-01-04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342.45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8698.38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94800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2018-01-05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377.36</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9075.74</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4"/>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94800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2018-01-07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1166.35</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10242.09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94800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2018-01-08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2245.47</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12487.56</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6"/>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94800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2018-01-08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1501.10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13988.66</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94800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2018-01-09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1493.92</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15482.58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08"/>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94800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2018-01-10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1111.80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16594.39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0F3EA"/>
                    </a:solidFill>
                  </a:tcPr>
                </a:tc>
                <a:extLst>
                  <a:ext uri="{0D108BD9-81ED-4DB2-BD59-A6C34878D82A}">
                    <a16:rowId xmlns:a16="http://schemas.microsoft.com/office/drawing/2014/main" val="10010"/>
                  </a:ext>
                </a:extLst>
              </a:tr>
              <a:tr h="141732">
                <a:tc>
                  <a:txBody>
                    <a:bodyPr/>
                    <a:lstStyle/>
                    <a:p>
                      <a:pPr marL="0" indent="0" algn="l">
                        <a:buNone/>
                      </a:pPr>
                      <a:r>
                        <a:rPr lang="en-US" sz="700" dirty="0">
                          <a:solidFill>
                            <a:srgbClr val="1F2D1F"/>
                          </a:solidFill>
                          <a:latin typeface="Calibri" pitchFamily="34" charset="0"/>
                          <a:ea typeface="Calibri" pitchFamily="34" charset="-122"/>
                          <a:cs typeface="Calibri" pitchFamily="34" charset="-120"/>
                        </a:rPr>
                        <a:t>94800</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2018-05-09</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1785.78</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tc>
                  <a:txBody>
                    <a:bodyPr/>
                    <a:lstStyle/>
                    <a:p>
                      <a:pPr marL="0" indent="0" algn="r">
                        <a:buNone/>
                      </a:pPr>
                      <a:r>
                        <a:rPr lang="en-US" sz="700" dirty="0">
                          <a:solidFill>
                            <a:srgbClr val="1F2D1F"/>
                          </a:solidFill>
                          <a:latin typeface="Calibri" pitchFamily="34" charset="0"/>
                          <a:ea typeface="Calibri" pitchFamily="34" charset="-122"/>
                          <a:cs typeface="Calibri" pitchFamily="34" charset="-120"/>
                        </a:rPr>
                        <a:t>130324.16</a:t>
                      </a:r>
                      <a:endParaRPr lang="en-US" sz="700" dirty="0">
                        <a:latin typeface="Calibri" charset="0"/>
                        <a:ea typeface="Calibri" charset="0"/>
                        <a:cs typeface="Calibri" charset="0"/>
                      </a:endParaRPr>
                    </a:p>
                  </a:txBody>
                  <a:tcPr marL="12700" marR="12700" marT="12700" marB="12700" anchor="ctr">
                    <a:lnL w="6350" cap="flat" cmpd="sng" algn="ctr">
                      <a:solidFill>
                        <a:srgbClr val="D8DECF"/>
                      </a:solidFill>
                      <a:prstDash val="solid"/>
                      <a:round/>
                      <a:headEnd type="none" w="med" len="med"/>
                      <a:tailEnd type="none" w="med" len="med"/>
                    </a:lnL>
                    <a:lnR w="6350" cap="flat" cmpd="sng" algn="ctr">
                      <a:solidFill>
                        <a:srgbClr val="D8DECF"/>
                      </a:solidFill>
                      <a:prstDash val="solid"/>
                      <a:round/>
                      <a:headEnd type="none" w="med" len="med"/>
                      <a:tailEnd type="none" w="med" len="med"/>
                    </a:lnR>
                    <a:lnT w="6350" cap="flat" cmpd="sng" algn="ctr">
                      <a:solidFill>
                        <a:srgbClr val="D8DECF"/>
                      </a:solidFill>
                      <a:prstDash val="solid"/>
                      <a:round/>
                      <a:headEnd type="none" w="med" len="med"/>
                      <a:tailEnd type="none" w="med" len="med"/>
                    </a:lnT>
                    <a:lnB w="6350" cap="flat" cmpd="sng" algn="ctr">
                      <a:solidFill>
                        <a:srgbClr val="D8DEC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1" name="Text 8"/>
          <p:cNvSpPr/>
          <p:nvPr/>
        </p:nvSpPr>
        <p:spPr>
          <a:xfrm>
            <a:off x="6903720" y="3803904"/>
            <a:ext cx="4617720" cy="182880"/>
          </a:xfrm>
          <a:prstGeom prst="rect">
            <a:avLst/>
          </a:prstGeom>
          <a:noFill/>
          <a:ln/>
        </p:spPr>
        <p:txBody>
          <a:bodyPr wrap="square" rtlCol="0" anchor="ctr"/>
          <a:lstStyle/>
          <a:p>
            <a:pPr marL="0" indent="0" algn="l">
              <a:buNone/>
            </a:pPr>
            <a:r>
              <a:rPr lang="en-US" sz="700" i="1" dirty="0">
                <a:solidFill>
                  <a:srgbClr val="5A6B57"/>
                </a:solidFill>
                <a:latin typeface="Calibri" pitchFamily="34" charset="0"/>
                <a:ea typeface="Calibri" pitchFamily="34" charset="-122"/>
                <a:cs typeface="Calibri" pitchFamily="34" charset="-120"/>
              </a:rPr>
              <a:t>Showing selected rows; running total ends at 130324.16</a:t>
            </a:r>
            <a:endParaRPr lang="en-US" sz="700" dirty="0"/>
          </a:p>
        </p:txBody>
      </p:sp>
      <p:sp>
        <p:nvSpPr>
          <p:cNvPr id="12" name="Shape 9"/>
          <p:cNvSpPr/>
          <p:nvPr/>
        </p:nvSpPr>
        <p:spPr>
          <a:xfrm>
            <a:off x="6812280" y="4160520"/>
            <a:ext cx="4800600" cy="2194560"/>
          </a:xfrm>
          <a:prstGeom prst="roundRect">
            <a:avLst>
              <a:gd name="adj" fmla="val 2500"/>
            </a:avLst>
          </a:prstGeom>
          <a:solidFill>
            <a:srgbClr val="2C5F2D"/>
          </a:solidFill>
          <a:ln w="12700">
            <a:solidFill>
              <a:srgbClr val="2C5F2D"/>
            </a:solidFill>
            <a:prstDash val="solid"/>
          </a:ln>
        </p:spPr>
      </p:sp>
      <p:sp>
        <p:nvSpPr>
          <p:cNvPr id="13" name="Text 10"/>
          <p:cNvSpPr/>
          <p:nvPr/>
        </p:nvSpPr>
        <p:spPr>
          <a:xfrm>
            <a:off x="6995160" y="4279392"/>
            <a:ext cx="4480560" cy="320040"/>
          </a:xfrm>
          <a:prstGeom prst="rect">
            <a:avLst/>
          </a:prstGeom>
          <a:noFill/>
          <a:ln/>
        </p:spPr>
        <p:txBody>
          <a:bodyPr wrap="square" rtlCol="0" anchor="ctr"/>
          <a:lstStyle/>
          <a:p>
            <a:pPr marL="0" indent="0">
              <a:buNone/>
            </a:pPr>
            <a:r>
              <a:rPr lang="en-US" sz="1500" b="1" dirty="0">
                <a:solidFill>
                  <a:srgbClr val="97BC62"/>
                </a:solidFill>
                <a:latin typeface="Cambria" pitchFamily="34" charset="0"/>
                <a:ea typeface="Cambria" pitchFamily="34" charset="-122"/>
                <a:cs typeface="Cambria" pitchFamily="34" charset="-120"/>
              </a:rPr>
              <a:t>Insight</a:t>
            </a:r>
            <a:endParaRPr lang="en-US" sz="1500" dirty="0"/>
          </a:p>
        </p:txBody>
      </p:sp>
      <p:sp>
        <p:nvSpPr>
          <p:cNvPr id="14" name="Text 11"/>
          <p:cNvSpPr/>
          <p:nvPr/>
        </p:nvSpPr>
        <p:spPr>
          <a:xfrm>
            <a:off x="6995160" y="4645152"/>
            <a:ext cx="4480560" cy="1600200"/>
          </a:xfrm>
          <a:prstGeom prst="rect">
            <a:avLst/>
          </a:prstGeom>
          <a:noFill/>
          <a:ln/>
        </p:spPr>
        <p:txBody>
          <a:bodyPr wrap="square" rtlCol="0" anchor="t"/>
          <a:lstStyle/>
          <a:p>
            <a:pPr marL="0" indent="0">
              <a:lnSpc>
                <a:spcPct val="105000"/>
              </a:lnSpc>
              <a:buNone/>
            </a:pPr>
            <a:r>
              <a:rPr lang="en-US" sz="1200" dirty="0">
                <a:solidFill>
                  <a:srgbClr val="F5F7F2"/>
                </a:solidFill>
                <a:latin typeface="Calibri" pitchFamily="34" charset="0"/>
                <a:ea typeface="Calibri" pitchFamily="34" charset="-122"/>
                <a:cs typeface="Calibri" pitchFamily="34" charset="-120"/>
              </a:rPr>
              <a:t>The top user is customer 94800, with the highest total transaction value. Their running total climbs steadily, reaching about 130.32k across the observed period, useful for understanding high-value customer behavior.</a:t>
            </a:r>
            <a:endParaRPr lang="en-US" sz="1200" dirty="0"/>
          </a:p>
        </p:txBody>
      </p:sp>
      <p:sp>
        <p:nvSpPr>
          <p:cNvPr id="10" name="Text 12"/>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16" name="Text 13"/>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Summary of Key Findings</a:t>
            </a:r>
            <a:endParaRPr lang="en-US" sz="3400" dirty="0"/>
          </a:p>
        </p:txBody>
      </p:sp>
      <p:sp>
        <p:nvSpPr>
          <p:cNvPr id="3" name="Text 1"/>
          <p:cNvSpPr/>
          <p:nvPr/>
        </p:nvSpPr>
        <p:spPr>
          <a:xfrm>
            <a:off x="548640" y="1463040"/>
            <a:ext cx="11064240" cy="4572000"/>
          </a:xfrm>
          <a:prstGeom prst="rect">
            <a:avLst/>
          </a:prstGeom>
          <a:noFill/>
          <a:ln/>
        </p:spPr>
        <p:txBody>
          <a:bodyPr wrap="square" rtlCol="0" anchor="t"/>
          <a:lstStyle/>
          <a:p>
            <a:pPr marL="285750" indent="-285750" algn="just">
              <a:lnSpc>
                <a:spcPct val="150000"/>
              </a:lnSpc>
              <a:buFont typeface="Arial" panose="020B0604020202020204" pitchFamily="34" charset="0"/>
              <a:buChar char="•"/>
            </a:pPr>
            <a:r>
              <a:rPr lang="en-US" sz="1600" dirty="0"/>
              <a:t>Top revenue-generating category: Confections contributes 12.87% of total revenue, ahead of Meat (11.39%) and Poultry (10.17%).</a:t>
            </a:r>
          </a:p>
          <a:p>
            <a:pPr marL="285750" indent="-285750" algn="just">
              <a:lnSpc>
                <a:spcPct val="150000"/>
              </a:lnSpc>
              <a:buFont typeface="Arial" panose="020B0604020202020204" pitchFamily="34" charset="0"/>
              <a:buChar char="•"/>
            </a:pPr>
            <a:r>
              <a:rPr lang="en-US" sz="1600" dirty="0"/>
              <a:t>Relation between revenue and units sold vs. customer count: Revenue tracks units sold, but customer counts are nearly uniform (~97k to 98.7k), so volume per customer drives revenue, not buyer count.</a:t>
            </a:r>
          </a:p>
          <a:p>
            <a:pPr marL="285750" indent="-285750" algn="just">
              <a:lnSpc>
                <a:spcPct val="150000"/>
              </a:lnSpc>
              <a:buFont typeface="Arial" panose="020B0604020202020204" pitchFamily="34" charset="0"/>
              <a:buChar char="•"/>
            </a:pPr>
            <a:r>
              <a:rPr lang="en-US" sz="1600" dirty="0"/>
              <a:t>Impact of pricing on customer behavior: Price sensitivity is weak. The priciest category, Grain, has the fewest buyers, but the gap across categories is small.</a:t>
            </a:r>
          </a:p>
          <a:p>
            <a:pPr marL="285750" indent="-285750" algn="just">
              <a:lnSpc>
                <a:spcPct val="150000"/>
              </a:lnSpc>
              <a:buFont typeface="Arial" panose="020B0604020202020204" pitchFamily="34" charset="0"/>
              <a:buChar char="•"/>
            </a:pPr>
            <a:r>
              <a:rPr lang="en-US" sz="1600" dirty="0"/>
              <a:t>Category-wise revenue contribution: A few top categories dominate. The top four drive about 44% of total revenue.</a:t>
            </a:r>
          </a:p>
          <a:p>
            <a:pPr marL="285750" indent="-285750" algn="just">
              <a:lnSpc>
                <a:spcPct val="150000"/>
              </a:lnSpc>
              <a:buFont typeface="Arial" panose="020B0604020202020204" pitchFamily="34" charset="0"/>
              <a:buChar char="•"/>
            </a:pPr>
            <a:r>
              <a:rPr lang="en-US" sz="1600" dirty="0"/>
              <a:t>The highest repeat purchase rate is in the Confections category, at 99.85%, with every category above 93%.</a:t>
            </a:r>
          </a:p>
          <a:p>
            <a:pPr marL="285750" indent="-285750" algn="just">
              <a:lnSpc>
                <a:spcPct val="150000"/>
              </a:lnSpc>
              <a:buFont typeface="Arial" panose="020B0604020202020204" pitchFamily="34" charset="0"/>
              <a:buChar char="•"/>
            </a:pPr>
            <a:r>
              <a:rPr lang="en-US" sz="1600" dirty="0"/>
              <a:t>Anomalies or unexpected findings : Grain has the highest average price yet the lowest units sold and near-lowest revenue.</a:t>
            </a:r>
          </a:p>
        </p:txBody>
      </p:sp>
      <p:sp>
        <p:nvSpPr>
          <p:cNvPr id="4" name="Text 2"/>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5" name="Text 3"/>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2"/>
        </a:solidFill>
        <a:effectLst/>
      </p:bgPr>
    </p:bg>
    <p:spTree>
      <p:nvGrpSpPr>
        <p:cNvPr id="1" name=""/>
        <p:cNvGrpSpPr/>
        <p:nvPr/>
      </p:nvGrpSpPr>
      <p:grpSpPr>
        <a:xfrm>
          <a:off x="0" y="0"/>
          <a:ext cx="0" cy="0"/>
          <a:chOff x="0" y="0"/>
          <a:chExt cx="0" cy="0"/>
        </a:xfrm>
      </p:grpSpPr>
      <p:sp>
        <p:nvSpPr>
          <p:cNvPr id="2" name="Text 0"/>
          <p:cNvSpPr/>
          <p:nvPr/>
        </p:nvSpPr>
        <p:spPr>
          <a:xfrm>
            <a:off x="548640" y="411480"/>
            <a:ext cx="10972800" cy="640080"/>
          </a:xfrm>
          <a:prstGeom prst="rect">
            <a:avLst/>
          </a:prstGeom>
          <a:noFill/>
          <a:ln/>
        </p:spPr>
        <p:txBody>
          <a:bodyPr wrap="square"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Business Recommendations</a:t>
            </a:r>
            <a:endParaRPr lang="en-US" sz="3400" dirty="0"/>
          </a:p>
        </p:txBody>
      </p:sp>
      <p:sp>
        <p:nvSpPr>
          <p:cNvPr id="3" name="Shape 1"/>
          <p:cNvSpPr/>
          <p:nvPr/>
        </p:nvSpPr>
        <p:spPr>
          <a:xfrm>
            <a:off x="548640" y="1463040"/>
            <a:ext cx="11064240" cy="1051560"/>
          </a:xfrm>
          <a:prstGeom prst="roundRect">
            <a:avLst>
              <a:gd name="adj" fmla="val 6957"/>
            </a:avLst>
          </a:prstGeom>
          <a:solidFill>
            <a:srgbClr val="FFFFFF"/>
          </a:solidFill>
          <a:ln w="12700">
            <a:solidFill>
              <a:srgbClr val="97BC62"/>
            </a:solidFill>
            <a:prstDash val="solid"/>
          </a:ln>
          <a:effectLst>
            <a:outerShdw blurRad="50800" dist="25400" dir="5400000" algn="bl" rotWithShape="0">
              <a:srgbClr val="CCCCCC">
                <a:alpha val="40000"/>
              </a:srgbClr>
            </a:outerShdw>
          </a:effectLst>
        </p:spPr>
      </p:sp>
      <p:sp>
        <p:nvSpPr>
          <p:cNvPr id="4" name="Shape 2"/>
          <p:cNvSpPr/>
          <p:nvPr/>
        </p:nvSpPr>
        <p:spPr>
          <a:xfrm>
            <a:off x="548640" y="1463040"/>
            <a:ext cx="3108960" cy="1051560"/>
          </a:xfrm>
          <a:prstGeom prst="roundRect">
            <a:avLst>
              <a:gd name="adj" fmla="val 6957"/>
            </a:avLst>
          </a:prstGeom>
          <a:solidFill>
            <a:srgbClr val="2C5F2D"/>
          </a:solidFill>
          <a:ln/>
        </p:spPr>
      </p:sp>
      <p:sp>
        <p:nvSpPr>
          <p:cNvPr id="5" name="Text 3"/>
          <p:cNvSpPr/>
          <p:nvPr/>
        </p:nvSpPr>
        <p:spPr>
          <a:xfrm>
            <a:off x="640080" y="1463040"/>
            <a:ext cx="2926080" cy="10515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Category Prioritization</a:t>
            </a:r>
            <a:endParaRPr lang="en-US" sz="1500" dirty="0"/>
          </a:p>
        </p:txBody>
      </p:sp>
      <p:sp>
        <p:nvSpPr>
          <p:cNvPr id="6" name="Text 4"/>
          <p:cNvSpPr/>
          <p:nvPr/>
        </p:nvSpPr>
        <p:spPr>
          <a:xfrm>
            <a:off x="3840480" y="1463040"/>
            <a:ext cx="7589520" cy="1051560"/>
          </a:xfrm>
          <a:prstGeom prst="rect">
            <a:avLst/>
          </a:prstGeom>
          <a:noFill/>
          <a:ln/>
        </p:spPr>
        <p:txBody>
          <a:bodyPr wrap="square" rtlCol="0" anchor="ctr"/>
          <a:lstStyle/>
          <a:p>
            <a:pPr marL="0" indent="0">
              <a:buNone/>
            </a:pPr>
            <a:r>
              <a:rPr lang="en-US" sz="1400" dirty="0">
                <a:solidFill>
                  <a:srgbClr val="1F2D1F"/>
                </a:solidFill>
                <a:latin typeface="Calibri" pitchFamily="34" charset="0"/>
                <a:ea typeface="Calibri" pitchFamily="34" charset="-122"/>
                <a:cs typeface="Calibri" pitchFamily="34" charset="-120"/>
              </a:rPr>
              <a:t>Focus investment and stock on the highest-revenue categories, led by Confections and Meat.</a:t>
            </a:r>
            <a:endParaRPr lang="en-US" sz="1400" dirty="0"/>
          </a:p>
        </p:txBody>
      </p:sp>
      <p:sp>
        <p:nvSpPr>
          <p:cNvPr id="7" name="Shape 5"/>
          <p:cNvSpPr/>
          <p:nvPr/>
        </p:nvSpPr>
        <p:spPr>
          <a:xfrm>
            <a:off x="548640" y="2633472"/>
            <a:ext cx="11064240" cy="1051560"/>
          </a:xfrm>
          <a:prstGeom prst="roundRect">
            <a:avLst>
              <a:gd name="adj" fmla="val 6957"/>
            </a:avLst>
          </a:prstGeom>
          <a:solidFill>
            <a:srgbClr val="FFFFFF"/>
          </a:solidFill>
          <a:ln w="12700">
            <a:solidFill>
              <a:srgbClr val="97BC62"/>
            </a:solidFill>
            <a:prstDash val="solid"/>
          </a:ln>
          <a:effectLst>
            <a:outerShdw blurRad="50800" dist="25400" dir="5400000" algn="bl" rotWithShape="0">
              <a:srgbClr val="CCCCCC">
                <a:alpha val="40000"/>
              </a:srgbClr>
            </a:outerShdw>
          </a:effectLst>
        </p:spPr>
      </p:sp>
      <p:sp>
        <p:nvSpPr>
          <p:cNvPr id="8" name="Shape 6"/>
          <p:cNvSpPr/>
          <p:nvPr/>
        </p:nvSpPr>
        <p:spPr>
          <a:xfrm>
            <a:off x="548640" y="2633472"/>
            <a:ext cx="3108960" cy="1051560"/>
          </a:xfrm>
          <a:prstGeom prst="roundRect">
            <a:avLst>
              <a:gd name="adj" fmla="val 6957"/>
            </a:avLst>
          </a:prstGeom>
          <a:solidFill>
            <a:srgbClr val="2C5F2D"/>
          </a:solidFill>
          <a:ln/>
        </p:spPr>
      </p:sp>
      <p:sp>
        <p:nvSpPr>
          <p:cNvPr id="9" name="Text 7"/>
          <p:cNvSpPr/>
          <p:nvPr/>
        </p:nvSpPr>
        <p:spPr>
          <a:xfrm>
            <a:off x="640080" y="2633472"/>
            <a:ext cx="2926080" cy="10515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Pricing Strategy</a:t>
            </a:r>
            <a:endParaRPr lang="en-US" sz="1500" dirty="0"/>
          </a:p>
        </p:txBody>
      </p:sp>
      <p:sp>
        <p:nvSpPr>
          <p:cNvPr id="10" name="Text 8"/>
          <p:cNvSpPr/>
          <p:nvPr/>
        </p:nvSpPr>
        <p:spPr>
          <a:xfrm>
            <a:off x="3840480" y="2633472"/>
            <a:ext cx="7589520" cy="1051560"/>
          </a:xfrm>
          <a:prstGeom prst="rect">
            <a:avLst/>
          </a:prstGeom>
          <a:noFill/>
          <a:ln/>
        </p:spPr>
        <p:txBody>
          <a:bodyPr wrap="square" rtlCol="0" anchor="ctr"/>
          <a:lstStyle/>
          <a:p>
            <a:pPr marL="0" indent="0">
              <a:buNone/>
            </a:pPr>
            <a:r>
              <a:rPr lang="en-US" sz="1400" dirty="0">
                <a:solidFill>
                  <a:srgbClr val="1F2D1F"/>
                </a:solidFill>
                <a:latin typeface="Calibri" pitchFamily="34" charset="0"/>
                <a:ea typeface="Calibri" pitchFamily="34" charset="-122"/>
                <a:cs typeface="Calibri" pitchFamily="34" charset="-120"/>
              </a:rPr>
              <a:t>Review Grain's premium pricing, since its high price pairs with the lowest volume and revenue.</a:t>
            </a:r>
            <a:endParaRPr lang="en-US" sz="1400" dirty="0"/>
          </a:p>
        </p:txBody>
      </p:sp>
      <p:sp>
        <p:nvSpPr>
          <p:cNvPr id="11" name="Shape 9"/>
          <p:cNvSpPr/>
          <p:nvPr/>
        </p:nvSpPr>
        <p:spPr>
          <a:xfrm>
            <a:off x="548640" y="3803904"/>
            <a:ext cx="11064240" cy="1051560"/>
          </a:xfrm>
          <a:prstGeom prst="roundRect">
            <a:avLst>
              <a:gd name="adj" fmla="val 6957"/>
            </a:avLst>
          </a:prstGeom>
          <a:solidFill>
            <a:srgbClr val="FFFFFF"/>
          </a:solidFill>
          <a:ln w="12700">
            <a:solidFill>
              <a:srgbClr val="97BC62"/>
            </a:solidFill>
            <a:prstDash val="solid"/>
          </a:ln>
          <a:effectLst>
            <a:outerShdw blurRad="50800" dist="25400" dir="5400000" algn="bl" rotWithShape="0">
              <a:srgbClr val="CCCCCC">
                <a:alpha val="40000"/>
              </a:srgbClr>
            </a:outerShdw>
          </a:effectLst>
        </p:spPr>
      </p:sp>
      <p:sp>
        <p:nvSpPr>
          <p:cNvPr id="12" name="Shape 10"/>
          <p:cNvSpPr/>
          <p:nvPr/>
        </p:nvSpPr>
        <p:spPr>
          <a:xfrm>
            <a:off x="548640" y="3803904"/>
            <a:ext cx="3108960" cy="1051560"/>
          </a:xfrm>
          <a:prstGeom prst="roundRect">
            <a:avLst>
              <a:gd name="adj" fmla="val 6957"/>
            </a:avLst>
          </a:prstGeom>
          <a:solidFill>
            <a:srgbClr val="2C5F2D"/>
          </a:solidFill>
          <a:ln/>
        </p:spPr>
      </p:sp>
      <p:sp>
        <p:nvSpPr>
          <p:cNvPr id="13" name="Text 11"/>
          <p:cNvSpPr/>
          <p:nvPr/>
        </p:nvSpPr>
        <p:spPr>
          <a:xfrm>
            <a:off x="640080" y="3803904"/>
            <a:ext cx="2926080" cy="10515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Customer Strategy</a:t>
            </a:r>
            <a:endParaRPr lang="en-US" sz="1500" dirty="0"/>
          </a:p>
        </p:txBody>
      </p:sp>
      <p:sp>
        <p:nvSpPr>
          <p:cNvPr id="14" name="Text 12"/>
          <p:cNvSpPr/>
          <p:nvPr/>
        </p:nvSpPr>
        <p:spPr>
          <a:xfrm>
            <a:off x="3840480" y="3803904"/>
            <a:ext cx="7589520" cy="1051560"/>
          </a:xfrm>
          <a:prstGeom prst="rect">
            <a:avLst/>
          </a:prstGeom>
          <a:noFill/>
          <a:ln/>
        </p:spPr>
        <p:txBody>
          <a:bodyPr wrap="square" rtlCol="0" anchor="ctr"/>
          <a:lstStyle/>
          <a:p>
            <a:pPr marL="0" indent="0">
              <a:buNone/>
            </a:pPr>
            <a:r>
              <a:rPr lang="en-US" sz="1400" dirty="0">
                <a:solidFill>
                  <a:srgbClr val="1F2D1F"/>
                </a:solidFill>
                <a:latin typeface="Calibri" pitchFamily="34" charset="0"/>
                <a:ea typeface="Calibri" pitchFamily="34" charset="-122"/>
                <a:cs typeface="Calibri" pitchFamily="34" charset="-120"/>
              </a:rPr>
              <a:t>Decide whether to focus on acquiring new customers or increasing order size per customer.</a:t>
            </a:r>
            <a:endParaRPr lang="en-US" sz="1400" dirty="0"/>
          </a:p>
        </p:txBody>
      </p:sp>
      <p:sp>
        <p:nvSpPr>
          <p:cNvPr id="15" name="Shape 13"/>
          <p:cNvSpPr/>
          <p:nvPr/>
        </p:nvSpPr>
        <p:spPr>
          <a:xfrm>
            <a:off x="548640" y="4974336"/>
            <a:ext cx="11064240" cy="1051560"/>
          </a:xfrm>
          <a:prstGeom prst="roundRect">
            <a:avLst>
              <a:gd name="adj" fmla="val 6957"/>
            </a:avLst>
          </a:prstGeom>
          <a:solidFill>
            <a:srgbClr val="FFFFFF"/>
          </a:solidFill>
          <a:ln w="12700">
            <a:solidFill>
              <a:srgbClr val="97BC62"/>
            </a:solidFill>
            <a:prstDash val="solid"/>
          </a:ln>
          <a:effectLst>
            <a:outerShdw blurRad="50800" dist="25400" dir="5400000" algn="bl" rotWithShape="0">
              <a:srgbClr val="CCCCCC">
                <a:alpha val="40000"/>
              </a:srgbClr>
            </a:outerShdw>
          </a:effectLst>
        </p:spPr>
      </p:sp>
      <p:sp>
        <p:nvSpPr>
          <p:cNvPr id="16" name="Shape 14"/>
          <p:cNvSpPr/>
          <p:nvPr/>
        </p:nvSpPr>
        <p:spPr>
          <a:xfrm>
            <a:off x="548640" y="4974336"/>
            <a:ext cx="3108960" cy="1051560"/>
          </a:xfrm>
          <a:prstGeom prst="roundRect">
            <a:avLst>
              <a:gd name="adj" fmla="val 6957"/>
            </a:avLst>
          </a:prstGeom>
          <a:solidFill>
            <a:srgbClr val="2C5F2D"/>
          </a:solidFill>
          <a:ln/>
        </p:spPr>
      </p:sp>
      <p:sp>
        <p:nvSpPr>
          <p:cNvPr id="17" name="Text 15"/>
          <p:cNvSpPr/>
          <p:nvPr/>
        </p:nvSpPr>
        <p:spPr>
          <a:xfrm>
            <a:off x="640080" y="4974336"/>
            <a:ext cx="2926080" cy="1051560"/>
          </a:xfrm>
          <a:prstGeom prst="rect">
            <a:avLst/>
          </a:prstGeom>
          <a:noFill/>
          <a:ln/>
        </p:spPr>
        <p:txBody>
          <a:bodyPr wrap="square"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Marketing Strategy</a:t>
            </a:r>
            <a:endParaRPr lang="en-US" sz="1500" dirty="0"/>
          </a:p>
        </p:txBody>
      </p:sp>
      <p:sp>
        <p:nvSpPr>
          <p:cNvPr id="18" name="Text 16"/>
          <p:cNvSpPr/>
          <p:nvPr/>
        </p:nvSpPr>
        <p:spPr>
          <a:xfrm>
            <a:off x="3840480" y="4974336"/>
            <a:ext cx="7589520" cy="1051560"/>
          </a:xfrm>
          <a:prstGeom prst="rect">
            <a:avLst/>
          </a:prstGeom>
          <a:noFill/>
          <a:ln/>
        </p:spPr>
        <p:txBody>
          <a:bodyPr wrap="square" rtlCol="0" anchor="ctr"/>
          <a:lstStyle/>
          <a:p>
            <a:pPr marL="0" indent="0">
              <a:buNone/>
            </a:pPr>
            <a:r>
              <a:rPr lang="en-US" sz="1400" dirty="0">
                <a:solidFill>
                  <a:srgbClr val="1F2D1F"/>
                </a:solidFill>
                <a:latin typeface="Calibri" pitchFamily="34" charset="0"/>
                <a:ea typeface="Calibri" pitchFamily="34" charset="-122"/>
                <a:cs typeface="Calibri" pitchFamily="34" charset="-120"/>
              </a:rPr>
              <a:t>Target promotions at high repeat-rate categories like Confections and Meat to lift basket size.</a:t>
            </a:r>
            <a:endParaRPr lang="en-US" sz="1400" dirty="0"/>
          </a:p>
        </p:txBody>
      </p:sp>
      <p:sp>
        <p:nvSpPr>
          <p:cNvPr id="19" name="Text 17"/>
          <p:cNvSpPr/>
          <p:nvPr/>
        </p:nvSpPr>
        <p:spPr>
          <a:xfrm>
            <a:off x="457200" y="6492240"/>
            <a:ext cx="7315200" cy="274320"/>
          </a:xfrm>
          <a:prstGeom prst="rect">
            <a:avLst/>
          </a:prstGeom>
          <a:noFill/>
          <a:ln/>
        </p:spPr>
        <p:txBody>
          <a:bodyPr wrap="square" lIns="0" tIns="0" rIns="0" bIns="0" rtlCol="0" anchor="ctr"/>
          <a:lstStyle/>
          <a:p>
            <a:pPr marL="0" indent="0" algn="l">
              <a:buNone/>
            </a:pPr>
            <a:r>
              <a:rPr lang="en-US" sz="900" dirty="0">
                <a:solidFill>
                  <a:srgbClr val="5A6B57"/>
                </a:solidFill>
                <a:latin typeface="Calibri" pitchFamily="34" charset="0"/>
                <a:ea typeface="Calibri" pitchFamily="34" charset="-122"/>
                <a:cs typeface="Calibri" pitchFamily="34" charset="-120"/>
              </a:rPr>
              <a:t>RevoGrocers Sales Performance Analysis</a:t>
            </a:r>
            <a:endParaRPr lang="en-US" sz="900" dirty="0"/>
          </a:p>
        </p:txBody>
      </p:sp>
      <p:sp>
        <p:nvSpPr>
          <p:cNvPr id="20" name="Text 18"/>
          <p:cNvSpPr/>
          <p:nvPr/>
        </p:nvSpPr>
        <p:spPr>
          <a:xfrm>
            <a:off x="11247120" y="6492240"/>
            <a:ext cx="457200" cy="274320"/>
          </a:xfrm>
          <a:prstGeom prst="rect">
            <a:avLst/>
          </a:prstGeom>
          <a:noFill/>
          <a:ln/>
        </p:spPr>
        <p:txBody>
          <a:bodyPr wrap="square" lIns="0" tIns="0" rIns="0" bIns="0" rtlCol="0" anchor="ctr"/>
          <a:lstStyle/>
          <a:p>
            <a:pPr marL="0" indent="0" algn="r">
              <a:buNone/>
            </a:pPr>
            <a:r>
              <a:rPr lang="en-US" sz="900" dirty="0">
                <a:solidFill>
                  <a:srgbClr val="5A6B57"/>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C5F2D"/>
        </a:solidFill>
        <a:effectLst/>
      </p:bgPr>
    </p:bg>
    <p:spTree>
      <p:nvGrpSpPr>
        <p:cNvPr id="1" name=""/>
        <p:cNvGrpSpPr/>
        <p:nvPr/>
      </p:nvGrpSpPr>
      <p:grpSpPr>
        <a:xfrm>
          <a:off x="0" y="0"/>
          <a:ext cx="0" cy="0"/>
          <a:chOff x="0" y="0"/>
          <a:chExt cx="0" cy="0"/>
        </a:xfrm>
      </p:grpSpPr>
      <p:sp>
        <p:nvSpPr>
          <p:cNvPr id="2" name="Text 0"/>
          <p:cNvSpPr/>
          <p:nvPr/>
        </p:nvSpPr>
        <p:spPr>
          <a:xfrm>
            <a:off x="822960" y="2758966"/>
            <a:ext cx="10515600" cy="822960"/>
          </a:xfrm>
          <a:prstGeom prst="rect">
            <a:avLst/>
          </a:prstGeom>
          <a:noFill/>
          <a:ln/>
        </p:spPr>
        <p:txBody>
          <a:bodyPr wrap="square" rtlCol="0" anchor="ctr"/>
          <a:lstStyle/>
          <a:p>
            <a:pPr marL="0" indent="0">
              <a:buNone/>
            </a:pPr>
            <a:r>
              <a:rPr lang="en-US" sz="7200" b="1" dirty="0">
                <a:solidFill>
                  <a:srgbClr val="FFFFFF"/>
                </a:solidFill>
                <a:latin typeface="Cambria" pitchFamily="34" charset="0"/>
                <a:ea typeface="Cambria" pitchFamily="34" charset="-122"/>
                <a:cs typeface="Cambria" pitchFamily="34" charset="-120"/>
              </a:rPr>
              <a:t>Thank You!!!</a:t>
            </a:r>
            <a:endParaRPr lang="en-US" sz="7200" dirty="0"/>
          </a:p>
        </p:txBody>
      </p:sp>
      <p:sp>
        <p:nvSpPr>
          <p:cNvPr id="5" name="Text 3"/>
          <p:cNvSpPr/>
          <p:nvPr/>
        </p:nvSpPr>
        <p:spPr>
          <a:xfrm>
            <a:off x="822960" y="5943600"/>
            <a:ext cx="10515600" cy="365760"/>
          </a:xfrm>
          <a:prstGeom prst="rect">
            <a:avLst/>
          </a:prstGeom>
          <a:noFill/>
          <a:ln/>
        </p:spPr>
        <p:txBody>
          <a:bodyPr wrap="square" rtlCol="0" anchor="ctr"/>
          <a:lstStyle/>
          <a:p>
            <a:pPr marL="0" indent="0">
              <a:buNone/>
            </a:pPr>
            <a:endParaRPr lang="en-US" sz="1300" dirty="0"/>
          </a:p>
        </p:txBody>
      </p:sp>
      <p:sp>
        <p:nvSpPr>
          <p:cNvPr id="7" name="Text 3">
            <a:extLst>
              <a:ext uri="{FF2B5EF4-FFF2-40B4-BE49-F238E27FC236}">
                <a16:creationId xmlns:a16="http://schemas.microsoft.com/office/drawing/2014/main" id="{5CA27810-A9B3-D77E-84E8-D04EC575A616}"/>
              </a:ext>
            </a:extLst>
          </p:cNvPr>
          <p:cNvSpPr/>
          <p:nvPr/>
        </p:nvSpPr>
        <p:spPr>
          <a:xfrm>
            <a:off x="822960" y="4846320"/>
            <a:ext cx="10058400" cy="1463040"/>
          </a:xfrm>
          <a:prstGeom prst="rect">
            <a:avLst/>
          </a:prstGeom>
          <a:noFill/>
          <a:ln/>
        </p:spPr>
        <p:txBody>
          <a:bodyPr wrap="square" rtlCol="0" anchor="ctr"/>
          <a:lstStyle/>
          <a:p>
            <a:pPr>
              <a:lnSpc>
                <a:spcPct val="115000"/>
              </a:lnSpc>
            </a:pPr>
            <a:r>
              <a:rPr lang="en-US" sz="1400" b="1" dirty="0">
                <a:solidFill>
                  <a:schemeClr val="bg1"/>
                </a:solidFill>
                <a:latin typeface="Cambria" panose="02040503050406030204" pitchFamily="18" charset="0"/>
                <a:ea typeface="Cambria" panose="02040503050406030204" pitchFamily="18" charset="0"/>
                <a:cs typeface="Arial" panose="020B0604020202020204" pitchFamily="34" charset="0"/>
              </a:rPr>
              <a:t>Reinaldy Zulfananda Arkaan</a:t>
            </a:r>
          </a:p>
          <a:p>
            <a:pPr>
              <a:lnSpc>
                <a:spcPct val="115000"/>
              </a:lnSpc>
            </a:pPr>
            <a:r>
              <a:rPr lang="en-US" sz="1400" b="1" dirty="0" err="1">
                <a:solidFill>
                  <a:schemeClr val="bg1"/>
                </a:solidFill>
                <a:latin typeface="Cambria" panose="02040503050406030204" pitchFamily="18" charset="0"/>
                <a:ea typeface="Cambria" panose="02040503050406030204" pitchFamily="18" charset="0"/>
                <a:cs typeface="Arial" panose="020B0604020202020204" pitchFamily="34" charset="0"/>
              </a:rPr>
              <a:t>RevoU</a:t>
            </a:r>
            <a:r>
              <a:rPr lang="en-US" sz="1400" b="1" dirty="0">
                <a:solidFill>
                  <a:schemeClr val="bg1"/>
                </a:solidFill>
                <a:latin typeface="Cambria" panose="02040503050406030204" pitchFamily="18" charset="0"/>
                <a:ea typeface="Cambria" panose="02040503050406030204" pitchFamily="18" charset="0"/>
                <a:cs typeface="Arial" panose="020B0604020202020204" pitchFamily="34" charset="0"/>
              </a:rPr>
              <a:t> Full Stack Data Analytics  | [W4W5 JUN26]  | Intermediate</a:t>
            </a:r>
          </a:p>
          <a:p>
            <a:pPr>
              <a:lnSpc>
                <a:spcPct val="115000"/>
              </a:lnSpc>
            </a:pPr>
            <a:r>
              <a:rPr lang="en-US" sz="1400" b="1" dirty="0">
                <a:solidFill>
                  <a:schemeClr val="bg1"/>
                </a:solidFill>
                <a:latin typeface="Cambria" panose="02040503050406030204" pitchFamily="18" charset="0"/>
                <a:ea typeface="Cambria" panose="02040503050406030204" pitchFamily="18" charset="0"/>
                <a:cs typeface="Arial" panose="020B0604020202020204" pitchFamily="34" charset="0"/>
              </a:rPr>
              <a:t>Submission date: 7 August, 2026</a:t>
            </a:r>
          </a:p>
          <a:p>
            <a:pPr>
              <a:lnSpc>
                <a:spcPct val="115000"/>
              </a:lnSpc>
            </a:pPr>
            <a:r>
              <a:rPr lang="en-US" sz="1400" b="1" dirty="0">
                <a:solidFill>
                  <a:schemeClr val="bg1"/>
                </a:solidFill>
                <a:latin typeface="Cambria" panose="02040503050406030204" pitchFamily="18" charset="0"/>
                <a:ea typeface="Cambria" panose="02040503050406030204" pitchFamily="18" charset="0"/>
                <a:cs typeface="Arial" panose="020B0604020202020204" pitchFamily="34" charset="0"/>
              </a:rPr>
              <a:t>LinkedIn: https://www.linkedin.com/in/reinaldy-zulfananda-arkaan-30567a179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2952</Words>
  <Application>Microsoft Office PowerPoint</Application>
  <PresentationFormat>Widescreen</PresentationFormat>
  <Paragraphs>695</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Reinaldy Zulfananda Arkaan</cp:lastModifiedBy>
  <cp:revision>5</cp:revision>
  <dcterms:created xsi:type="dcterms:W3CDTF">2026-08-04T04:43:44Z</dcterms:created>
  <dcterms:modified xsi:type="dcterms:W3CDTF">2026-08-06T18:20:34Z</dcterms:modified>
</cp:coreProperties>
</file>
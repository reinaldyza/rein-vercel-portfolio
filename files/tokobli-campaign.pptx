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3C7E"/>
    <a:srgbClr val="FDECEC"/>
    <a:srgbClr val="F9616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6" d="100"/>
          <a:sy n="96" d="100"/>
        </p:scale>
        <p:origin x="36" y="-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3283F"/>
                </a:solidFill>
                <a:latin typeface="Cambria"/>
              </a:defRPr>
            </a:pPr>
            <a:r>
              <a:rPr lang="en-US" sz="1300" b="0" i="0" u="none" strike="noStrike">
                <a:solidFill>
                  <a:srgbClr val="23283F"/>
                </a:solidFill>
                <a:latin typeface="Cambria"/>
              </a:rPr>
              <a:t>Total Revenue by Campaign (Rp Billion)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(Rp Billion)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C7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10/10</c:v>
                </c:pt>
                <c:pt idx="1">
                  <c:v>11/11</c:v>
                </c:pt>
                <c:pt idx="2">
                  <c:v>12/12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6.2240000000000002</c:v>
                </c:pt>
                <c:pt idx="1">
                  <c:v>6.8140000000000001</c:v>
                </c:pt>
                <c:pt idx="2">
                  <c:v>6.0140000000000002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07-44D8-A54C-3E54DEFC18A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.5"/>
        </c:scaling>
        <c:delete val="0"/>
        <c:axPos val="l"/>
        <c:majorGridlines>
          <c:spPr>
            <a:ln w="6350" cap="flat">
              <a:solidFill>
                <a:srgbClr val="EAEC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3283F"/>
                </a:solidFill>
                <a:latin typeface="Cambria"/>
              </a:defRPr>
            </a:pPr>
            <a:r>
              <a:rPr lang="en-US" sz="1300" b="0" i="0" u="none" strike="noStrike">
                <a:solidFill>
                  <a:srgbClr val="23283F"/>
                </a:solidFill>
                <a:latin typeface="Cambria"/>
              </a:rPr>
              <a:t>Revenue per Rp1 of Discount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Ratio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C7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10/10</c:v>
                </c:pt>
                <c:pt idx="1">
                  <c:v>11/11</c:v>
                </c:pt>
                <c:pt idx="2">
                  <c:v>12/12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54.39</c:v>
                </c:pt>
                <c:pt idx="2">
                  <c:v>54.9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97-46F6-8079-164A7A7DB5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AEC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23283F"/>
                </a:solidFill>
                <a:latin typeface="Cambria"/>
              </a:defRPr>
            </a:pPr>
            <a:r>
              <a:rPr lang="en-US" sz="1250" b="0" i="0" u="none" strike="noStrike">
                <a:solidFill>
                  <a:srgbClr val="23283F"/>
                </a:solidFill>
                <a:latin typeface="Cambria"/>
              </a:rPr>
              <a:t>Top 6 Categories by Revenue (Rp Billion)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(Rp Billion)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F3C7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Men's Fashion</c:v>
                </c:pt>
                <c:pt idx="1">
                  <c:v>Beauty &amp; Grooming</c:v>
                </c:pt>
                <c:pt idx="2">
                  <c:v>Health &amp; Sports</c:v>
                </c:pt>
                <c:pt idx="3">
                  <c:v>Superstore</c:v>
                </c:pt>
                <c:pt idx="4">
                  <c:v>Women's Fashion</c:v>
                </c:pt>
                <c:pt idx="5">
                  <c:v>Home &amp; Living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5.92</c:v>
                </c:pt>
                <c:pt idx="1">
                  <c:v>2.3199999999999998</c:v>
                </c:pt>
                <c:pt idx="2">
                  <c:v>1.85</c:v>
                </c:pt>
                <c:pt idx="3">
                  <c:v>1.75</c:v>
                </c:pt>
                <c:pt idx="4">
                  <c:v>1.69</c:v>
                </c:pt>
                <c:pt idx="5">
                  <c:v>1.38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39-42AE-9949-D00BA3FB4F2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AEC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7482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204A8-0B45-A4FF-547F-4100233F9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6329D6-3472-8733-F3A4-250ED6BB6C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8BE0B3-5E6A-0266-6CF6-D03BCC21F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DDED6-CE1A-9911-FFCB-A8F4D00F09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955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10·10   11·11   12·12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TokoBli Campaign Evaluation</a:t>
            </a:r>
            <a:endParaRPr lang="en-US" sz="44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Product Page 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06908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Reinaldy  Zulfananda Arkaan ·  17 July 2026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[W2 JUN26 UBP] Reinaldy Zulfananda Arkaan Intermediate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Linkedin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https://www.linkedin.com/in/reinaldy-zulfananda-arkaan-30567a179/</a:t>
            </a:r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&amp; Spreadsheet — Intermediate Assignment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Overview &amp; Disclaimer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TokoBli Campaign Evaluation  ·  RevoU FSDA  ·  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F5F6F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TokoBli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Indonesia’s largest e-commerce platforms, selling across a wide range of product categories. It runs major sales on the "twin dates" (10/10, 11/11, 12/12) with heavy discounts and free shipping, when transaction volume can climb to roughly 10x a normal day.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goal: sharpen the campaign strategy, grow transactions, and get the most revenue out of a discount budget that stays efficient.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18872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371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goal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178308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three previous campaign scenarios and turn the results into clear recommendations.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a new product detail page design leads to higher-value transactions than the current one.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DECE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32511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4,217 transactions (10 Oct – 12 Dec 2023), 14 columns: Transaction/Product/Customer ID, Status, Created At, Campaign, SKU, Price, QTY, Discount, Shipping Cost, Total Revenue, Category, Payment Method.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TokoBli Campaign Evaluation  ·  RevoU FSDA  ·  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234440" y="146304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6F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514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Understanding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all 4,217 rows and check for missing values, duplicates, and wrong data types.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20440" y="146304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834640" y="237744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6FA"/>
          </a:solidFill>
          <a:ln/>
        </p:spPr>
      </p:sp>
      <p:sp>
        <p:nvSpPr>
          <p:cNvPr id="13" name="Text 11"/>
          <p:cNvSpPr/>
          <p:nvPr/>
        </p:nvSpPr>
        <p:spPr>
          <a:xfrm>
            <a:off x="2971800" y="2514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71800" y="31546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columns over 50% empty, remove rows with missing values and duplicates, and fix data types.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06440" y="146304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58064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120640" y="237744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5257800" y="2514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Analytics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57800" y="31546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revenue outliers with the IQR method, then compute 12 summary statistics for QTY, Discount, and Revenue.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92440" y="146304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1" name="Text 19"/>
          <p:cNvSpPr/>
          <p:nvPr/>
        </p:nvSpPr>
        <p:spPr>
          <a:xfrm>
            <a:off x="80924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406640" y="237744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6FA"/>
          </a:solidFill>
          <a:ln/>
        </p:spPr>
      </p:sp>
      <p:sp>
        <p:nvSpPr>
          <p:cNvPr id="23" name="Text 21"/>
          <p:cNvSpPr/>
          <p:nvPr/>
        </p:nvSpPr>
        <p:spPr>
          <a:xfrm>
            <a:off x="7543800" y="2514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43800" y="31546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main metrics across campaigns and categories using SUMIFS, pivot tables, and charts.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378440" y="146304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6" name="Text 24"/>
          <p:cNvSpPr/>
          <p:nvPr/>
        </p:nvSpPr>
        <p:spPr>
          <a:xfrm>
            <a:off x="103784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9692640" y="237744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6FA"/>
          </a:solidFill>
          <a:ln/>
        </p:spPr>
      </p:sp>
      <p:sp>
        <p:nvSpPr>
          <p:cNvPr id="28" name="Text 26"/>
          <p:cNvSpPr/>
          <p:nvPr/>
        </p:nvSpPr>
        <p:spPr>
          <a:xfrm>
            <a:off x="9829800" y="2514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Testing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829800" y="31546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two-sample t-test on transaction value: the old product page vs the new one.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 </a:t>
            </a:r>
            <a:r>
              <a:rPr lang="en-US" sz="12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Sheets: QUARTILE, COUNTIF(S), SUMIFS, AVERAGE/MEDIAN/MODE, VAR, STDEV, SKEW, T.TEST, plus pivot tables and charts.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· BUSINESS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TokoBli Campaign Evaluation  ·  RevoU FSDA  ·  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3880" y="1256407"/>
            <a:ext cx="11064240" cy="1296451"/>
          </a:xfrm>
          <a:prstGeom prst="roundRect">
            <a:avLst>
              <a:gd name="adj" fmla="val 5161"/>
            </a:avLst>
          </a:prstGeom>
          <a:solidFill>
            <a:srgbClr val="2F3C7E"/>
          </a:solidFill>
          <a:ln/>
        </p:spPr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</a:rPr>
              <a:t>Problem Statement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How can </a:t>
            </a:r>
            <a:r>
              <a:rPr lang="en-US" sz="2000" dirty="0" err="1">
                <a:solidFill>
                  <a:schemeClr val="bg1"/>
                </a:solidFill>
              </a:rPr>
              <a:t>TokoBli</a:t>
            </a:r>
            <a:r>
              <a:rPr lang="en-US" sz="2000" dirty="0">
                <a:solidFill>
                  <a:schemeClr val="bg1"/>
                </a:solidFill>
              </a:rPr>
              <a:t> maximize campaign revenue while maintaining efficient discount spending?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16129" y="1569194"/>
            <a:ext cx="8359403" cy="690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F8889556-9AC1-7B7A-CDE4-CDFC8BE3DD5D}"/>
              </a:ext>
            </a:extLst>
          </p:cNvPr>
          <p:cNvSpPr/>
          <p:nvPr/>
        </p:nvSpPr>
        <p:spPr>
          <a:xfrm>
            <a:off x="548640" y="3095297"/>
            <a:ext cx="11064240" cy="1644870"/>
          </a:xfrm>
          <a:prstGeom prst="roundRect">
            <a:avLst>
              <a:gd name="adj" fmla="val 5161"/>
            </a:avLst>
          </a:prstGeom>
          <a:solidFill>
            <a:srgbClr val="FDECEC"/>
          </a:solidFill>
          <a:ln/>
        </p:spPr>
        <p:txBody>
          <a:bodyPr/>
          <a:lstStyle/>
          <a:p>
            <a:r>
              <a:rPr lang="en-US" sz="2400" b="1" dirty="0"/>
              <a:t>Objective</a:t>
            </a:r>
          </a:p>
          <a:p>
            <a:endParaRPr lang="en-US" sz="2400" b="1" dirty="0"/>
          </a:p>
          <a:p>
            <a:r>
              <a:rPr lang="en-US" sz="2000"/>
              <a:t>Identify the best-performing campaign by analyzing transactions, customers, revenue, quantity sold, and discount efficiency, then provide data-driven recommendations.</a:t>
            </a:r>
            <a:endParaRPr 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· DATA CLEANING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Cleaning: 4,217 → 4,209 Rows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TokoBli Campaign Evaluation  ·  RevoU FSDA  ·  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7315200" cy="804672"/>
          </a:xfrm>
          <a:prstGeom prst="roundRect">
            <a:avLst>
              <a:gd name="adj" fmla="val 6818"/>
            </a:avLst>
          </a:prstGeom>
          <a:solidFill>
            <a:srgbClr val="FFF7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0759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the ‘Status’ column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11880" y="130759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 empty (4,195/4,217), well past the 50% threshold, so the column goes.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720840" y="1307592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column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167128"/>
            <a:ext cx="7315200" cy="804672"/>
          </a:xfrm>
          <a:prstGeom prst="roundRect">
            <a:avLst>
              <a:gd name="adj" fmla="val 6818"/>
            </a:avLst>
          </a:prstGeom>
          <a:solidFill>
            <a:srgbClr val="F5F6F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2402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rows with missing values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11880" y="22402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rows had no Price/QTY/Discount (under 0.1%). We removed them rather than impute.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720840" y="224028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 rows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99816"/>
            <a:ext cx="7315200" cy="804672"/>
          </a:xfrm>
          <a:prstGeom prst="roundRect">
            <a:avLst>
              <a:gd name="adj" fmla="val 6818"/>
            </a:avLst>
          </a:prstGeom>
          <a:solidFill>
            <a:srgbClr val="FFF7F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17296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duplicates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11880" y="317296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Data cleanup → Remove duplicates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20840" y="3172968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 rows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032504"/>
            <a:ext cx="7315200" cy="804672"/>
          </a:xfrm>
          <a:prstGeom prst="roundRect">
            <a:avLst>
              <a:gd name="adj" fmla="val 6818"/>
            </a:avLst>
          </a:prstGeom>
          <a:solidFill>
            <a:srgbClr val="F5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0565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data types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11880" y="410565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At → Date; Price, QTY, Discount, Revenue → Number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20840" y="4105656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→ 13 valid columns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83880" y="123444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21040" y="1344168"/>
            <a:ext cx="31546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4,217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321040" y="1897380"/>
            <a:ext cx="31546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before cleaning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83880" y="251460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21040" y="2624328"/>
            <a:ext cx="31546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4,209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321040" y="3177540"/>
            <a:ext cx="31546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after cleaning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83880" y="379476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321040" y="3904488"/>
            <a:ext cx="31546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8321040" y="4457700"/>
            <a:ext cx="31546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&amp; duplicates left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· DESCRIPTIVE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Removal: IQR Method on Total Revenue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TokoBli Campaign Evaluation  ·  RevoU FSDA  ·  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F5F6FA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38988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66420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Rp2.28M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8368" y="221284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=QUARTILE(K2:K4210,1)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34640" y="128016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F5F6FA"/>
          </a:solidFill>
          <a:ln/>
        </p:spPr>
      </p:sp>
      <p:sp>
        <p:nvSpPr>
          <p:cNvPr id="10" name="Text 8"/>
          <p:cNvSpPr/>
          <p:nvPr/>
        </p:nvSpPr>
        <p:spPr>
          <a:xfrm>
            <a:off x="2944368" y="138988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44368" y="166420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Rp6.95M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944368" y="221284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=QUARTILE(K2:K4210,3)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120640" y="128016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F5F6FA"/>
          </a:solidFill>
          <a:ln/>
        </p:spPr>
      </p:sp>
      <p:sp>
        <p:nvSpPr>
          <p:cNvPr id="14" name="Text 12"/>
          <p:cNvSpPr/>
          <p:nvPr/>
        </p:nvSpPr>
        <p:spPr>
          <a:xfrm>
            <a:off x="5230368" y="138988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30368" y="166420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Rp4.67M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230368" y="221284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=Q3−Q1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06640" y="128016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F5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7516368" y="138988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Bound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16368" y="166420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−Rp4.73M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516368" y="221284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=Q1−1.5×IQR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692640" y="128016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F5F6FA"/>
          </a:solidFill>
          <a:ln/>
        </p:spPr>
      </p:sp>
      <p:sp>
        <p:nvSpPr>
          <p:cNvPr id="22" name="Text 20"/>
          <p:cNvSpPr/>
          <p:nvPr/>
        </p:nvSpPr>
        <p:spPr>
          <a:xfrm>
            <a:off x="9802368" y="138988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Bound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802368" y="166420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Rp13.96M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802368" y="221284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=Q3+1.5×IQR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0632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5800" y="3172968"/>
            <a:ext cx="32918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85800" y="3858768"/>
            <a:ext cx="3291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removed, all above the upper bound (max Rp83.6M)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97680" y="30632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434840" y="3172968"/>
            <a:ext cx="32918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4434840" y="3858768"/>
            <a:ext cx="3291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below the lower bound (no negative revenue)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46720" y="30632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183880" y="3172968"/>
            <a:ext cx="32918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4,197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8183880" y="3858768"/>
            <a:ext cx="3291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rows used for all analysis that follows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2F3C7E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4919472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IQR?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is right-skewed, so the quartile approach holds up better than a z-score. Outliers were flagged with =IF(OR(K2&lt;LowerBound, K2&gt;UpperBound),"Outlier","OK") and then filtered out. Following the brief, we applied this to the whole dataset at once rather than per campaign. After removal, revenue skewness dropped to 0.39, close to symmetric.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· DESCRIPTIVE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Statistics (n = 4,197)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TokoBli Campaign Evaluation  ·  RevoU FSDA  ·  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949440" cy="422452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(Rp)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 (Rp)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– Max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900,000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45,000 – 13,940,000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82,916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4,539,365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13,895,000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/ Q3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2,280,000 / 6,900,000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3.57 × 10¹⁰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6.98 × 10¹²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188,969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2,642,368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49540" y="1942311"/>
            <a:ext cx="3886200" cy="2973377"/>
          </a:xfrm>
          <a:prstGeom prst="roundRect">
            <a:avLst>
              <a:gd name="adj" fmla="val 1882"/>
            </a:avLst>
          </a:prstGeom>
          <a:solidFill>
            <a:srgbClr val="F5F6FA"/>
          </a:solidFill>
          <a:ln/>
        </p:spPr>
      </p:sp>
      <p:sp>
        <p:nvSpPr>
          <p:cNvPr id="7" name="Text 4"/>
          <p:cNvSpPr/>
          <p:nvPr/>
        </p:nvSpPr>
        <p:spPr>
          <a:xfrm>
            <a:off x="8001000" y="20994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it</a:t>
            </a:r>
            <a:endParaRPr lang="en-US" sz="1600" dirty="0"/>
          </a:p>
        </p:txBody>
      </p:sp>
      <p:sp>
        <p:nvSpPr>
          <p:cNvPr id="5" name="Text 5"/>
          <p:cNvSpPr/>
          <p:nvPr/>
        </p:nvSpPr>
        <p:spPr>
          <a:xfrm>
            <a:off x="8088761" y="2576664"/>
            <a:ext cx="3383280" cy="230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is heavily skewed (16.9). Both median and mode are 1, so a typical order is just one item.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and mode Discount are 0, meaning most transactions happen with no discount at all.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outliers were removed, revenue is nearly symmetric (skew 0.39), so the mean of Rp4.54M is a fair stand-in for a typical transaction.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std dev is Rp2.64M, a fairly wide spread driven by price differences between categories.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·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3 Business Insights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TokoBli Campaign Evaluation  ·  RevoU FSDA  · 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= 1 item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and mode QTY are both 1 (mean 1.25). Customers almost never buy more than one product per transaction, which leaves plenty of room for bundling, cross-sell, and minimum-spend offers to grow the basket.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5112" y="141732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53712" y="169164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53712" y="25146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Discounts aren’t the main driver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53712" y="324612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half of all transactions happen with no discount (median and mode = 0). The average subsidy is only about Rp83K against Rp4.54M in revenue (roughly 1.8%), so the discount budget can be used more selectively without hurting sales.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1584" y="141732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330184" y="1691640"/>
            <a:ext cx="640080" cy="64008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7" name="Text 15"/>
          <p:cNvSpPr/>
          <p:nvPr/>
        </p:nvSpPr>
        <p:spPr>
          <a:xfrm>
            <a:off x="8330184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30184" y="25146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healthy and steady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30184" y="324612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12 outliers gone, revenue is close to symmetric (skew 0.39) and a typical transaction lands around Rp4.2–4.5M, a reliable baseline for setting next campaign’s targets.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· EDA — QUESTION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the Main Metrics Across Campaigns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TokoBli Campaign Evaluation  ·  RevoU FSDA  ·  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5852160" cy="265480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11/11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12/12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Transactions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Customers (unique)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 Sold (QTY)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Rp6.22B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Rp6.81B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Rp6.01B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Discount Budget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Rp113.2M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Rp125.3M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Rp109.5M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6675120" y="1188720"/>
          <a:ext cx="49377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434840"/>
            <a:ext cx="11064240" cy="1645920"/>
          </a:xfrm>
          <a:prstGeom prst="roundRect">
            <a:avLst>
              <a:gd name="adj" fmla="val 4444"/>
            </a:avLst>
          </a:prstGeom>
          <a:solidFill>
            <a:srgbClr val="F5F6FA"/>
          </a:solidFill>
          <a:ln/>
        </p:spPr>
      </p:sp>
      <p:sp>
        <p:nvSpPr>
          <p:cNvPr id="8" name="Text 4"/>
          <p:cNvSpPr/>
          <p:nvPr/>
        </p:nvSpPr>
        <p:spPr>
          <a:xfrm>
            <a:off x="82296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" y="489204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is almost identical. Transactions differ by just 2 across campaigns (1,398 to 1,400), so reach was basically the same.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11/11 wins on value: the highest revenue at Rp6.81B (+9.5% vs 10/10, +13.3% vs 12/12), even with the fewest customers. People spent more per transaction, not more often.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 sold the most units (1,833) but earned the least revenue, so what sold there was cheaper on average.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· EDA — QUESTION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Returned per Rp1 of Discount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TokoBli Campaign Evaluation  ·  RevoU FSDA  ·  10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234440"/>
          <a:ext cx="56692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52628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it’s calculated:  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= Total Revenue ÷ Total Discount per campaign (SUMIFS). For 10/10: 6,224,149,500 ÷ 113,175,500 = 55.00.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583680" y="137160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720840" y="1481328"/>
            <a:ext cx="47548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≈Rp54–55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720840" y="2087575"/>
            <a:ext cx="475488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Rp1 of discount, almost identical across all three campaigns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583680" y="2834640"/>
            <a:ext cx="5029200" cy="3108960"/>
          </a:xfrm>
          <a:prstGeom prst="roundRect">
            <a:avLst>
              <a:gd name="adj" fmla="val 2353"/>
            </a:avLst>
          </a:prstGeom>
          <a:solidFill>
            <a:srgbClr val="F5F6FA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0" y="2999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58000" y="333756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efficiency is flat: 55.00 vs 54.39 vs 54.90, a gap of only about 1%.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more on discounts didn’t buy more efficiency. 11/11 spent the biggest budget (Rp125.3M) and earned the most revenue, but its ratio stayed the same.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revenue grows in proportion to the subsidy. Budget size sets the size of the result, not how efficient it is.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· EDA — QUESTION 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Standout Category: Men’s Fashion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TokoBli Campaign Evaluation  ·  RevoU FSDA  · 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89888"/>
            <a:ext cx="23774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1,029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2075688"/>
            <a:ext cx="2377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transactions, #1 of 15 categories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64992" y="12801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02152" y="1389888"/>
            <a:ext cx="23774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02152" y="2075688"/>
            <a:ext cx="2377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customers, #1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81344" y="12801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18504" y="1389888"/>
            <a:ext cx="23774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1,083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18504" y="2075688"/>
            <a:ext cx="2377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sold, #1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97696" y="12801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34856" y="1389888"/>
            <a:ext cx="23774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Rp5.92B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34856" y="2075688"/>
            <a:ext cx="2377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(31% of the total), #1</a:t>
            </a:r>
            <a:endParaRPr lang="en-US" sz="11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48640" y="2926080"/>
          <a:ext cx="61264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6949440" y="2926080"/>
            <a:ext cx="4663440" cy="3108960"/>
          </a:xfrm>
          <a:prstGeom prst="roundRect">
            <a:avLst>
              <a:gd name="adj" fmla="val 2353"/>
            </a:avLst>
          </a:prstGeom>
          <a:solidFill>
            <a:srgbClr val="2F3C7E"/>
          </a:solidFill>
          <a:ln/>
        </p:spPr>
      </p:sp>
      <p:sp>
        <p:nvSpPr>
          <p:cNvPr id="19" name="Text 16"/>
          <p:cNvSpPr/>
          <p:nvPr/>
        </p:nvSpPr>
        <p:spPr>
          <a:xfrm>
            <a:off x="7223760" y="31089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Leads every metric on a small subsidy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223760" y="379476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discount spend was just Rp41.1M, well below Beauty &amp; Grooming (Rp53.2M) and Superstore (Rp57.6M), whose revenue was less than half as much.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Revenue-to-discount ratio of 144, nearly 3x the platform average of about 55.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short, Men’s Fashion fits the brief exactly: the highest transactions, customers, units, and revenue on a relatively low discount budget.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· EDA — QUESTION C (CONTINUED)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Leaders by Campaign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TokoBli Campaign Evaluation  ·  RevoU FSDA  ·  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2267712"/>
        </p:xfrm>
        <a:graphic>
          <a:graphicData uri="http://schemas.openxmlformats.org/drawingml/2006/table">
            <a:tbl>
              <a:tblPr/>
              <a:tblGrid>
                <a:gridCol w="221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Transactions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Customers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Units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Revenue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Beauty &amp; Grooming (266)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Men's Fashion (208)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Beauty &amp; Grooming (347)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Men’s Fashion (Rp1.37B)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11/11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Men's Fashion (553)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Men's Fashion (457)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Men's Fashion (582)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Men’s Fashion (Rp3.37B)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12/12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&amp; Sports (252)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Men's Fashion (182)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32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&amp; Sports (380)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Men’s Fashion (Rp1.18B)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97764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F5F6FA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4498848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Men’s Fashion topped revenue in all three campaigns, and on 11/11 it swept every metric (553 transactions, 457 customers, 582 units, Rp3.37B, roughly half of that campaign’s revenue).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&amp; Grooming drew a lot of transactions on 10/10 and Health &amp; Sports on 12/12, but their transaction values were small. Busy doesn’t always mean valuable.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jump for Men’s Fashion on 11/11 (2 to 2.8x the other campaigns) points to a strong fit between the 11/11 scenario and this category, a pattern worth repeating.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· EDA — QUESTION 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 with the Highest Revenue/Discount Ratio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TokoBli Campaign Evaluation  ·  RevoU FSDA  · 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5F6F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087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 &amp; Education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384.9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Rp80.4M revenue against just Rp209K discount. A niche category with almost no subsidy.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5112" y="132588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15087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53712" y="18745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Men's Fashion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53712" y="25603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171.5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53712" y="32461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F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Rp3.37B revenue against Rp19.6M discount. Efficient even at large scale.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01584" y="132588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5F6FA"/>
          </a:solidFill>
          <a:ln/>
        </p:spPr>
      </p:sp>
      <p:sp>
        <p:nvSpPr>
          <p:cNvPr id="16" name="Text 14"/>
          <p:cNvSpPr/>
          <p:nvPr/>
        </p:nvSpPr>
        <p:spPr>
          <a:xfrm>
            <a:off x="8330184" y="15087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30184" y="18745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30184" y="25603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107.9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330184" y="32461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tied with Men’s Fashion (107.87). Both run about 2x the average.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DECE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828032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note &amp; takeaway:  </a:t>
            </a:r>
            <a:r>
              <a:rPr lang="en-US" sz="11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 is computed per campaign × category as SUMIFS revenue ÷ SUMIFS discount; categories with zero discount (like Books on 10/10) are left out because the ratio is undefined. School &amp; Education and Books look strong mainly because their subsidy is near zero, but they are small in scale. The one category that is efficient, large, and consistent (top-2 in every campaign) is Men’s Fashion.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· EDA —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Conclusions &amp; Business 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TokoBli Campaign Evaluation  ·  RevoU FSDA  · 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11/11 is the best template  ·  Men’s Fashion is the growth engine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892808"/>
            <a:ext cx="502920" cy="50292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17320" y="189280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Replicate the 11/11 scenario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traffic as the other campaigns but the highest revenue (Rp6.81B). Use its mix of discounts and offers as the model for the next twin-date.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419088" y="1892808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6419088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086600" y="189280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Men’s Fashion first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92240" y="2514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the main banner slot, deeper stock, and its own flash sales. It converts on a minimal subsidy (ratio 144 vs the 55 average).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041648"/>
            <a:ext cx="502920" cy="50292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041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04164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Reallocate the discount budget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22960" y="4663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subsidy away from low-ratio categories (Appliances 27, Superstore 30) toward high-ratio ones. Same total budget, more revenue.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84048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419088" y="4041648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6419088" y="4041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086600" y="404164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the basket size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92240" y="4663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order is 1 item. Use bundles, conditional free-shipping tiers, and product recommendations to push QTY above 1.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estimate: moving Rp30M of subsidy from a ratio of about 30 to about 140 could add roughly Rp3B in revenue per campaign.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· HYPOTHESIS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A/B Test: Old Product Page vs New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TokoBli Campaign Evaluation  ·  RevoU FSDA  · 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5F6FA"/>
          </a:solidFill>
          <a:ln/>
        </p:spPr>
      </p:sp>
      <p:sp>
        <p:nvSpPr>
          <p:cNvPr id="6" name="Text 4"/>
          <p:cNvSpPr/>
          <p:nvPr/>
        </p:nvSpPr>
        <p:spPr>
          <a:xfrm>
            <a:off x="707345" y="1353312"/>
            <a:ext cx="515112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Hypothesis for Old Product Page vs New Product Page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71907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7345" y="1792224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latin typeface="Cambria" panose="02040503050406030204" pitchFamily="18" charset="0"/>
                <a:ea typeface="Cambria" panose="02040503050406030204" pitchFamily="18" charset="0"/>
              </a:rPr>
              <a:t>H₀: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μA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US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μB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There is no significant difference in average transaction value between Group A and Group B.</a:t>
            </a:r>
          </a:p>
          <a:p>
            <a:r>
              <a:rPr lang="en-US" sz="1200" b="1" dirty="0">
                <a:latin typeface="Cambria" panose="02040503050406030204" pitchFamily="18" charset="0"/>
                <a:ea typeface="Cambria" panose="02040503050406030204" pitchFamily="18" charset="0"/>
              </a:rPr>
              <a:t>H₁: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μA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 ≠ </a:t>
            </a:r>
            <a:r>
              <a:rPr lang="en-US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μB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There is a significant difference in average transaction value between Group A and Group B.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3533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 and its assumptions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73736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Reject H₀</a:t>
            </a:r>
            <a:endParaRPr lang="en-US" sz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Since </a:t>
            </a:r>
            <a:r>
              <a:rPr lang="en-US" sz="1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p-value (2.97 × 10⁻¹⁵) &lt; 0.05</a:t>
            </a:r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there is a statistically significant difference between Group A and Group B. The new product page (</a:t>
            </a:r>
            <a:r>
              <a:rPr lang="en-US" sz="1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Group B</a:t>
            </a:r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generated a higher average transaction value than the current product page (</a:t>
            </a:r>
            <a:r>
              <a:rPr lang="en-US" sz="1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Group A</a:t>
            </a:r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).</a:t>
            </a:r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394960" cy="2632316"/>
          </a:xfrm>
          <a:prstGeom prst="roundRect">
            <a:avLst>
              <a:gd name="adj" fmla="val 5926"/>
            </a:avLst>
          </a:prstGeom>
          <a:solidFill>
            <a:srgbClr val="FFF9E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150798"/>
            <a:ext cx="49314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Business Recommendation :</a:t>
            </a:r>
            <a:endParaRPr lang="en-US" sz="1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Implement the new product page (Group B) as the default version because it significantly increases the average transaction value. Continue monitoring post-launch performance through additional A/B testing to ensure consistent business impact.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5642D6B9-B3BF-7F6E-BD4A-61B040485A3C}"/>
              </a:ext>
            </a:extLst>
          </p:cNvPr>
          <p:cNvSpPr/>
          <p:nvPr/>
        </p:nvSpPr>
        <p:spPr>
          <a:xfrm>
            <a:off x="6217920" y="3750196"/>
            <a:ext cx="5394960" cy="2632316"/>
          </a:xfrm>
          <a:prstGeom prst="roundRect">
            <a:avLst>
              <a:gd name="adj" fmla="val 5926"/>
            </a:avLst>
          </a:prstGeom>
          <a:solidFill>
            <a:srgbClr val="FFF9E6"/>
          </a:solidFill>
          <a:ln/>
        </p:spPr>
        <p:txBody>
          <a:bodyPr/>
          <a:lstStyle/>
          <a:p>
            <a:endParaRPr lang="en-US" dirty="0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CA2DC0D-A585-3A65-63B7-FDAB8BBCF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289129"/>
              </p:ext>
            </p:extLst>
          </p:nvPr>
        </p:nvGraphicFramePr>
        <p:xfrm>
          <a:off x="6446904" y="4150797"/>
          <a:ext cx="4332111" cy="21363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4037">
                  <a:extLst>
                    <a:ext uri="{9D8B030D-6E8A-4147-A177-3AD203B41FA5}">
                      <a16:colId xmlns:a16="http://schemas.microsoft.com/office/drawing/2014/main" val="549011012"/>
                    </a:ext>
                  </a:extLst>
                </a:gridCol>
                <a:gridCol w="1444037">
                  <a:extLst>
                    <a:ext uri="{9D8B030D-6E8A-4147-A177-3AD203B41FA5}">
                      <a16:colId xmlns:a16="http://schemas.microsoft.com/office/drawing/2014/main" val="422065657"/>
                    </a:ext>
                  </a:extLst>
                </a:gridCol>
                <a:gridCol w="1444037">
                  <a:extLst>
                    <a:ext uri="{9D8B030D-6E8A-4147-A177-3AD203B41FA5}">
                      <a16:colId xmlns:a16="http://schemas.microsoft.com/office/drawing/2014/main" val="429703329"/>
                    </a:ext>
                  </a:extLst>
                </a:gridCol>
              </a:tblGrid>
              <a:tr h="1574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Metric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Group 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Group B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576219"/>
                  </a:ext>
                </a:extLst>
              </a:tr>
              <a:tr h="4532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Mean Transaction Value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Rp745,890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Rp830,460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9103736"/>
                  </a:ext>
                </a:extLst>
              </a:tr>
              <a:tr h="3021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Standard Deviation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Rp149,864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Rp181,903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7021876"/>
                  </a:ext>
                </a:extLst>
              </a:tr>
              <a:tr h="6042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Statistical Test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Welch Two-Sample T-Test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608622"/>
                  </a:ext>
                </a:extLst>
              </a:tr>
              <a:tr h="3021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p-value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2.97 × 10⁻¹⁵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006123"/>
                  </a:ext>
                </a:extLst>
              </a:tr>
              <a:tr h="3021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Significance Level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α = 0.05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515622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37767A42-705E-0465-CDD1-4BE2B265BDBA}"/>
              </a:ext>
            </a:extLst>
          </p:cNvPr>
          <p:cNvSpPr txBox="1"/>
          <p:nvPr/>
        </p:nvSpPr>
        <p:spPr>
          <a:xfrm>
            <a:off x="6347973" y="3675426"/>
            <a:ext cx="6095358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Test Summary:</a:t>
            </a:r>
            <a:endParaRPr lang="en-US" sz="1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· HYPOTHESIS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Results &amp; Recommendation (OBIPR Framework)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TokoBli Campaign Evaluation  ·  RevoU FSDA  ·  16</a:t>
            </a:r>
            <a:endParaRPr lang="en-US" sz="900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F94227D1-54AE-8BEE-DB85-9BFF9C913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604310"/>
              </p:ext>
            </p:extLst>
          </p:nvPr>
        </p:nvGraphicFramePr>
        <p:xfrm>
          <a:off x="548640" y="1252728"/>
          <a:ext cx="11128352" cy="3928872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447545">
                  <a:extLst>
                    <a:ext uri="{9D8B030D-6E8A-4147-A177-3AD203B41FA5}">
                      <a16:colId xmlns:a16="http://schemas.microsoft.com/office/drawing/2014/main" val="2077126580"/>
                    </a:ext>
                  </a:extLst>
                </a:gridCol>
                <a:gridCol w="2109487">
                  <a:extLst>
                    <a:ext uri="{9D8B030D-6E8A-4147-A177-3AD203B41FA5}">
                      <a16:colId xmlns:a16="http://schemas.microsoft.com/office/drawing/2014/main" val="1515184621"/>
                    </a:ext>
                  </a:extLst>
                </a:gridCol>
                <a:gridCol w="2217665">
                  <a:extLst>
                    <a:ext uri="{9D8B030D-6E8A-4147-A177-3AD203B41FA5}">
                      <a16:colId xmlns:a16="http://schemas.microsoft.com/office/drawing/2014/main" val="544806411"/>
                    </a:ext>
                  </a:extLst>
                </a:gridCol>
                <a:gridCol w="2244710">
                  <a:extLst>
                    <a:ext uri="{9D8B030D-6E8A-4147-A177-3AD203B41FA5}">
                      <a16:colId xmlns:a16="http://schemas.microsoft.com/office/drawing/2014/main" val="3509812632"/>
                    </a:ext>
                  </a:extLst>
                </a:gridCol>
                <a:gridCol w="2108945">
                  <a:extLst>
                    <a:ext uri="{9D8B030D-6E8A-4147-A177-3AD203B41FA5}">
                      <a16:colId xmlns:a16="http://schemas.microsoft.com/office/drawing/2014/main" val="3472082798"/>
                    </a:ext>
                  </a:extLst>
                </a:gridCol>
              </a:tblGrid>
              <a:tr h="5097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Bookman Old Style" charset="0"/>
                        </a:rPr>
                        <a:t>Observation</a:t>
                      </a: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Bookman Old Style" charset="0"/>
                        </a:rPr>
                        <a:t>Business Impact</a:t>
                      </a: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Bookman Old Style" charset="0"/>
                        </a:rPr>
                        <a:t>Isolation</a:t>
                      </a: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Bookman Old Style" charset="0"/>
                        </a:rPr>
                        <a:t>Prioritization</a:t>
                      </a: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Bookman Old Style" charset="0"/>
                        </a:rPr>
                        <a:t>Recommendation</a:t>
                      </a: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887506"/>
                  </a:ext>
                </a:extLst>
              </a:tr>
              <a:tr h="10195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Replicate the 11/11 campaign strategy</a:t>
                      </a:r>
                      <a:endParaRPr lang="en-US" sz="1100" b="1" dirty="0">
                        <a:solidFill>
                          <a:srgbClr val="2B262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Arial" charset="0"/>
                      </a:endParaRP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11/11 generated the highest revenue (Rp6.81B) despite having a similar number of transactions as the other campaigns.</a:t>
                      </a:r>
                      <a:endParaRPr lang="en-US" sz="1100" dirty="0">
                        <a:solidFill>
                          <a:srgbClr val="45403A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Arial" charset="0"/>
                      </a:endParaRP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The campaign strategy, promotion mix, and pricing approach used during 11/11 delivered the highest average transaction value.</a:t>
                      </a:r>
                      <a:endParaRPr lang="en-US" sz="1100" dirty="0">
                        <a:solidFill>
                          <a:srgbClr val="45403A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Arial" charset="0"/>
                      </a:endParaRP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H1 : Highest Priority</a:t>
                      </a:r>
                      <a:r>
                        <a:rPr lang="en-US"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Replicating the most successful campaign can produce the fastest business impact.</a:t>
                      </a:r>
                      <a:endParaRPr lang="en-US" sz="1100" b="1" dirty="0">
                        <a:solidFill>
                          <a:srgbClr val="B03A2E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Arial" charset="0"/>
                      </a:endParaRP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1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Adopt the 11/11 campaign strategy as the benchmark for future twin-date campaigns while maintaining a similar discount efficiency.</a:t>
                      </a:r>
                      <a:endParaRPr lang="en-US" sz="1100" b="0" dirty="0">
                        <a:solidFill>
                          <a:srgbClr val="45403A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Arial" charset="0"/>
                      </a:endParaRP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863814"/>
                  </a:ext>
                </a:extLst>
              </a:tr>
              <a:tr h="10195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Optimize discount budget allocation</a:t>
                      </a:r>
                      <a:endParaRPr lang="en-US" sz="1100" b="1" dirty="0">
                        <a:solidFill>
                          <a:srgbClr val="2B262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Arial" charset="0"/>
                      </a:endParaRP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Several categories received relatively high discounts but generated lower revenue efficiency.</a:t>
                      </a:r>
                      <a:endParaRPr lang="en-US" sz="1100" dirty="0">
                        <a:solidFill>
                          <a:srgbClr val="45403A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Arial" charset="0"/>
                      </a:endParaRP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Low Revenue-to-Discount Ratio categories such as Superstore and Appliances reduced the overall return on the discount budget.</a:t>
                      </a:r>
                      <a:endParaRPr lang="en-US" sz="1100" dirty="0">
                        <a:solidFill>
                          <a:srgbClr val="45403A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Arial" charset="0"/>
                      </a:endParaRP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H2 : High Priority</a:t>
                      </a:r>
                      <a:r>
                        <a:rPr lang="en-US"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Budget optimization improves ROI without increasing marketing </a:t>
                      </a:r>
                      <a:r>
                        <a:rPr lang="en-US" sz="11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spendin</a:t>
                      </a:r>
                      <a:endParaRPr lang="en-US" sz="1100" b="1" dirty="0">
                        <a:solidFill>
                          <a:srgbClr val="B03A2E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Arial" charset="0"/>
                      </a:endParaRP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1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Reallocate discount budgets from low-efficiency categories to high-performing categories such as Men's Fashion to maximize revenue.</a:t>
                      </a:r>
                      <a:endParaRPr lang="en-US" sz="1100" b="0" dirty="0">
                        <a:solidFill>
                          <a:srgbClr val="45403A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Arial" charset="0"/>
                      </a:endParaRP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920898"/>
                  </a:ext>
                </a:extLst>
              </a:tr>
              <a:tr h="13801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Increase average basket size</a:t>
                      </a:r>
                      <a:endParaRPr lang="en-US" sz="1100" b="1" dirty="0">
                        <a:solidFill>
                          <a:srgbClr val="2B262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Arial" charset="0"/>
                      </a:endParaRP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The average customer purchased only </a:t>
                      </a:r>
                      <a:r>
                        <a:rPr lang="en-US" sz="11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1.25 items</a:t>
                      </a:r>
                      <a:r>
                        <a:rPr lang="en-US"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indicating limited cross-selling opportunities.</a:t>
                      </a:r>
                      <a:endParaRPr lang="en-US" sz="1100" dirty="0">
                        <a:solidFill>
                          <a:srgbClr val="45403A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Arial" charset="0"/>
                      </a:endParaRP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Most transactions contain only one product, limiting revenue growth per transaction.</a:t>
                      </a:r>
                      <a:endParaRPr lang="en-US" sz="1100" dirty="0">
                        <a:solidFill>
                          <a:srgbClr val="45403A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Arial" charset="0"/>
                      </a:endParaRP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H3 : Medium Priority.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Requires marketing and product initiatives but offers sustainable long-term growth.</a:t>
                      </a:r>
                      <a:endParaRPr lang="en-US" sz="1100" b="0" dirty="0">
                        <a:solidFill>
                          <a:srgbClr val="8A6D0B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Arial" charset="0"/>
                      </a:endParaRP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1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Introduce product bundles, cross-selling recommendations, and minimum-spend free shipping promotions to encourage customers to purchase more items per transaction.</a:t>
                      </a:r>
                      <a:endParaRPr lang="en-US" sz="1100" b="0" dirty="0">
                        <a:solidFill>
                          <a:srgbClr val="45403A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Arial" charset="0"/>
                      </a:endParaRP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483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Summary: Getting the Most Revenue from the Next Campaign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TokoBli Campaign Evaluation  ·  RevoU FSDA  ·  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Rp6.81B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11/11 revenue, the best scenario. Make it the template for the next campaign.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6459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144 : 1</a:t>
            </a:r>
            <a:endParaRPr lang="en-US" sz="3000" dirty="0">
              <a:solidFill>
                <a:srgbClr val="2F3C7E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492240" y="23774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Men’s Fashion revenue/discount ratio. Prioritize it and stock it deeper.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7490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≈55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flat platform ratio. Grow revenue by reallocating budget, not by spending more overall.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356616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37490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QTY = 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92240" y="44805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typical basket. Use bundles and free-shipping tiers to lift the value per order.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033B7-B383-9CD3-F58E-18AC7F9C8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04B868D-2E49-7CDB-831C-C98A3492EEE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5E2D218-7CB6-0112-0AC1-CAC684CE039F}"/>
              </a:ext>
            </a:extLst>
          </p:cNvPr>
          <p:cNvSpPr/>
          <p:nvPr/>
        </p:nvSpPr>
        <p:spPr>
          <a:xfrm>
            <a:off x="82296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&amp; Spreadsheet — Intermediate Assignment</a:t>
            </a:r>
            <a:endParaRPr lang="en-US" sz="1100" dirty="0"/>
          </a:p>
        </p:txBody>
      </p:sp>
      <p:sp>
        <p:nvSpPr>
          <p:cNvPr id="13" name="T168">
            <a:extLst>
              <a:ext uri="{FF2B5EF4-FFF2-40B4-BE49-F238E27FC236}">
                <a16:creationId xmlns:a16="http://schemas.microsoft.com/office/drawing/2014/main" id="{AA4C1B1F-B99A-9374-4570-A28B10BF9397}"/>
              </a:ext>
            </a:extLst>
          </p:cNvPr>
          <p:cNvSpPr/>
          <p:nvPr/>
        </p:nvSpPr>
        <p:spPr>
          <a:xfrm>
            <a:off x="457200" y="1874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i="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Bookman Old Style" pitchFamily="34" charset="0"/>
              </a:rPr>
              <a:t>Thank You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C1CB94-2C74-DE4E-CC5B-ECC129575222}"/>
              </a:ext>
            </a:extLst>
          </p:cNvPr>
          <p:cNvSpPr txBox="1"/>
          <p:nvPr/>
        </p:nvSpPr>
        <p:spPr>
          <a:xfrm>
            <a:off x="390196" y="2835532"/>
            <a:ext cx="71141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  <a:ea typeface="Arial" pitchFamily="34" charset="-122"/>
                <a:cs typeface="Times New Roman" panose="02020603050405020304" pitchFamily="18" charset="0"/>
              </a:rPr>
              <a:t>Reinaldy  Zulfananda Arkaan ·  17 July 2026</a:t>
            </a:r>
            <a:endParaRPr lang="en-US" dirty="0">
              <a:solidFill>
                <a:schemeClr val="bg1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Bookman Old Style" panose="02050604050505020204" pitchFamily="18" charset="0"/>
                <a:ea typeface="Arial" pitchFamily="34" charset="-122"/>
                <a:cs typeface="Times New Roman" panose="02020603050405020304" pitchFamily="18" charset="0"/>
              </a:rPr>
              <a:t>[W2 JUN26 UBP] </a:t>
            </a:r>
            <a:r>
              <a:rPr lang="en-US" dirty="0" err="1">
                <a:solidFill>
                  <a:schemeClr val="bg1"/>
                </a:solidFill>
                <a:latin typeface="Bookman Old Style" panose="02050604050505020204" pitchFamily="18" charset="0"/>
                <a:ea typeface="Arial" pitchFamily="34" charset="-122"/>
                <a:cs typeface="Times New Roman" panose="02020603050405020304" pitchFamily="18" charset="0"/>
              </a:rPr>
              <a:t>Reinaldy_Zulfananda_Arkaan_Intermediate</a:t>
            </a:r>
            <a:endParaRPr lang="en-US" dirty="0">
              <a:solidFill>
                <a:schemeClr val="bg1"/>
              </a:solidFill>
              <a:latin typeface="Bookman Old Style" panose="020506040505050202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r>
              <a:rPr lang="en-US" b="1" dirty="0" err="1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Linkedin</a:t>
            </a:r>
            <a:r>
              <a:rPr lang="en-US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: https://www.linkedin.com/in/reinaldy-zulfananda-arkaan-30567a179/</a:t>
            </a:r>
          </a:p>
        </p:txBody>
      </p:sp>
      <p:sp>
        <p:nvSpPr>
          <p:cNvPr id="17" name="S166">
            <a:extLst>
              <a:ext uri="{FF2B5EF4-FFF2-40B4-BE49-F238E27FC236}">
                <a16:creationId xmlns:a16="http://schemas.microsoft.com/office/drawing/2014/main" id="{6F614982-948F-F269-127B-484755CDB515}"/>
              </a:ext>
            </a:extLst>
          </p:cNvPr>
          <p:cNvSpPr/>
          <p:nvPr/>
        </p:nvSpPr>
        <p:spPr>
          <a:xfrm>
            <a:off x="457200" y="1600200"/>
            <a:ext cx="1005840" cy="36576"/>
          </a:xfrm>
          <a:prstGeom prst="rect">
            <a:avLst/>
          </a:prstGeom>
          <a:solidFill>
            <a:srgbClr val="F5B3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D21B6F-D95F-F4E4-916C-F8A3C9CB9D1C}"/>
              </a:ext>
            </a:extLst>
          </p:cNvPr>
          <p:cNvSpPr txBox="1"/>
          <p:nvPr/>
        </p:nvSpPr>
        <p:spPr>
          <a:xfrm>
            <a:off x="390196" y="4311287"/>
            <a:ext cx="105739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URL Spreadsheet :</a:t>
            </a:r>
          </a:p>
          <a:p>
            <a:r>
              <a:rPr lang="en-US" dirty="0">
                <a:solidFill>
                  <a:schemeClr val="bg1"/>
                </a:solidFill>
              </a:rPr>
              <a:t>https://docs.google.com/spreadsheets/d/1ec_Z0g4CwWygPyOb5oMyZOdFyFHPgfkLve325YZ1MHM/edit?usp=sharing</a:t>
            </a:r>
          </a:p>
        </p:txBody>
      </p:sp>
    </p:spTree>
    <p:extLst>
      <p:ext uri="{BB962C8B-B14F-4D97-AF65-F5344CB8AC3E}">
        <p14:creationId xmlns:p14="http://schemas.microsoft.com/office/powerpoint/2010/main" val="1078100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2642</Words>
  <Application>Microsoft Office PowerPoint</Application>
  <PresentationFormat>Widescreen</PresentationFormat>
  <Paragraphs>365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Bookman Old Style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Reinaldy Zulfananda Arkaan</cp:lastModifiedBy>
  <cp:revision>8</cp:revision>
  <dcterms:created xsi:type="dcterms:W3CDTF">2026-07-17T14:27:52Z</dcterms:created>
  <dcterms:modified xsi:type="dcterms:W3CDTF">2026-07-17T16:34:38Z</dcterms:modified>
</cp:coreProperties>
</file>
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9" r:id="rId18"/>
    <p:sldId id="275" r:id="rId19"/>
    <p:sldId id="278"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F3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1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0734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firstname_lastname with your full name following the assignment format. Add the dashboard preview once Milestone 2 is built.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angle was chosen because pending payment is the one variable in this dataset that hits cash directly and can be acted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grain is one row per admission. Every metric is computed at that grain.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Avg Length of Stay was created and then dropped because it did not answer the collection question.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is used only on Self-pay as the exception; the other bars stay neutral grey.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the date pill uses Month with the year, so 2024 and 2025 are not stacked into 12 points.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F3A"/>
        </a:solidFill>
        <a:effectLst/>
      </p:bgPr>
    </p:bg>
    <p:spTree>
      <p:nvGrpSpPr>
        <p:cNvPr id="1" name=""/>
        <p:cNvGrpSpPr/>
        <p:nvPr/>
      </p:nvGrpSpPr>
      <p:grpSpPr>
        <a:xfrm>
          <a:off x="0" y="0"/>
          <a:ext cx="0" cy="0"/>
          <a:chOff x="0" y="0"/>
          <a:chExt cx="0" cy="0"/>
        </a:xfrm>
      </p:grpSpPr>
      <p:sp>
        <p:nvSpPr>
          <p:cNvPr id="2" name="Shape 0"/>
          <p:cNvSpPr/>
          <p:nvPr/>
        </p:nvSpPr>
        <p:spPr>
          <a:xfrm>
            <a:off x="548640" y="914400"/>
            <a:ext cx="822960" cy="292608"/>
          </a:xfrm>
          <a:prstGeom prst="roundRect">
            <a:avLst>
              <a:gd name="adj" fmla="val 50000"/>
            </a:avLst>
          </a:prstGeom>
          <a:solidFill>
            <a:srgbClr val="B3382C"/>
          </a:solidFill>
          <a:ln/>
        </p:spPr>
      </p:sp>
      <p:sp>
        <p:nvSpPr>
          <p:cNvPr id="3" name="Text 1"/>
          <p:cNvSpPr txBox="1"/>
          <p:nvPr/>
        </p:nvSpPr>
        <p:spPr>
          <a:xfrm>
            <a:off x="548640" y="914400"/>
            <a:ext cx="82296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MILESTONE 1</a:t>
            </a:r>
            <a:endParaRPr lang="en-US" sz="900" dirty="0"/>
          </a:p>
        </p:txBody>
      </p:sp>
      <p:sp>
        <p:nvSpPr>
          <p:cNvPr id="4" name="Text 2"/>
          <p:cNvSpPr txBox="1"/>
          <p:nvPr/>
        </p:nvSpPr>
        <p:spPr>
          <a:xfrm>
            <a:off x="548640" y="1371600"/>
            <a:ext cx="493776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Revenue Leakage at Revo Hospital</a:t>
            </a:r>
            <a:endParaRPr lang="en-US" sz="3600" dirty="0"/>
          </a:p>
        </p:txBody>
      </p:sp>
      <p:sp>
        <p:nvSpPr>
          <p:cNvPr id="5" name="Text 3"/>
          <p:cNvSpPr txBox="1"/>
          <p:nvPr/>
        </p:nvSpPr>
        <p:spPr>
          <a:xfrm>
            <a:off x="548640" y="2240280"/>
            <a:ext cx="4937760" cy="868680"/>
          </a:xfrm>
          <a:prstGeom prst="rect">
            <a:avLst/>
          </a:prstGeom>
          <a:noFill/>
          <a:ln/>
        </p:spPr>
        <p:txBody>
          <a:bodyPr wrap="square" lIns="0" tIns="0" rIns="0" bIns="0" rtlCol="0" anchor="ctr"/>
          <a:lstStyle/>
          <a:p>
            <a:pPr marL="0" indent="0">
              <a:buNone/>
            </a:pPr>
            <a:r>
              <a:rPr lang="en-US" sz="1400" dirty="0">
                <a:solidFill>
                  <a:srgbClr val="B9D2CD"/>
                </a:solidFill>
                <a:latin typeface="Calibri" pitchFamily="34" charset="0"/>
                <a:ea typeface="Calibri" pitchFamily="34" charset="-122"/>
                <a:cs typeface="Calibri" pitchFamily="34" charset="-120"/>
              </a:rPr>
              <a:t>An analytical dashboard for the finance lead: tracking IDR 14.5 billion of revenue still uncollected across the Java network</a:t>
            </a:r>
            <a:endParaRPr lang="en-US" sz="1400" dirty="0"/>
          </a:p>
        </p:txBody>
      </p:sp>
      <p:sp>
        <p:nvSpPr>
          <p:cNvPr id="6" name="Shape 4"/>
          <p:cNvSpPr/>
          <p:nvPr/>
        </p:nvSpPr>
        <p:spPr>
          <a:xfrm>
            <a:off x="548640" y="3063240"/>
            <a:ext cx="2926080" cy="0"/>
          </a:xfrm>
          <a:prstGeom prst="line">
            <a:avLst/>
          </a:prstGeom>
          <a:noFill/>
          <a:ln w="25400">
            <a:solidFill>
              <a:srgbClr val="2E7D74"/>
            </a:solidFill>
            <a:prstDash val="solid"/>
          </a:ln>
        </p:spPr>
      </p:sp>
      <p:sp>
        <p:nvSpPr>
          <p:cNvPr id="7" name="Text 5"/>
          <p:cNvSpPr txBox="1"/>
          <p:nvPr/>
        </p:nvSpPr>
        <p:spPr>
          <a:xfrm>
            <a:off x="548640" y="3246120"/>
            <a:ext cx="4937760" cy="274320"/>
          </a:xfrm>
          <a:prstGeom prst="rect">
            <a:avLst/>
          </a:prstGeom>
          <a:noFill/>
          <a:ln/>
        </p:spPr>
        <p:txBody>
          <a:bodyPr wrap="square" lIns="0" tIns="0" rIns="0" bIns="0" rtlCol="0" anchor="ctr"/>
          <a:lstStyle/>
          <a:p>
            <a:r>
              <a:rPr lang="en-US" sz="1200" b="1" dirty="0">
                <a:solidFill>
                  <a:schemeClr val="bg1"/>
                </a:solidFill>
              </a:rPr>
              <a:t>DATAVIZ_JUN26_Reinaldy_Zulfananda_Arkaan_intermediate</a:t>
            </a:r>
          </a:p>
        </p:txBody>
      </p:sp>
      <p:sp>
        <p:nvSpPr>
          <p:cNvPr id="8" name="Text 6"/>
          <p:cNvSpPr txBox="1"/>
          <p:nvPr/>
        </p:nvSpPr>
        <p:spPr>
          <a:xfrm>
            <a:off x="548640" y="3566160"/>
            <a:ext cx="4937760" cy="274320"/>
          </a:xfrm>
          <a:prstGeom prst="rect">
            <a:avLst/>
          </a:prstGeom>
          <a:noFill/>
          <a:ln/>
        </p:spPr>
        <p:txBody>
          <a:bodyPr wrap="square" lIns="0" tIns="0" rIns="0" bIns="0" rtlCol="0" anchor="ctr"/>
          <a:lstStyle/>
          <a:p>
            <a:pPr marL="0" indent="0">
              <a:buNone/>
            </a:pPr>
            <a:r>
              <a:rPr lang="en-US" sz="1100" dirty="0">
                <a:solidFill>
                  <a:srgbClr val="8FB0AA"/>
                </a:solidFill>
                <a:latin typeface="Calibri" pitchFamily="34" charset="0"/>
                <a:ea typeface="Calibri" pitchFamily="34" charset="-122"/>
                <a:cs typeface="Calibri" pitchFamily="34" charset="-120"/>
              </a:rPr>
              <a:t>Data Visualisation Intermediate Assignment  ·  RevoU Full Stack Data Analytics  ·  September 2026</a:t>
            </a:r>
            <a:endParaRPr lang="en-US" sz="1100" dirty="0"/>
          </a:p>
        </p:txBody>
      </p:sp>
      <p:pic>
        <p:nvPicPr>
          <p:cNvPr id="9" name="Picture 8" descr="image.png"/>
          <p:cNvPicPr>
            <a:picLocks noChangeAspect="1"/>
          </p:cNvPicPr>
          <p:nvPr/>
        </p:nvPicPr>
        <p:blipFill>
          <a:blip r:embed="rId3"/>
          <a:stretch>
            <a:fillRect/>
          </a:stretch>
        </p:blipFill>
        <p:spPr>
          <a:xfrm>
            <a:off x="5715000" y="1463040"/>
            <a:ext cx="2880360" cy="14721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Dashboard Angle</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dirty="0">
                <a:solidFill>
                  <a:srgbClr val="5A6B68"/>
                </a:solidFill>
                <a:latin typeface="Calibri" pitchFamily="34" charset="0"/>
                <a:ea typeface="Calibri" pitchFamily="34" charset="-122"/>
                <a:cs typeface="Calibri" pitchFamily="34" charset="-120"/>
              </a:rPr>
              <a:t>The single question this dashboard answers</a:t>
            </a:r>
            <a:endParaRPr lang="en-US" sz="1200" dirty="0"/>
          </a:p>
        </p:txBody>
      </p:sp>
      <p:sp>
        <p:nvSpPr>
          <p:cNvPr id="4" name="Shape 2"/>
          <p:cNvSpPr/>
          <p:nvPr/>
        </p:nvSpPr>
        <p:spPr>
          <a:xfrm>
            <a:off x="457200" y="1234440"/>
            <a:ext cx="2011680" cy="1508760"/>
          </a:xfrm>
          <a:prstGeom prst="roundRect">
            <a:avLst>
              <a:gd name="adj" fmla="val 3636"/>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5" name="Text 3"/>
          <p:cNvSpPr txBox="1"/>
          <p:nvPr/>
        </p:nvSpPr>
        <p:spPr>
          <a:xfrm>
            <a:off x="621792" y="1362456"/>
            <a:ext cx="168249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Target user</a:t>
            </a:r>
            <a:endParaRPr lang="en-US" sz="1300" dirty="0"/>
          </a:p>
        </p:txBody>
      </p:sp>
      <p:sp>
        <p:nvSpPr>
          <p:cNvPr id="6" name="Text 4"/>
          <p:cNvSpPr txBox="1"/>
          <p:nvPr/>
        </p:nvSpPr>
        <p:spPr>
          <a:xfrm>
            <a:off x="621792" y="1655064"/>
            <a:ext cx="1682496" cy="96012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Finance lead of the Revo Hospital network, the owner of collection and cash flow decisions across branches.</a:t>
            </a:r>
            <a:endParaRPr lang="en-US" sz="1100" dirty="0"/>
          </a:p>
        </p:txBody>
      </p:sp>
      <p:sp>
        <p:nvSpPr>
          <p:cNvPr id="7" name="Shape 5"/>
          <p:cNvSpPr/>
          <p:nvPr/>
        </p:nvSpPr>
        <p:spPr>
          <a:xfrm>
            <a:off x="2606040" y="1234440"/>
            <a:ext cx="2011680" cy="1508760"/>
          </a:xfrm>
          <a:prstGeom prst="roundRect">
            <a:avLst>
              <a:gd name="adj" fmla="val 3636"/>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8" name="Text 6"/>
          <p:cNvSpPr txBox="1"/>
          <p:nvPr/>
        </p:nvSpPr>
        <p:spPr>
          <a:xfrm>
            <a:off x="2770632" y="1362456"/>
            <a:ext cx="168249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Decision</a:t>
            </a:r>
            <a:endParaRPr lang="en-US" sz="1300" dirty="0"/>
          </a:p>
        </p:txBody>
      </p:sp>
      <p:sp>
        <p:nvSpPr>
          <p:cNvPr id="9" name="Text 7"/>
          <p:cNvSpPr txBox="1"/>
          <p:nvPr/>
        </p:nvSpPr>
        <p:spPr>
          <a:xfrm>
            <a:off x="2770632" y="1655064"/>
            <a:ext cx="1682496" cy="96012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Which patient segments and periods to chase first so pending revenue falls below the 10 percent tolerance.</a:t>
            </a:r>
            <a:endParaRPr lang="en-US" sz="1100" dirty="0"/>
          </a:p>
        </p:txBody>
      </p:sp>
      <p:sp>
        <p:nvSpPr>
          <p:cNvPr id="10" name="Shape 8"/>
          <p:cNvSpPr/>
          <p:nvPr/>
        </p:nvSpPr>
        <p:spPr>
          <a:xfrm>
            <a:off x="4754880" y="1234440"/>
            <a:ext cx="2011680" cy="1508760"/>
          </a:xfrm>
          <a:prstGeom prst="roundRect">
            <a:avLst>
              <a:gd name="adj" fmla="val 3636"/>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11" name="Text 9"/>
          <p:cNvSpPr txBox="1"/>
          <p:nvPr/>
        </p:nvSpPr>
        <p:spPr>
          <a:xfrm>
            <a:off x="4919472" y="1362456"/>
            <a:ext cx="1682496" cy="274320"/>
          </a:xfrm>
          <a:prstGeom prst="rect">
            <a:avLst/>
          </a:prstGeom>
          <a:noFill/>
          <a:ln/>
        </p:spPr>
        <p:txBody>
          <a:bodyPr wrap="square" lIns="0" tIns="0" rIns="0" bIns="0" rtlCol="0" anchor="ctr"/>
          <a:lstStyle/>
          <a:p>
            <a:pPr marL="0" indent="0">
              <a:buNone/>
            </a:pPr>
            <a:r>
              <a:rPr lang="en-US" sz="1300" b="1" dirty="0">
                <a:solidFill>
                  <a:srgbClr val="B3382C"/>
                </a:solidFill>
                <a:latin typeface="Calibri" pitchFamily="34" charset="0"/>
                <a:ea typeface="Calibri" pitchFamily="34" charset="-122"/>
                <a:cs typeface="Calibri" pitchFamily="34" charset="-120"/>
              </a:rPr>
              <a:t>Why it matters</a:t>
            </a:r>
            <a:endParaRPr lang="en-US" sz="1300" dirty="0"/>
          </a:p>
        </p:txBody>
      </p:sp>
      <p:sp>
        <p:nvSpPr>
          <p:cNvPr id="12" name="Text 10"/>
          <p:cNvSpPr txBox="1"/>
          <p:nvPr/>
        </p:nvSpPr>
        <p:spPr>
          <a:xfrm>
            <a:off x="4919472" y="1655064"/>
            <a:ext cx="1682496" cy="96012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IDR 14.5 billion is locked up, equal to 14.7 percent of revenue. That cash cannot fund branch operations.</a:t>
            </a:r>
            <a:endParaRPr lang="en-US" sz="1100" dirty="0"/>
          </a:p>
        </p:txBody>
      </p:sp>
      <p:sp>
        <p:nvSpPr>
          <p:cNvPr id="13" name="Shape 11"/>
          <p:cNvSpPr/>
          <p:nvPr/>
        </p:nvSpPr>
        <p:spPr>
          <a:xfrm>
            <a:off x="6903720" y="1234440"/>
            <a:ext cx="1783080" cy="1508760"/>
          </a:xfrm>
          <a:prstGeom prst="roundRect">
            <a:avLst>
              <a:gd name="adj" fmla="val 3636"/>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14" name="Text 12"/>
          <p:cNvSpPr txBox="1"/>
          <p:nvPr/>
        </p:nvSpPr>
        <p:spPr>
          <a:xfrm>
            <a:off x="7068312" y="1362456"/>
            <a:ext cx="145389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Dashboard type</a:t>
            </a:r>
            <a:endParaRPr lang="en-US" sz="1300" dirty="0"/>
          </a:p>
        </p:txBody>
      </p:sp>
      <p:sp>
        <p:nvSpPr>
          <p:cNvPr id="15" name="Text 13"/>
          <p:cNvSpPr txBox="1"/>
          <p:nvPr/>
        </p:nvSpPr>
        <p:spPr>
          <a:xfrm>
            <a:off x="7068312" y="1655064"/>
            <a:ext cx="1453896" cy="96012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Analytical. It is built to find causes and patterns, not to monitor daily activity.</a:t>
            </a:r>
            <a:endParaRPr lang="en-US" sz="1100" dirty="0"/>
          </a:p>
        </p:txBody>
      </p:sp>
      <p:sp>
        <p:nvSpPr>
          <p:cNvPr id="16" name="Shape 14"/>
          <p:cNvSpPr/>
          <p:nvPr/>
        </p:nvSpPr>
        <p:spPr>
          <a:xfrm>
            <a:off x="457200" y="3017520"/>
            <a:ext cx="8229600" cy="1600200"/>
          </a:xfrm>
          <a:prstGeom prst="roundRect">
            <a:avLst>
              <a:gd name="adj" fmla="val 4571"/>
            </a:avLst>
          </a:prstGeom>
          <a:solidFill>
            <a:srgbClr val="EAF0EE"/>
          </a:solidFill>
          <a:ln/>
        </p:spPr>
      </p:sp>
      <p:sp>
        <p:nvSpPr>
          <p:cNvPr id="17" name="Text 15"/>
          <p:cNvSpPr txBox="1"/>
          <p:nvPr/>
        </p:nvSpPr>
        <p:spPr>
          <a:xfrm>
            <a:off x="685800" y="3154680"/>
            <a:ext cx="7772400" cy="274320"/>
          </a:xfrm>
          <a:prstGeom prst="rect">
            <a:avLst/>
          </a:prstGeom>
          <a:noFill/>
          <a:ln/>
        </p:spPr>
        <p:txBody>
          <a:bodyPr wrap="square" lIns="0" tIns="0" rIns="0" bIns="0" rtlCol="0" anchor="ctr"/>
          <a:lstStyle/>
          <a:p>
            <a:pPr marL="0" indent="0">
              <a:buNone/>
            </a:pPr>
            <a:r>
              <a:rPr lang="en-US" sz="1300" b="1" dirty="0">
                <a:solidFill>
                  <a:srgbClr val="123F3A"/>
                </a:solidFill>
                <a:latin typeface="Calibri" pitchFamily="34" charset="0"/>
                <a:ea typeface="Calibri" pitchFamily="34" charset="-122"/>
                <a:cs typeface="Calibri" pitchFamily="34" charset="-120"/>
              </a:rPr>
              <a:t>Why analytical rather than strategic or operational</a:t>
            </a:r>
            <a:endParaRPr lang="en-US" sz="1300" dirty="0"/>
          </a:p>
        </p:txBody>
      </p:sp>
      <p:sp>
        <p:nvSpPr>
          <p:cNvPr id="18" name="Text 16"/>
          <p:cNvSpPr txBox="1"/>
          <p:nvPr/>
        </p:nvSpPr>
        <p:spPr>
          <a:xfrm>
            <a:off x="685800" y="3474720"/>
            <a:ext cx="7772400" cy="100584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5A6B68"/>
                </a:solidFill>
                <a:latin typeface="Calibri" pitchFamily="34" charset="0"/>
                <a:ea typeface="Calibri" pitchFamily="34" charset="-122"/>
                <a:cs typeface="Calibri" pitchFamily="34" charset="-120"/>
              </a:rPr>
              <a:t>A strategic dashboard needs long-horizon targets and market benchmarks, neither of which exists in this dataset.</a:t>
            </a:r>
            <a:endParaRPr lang="en-US" sz="1150" dirty="0"/>
          </a:p>
          <a:p>
            <a:pPr marL="342900" indent="-342900">
              <a:spcAft>
                <a:spcPts val="500"/>
              </a:spcAft>
              <a:buSzPct val="100000"/>
              <a:buChar char="•"/>
            </a:pPr>
            <a:r>
              <a:rPr lang="en-US" sz="1150" dirty="0">
                <a:solidFill>
                  <a:srgbClr val="5A6B68"/>
                </a:solidFill>
                <a:latin typeface="Calibri" pitchFamily="34" charset="0"/>
                <a:ea typeface="Calibri" pitchFamily="34" charset="-122"/>
                <a:cs typeface="Calibri" pitchFamily="34" charset="-120"/>
              </a:rPr>
              <a:t>An operational dashboard needs daily data and immediate action, while the finest grain here is an admission with monthly patterns.</a:t>
            </a:r>
            <a:endParaRPr lang="en-US" sz="1150" dirty="0"/>
          </a:p>
          <a:p>
            <a:pPr marL="342900" indent="-342900">
              <a:spcAft>
                <a:spcPts val="500"/>
              </a:spcAft>
              <a:buSzPct val="100000"/>
              <a:buChar char="•"/>
            </a:pPr>
            <a:r>
              <a:rPr lang="en-US" sz="1150" dirty="0">
                <a:solidFill>
                  <a:srgbClr val="5A6B68"/>
                </a:solidFill>
                <a:latin typeface="Calibri" pitchFamily="34" charset="0"/>
                <a:ea typeface="Calibri" pitchFamily="34" charset="-122"/>
                <a:cs typeface="Calibri" pitchFamily="34" charset="-120"/>
              </a:rPr>
              <a:t>What the finance lead needs is to trace where receivables pile up, so the dashboard works as a diagnosis tool.</a:t>
            </a:r>
            <a:endParaRPr lang="en-US" sz="1150" dirty="0"/>
          </a:p>
        </p:txBody>
      </p:sp>
      <p:sp>
        <p:nvSpPr>
          <p:cNvPr id="20" name="Shape 0">
            <a:extLst>
              <a:ext uri="{FF2B5EF4-FFF2-40B4-BE49-F238E27FC236}">
                <a16:creationId xmlns:a16="http://schemas.microsoft.com/office/drawing/2014/main" id="{C6FC5A21-B32F-2430-CAB3-93184E844F9D}"/>
              </a:ext>
            </a:extLst>
          </p:cNvPr>
          <p:cNvSpPr/>
          <p:nvPr/>
        </p:nvSpPr>
        <p:spPr>
          <a:xfrm>
            <a:off x="7863840" y="298126"/>
            <a:ext cx="822960" cy="292608"/>
          </a:xfrm>
          <a:prstGeom prst="roundRect">
            <a:avLst>
              <a:gd name="adj" fmla="val 50000"/>
            </a:avLst>
          </a:prstGeom>
          <a:solidFill>
            <a:srgbClr val="B3382C"/>
          </a:solidFill>
          <a:ln/>
        </p:spPr>
      </p:sp>
      <p:sp>
        <p:nvSpPr>
          <p:cNvPr id="22" name="Text 1">
            <a:extLst>
              <a:ext uri="{FF2B5EF4-FFF2-40B4-BE49-F238E27FC236}">
                <a16:creationId xmlns:a16="http://schemas.microsoft.com/office/drawing/2014/main" id="{93D2EC73-3BA3-2444-EEF2-7D3ACFBE3B05}"/>
              </a:ext>
            </a:extLst>
          </p:cNvPr>
          <p:cNvSpPr txBox="1"/>
          <p:nvPr/>
        </p:nvSpPr>
        <p:spPr>
          <a:xfrm>
            <a:off x="7863840" y="298126"/>
            <a:ext cx="82296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MILESTONE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Data Preparation</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dirty="0">
                <a:solidFill>
                  <a:srgbClr val="5A6B68"/>
                </a:solidFill>
                <a:latin typeface="Calibri" pitchFamily="34" charset="0"/>
                <a:ea typeface="Calibri" pitchFamily="34" charset="-122"/>
                <a:cs typeface="Calibri" pitchFamily="34" charset="-120"/>
              </a:rPr>
              <a:t>Five tables, one fact table, grain of one admission per row</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3042676491"/>
              </p:ext>
            </p:extLst>
          </p:nvPr>
        </p:nvGraphicFramePr>
        <p:xfrm>
          <a:off x="457200" y="1120245"/>
          <a:ext cx="5074920" cy="2479445"/>
        </p:xfrm>
        <a:graphic>
          <a:graphicData uri="http://schemas.openxmlformats.org/drawingml/2006/table">
            <a:tbl>
              <a:tblPr/>
              <a:tblGrid>
                <a:gridCol w="10515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40259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Table</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solidFill>
                      <a:srgbClr val="123F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Key</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solidFill>
                      <a:srgbClr val="123F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Why it is necessary</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solidFill>
                      <a:srgbClr val="123F3A"/>
                    </a:solidFill>
                  </a:tcPr>
                </a:tc>
                <a:extLst>
                  <a:ext uri="{0D108BD9-81ED-4DB2-BD59-A6C34878D82A}">
                    <a16:rowId xmlns:a16="http://schemas.microsoft.com/office/drawing/2014/main" val="10000"/>
                  </a:ext>
                </a:extLst>
              </a:tr>
              <a:tr h="415371">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admissions</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admission_id</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The fact table. It sets the grain of the analysis and holds the admission date.</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extLst>
                  <a:ext uri="{0D108BD9-81ED-4DB2-BD59-A6C34878D82A}">
                    <a16:rowId xmlns:a16="http://schemas.microsoft.com/office/drawing/2014/main" val="10001"/>
                  </a:ext>
                </a:extLst>
              </a:tr>
              <a:tr h="415371">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billing</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admission_id</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Source of net revenue, out of pocket, and payment_status. The core of the angle.</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extLst>
                  <a:ext uri="{0D108BD9-81ED-4DB2-BD59-A6C34878D82A}">
                    <a16:rowId xmlns:a16="http://schemas.microsoft.com/office/drawing/2014/main" val="10002"/>
                  </a:ext>
                </a:extLst>
              </a:tr>
              <a:tr h="415371">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patients</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patient_id</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Supplies insurance_type, the main comparison dimension.</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extLst>
                  <a:ext uri="{0D108BD9-81ED-4DB2-BD59-A6C34878D82A}">
                    <a16:rowId xmlns:a16="http://schemas.microsoft.com/office/drawing/2014/main" val="10003"/>
                  </a:ext>
                </a:extLst>
              </a:tr>
              <a:tr h="415371">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branches</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branch_id</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Branch identity and coordinates for geographic analysis.</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extLst>
                  <a:ext uri="{0D108BD9-81ED-4DB2-BD59-A6C34878D82A}">
                    <a16:rowId xmlns:a16="http://schemas.microsoft.com/office/drawing/2014/main" val="10004"/>
                  </a:ext>
                </a:extLst>
              </a:tr>
              <a:tr h="415371">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departments</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department_id</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000" dirty="0">
                          <a:solidFill>
                            <a:srgbClr val="5A6B68"/>
                          </a:solidFill>
                          <a:latin typeface="Calibri" pitchFamily="34" charset="0"/>
                          <a:ea typeface="Calibri" pitchFamily="34" charset="-122"/>
                          <a:cs typeface="Calibri" pitchFamily="34" charset="-120"/>
                        </a:rPr>
                        <a:t>Service line context when tracing the source of receivables.</a:t>
                      </a:r>
                      <a:endParaRPr lang="en-US" sz="10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5760720" y="1106425"/>
            <a:ext cx="2926080" cy="1869316"/>
          </a:xfrm>
          <a:prstGeom prst="roundRect">
            <a:avLst>
              <a:gd name="adj" fmla="val 5161"/>
            </a:avLst>
          </a:prstGeom>
          <a:solidFill>
            <a:srgbClr val="EAF0EE"/>
          </a:solidFill>
          <a:ln/>
        </p:spPr>
      </p:sp>
      <p:sp>
        <p:nvSpPr>
          <p:cNvPr id="8" name="Shape 5"/>
          <p:cNvSpPr/>
          <p:nvPr/>
        </p:nvSpPr>
        <p:spPr>
          <a:xfrm>
            <a:off x="5760720" y="3116054"/>
            <a:ext cx="2926080" cy="1828800"/>
          </a:xfrm>
          <a:prstGeom prst="roundRect">
            <a:avLst>
              <a:gd name="adj" fmla="val 4000"/>
            </a:avLst>
          </a:prstGeom>
          <a:solidFill>
            <a:srgbClr val="FFFFFF"/>
          </a:solidFill>
          <a:ln w="15240">
            <a:solidFill>
              <a:srgbClr val="B3382C"/>
            </a:solidFill>
            <a:prstDash val="solid"/>
          </a:ln>
        </p:spPr>
      </p:sp>
      <p:sp>
        <p:nvSpPr>
          <p:cNvPr id="9" name="Text 6"/>
          <p:cNvSpPr txBox="1"/>
          <p:nvPr/>
        </p:nvSpPr>
        <p:spPr>
          <a:xfrm>
            <a:off x="5943600" y="3184074"/>
            <a:ext cx="2560320" cy="256032"/>
          </a:xfrm>
          <a:prstGeom prst="rect">
            <a:avLst/>
          </a:prstGeom>
          <a:noFill/>
          <a:ln/>
        </p:spPr>
        <p:txBody>
          <a:bodyPr wrap="square" lIns="0" tIns="0" rIns="0" bIns="0" rtlCol="0" anchor="ctr"/>
          <a:lstStyle/>
          <a:p>
            <a:pPr marL="0" indent="0">
              <a:buNone/>
            </a:pPr>
            <a:r>
              <a:rPr lang="en-US" sz="1200" b="1" dirty="0">
                <a:solidFill>
                  <a:srgbClr val="B3382C"/>
                </a:solidFill>
                <a:latin typeface="Calibri" pitchFamily="34" charset="0"/>
                <a:ea typeface="Calibri" pitchFamily="34" charset="-122"/>
                <a:cs typeface="Calibri" pitchFamily="34" charset="-120"/>
              </a:rPr>
              <a:t>Risk if the join is wrong</a:t>
            </a:r>
            <a:endParaRPr lang="en-US" sz="1200" dirty="0"/>
          </a:p>
        </p:txBody>
      </p:sp>
      <p:sp>
        <p:nvSpPr>
          <p:cNvPr id="10" name="Text 7"/>
          <p:cNvSpPr txBox="1"/>
          <p:nvPr/>
        </p:nvSpPr>
        <p:spPr>
          <a:xfrm>
            <a:off x="5943600" y="3525012"/>
            <a:ext cx="2560320" cy="132588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If billing were joined to patients without passing through admissions, each bill would duplicate once per visit. Total revenue would inflate and the pending rate would be wrong. The Grain Validation sheet confirms that the row count matches the count of distinct admission_id.</a:t>
            </a:r>
            <a:endParaRPr lang="en-US" sz="1050" dirty="0"/>
          </a:p>
        </p:txBody>
      </p:sp>
      <p:sp>
        <p:nvSpPr>
          <p:cNvPr id="11" name="Shape 8"/>
          <p:cNvSpPr/>
          <p:nvPr/>
        </p:nvSpPr>
        <p:spPr>
          <a:xfrm>
            <a:off x="457200" y="3703320"/>
            <a:ext cx="5074920" cy="1235228"/>
          </a:xfrm>
          <a:prstGeom prst="roundRect">
            <a:avLst>
              <a:gd name="adj" fmla="val 6000"/>
            </a:avLst>
          </a:prstGeom>
          <a:solidFill>
            <a:srgbClr val="EAF0EE"/>
          </a:solidFill>
          <a:ln w="12700">
            <a:solidFill>
              <a:srgbClr val="C9D6D2"/>
            </a:solidFill>
            <a:prstDash val="solid"/>
          </a:ln>
        </p:spPr>
      </p:sp>
      <p:pic>
        <p:nvPicPr>
          <p:cNvPr id="14" name="Picture 13">
            <a:extLst>
              <a:ext uri="{FF2B5EF4-FFF2-40B4-BE49-F238E27FC236}">
                <a16:creationId xmlns:a16="http://schemas.microsoft.com/office/drawing/2014/main" id="{D873A489-FA2E-6B28-4E3C-CBC7472EF1DD}"/>
              </a:ext>
            </a:extLst>
          </p:cNvPr>
          <p:cNvPicPr>
            <a:picLocks noChangeAspect="1"/>
          </p:cNvPicPr>
          <p:nvPr/>
        </p:nvPicPr>
        <p:blipFill>
          <a:blip r:embed="rId3"/>
          <a:stretch>
            <a:fillRect/>
          </a:stretch>
        </p:blipFill>
        <p:spPr>
          <a:xfrm>
            <a:off x="6247086" y="1517404"/>
            <a:ext cx="1957702" cy="1369568"/>
          </a:xfrm>
          <a:prstGeom prst="rect">
            <a:avLst/>
          </a:prstGeom>
        </p:spPr>
      </p:pic>
      <p:sp>
        <p:nvSpPr>
          <p:cNvPr id="7" name="Text 4"/>
          <p:cNvSpPr txBox="1"/>
          <p:nvPr/>
        </p:nvSpPr>
        <p:spPr>
          <a:xfrm>
            <a:off x="548640" y="3936492"/>
            <a:ext cx="2560320" cy="914400"/>
          </a:xfrm>
          <a:prstGeom prst="rect">
            <a:avLst/>
          </a:prstGeom>
          <a:noFill/>
          <a:ln/>
        </p:spPr>
        <p:txBody>
          <a:bodyPr wrap="square" lIns="0" tIns="0" rIns="0" bIns="0" rtlCol="0" anchor="ctr"/>
          <a:lstStyle/>
          <a:p>
            <a:pPr marL="0" indent="0">
              <a:lnSpc>
                <a:spcPct val="120000"/>
              </a:lnSpc>
              <a:buNone/>
            </a:pPr>
            <a:r>
              <a:rPr lang="en-US" sz="1100" dirty="0">
                <a:solidFill>
                  <a:srgbClr val="5A6B68"/>
                </a:solidFill>
                <a:latin typeface="Calibri" pitchFamily="34" charset="0"/>
                <a:ea typeface="Calibri" pitchFamily="34" charset="-122"/>
                <a:cs typeface="Calibri" pitchFamily="34" charset="-120"/>
              </a:rPr>
              <a:t>billing 1 : 1 admissions</a:t>
            </a:r>
            <a:endParaRPr lang="en-US" sz="1100" dirty="0"/>
          </a:p>
          <a:p>
            <a:pPr marL="0" indent="0">
              <a:lnSpc>
                <a:spcPct val="120000"/>
              </a:lnSpc>
              <a:buNone/>
            </a:pPr>
            <a:r>
              <a:rPr lang="en-US" sz="1100" dirty="0">
                <a:solidFill>
                  <a:srgbClr val="5A6B68"/>
                </a:solidFill>
                <a:latin typeface="Calibri" pitchFamily="34" charset="0"/>
                <a:ea typeface="Calibri" pitchFamily="34" charset="-122"/>
                <a:cs typeface="Calibri" pitchFamily="34" charset="-120"/>
              </a:rPr>
              <a:t>patients 1 : many admissions</a:t>
            </a:r>
            <a:endParaRPr lang="en-US" sz="1100" dirty="0"/>
          </a:p>
          <a:p>
            <a:pPr marL="0" indent="0">
              <a:lnSpc>
                <a:spcPct val="120000"/>
              </a:lnSpc>
              <a:buNone/>
            </a:pPr>
            <a:r>
              <a:rPr lang="en-US" sz="1100" dirty="0">
                <a:solidFill>
                  <a:srgbClr val="5A6B68"/>
                </a:solidFill>
                <a:latin typeface="Calibri" pitchFamily="34" charset="0"/>
                <a:ea typeface="Calibri" pitchFamily="34" charset="-122"/>
                <a:cs typeface="Calibri" pitchFamily="34" charset="-120"/>
              </a:rPr>
              <a:t>branches 1 : many admissions</a:t>
            </a:r>
            <a:endParaRPr lang="en-US" sz="1100" dirty="0"/>
          </a:p>
          <a:p>
            <a:pPr marL="0" indent="0">
              <a:lnSpc>
                <a:spcPct val="120000"/>
              </a:lnSpc>
              <a:buNone/>
            </a:pPr>
            <a:r>
              <a:rPr lang="en-US" sz="1100" dirty="0">
                <a:solidFill>
                  <a:srgbClr val="5A6B68"/>
                </a:solidFill>
                <a:latin typeface="Calibri" pitchFamily="34" charset="0"/>
                <a:ea typeface="Calibri" pitchFamily="34" charset="-122"/>
                <a:cs typeface="Calibri" pitchFamily="34" charset="-120"/>
              </a:rPr>
              <a:t>departments 1 : many admissions</a:t>
            </a:r>
            <a:endParaRPr lang="en-US" sz="1100" dirty="0"/>
          </a:p>
        </p:txBody>
      </p:sp>
      <p:sp>
        <p:nvSpPr>
          <p:cNvPr id="6" name="Text 3"/>
          <p:cNvSpPr txBox="1"/>
          <p:nvPr/>
        </p:nvSpPr>
        <p:spPr>
          <a:xfrm>
            <a:off x="548640" y="3726285"/>
            <a:ext cx="2560320" cy="256032"/>
          </a:xfrm>
          <a:prstGeom prst="rect">
            <a:avLst/>
          </a:prstGeom>
          <a:noFill/>
          <a:ln/>
        </p:spPr>
        <p:txBody>
          <a:bodyPr wrap="square" lIns="0" tIns="0" rIns="0" bIns="0" rtlCol="0" anchor="ctr"/>
          <a:lstStyle/>
          <a:p>
            <a:pPr marL="0" indent="0">
              <a:buNone/>
            </a:pPr>
            <a:r>
              <a:rPr lang="en-US" sz="1200" b="1" dirty="0">
                <a:solidFill>
                  <a:srgbClr val="123F3A"/>
                </a:solidFill>
                <a:latin typeface="Calibri" pitchFamily="34" charset="0"/>
                <a:ea typeface="Calibri" pitchFamily="34" charset="-122"/>
                <a:cs typeface="Calibri" pitchFamily="34" charset="-120"/>
              </a:rPr>
              <a:t>Relationship direction</a:t>
            </a:r>
            <a:endParaRPr lang="en-US" sz="1200" dirty="0"/>
          </a:p>
        </p:txBody>
      </p:sp>
      <p:sp>
        <p:nvSpPr>
          <p:cNvPr id="18" name="Text 3">
            <a:extLst>
              <a:ext uri="{FF2B5EF4-FFF2-40B4-BE49-F238E27FC236}">
                <a16:creationId xmlns:a16="http://schemas.microsoft.com/office/drawing/2014/main" id="{81209939-4922-EF92-B224-9EB94BB45E9E}"/>
              </a:ext>
            </a:extLst>
          </p:cNvPr>
          <p:cNvSpPr txBox="1"/>
          <p:nvPr/>
        </p:nvSpPr>
        <p:spPr>
          <a:xfrm>
            <a:off x="5943600" y="1176466"/>
            <a:ext cx="2560320" cy="256032"/>
          </a:xfrm>
          <a:prstGeom prst="rect">
            <a:avLst/>
          </a:prstGeom>
          <a:noFill/>
          <a:ln/>
        </p:spPr>
        <p:txBody>
          <a:bodyPr wrap="square" lIns="0" tIns="0" rIns="0" bIns="0" rtlCol="0" anchor="ctr"/>
          <a:lstStyle/>
          <a:p>
            <a:pPr marL="0" indent="0">
              <a:buNone/>
            </a:pPr>
            <a:r>
              <a:rPr lang="en-US" sz="1200" b="1" dirty="0">
                <a:solidFill>
                  <a:srgbClr val="123F3A"/>
                </a:solidFill>
                <a:latin typeface="Calibri" pitchFamily="34" charset="0"/>
                <a:ea typeface="Calibri" pitchFamily="34" charset="-122"/>
                <a:cs typeface="Calibri" pitchFamily="34" charset="-120"/>
              </a:rPr>
              <a:t>Data Model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Metrics &amp; Logic</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dirty="0">
                <a:solidFill>
                  <a:srgbClr val="5A6B68"/>
                </a:solidFill>
                <a:latin typeface="Calibri" pitchFamily="34" charset="0"/>
                <a:ea typeface="Calibri" pitchFamily="34" charset="-122"/>
                <a:cs typeface="Calibri" pitchFamily="34" charset="-120"/>
              </a:rPr>
              <a:t>Five metrics, all pointing at the same question</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2304288"/>
        </p:xfrm>
        <a:graphic>
          <a:graphicData uri="http://schemas.openxmlformats.org/drawingml/2006/table">
            <a:tbl>
              <a:tblPr/>
              <a:tblGrid>
                <a:gridCol w="19202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solidFill>
                      <a:srgbClr val="123F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solidFill>
                      <a:srgbClr val="123F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 it is useful to the finance lead</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solidFill>
                      <a:srgbClr val="123F3A"/>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Total Net Revenue</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Aggregate</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The denominator behind every ratio and the measure of network scale.</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Uncollected Revenue</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Aggregate</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The rupiah value sitting idle. This is the number that gets acted on.</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Pending Revenue Rate</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Ratio</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Compares branches and segments fairly regardless of their size.</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Out of Pocket Ratio</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Ratio</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Tests whether a heavier patient burden is what drives bills into pending.</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Revenue per Admission</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Ratio</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Separates revenue growth from volume out of growth from higher bill value.</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hape 2"/>
          <p:cNvSpPr/>
          <p:nvPr/>
        </p:nvSpPr>
        <p:spPr>
          <a:xfrm>
            <a:off x="457200" y="3840480"/>
            <a:ext cx="3977640" cy="868680"/>
          </a:xfrm>
          <a:prstGeom prst="roundRect">
            <a:avLst>
              <a:gd name="adj" fmla="val 8421"/>
            </a:avLst>
          </a:prstGeom>
          <a:solidFill>
            <a:srgbClr val="EAF0EE"/>
          </a:solidFill>
          <a:ln/>
        </p:spPr>
      </p:sp>
      <p:sp>
        <p:nvSpPr>
          <p:cNvPr id="6" name="Text 3"/>
          <p:cNvSpPr txBox="1"/>
          <p:nvPr/>
        </p:nvSpPr>
        <p:spPr>
          <a:xfrm>
            <a:off x="640080" y="3950208"/>
            <a:ext cx="3657600" cy="237744"/>
          </a:xfrm>
          <a:prstGeom prst="rect">
            <a:avLst/>
          </a:prstGeom>
          <a:noFill/>
          <a:ln/>
        </p:spPr>
        <p:txBody>
          <a:bodyPr wrap="square" lIns="0" tIns="0" rIns="0" bIns="0" rtlCol="0" anchor="ctr"/>
          <a:lstStyle/>
          <a:p>
            <a:pPr marL="0" indent="0">
              <a:buNone/>
            </a:pPr>
            <a:r>
              <a:rPr lang="en-US" sz="1200" b="1" dirty="0">
                <a:solidFill>
                  <a:srgbClr val="123F3A"/>
                </a:solidFill>
                <a:latin typeface="Calibri" pitchFamily="34" charset="0"/>
                <a:ea typeface="Calibri" pitchFamily="34" charset="-122"/>
                <a:cs typeface="Calibri" pitchFamily="34" charset="-120"/>
              </a:rPr>
              <a:t>Ratio requirement</a:t>
            </a:r>
            <a:endParaRPr lang="en-US" sz="1200" dirty="0"/>
          </a:p>
        </p:txBody>
      </p:sp>
      <p:sp>
        <p:nvSpPr>
          <p:cNvPr id="7" name="Text 4"/>
          <p:cNvSpPr txBox="1"/>
          <p:nvPr/>
        </p:nvSpPr>
        <p:spPr>
          <a:xfrm>
            <a:off x="640080" y="4206240"/>
            <a:ext cx="3657600" cy="45720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Two metrics are ratios: Pending Revenue Rate and Out of Pocket Ratio.</a:t>
            </a:r>
            <a:endParaRPr lang="en-US" sz="1050" dirty="0"/>
          </a:p>
        </p:txBody>
      </p:sp>
      <p:sp>
        <p:nvSpPr>
          <p:cNvPr id="8" name="Shape 5"/>
          <p:cNvSpPr/>
          <p:nvPr/>
        </p:nvSpPr>
        <p:spPr>
          <a:xfrm>
            <a:off x="4709160" y="3840480"/>
            <a:ext cx="3977640" cy="868680"/>
          </a:xfrm>
          <a:prstGeom prst="roundRect">
            <a:avLst>
              <a:gd name="adj" fmla="val 8421"/>
            </a:avLst>
          </a:prstGeom>
          <a:solidFill>
            <a:srgbClr val="EAF0EE"/>
          </a:solidFill>
          <a:ln/>
        </p:spPr>
      </p:sp>
      <p:sp>
        <p:nvSpPr>
          <p:cNvPr id="9" name="Text 6"/>
          <p:cNvSpPr txBox="1"/>
          <p:nvPr/>
        </p:nvSpPr>
        <p:spPr>
          <a:xfrm>
            <a:off x="4892040" y="3950208"/>
            <a:ext cx="3657600" cy="237744"/>
          </a:xfrm>
          <a:prstGeom prst="rect">
            <a:avLst/>
          </a:prstGeom>
          <a:noFill/>
          <a:ln/>
        </p:spPr>
        <p:txBody>
          <a:bodyPr wrap="square" lIns="0" tIns="0" rIns="0" bIns="0" rtlCol="0" anchor="ctr"/>
          <a:lstStyle/>
          <a:p>
            <a:pPr marL="0" indent="0">
              <a:buNone/>
            </a:pPr>
            <a:r>
              <a:rPr lang="en-US" sz="1200" b="1" dirty="0">
                <a:solidFill>
                  <a:srgbClr val="123F3A"/>
                </a:solidFill>
                <a:latin typeface="Calibri" pitchFamily="34" charset="0"/>
                <a:ea typeface="Calibri" pitchFamily="34" charset="-122"/>
                <a:cs typeface="Calibri" pitchFamily="34" charset="-120"/>
              </a:rPr>
              <a:t>Time-based requirement</a:t>
            </a:r>
            <a:endParaRPr lang="en-US" sz="1200" dirty="0"/>
          </a:p>
        </p:txBody>
      </p:sp>
      <p:sp>
        <p:nvSpPr>
          <p:cNvPr id="10" name="Text 7"/>
          <p:cNvSpPr txBox="1"/>
          <p:nvPr/>
        </p:nvSpPr>
        <p:spPr>
          <a:xfrm>
            <a:off x="4892040" y="4206240"/>
            <a:ext cx="3657600" cy="45720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Admission Month, built with DATETRUNC, splits Pending Revenue Rate into 24 monthly points.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KPI Scorecard</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dirty="0">
                <a:solidFill>
                  <a:srgbClr val="5A6B68"/>
                </a:solidFill>
                <a:latin typeface="Calibri" pitchFamily="34" charset="0"/>
                <a:ea typeface="Calibri" pitchFamily="34" charset="-122"/>
                <a:cs typeface="Calibri" pitchFamily="34" charset="-120"/>
              </a:rPr>
              <a:t>Four numbers that size the problem</a:t>
            </a:r>
            <a:endParaRPr lang="en-US" sz="1200" dirty="0"/>
          </a:p>
        </p:txBody>
      </p:sp>
      <p:sp>
        <p:nvSpPr>
          <p:cNvPr id="4" name="Shape 2"/>
          <p:cNvSpPr/>
          <p:nvPr/>
        </p:nvSpPr>
        <p:spPr>
          <a:xfrm>
            <a:off x="457200" y="1234440"/>
            <a:ext cx="1901952" cy="1371600"/>
          </a:xfrm>
          <a:prstGeom prst="roundRect">
            <a:avLst>
              <a:gd name="adj" fmla="val 5333"/>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5" name="Text 3"/>
          <p:cNvSpPr txBox="1"/>
          <p:nvPr/>
        </p:nvSpPr>
        <p:spPr>
          <a:xfrm>
            <a:off x="594360" y="1417320"/>
            <a:ext cx="1627632" cy="548640"/>
          </a:xfrm>
          <a:prstGeom prst="rect">
            <a:avLst/>
          </a:prstGeom>
          <a:noFill/>
          <a:ln/>
        </p:spPr>
        <p:txBody>
          <a:bodyPr wrap="square" lIns="0" tIns="0" rIns="0" bIns="0" rtlCol="0" anchor="ctr"/>
          <a:lstStyle/>
          <a:p>
            <a:pPr marL="0" indent="0">
              <a:buNone/>
            </a:pPr>
            <a:r>
              <a:rPr lang="en-US" sz="2400" b="1" dirty="0">
                <a:solidFill>
                  <a:srgbClr val="2E7D74"/>
                </a:solidFill>
                <a:latin typeface="Cambria" pitchFamily="34" charset="0"/>
                <a:ea typeface="Cambria" pitchFamily="34" charset="-122"/>
                <a:cs typeface="Cambria" pitchFamily="34" charset="-120"/>
              </a:rPr>
              <a:t>IDR 99B</a:t>
            </a:r>
            <a:endParaRPr lang="en-US" sz="2400" dirty="0"/>
          </a:p>
        </p:txBody>
      </p:sp>
      <p:sp>
        <p:nvSpPr>
          <p:cNvPr id="6" name="Text 4"/>
          <p:cNvSpPr txBox="1"/>
          <p:nvPr/>
        </p:nvSpPr>
        <p:spPr>
          <a:xfrm>
            <a:off x="594360" y="2011680"/>
            <a:ext cx="1627632" cy="50292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billion in net revenue over two years</a:t>
            </a:r>
            <a:endParaRPr lang="en-US" sz="1050" dirty="0"/>
          </a:p>
        </p:txBody>
      </p:sp>
      <p:sp>
        <p:nvSpPr>
          <p:cNvPr id="7" name="Shape 5"/>
          <p:cNvSpPr/>
          <p:nvPr/>
        </p:nvSpPr>
        <p:spPr>
          <a:xfrm>
            <a:off x="2542032" y="1234440"/>
            <a:ext cx="1901952" cy="1371600"/>
          </a:xfrm>
          <a:prstGeom prst="roundRect">
            <a:avLst>
              <a:gd name="adj" fmla="val 5333"/>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8" name="Text 6"/>
          <p:cNvSpPr txBox="1"/>
          <p:nvPr/>
        </p:nvSpPr>
        <p:spPr>
          <a:xfrm>
            <a:off x="2679192" y="1417320"/>
            <a:ext cx="1627632" cy="548640"/>
          </a:xfrm>
          <a:prstGeom prst="rect">
            <a:avLst/>
          </a:prstGeom>
          <a:noFill/>
          <a:ln/>
        </p:spPr>
        <p:txBody>
          <a:bodyPr wrap="square" lIns="0" tIns="0" rIns="0" bIns="0" rtlCol="0" anchor="ctr"/>
          <a:lstStyle/>
          <a:p>
            <a:pPr marL="0" indent="0">
              <a:buNone/>
            </a:pPr>
            <a:r>
              <a:rPr lang="en-US" sz="2400" b="1" dirty="0">
                <a:solidFill>
                  <a:srgbClr val="B3382C"/>
                </a:solidFill>
                <a:latin typeface="Cambria" pitchFamily="34" charset="0"/>
                <a:ea typeface="Cambria" pitchFamily="34" charset="-122"/>
                <a:cs typeface="Cambria" pitchFamily="34" charset="-120"/>
              </a:rPr>
              <a:t>IDR 15B</a:t>
            </a:r>
            <a:endParaRPr lang="en-US" sz="2400" dirty="0"/>
          </a:p>
        </p:txBody>
      </p:sp>
      <p:sp>
        <p:nvSpPr>
          <p:cNvPr id="9" name="Text 7"/>
          <p:cNvSpPr txBox="1"/>
          <p:nvPr/>
        </p:nvSpPr>
        <p:spPr>
          <a:xfrm>
            <a:off x="2679192" y="2011680"/>
            <a:ext cx="1627632" cy="50292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billion in revenue still uncollected</a:t>
            </a:r>
            <a:endParaRPr lang="en-US" sz="1050" dirty="0"/>
          </a:p>
        </p:txBody>
      </p:sp>
      <p:sp>
        <p:nvSpPr>
          <p:cNvPr id="10" name="Shape 8"/>
          <p:cNvSpPr/>
          <p:nvPr/>
        </p:nvSpPr>
        <p:spPr>
          <a:xfrm>
            <a:off x="4626864" y="1234440"/>
            <a:ext cx="1901952" cy="1371600"/>
          </a:xfrm>
          <a:prstGeom prst="roundRect">
            <a:avLst>
              <a:gd name="adj" fmla="val 5333"/>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11" name="Text 9"/>
          <p:cNvSpPr txBox="1"/>
          <p:nvPr/>
        </p:nvSpPr>
        <p:spPr>
          <a:xfrm>
            <a:off x="4764024" y="1417320"/>
            <a:ext cx="1627632" cy="548640"/>
          </a:xfrm>
          <a:prstGeom prst="rect">
            <a:avLst/>
          </a:prstGeom>
          <a:noFill/>
          <a:ln/>
        </p:spPr>
        <p:txBody>
          <a:bodyPr wrap="square" lIns="0" tIns="0" rIns="0" bIns="0" rtlCol="0" anchor="ctr"/>
          <a:lstStyle/>
          <a:p>
            <a:pPr marL="0" indent="0">
              <a:buNone/>
            </a:pPr>
            <a:r>
              <a:rPr lang="en-US" sz="2400" b="1" dirty="0">
                <a:solidFill>
                  <a:srgbClr val="B3382C"/>
                </a:solidFill>
                <a:latin typeface="Cambria" pitchFamily="34" charset="0"/>
                <a:ea typeface="Cambria" pitchFamily="34" charset="-122"/>
                <a:cs typeface="Cambria" pitchFamily="34" charset="-120"/>
              </a:rPr>
              <a:t>15%</a:t>
            </a:r>
            <a:endParaRPr lang="en-US" sz="2400" dirty="0"/>
          </a:p>
        </p:txBody>
      </p:sp>
      <p:sp>
        <p:nvSpPr>
          <p:cNvPr id="12" name="Text 10"/>
          <p:cNvSpPr txBox="1"/>
          <p:nvPr/>
        </p:nvSpPr>
        <p:spPr>
          <a:xfrm>
            <a:off x="4764024" y="2011680"/>
            <a:ext cx="1627632" cy="50292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pending revenue rate</a:t>
            </a:r>
            <a:endParaRPr lang="en-US" sz="1050" dirty="0"/>
          </a:p>
        </p:txBody>
      </p:sp>
      <p:sp>
        <p:nvSpPr>
          <p:cNvPr id="13" name="Shape 11"/>
          <p:cNvSpPr/>
          <p:nvPr/>
        </p:nvSpPr>
        <p:spPr>
          <a:xfrm>
            <a:off x="6711696" y="1234440"/>
            <a:ext cx="1901952" cy="1371600"/>
          </a:xfrm>
          <a:prstGeom prst="roundRect">
            <a:avLst>
              <a:gd name="adj" fmla="val 5333"/>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14" name="Text 12"/>
          <p:cNvSpPr txBox="1"/>
          <p:nvPr/>
        </p:nvSpPr>
        <p:spPr>
          <a:xfrm>
            <a:off x="6848856" y="1417320"/>
            <a:ext cx="1627632" cy="548640"/>
          </a:xfrm>
          <a:prstGeom prst="rect">
            <a:avLst/>
          </a:prstGeom>
          <a:noFill/>
          <a:ln/>
        </p:spPr>
        <p:txBody>
          <a:bodyPr wrap="square" lIns="0" tIns="0" rIns="0" bIns="0" rtlCol="0" anchor="ctr"/>
          <a:lstStyle/>
          <a:p>
            <a:pPr marL="0" indent="0">
              <a:buNone/>
            </a:pPr>
            <a:r>
              <a:rPr lang="en-US" sz="2400" b="1" dirty="0">
                <a:solidFill>
                  <a:srgbClr val="2E7D74"/>
                </a:solidFill>
                <a:latin typeface="Cambria" pitchFamily="34" charset="0"/>
                <a:ea typeface="Cambria" pitchFamily="34" charset="-122"/>
                <a:cs typeface="Cambria" pitchFamily="34" charset="-120"/>
              </a:rPr>
              <a:t>IDR 20M</a:t>
            </a:r>
            <a:endParaRPr lang="en-US" sz="2400" dirty="0"/>
          </a:p>
        </p:txBody>
      </p:sp>
      <p:sp>
        <p:nvSpPr>
          <p:cNvPr id="15" name="Text 13"/>
          <p:cNvSpPr txBox="1"/>
          <p:nvPr/>
        </p:nvSpPr>
        <p:spPr>
          <a:xfrm>
            <a:off x="6848856" y="2011680"/>
            <a:ext cx="1627632" cy="50292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million revenue per admission</a:t>
            </a:r>
            <a:endParaRPr lang="en-US" sz="1050" dirty="0"/>
          </a:p>
        </p:txBody>
      </p:sp>
      <p:sp>
        <p:nvSpPr>
          <p:cNvPr id="16" name="Shape 14"/>
          <p:cNvSpPr/>
          <p:nvPr/>
        </p:nvSpPr>
        <p:spPr>
          <a:xfrm>
            <a:off x="457200" y="2788920"/>
            <a:ext cx="4114800" cy="1828800"/>
          </a:xfrm>
          <a:prstGeom prst="roundRect">
            <a:avLst>
              <a:gd name="adj" fmla="val 4000"/>
            </a:avLst>
          </a:prstGeom>
          <a:solidFill>
            <a:srgbClr val="EAF0EE"/>
          </a:solidFill>
          <a:ln/>
        </p:spPr>
      </p:sp>
      <p:sp>
        <p:nvSpPr>
          <p:cNvPr id="17" name="Text 15"/>
          <p:cNvSpPr txBox="1"/>
          <p:nvPr/>
        </p:nvSpPr>
        <p:spPr>
          <a:xfrm>
            <a:off x="640080" y="2907792"/>
            <a:ext cx="3749040" cy="256032"/>
          </a:xfrm>
          <a:prstGeom prst="rect">
            <a:avLst/>
          </a:prstGeom>
          <a:noFill/>
          <a:ln/>
        </p:spPr>
        <p:txBody>
          <a:bodyPr wrap="square" lIns="0" tIns="0" rIns="0" bIns="0" rtlCol="0" anchor="ctr"/>
          <a:lstStyle/>
          <a:p>
            <a:pPr marL="0" indent="0">
              <a:buNone/>
            </a:pPr>
            <a:r>
              <a:rPr lang="en-US" sz="1300" b="1" dirty="0">
                <a:solidFill>
                  <a:srgbClr val="123F3A"/>
                </a:solidFill>
                <a:latin typeface="Calibri" pitchFamily="34" charset="0"/>
                <a:ea typeface="Calibri" pitchFamily="34" charset="-122"/>
                <a:cs typeface="Calibri" pitchFamily="34" charset="-120"/>
              </a:rPr>
              <a:t>Why a scorecard</a:t>
            </a:r>
            <a:endParaRPr lang="en-US" sz="1300" dirty="0"/>
          </a:p>
        </p:txBody>
      </p:sp>
      <p:sp>
        <p:nvSpPr>
          <p:cNvPr id="18" name="Text 16"/>
          <p:cNvSpPr txBox="1"/>
          <p:nvPr/>
        </p:nvSpPr>
        <p:spPr>
          <a:xfrm>
            <a:off x="640080" y="3200400"/>
            <a:ext cx="3749040" cy="132588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The four numbers build context in layers. Revenue shows scale, uncollected shows the value at risk, the pending rate shows how severe that is in relative terms, and revenue per admission gives a reference point when the rate moves. Each card title is written as a finding, not as a metric name.</a:t>
            </a:r>
            <a:endParaRPr lang="en-US" sz="1050" dirty="0"/>
          </a:p>
        </p:txBody>
      </p:sp>
      <p:sp>
        <p:nvSpPr>
          <p:cNvPr id="19" name="Shape 17"/>
          <p:cNvSpPr/>
          <p:nvPr/>
        </p:nvSpPr>
        <p:spPr>
          <a:xfrm>
            <a:off x="4754880" y="2788920"/>
            <a:ext cx="3931920" cy="1828800"/>
          </a:xfrm>
          <a:prstGeom prst="roundRect">
            <a:avLst>
              <a:gd name="adj" fmla="val 4000"/>
            </a:avLst>
          </a:prstGeom>
          <a:solidFill>
            <a:srgbClr val="FFFFFF"/>
          </a:solidFill>
          <a:ln w="12700">
            <a:solidFill>
              <a:srgbClr val="D8E2DF"/>
            </a:solidFill>
            <a:prstDash val="solid"/>
          </a:ln>
        </p:spPr>
      </p:sp>
      <p:sp>
        <p:nvSpPr>
          <p:cNvPr id="20" name="Text 18"/>
          <p:cNvSpPr txBox="1"/>
          <p:nvPr/>
        </p:nvSpPr>
        <p:spPr>
          <a:xfrm>
            <a:off x="4937760" y="2907792"/>
            <a:ext cx="3566160" cy="256032"/>
          </a:xfrm>
          <a:prstGeom prst="rect">
            <a:avLst/>
          </a:prstGeom>
          <a:noFill/>
          <a:ln/>
        </p:spPr>
        <p:txBody>
          <a:bodyPr wrap="square" lIns="0" tIns="0" rIns="0" bIns="0" rtlCol="0" anchor="ctr"/>
          <a:lstStyle/>
          <a:p>
            <a:pPr marL="0" indent="0">
              <a:buNone/>
            </a:pPr>
            <a:r>
              <a:rPr lang="en-US" sz="1300" b="1" dirty="0">
                <a:solidFill>
                  <a:srgbClr val="B3382C"/>
                </a:solidFill>
                <a:latin typeface="Calibri" pitchFamily="34" charset="0"/>
                <a:ea typeface="Calibri" pitchFamily="34" charset="-122"/>
                <a:cs typeface="Calibri" pitchFamily="34" charset="-120"/>
              </a:rPr>
              <a:t>Weaker alternative</a:t>
            </a:r>
            <a:endParaRPr lang="en-US" sz="1300" dirty="0"/>
          </a:p>
        </p:txBody>
      </p:sp>
      <p:sp>
        <p:nvSpPr>
          <p:cNvPr id="21" name="Text 19"/>
          <p:cNvSpPr txBox="1"/>
          <p:nvPr/>
        </p:nvSpPr>
        <p:spPr>
          <a:xfrm>
            <a:off x="4937760" y="3200400"/>
            <a:ext cx="3566160" cy="670034"/>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A summary table holding all four figures at once. Every value would carry equal weight, so the reader would not know which one is urgent, and the IDR 15 billion would lose its emphasis.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Comparison Chart</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dirty="0">
                <a:solidFill>
                  <a:srgbClr val="5A6B68"/>
                </a:solidFill>
                <a:latin typeface="Calibri" pitchFamily="34" charset="0"/>
                <a:ea typeface="Calibri" pitchFamily="34" charset="-122"/>
                <a:cs typeface="Calibri" pitchFamily="34" charset="-120"/>
              </a:rPr>
              <a:t>Self-pay patients leave 35% unpaid, three times any other segment</a:t>
            </a:r>
            <a:endParaRPr lang="en-US" sz="1200" dirty="0"/>
          </a:p>
        </p:txBody>
      </p:sp>
      <p:sp>
        <p:nvSpPr>
          <p:cNvPr id="4" name="Shape 2"/>
          <p:cNvSpPr/>
          <p:nvPr/>
        </p:nvSpPr>
        <p:spPr>
          <a:xfrm>
            <a:off x="457200" y="1234440"/>
            <a:ext cx="5029200" cy="2331720"/>
          </a:xfrm>
          <a:prstGeom prst="roundRect">
            <a:avLst>
              <a:gd name="adj" fmla="val 2353"/>
            </a:avLst>
          </a:prstGeom>
          <a:solidFill>
            <a:schemeClr val="bg1"/>
          </a:solidFill>
          <a:ln w="12700">
            <a:solidFill>
              <a:srgbClr val="C9D6D2"/>
            </a:solidFill>
            <a:prstDash val="dash"/>
          </a:ln>
        </p:spPr>
      </p:sp>
      <p:sp>
        <p:nvSpPr>
          <p:cNvPr id="6" name="Shape 4"/>
          <p:cNvSpPr/>
          <p:nvPr/>
        </p:nvSpPr>
        <p:spPr>
          <a:xfrm>
            <a:off x="5669280" y="123444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7" name="Text 5"/>
          <p:cNvSpPr txBox="1"/>
          <p:nvPr/>
        </p:nvSpPr>
        <p:spPr>
          <a:xfrm>
            <a:off x="5833872" y="136245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Purpose</a:t>
            </a:r>
            <a:endParaRPr lang="en-US" sz="1300" dirty="0"/>
          </a:p>
        </p:txBody>
      </p:sp>
      <p:sp>
        <p:nvSpPr>
          <p:cNvPr id="8" name="Text 6"/>
          <p:cNvSpPr txBox="1"/>
          <p:nvPr/>
        </p:nvSpPr>
        <p:spPr>
          <a:xfrm>
            <a:off x="5833872" y="165506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Identify which patient segment leaves the most bills sitting in pending status.</a:t>
            </a:r>
            <a:endParaRPr lang="en-US" sz="1100" dirty="0"/>
          </a:p>
        </p:txBody>
      </p:sp>
      <p:sp>
        <p:nvSpPr>
          <p:cNvPr id="9" name="Shape 7"/>
          <p:cNvSpPr/>
          <p:nvPr/>
        </p:nvSpPr>
        <p:spPr>
          <a:xfrm>
            <a:off x="5669280" y="246888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10" name="Text 8"/>
          <p:cNvSpPr txBox="1"/>
          <p:nvPr/>
        </p:nvSpPr>
        <p:spPr>
          <a:xfrm>
            <a:off x="5833872" y="259689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Why a bar chart</a:t>
            </a:r>
            <a:endParaRPr lang="en-US" sz="1300" dirty="0"/>
          </a:p>
        </p:txBody>
      </p:sp>
      <p:sp>
        <p:nvSpPr>
          <p:cNvPr id="11" name="Text 9"/>
          <p:cNvSpPr txBox="1"/>
          <p:nvPr/>
        </p:nvSpPr>
        <p:spPr>
          <a:xfrm>
            <a:off x="5833872" y="288950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Comparing bar length is the easiest read for a handful of unordered categories.</a:t>
            </a:r>
            <a:endParaRPr lang="en-US" sz="1100" dirty="0"/>
          </a:p>
        </p:txBody>
      </p:sp>
      <p:sp>
        <p:nvSpPr>
          <p:cNvPr id="12" name="Shape 10"/>
          <p:cNvSpPr/>
          <p:nvPr/>
        </p:nvSpPr>
        <p:spPr>
          <a:xfrm>
            <a:off x="457200" y="3703320"/>
            <a:ext cx="8229600" cy="914400"/>
          </a:xfrm>
          <a:prstGeom prst="roundRect">
            <a:avLst>
              <a:gd name="adj" fmla="val 8000"/>
            </a:avLst>
          </a:prstGeom>
          <a:solidFill>
            <a:srgbClr val="EAF0EE"/>
          </a:solidFill>
          <a:ln/>
        </p:spPr>
      </p:sp>
      <p:sp>
        <p:nvSpPr>
          <p:cNvPr id="13" name="Text 11"/>
          <p:cNvSpPr txBox="1"/>
          <p:nvPr/>
        </p:nvSpPr>
        <p:spPr>
          <a:xfrm>
            <a:off x="685800" y="3803904"/>
            <a:ext cx="7772400" cy="237744"/>
          </a:xfrm>
          <a:prstGeom prst="rect">
            <a:avLst/>
          </a:prstGeom>
          <a:noFill/>
          <a:ln/>
        </p:spPr>
        <p:txBody>
          <a:bodyPr wrap="square" lIns="0" tIns="0" rIns="0" bIns="0" rtlCol="0" anchor="ctr"/>
          <a:lstStyle/>
          <a:p>
            <a:pPr marL="0" indent="0">
              <a:buNone/>
            </a:pPr>
            <a:r>
              <a:rPr lang="en-US" sz="1200" b="1" dirty="0">
                <a:solidFill>
                  <a:srgbClr val="B3382C"/>
                </a:solidFill>
                <a:latin typeface="Calibri" pitchFamily="34" charset="0"/>
                <a:ea typeface="Calibri" pitchFamily="34" charset="-122"/>
                <a:cs typeface="Calibri" pitchFamily="34" charset="-120"/>
              </a:rPr>
              <a:t>Weaker alternative</a:t>
            </a:r>
            <a:endParaRPr lang="en-US" sz="1200" dirty="0"/>
          </a:p>
        </p:txBody>
      </p:sp>
      <p:sp>
        <p:nvSpPr>
          <p:cNvPr id="14" name="Text 12"/>
          <p:cNvSpPr txBox="1"/>
          <p:nvPr/>
        </p:nvSpPr>
        <p:spPr>
          <a:xfrm>
            <a:off x="685800" y="4069080"/>
            <a:ext cx="7772400" cy="45720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A pie chart. Pending rate is a ratio within each segment, not a share of one whole, so the slices would not add to 100 percent and would mislead. The gap between 35 percent and roughly 12 percent is also harder to judge by angle than by length.</a:t>
            </a:r>
            <a:endParaRPr lang="en-US" sz="1050" dirty="0"/>
          </a:p>
        </p:txBody>
      </p:sp>
      <p:pic>
        <p:nvPicPr>
          <p:cNvPr id="15" name="Picture 14">
            <a:extLst>
              <a:ext uri="{FF2B5EF4-FFF2-40B4-BE49-F238E27FC236}">
                <a16:creationId xmlns:a16="http://schemas.microsoft.com/office/drawing/2014/main" id="{D7E5AF9D-C220-465C-BD23-C06E3DC548D4}"/>
              </a:ext>
            </a:extLst>
          </p:cNvPr>
          <p:cNvPicPr>
            <a:picLocks noChangeAspect="1"/>
          </p:cNvPicPr>
          <p:nvPr/>
        </p:nvPicPr>
        <p:blipFill>
          <a:blip r:embed="rId3"/>
          <a:stretch>
            <a:fillRect/>
          </a:stretch>
        </p:blipFill>
        <p:spPr>
          <a:xfrm>
            <a:off x="621792" y="1824069"/>
            <a:ext cx="4695210" cy="9144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Trend Chart</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a:solidFill>
                  <a:srgbClr val="5A6B68"/>
                </a:solidFill>
                <a:latin typeface="Calibri" pitchFamily="34" charset="0"/>
                <a:ea typeface="Calibri" pitchFamily="34" charset="-122"/>
                <a:cs typeface="Calibri" pitchFamily="34" charset="-120"/>
              </a:rPr>
              <a:t>Pending revenue rate stayed above the 10% target in 22 of 24 months, peaking at 23%</a:t>
            </a:r>
            <a:endParaRPr lang="en-US" sz="1200" dirty="0"/>
          </a:p>
        </p:txBody>
      </p:sp>
      <p:sp>
        <p:nvSpPr>
          <p:cNvPr id="4" name="Shape 2"/>
          <p:cNvSpPr/>
          <p:nvPr/>
        </p:nvSpPr>
        <p:spPr>
          <a:xfrm>
            <a:off x="457200" y="1234440"/>
            <a:ext cx="5029200" cy="2331720"/>
          </a:xfrm>
          <a:prstGeom prst="roundRect">
            <a:avLst>
              <a:gd name="adj" fmla="val 2353"/>
            </a:avLst>
          </a:prstGeom>
          <a:solidFill>
            <a:schemeClr val="bg1"/>
          </a:solidFill>
          <a:ln w="12700">
            <a:solidFill>
              <a:srgbClr val="C9D6D2"/>
            </a:solidFill>
            <a:prstDash val="dash"/>
          </a:ln>
        </p:spPr>
        <p:txBody>
          <a:bodyPr/>
          <a:lstStyle/>
          <a:p>
            <a:endParaRPr/>
          </a:p>
        </p:txBody>
      </p:sp>
      <p:sp>
        <p:nvSpPr>
          <p:cNvPr id="6" name="Shape 4"/>
          <p:cNvSpPr/>
          <p:nvPr/>
        </p:nvSpPr>
        <p:spPr>
          <a:xfrm>
            <a:off x="5669280" y="123444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txBody>
          <a:bodyPr/>
          <a:lstStyle/>
          <a:p>
            <a:endParaRPr/>
          </a:p>
        </p:txBody>
      </p:sp>
      <p:sp>
        <p:nvSpPr>
          <p:cNvPr id="7" name="Text 5"/>
          <p:cNvSpPr txBox="1"/>
          <p:nvPr/>
        </p:nvSpPr>
        <p:spPr>
          <a:xfrm>
            <a:off x="5833872" y="136245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Purpose</a:t>
            </a:r>
            <a:endParaRPr lang="en-US" sz="1300" dirty="0"/>
          </a:p>
        </p:txBody>
      </p:sp>
      <p:sp>
        <p:nvSpPr>
          <p:cNvPr id="8" name="Text 6"/>
          <p:cNvSpPr txBox="1"/>
          <p:nvPr/>
        </p:nvSpPr>
        <p:spPr>
          <a:xfrm>
            <a:off x="5833872" y="165506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Test whether the collection problem improves on its own or persists across time.</a:t>
            </a:r>
            <a:endParaRPr lang="en-US" sz="1100" dirty="0"/>
          </a:p>
        </p:txBody>
      </p:sp>
      <p:sp>
        <p:nvSpPr>
          <p:cNvPr id="9" name="Shape 7"/>
          <p:cNvSpPr/>
          <p:nvPr/>
        </p:nvSpPr>
        <p:spPr>
          <a:xfrm>
            <a:off x="5669280" y="246888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txBody>
          <a:bodyPr/>
          <a:lstStyle/>
          <a:p>
            <a:endParaRPr/>
          </a:p>
        </p:txBody>
      </p:sp>
      <p:sp>
        <p:nvSpPr>
          <p:cNvPr id="10" name="Text 8"/>
          <p:cNvSpPr txBox="1"/>
          <p:nvPr/>
        </p:nvSpPr>
        <p:spPr>
          <a:xfrm>
            <a:off x="5833872" y="259689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Why a line chart</a:t>
            </a:r>
            <a:endParaRPr lang="en-US" sz="1300" dirty="0"/>
          </a:p>
        </p:txBody>
      </p:sp>
      <p:sp>
        <p:nvSpPr>
          <p:cNvPr id="11" name="Text 9"/>
          <p:cNvSpPr txBox="1"/>
          <p:nvPr/>
        </p:nvSpPr>
        <p:spPr>
          <a:xfrm>
            <a:off x="5833872" y="288950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A line carries continuity between months, and the 10 percent reference line makes the distance to target visible at once.</a:t>
            </a:r>
            <a:endParaRPr lang="en-US" sz="1100" dirty="0"/>
          </a:p>
        </p:txBody>
      </p:sp>
      <p:sp>
        <p:nvSpPr>
          <p:cNvPr id="12" name="Shape 10"/>
          <p:cNvSpPr/>
          <p:nvPr/>
        </p:nvSpPr>
        <p:spPr>
          <a:xfrm>
            <a:off x="457200" y="3703320"/>
            <a:ext cx="8229600" cy="914400"/>
          </a:xfrm>
          <a:prstGeom prst="roundRect">
            <a:avLst>
              <a:gd name="adj" fmla="val 8000"/>
            </a:avLst>
          </a:prstGeom>
          <a:solidFill>
            <a:srgbClr val="EAF0EE"/>
          </a:solidFill>
          <a:ln/>
        </p:spPr>
        <p:txBody>
          <a:bodyPr/>
          <a:lstStyle/>
          <a:p>
            <a:endParaRPr/>
          </a:p>
        </p:txBody>
      </p:sp>
      <p:sp>
        <p:nvSpPr>
          <p:cNvPr id="13" name="Text 11"/>
          <p:cNvSpPr txBox="1"/>
          <p:nvPr/>
        </p:nvSpPr>
        <p:spPr>
          <a:xfrm>
            <a:off x="685800" y="3803904"/>
            <a:ext cx="7772400" cy="237744"/>
          </a:xfrm>
          <a:prstGeom prst="rect">
            <a:avLst/>
          </a:prstGeom>
          <a:noFill/>
          <a:ln/>
        </p:spPr>
        <p:txBody>
          <a:bodyPr wrap="square" lIns="0" tIns="0" rIns="0" bIns="0" rtlCol="0" anchor="ctr"/>
          <a:lstStyle/>
          <a:p>
            <a:pPr marL="0" indent="0">
              <a:buNone/>
            </a:pPr>
            <a:r>
              <a:rPr lang="en-US" sz="1200" b="1" dirty="0">
                <a:solidFill>
                  <a:srgbClr val="B3382C"/>
                </a:solidFill>
                <a:latin typeface="Calibri" pitchFamily="34" charset="0"/>
                <a:ea typeface="Calibri" pitchFamily="34" charset="-122"/>
                <a:cs typeface="Calibri" pitchFamily="34" charset="-120"/>
              </a:rPr>
              <a:t>Weaker alternative</a:t>
            </a:r>
            <a:endParaRPr lang="en-US" sz="1200" dirty="0"/>
          </a:p>
        </p:txBody>
      </p:sp>
      <p:sp>
        <p:nvSpPr>
          <p:cNvPr id="14" name="Text 12"/>
          <p:cNvSpPr txBox="1"/>
          <p:nvPr/>
        </p:nvSpPr>
        <p:spPr>
          <a:xfrm>
            <a:off x="685800" y="4069080"/>
            <a:ext cx="7772400" cy="45720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A monthly bar chart. Bars break the sense of flowing time and push the reader to compare months one by one, when the question is the direction over two years. A monthly percent difference was also tried and dropped, because one month with a small denominator spiked to 287 percent.</a:t>
            </a:r>
            <a:endParaRPr lang="en-US" sz="1050" dirty="0"/>
          </a:p>
        </p:txBody>
      </p:sp>
      <p:pic>
        <p:nvPicPr>
          <p:cNvPr id="15" name="Picture 14">
            <a:extLst>
              <a:ext uri="{FF2B5EF4-FFF2-40B4-BE49-F238E27FC236}">
                <a16:creationId xmlns:a16="http://schemas.microsoft.com/office/drawing/2014/main" id="{7BCED809-244E-9B65-6ECB-2DBCE6D23C15}"/>
              </a:ext>
            </a:extLst>
          </p:cNvPr>
          <p:cNvPicPr>
            <a:picLocks noChangeAspect="1"/>
          </p:cNvPicPr>
          <p:nvPr/>
        </p:nvPicPr>
        <p:blipFill>
          <a:blip r:embed="rId3"/>
          <a:stretch>
            <a:fillRect/>
          </a:stretch>
        </p:blipFill>
        <p:spPr>
          <a:xfrm>
            <a:off x="746891" y="1409191"/>
            <a:ext cx="4449818" cy="20971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Distribution Chart</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dirty="0">
                <a:solidFill>
                  <a:srgbClr val="5A6B68"/>
                </a:solidFill>
                <a:latin typeface="Calibri" pitchFamily="34" charset="0"/>
                <a:ea typeface="Calibri" pitchFamily="34" charset="-122"/>
                <a:cs typeface="Calibri" pitchFamily="34" charset="-120"/>
              </a:rPr>
              <a:t>Most out-of-pocket bills sit under IDR 10 million, but the tail runs to IDR 85 million</a:t>
            </a:r>
            <a:endParaRPr lang="en-US" sz="1200" dirty="0"/>
          </a:p>
        </p:txBody>
      </p:sp>
      <p:sp>
        <p:nvSpPr>
          <p:cNvPr id="4" name="Shape 2"/>
          <p:cNvSpPr/>
          <p:nvPr/>
        </p:nvSpPr>
        <p:spPr>
          <a:xfrm>
            <a:off x="457200" y="1234440"/>
            <a:ext cx="5029200" cy="2331720"/>
          </a:xfrm>
          <a:prstGeom prst="roundRect">
            <a:avLst>
              <a:gd name="adj" fmla="val 2353"/>
            </a:avLst>
          </a:prstGeom>
          <a:solidFill>
            <a:schemeClr val="bg1"/>
          </a:solidFill>
          <a:ln w="12700">
            <a:solidFill>
              <a:srgbClr val="C9D6D2"/>
            </a:solidFill>
            <a:prstDash val="dash"/>
          </a:ln>
        </p:spPr>
      </p:sp>
      <p:sp>
        <p:nvSpPr>
          <p:cNvPr id="5" name="Text 3"/>
          <p:cNvSpPr txBox="1"/>
          <p:nvPr/>
        </p:nvSpPr>
        <p:spPr>
          <a:xfrm>
            <a:off x="594360" y="2171700"/>
            <a:ext cx="4754880" cy="457200"/>
          </a:xfrm>
          <a:prstGeom prst="rect">
            <a:avLst/>
          </a:prstGeom>
          <a:noFill/>
          <a:ln/>
        </p:spPr>
        <p:txBody>
          <a:bodyPr wrap="square" lIns="0" tIns="0" rIns="0" bIns="0" rtlCol="0" anchor="ctr"/>
          <a:lstStyle/>
          <a:p>
            <a:pPr marL="0" indent="0" algn="ctr">
              <a:buNone/>
            </a:pPr>
            <a:endParaRPr lang="en-US" sz="1100" dirty="0"/>
          </a:p>
        </p:txBody>
      </p:sp>
      <p:sp>
        <p:nvSpPr>
          <p:cNvPr id="6" name="Shape 4"/>
          <p:cNvSpPr/>
          <p:nvPr/>
        </p:nvSpPr>
        <p:spPr>
          <a:xfrm>
            <a:off x="5669280" y="123444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7" name="Text 5"/>
          <p:cNvSpPr txBox="1"/>
          <p:nvPr/>
        </p:nvSpPr>
        <p:spPr>
          <a:xfrm>
            <a:off x="5833872" y="136245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Purpose</a:t>
            </a:r>
            <a:endParaRPr lang="en-US" sz="1300" dirty="0"/>
          </a:p>
        </p:txBody>
      </p:sp>
      <p:sp>
        <p:nvSpPr>
          <p:cNvPr id="8" name="Text 6"/>
          <p:cNvSpPr txBox="1"/>
          <p:nvPr/>
        </p:nvSpPr>
        <p:spPr>
          <a:xfrm>
            <a:off x="5833872" y="165506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See how patient burden is spread and find the tail of large bills most at risk of going unpaid.</a:t>
            </a:r>
            <a:endParaRPr lang="en-US" sz="1100" dirty="0"/>
          </a:p>
        </p:txBody>
      </p:sp>
      <p:sp>
        <p:nvSpPr>
          <p:cNvPr id="9" name="Shape 7"/>
          <p:cNvSpPr/>
          <p:nvPr/>
        </p:nvSpPr>
        <p:spPr>
          <a:xfrm>
            <a:off x="5669280" y="246888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10" name="Text 8"/>
          <p:cNvSpPr txBox="1"/>
          <p:nvPr/>
        </p:nvSpPr>
        <p:spPr>
          <a:xfrm>
            <a:off x="5833872" y="259689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Why a histogram</a:t>
            </a:r>
            <a:endParaRPr lang="en-US" sz="1300" dirty="0"/>
          </a:p>
        </p:txBody>
      </p:sp>
      <p:sp>
        <p:nvSpPr>
          <p:cNvPr id="11" name="Text 9"/>
          <p:cNvSpPr txBox="1"/>
          <p:nvPr/>
        </p:nvSpPr>
        <p:spPr>
          <a:xfrm>
            <a:off x="5833872" y="288950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A two million rupiah bin reveals the shape of the spread and the length of its tail, which an average hides.</a:t>
            </a:r>
            <a:endParaRPr lang="en-US" sz="1100" dirty="0"/>
          </a:p>
        </p:txBody>
      </p:sp>
      <p:sp>
        <p:nvSpPr>
          <p:cNvPr id="12" name="Shape 10"/>
          <p:cNvSpPr/>
          <p:nvPr/>
        </p:nvSpPr>
        <p:spPr>
          <a:xfrm>
            <a:off x="457200" y="3703320"/>
            <a:ext cx="8229600" cy="914400"/>
          </a:xfrm>
          <a:prstGeom prst="roundRect">
            <a:avLst>
              <a:gd name="adj" fmla="val 8000"/>
            </a:avLst>
          </a:prstGeom>
          <a:solidFill>
            <a:srgbClr val="EAF0EE"/>
          </a:solidFill>
          <a:ln/>
        </p:spPr>
      </p:sp>
      <p:sp>
        <p:nvSpPr>
          <p:cNvPr id="13" name="Text 11"/>
          <p:cNvSpPr txBox="1"/>
          <p:nvPr/>
        </p:nvSpPr>
        <p:spPr>
          <a:xfrm>
            <a:off x="685800" y="3803904"/>
            <a:ext cx="7772400" cy="237744"/>
          </a:xfrm>
          <a:prstGeom prst="rect">
            <a:avLst/>
          </a:prstGeom>
          <a:noFill/>
          <a:ln/>
        </p:spPr>
        <p:txBody>
          <a:bodyPr wrap="square" lIns="0" tIns="0" rIns="0" bIns="0" rtlCol="0" anchor="ctr"/>
          <a:lstStyle/>
          <a:p>
            <a:pPr marL="0" indent="0">
              <a:buNone/>
            </a:pPr>
            <a:r>
              <a:rPr lang="en-US" sz="1200" b="1" dirty="0">
                <a:solidFill>
                  <a:srgbClr val="B3382C"/>
                </a:solidFill>
                <a:latin typeface="Calibri" pitchFamily="34" charset="0"/>
                <a:ea typeface="Calibri" pitchFamily="34" charset="-122"/>
                <a:cs typeface="Calibri" pitchFamily="34" charset="-120"/>
              </a:rPr>
              <a:t>Weaker alternative</a:t>
            </a:r>
            <a:endParaRPr lang="en-US" sz="1200" dirty="0"/>
          </a:p>
        </p:txBody>
      </p:sp>
      <p:sp>
        <p:nvSpPr>
          <p:cNvPr id="14" name="Text 12"/>
          <p:cNvSpPr txBox="1"/>
          <p:nvPr/>
        </p:nvSpPr>
        <p:spPr>
          <a:xfrm>
            <a:off x="685800" y="4069080"/>
            <a:ext cx="7772400" cy="45720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A single average out-of-pocket KPI. One number conceals the tail reaching IDR 85 million, and those large bills are exactly the ones most likely to become receivables. A box plot is more compact but harder to read for a non-technical audience such as a finance lead.</a:t>
            </a:r>
            <a:endParaRPr lang="en-US" sz="1050" dirty="0"/>
          </a:p>
        </p:txBody>
      </p:sp>
      <p:pic>
        <p:nvPicPr>
          <p:cNvPr id="16" name="Picture 15">
            <a:extLst>
              <a:ext uri="{FF2B5EF4-FFF2-40B4-BE49-F238E27FC236}">
                <a16:creationId xmlns:a16="http://schemas.microsoft.com/office/drawing/2014/main" id="{95DA8001-83AC-71F6-5670-ED885747AD08}"/>
              </a:ext>
            </a:extLst>
          </p:cNvPr>
          <p:cNvPicPr>
            <a:picLocks noChangeAspect="1"/>
          </p:cNvPicPr>
          <p:nvPr/>
        </p:nvPicPr>
        <p:blipFill>
          <a:blip r:embed="rId3"/>
          <a:stretch>
            <a:fillRect/>
          </a:stretch>
        </p:blipFill>
        <p:spPr>
          <a:xfrm>
            <a:off x="621792" y="1326708"/>
            <a:ext cx="4596593" cy="21742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3F3A"/>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Milestone 1 Status</a:t>
            </a:r>
            <a:endParaRPr lang="en-US" sz="2800" dirty="0"/>
          </a:p>
        </p:txBody>
      </p:sp>
      <p:sp>
        <p:nvSpPr>
          <p:cNvPr id="3" name="Text 1"/>
          <p:cNvSpPr txBox="1"/>
          <p:nvPr/>
        </p:nvSpPr>
        <p:spPr>
          <a:xfrm>
            <a:off x="457200" y="896112"/>
            <a:ext cx="8229600" cy="274320"/>
          </a:xfrm>
          <a:prstGeom prst="rect">
            <a:avLst/>
          </a:prstGeom>
          <a:noFill/>
          <a:ln/>
        </p:spPr>
        <p:txBody>
          <a:bodyPr wrap="square" lIns="0" tIns="0" rIns="0" bIns="0" rtlCol="0" anchor="ctr"/>
          <a:lstStyle/>
          <a:p>
            <a:pPr marL="0" indent="0">
              <a:buNone/>
            </a:pPr>
            <a:r>
              <a:rPr lang="en-US" sz="1200" dirty="0">
                <a:solidFill>
                  <a:srgbClr val="8FB0AA"/>
                </a:solidFill>
                <a:latin typeface="Calibri" pitchFamily="34" charset="0"/>
                <a:ea typeface="Calibri" pitchFamily="34" charset="-122"/>
                <a:cs typeface="Calibri" pitchFamily="34" charset="-120"/>
              </a:rPr>
              <a:t>Every mandatory building block is now in place in Tableau</a:t>
            </a:r>
            <a:endParaRPr lang="en-US" sz="1200" dirty="0"/>
          </a:p>
        </p:txBody>
      </p:sp>
      <p:sp>
        <p:nvSpPr>
          <p:cNvPr id="4" name="Shape 2"/>
          <p:cNvSpPr/>
          <p:nvPr/>
        </p:nvSpPr>
        <p:spPr>
          <a:xfrm>
            <a:off x="457200" y="1325880"/>
            <a:ext cx="4023360" cy="640080"/>
          </a:xfrm>
          <a:prstGeom prst="roundRect">
            <a:avLst>
              <a:gd name="adj" fmla="val 8571"/>
            </a:avLst>
          </a:prstGeom>
          <a:solidFill>
            <a:srgbClr val="1B534D"/>
          </a:solidFill>
          <a:ln/>
        </p:spPr>
      </p:sp>
      <p:sp>
        <p:nvSpPr>
          <p:cNvPr id="5" name="Text 3"/>
          <p:cNvSpPr txBox="1"/>
          <p:nvPr/>
        </p:nvSpPr>
        <p:spPr>
          <a:xfrm>
            <a:off x="621792" y="139903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5 tables</a:t>
            </a:r>
            <a:endParaRPr lang="en-US" sz="1200" dirty="0"/>
          </a:p>
        </p:txBody>
      </p:sp>
      <p:sp>
        <p:nvSpPr>
          <p:cNvPr id="6" name="Text 4"/>
          <p:cNvSpPr txBox="1"/>
          <p:nvPr/>
        </p:nvSpPr>
        <p:spPr>
          <a:xfrm>
            <a:off x="621792" y="163677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Above the minimum of 4</a:t>
            </a:r>
            <a:endParaRPr lang="en-US" sz="950" dirty="0"/>
          </a:p>
        </p:txBody>
      </p:sp>
      <p:sp>
        <p:nvSpPr>
          <p:cNvPr id="7" name="Shape 5"/>
          <p:cNvSpPr/>
          <p:nvPr/>
        </p:nvSpPr>
        <p:spPr>
          <a:xfrm>
            <a:off x="4663440" y="1325880"/>
            <a:ext cx="4023360" cy="640080"/>
          </a:xfrm>
          <a:prstGeom prst="roundRect">
            <a:avLst>
              <a:gd name="adj" fmla="val 8571"/>
            </a:avLst>
          </a:prstGeom>
          <a:solidFill>
            <a:srgbClr val="1B534D"/>
          </a:solidFill>
          <a:ln/>
        </p:spPr>
      </p:sp>
      <p:sp>
        <p:nvSpPr>
          <p:cNvPr id="8" name="Text 6"/>
          <p:cNvSpPr txBox="1"/>
          <p:nvPr/>
        </p:nvSpPr>
        <p:spPr>
          <a:xfrm>
            <a:off x="4828032" y="139903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Relationships &amp; grain</a:t>
            </a:r>
            <a:endParaRPr lang="en-US" sz="1200" dirty="0"/>
          </a:p>
        </p:txBody>
      </p:sp>
      <p:sp>
        <p:nvSpPr>
          <p:cNvPr id="9" name="Text 7"/>
          <p:cNvSpPr txBox="1"/>
          <p:nvPr/>
        </p:nvSpPr>
        <p:spPr>
          <a:xfrm>
            <a:off x="4828032" y="163677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Admissions at the centre, one row per admission</a:t>
            </a:r>
            <a:endParaRPr lang="en-US" sz="950" dirty="0"/>
          </a:p>
        </p:txBody>
      </p:sp>
      <p:sp>
        <p:nvSpPr>
          <p:cNvPr id="10" name="Shape 8"/>
          <p:cNvSpPr/>
          <p:nvPr/>
        </p:nvSpPr>
        <p:spPr>
          <a:xfrm>
            <a:off x="457200" y="2103120"/>
            <a:ext cx="4023360" cy="640080"/>
          </a:xfrm>
          <a:prstGeom prst="roundRect">
            <a:avLst>
              <a:gd name="adj" fmla="val 8571"/>
            </a:avLst>
          </a:prstGeom>
          <a:solidFill>
            <a:srgbClr val="1B534D"/>
          </a:solidFill>
          <a:ln/>
        </p:spPr>
      </p:sp>
      <p:sp>
        <p:nvSpPr>
          <p:cNvPr id="11" name="Text 9"/>
          <p:cNvSpPr txBox="1"/>
          <p:nvPr/>
        </p:nvSpPr>
        <p:spPr>
          <a:xfrm>
            <a:off x="621792" y="217627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5 metrics</a:t>
            </a:r>
            <a:endParaRPr lang="en-US" sz="1200" dirty="0"/>
          </a:p>
        </p:txBody>
      </p:sp>
      <p:sp>
        <p:nvSpPr>
          <p:cNvPr id="12" name="Text 10"/>
          <p:cNvSpPr txBox="1"/>
          <p:nvPr/>
        </p:nvSpPr>
        <p:spPr>
          <a:xfrm>
            <a:off x="621792" y="241401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Including two ratios and one monthly view</a:t>
            </a:r>
            <a:endParaRPr lang="en-US" sz="950" dirty="0"/>
          </a:p>
        </p:txBody>
      </p:sp>
      <p:sp>
        <p:nvSpPr>
          <p:cNvPr id="13" name="Shape 11"/>
          <p:cNvSpPr/>
          <p:nvPr/>
        </p:nvSpPr>
        <p:spPr>
          <a:xfrm>
            <a:off x="4663440" y="2103120"/>
            <a:ext cx="4023360" cy="640080"/>
          </a:xfrm>
          <a:prstGeom prst="roundRect">
            <a:avLst>
              <a:gd name="adj" fmla="val 8571"/>
            </a:avLst>
          </a:prstGeom>
          <a:solidFill>
            <a:srgbClr val="1B534D"/>
          </a:solidFill>
          <a:ln/>
        </p:spPr>
      </p:sp>
      <p:sp>
        <p:nvSpPr>
          <p:cNvPr id="14" name="Text 12"/>
          <p:cNvSpPr txBox="1"/>
          <p:nvPr/>
        </p:nvSpPr>
        <p:spPr>
          <a:xfrm>
            <a:off x="4828032" y="217627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4 KPI cards</a:t>
            </a:r>
            <a:endParaRPr lang="en-US" sz="1200" dirty="0"/>
          </a:p>
        </p:txBody>
      </p:sp>
      <p:sp>
        <p:nvSpPr>
          <p:cNvPr id="15" name="Text 13"/>
          <p:cNvSpPr txBox="1"/>
          <p:nvPr/>
        </p:nvSpPr>
        <p:spPr>
          <a:xfrm>
            <a:off x="4828032" y="241401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Above the minimum of 3</a:t>
            </a:r>
            <a:endParaRPr lang="en-US" sz="950" dirty="0"/>
          </a:p>
        </p:txBody>
      </p:sp>
      <p:sp>
        <p:nvSpPr>
          <p:cNvPr id="16" name="Shape 14"/>
          <p:cNvSpPr/>
          <p:nvPr/>
        </p:nvSpPr>
        <p:spPr>
          <a:xfrm>
            <a:off x="457200" y="2880360"/>
            <a:ext cx="4023360" cy="640080"/>
          </a:xfrm>
          <a:prstGeom prst="roundRect">
            <a:avLst>
              <a:gd name="adj" fmla="val 8571"/>
            </a:avLst>
          </a:prstGeom>
          <a:solidFill>
            <a:srgbClr val="1B534D"/>
          </a:solidFill>
          <a:ln/>
        </p:spPr>
      </p:sp>
      <p:sp>
        <p:nvSpPr>
          <p:cNvPr id="17" name="Text 15"/>
          <p:cNvSpPr txBox="1"/>
          <p:nvPr/>
        </p:nvSpPr>
        <p:spPr>
          <a:xfrm>
            <a:off x="621792" y="295351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Comparison</a:t>
            </a:r>
            <a:endParaRPr lang="en-US" sz="1200" dirty="0"/>
          </a:p>
        </p:txBody>
      </p:sp>
      <p:sp>
        <p:nvSpPr>
          <p:cNvPr id="18" name="Text 16"/>
          <p:cNvSpPr txBox="1"/>
          <p:nvPr/>
        </p:nvSpPr>
        <p:spPr>
          <a:xfrm>
            <a:off x="621792" y="319125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Pending rate by insurance type, sorted</a:t>
            </a:r>
            <a:endParaRPr lang="en-US" sz="950" dirty="0"/>
          </a:p>
        </p:txBody>
      </p:sp>
      <p:sp>
        <p:nvSpPr>
          <p:cNvPr id="19" name="Shape 17"/>
          <p:cNvSpPr/>
          <p:nvPr/>
        </p:nvSpPr>
        <p:spPr>
          <a:xfrm>
            <a:off x="4663440" y="2880360"/>
            <a:ext cx="4023360" cy="640080"/>
          </a:xfrm>
          <a:prstGeom prst="roundRect">
            <a:avLst>
              <a:gd name="adj" fmla="val 8571"/>
            </a:avLst>
          </a:prstGeom>
          <a:solidFill>
            <a:srgbClr val="1B534D"/>
          </a:solidFill>
          <a:ln/>
        </p:spPr>
      </p:sp>
      <p:sp>
        <p:nvSpPr>
          <p:cNvPr id="20" name="Text 18"/>
          <p:cNvSpPr txBox="1"/>
          <p:nvPr/>
        </p:nvSpPr>
        <p:spPr>
          <a:xfrm>
            <a:off x="4828032" y="295351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Trend</a:t>
            </a:r>
            <a:endParaRPr lang="en-US" sz="1200" dirty="0"/>
          </a:p>
        </p:txBody>
      </p:sp>
      <p:sp>
        <p:nvSpPr>
          <p:cNvPr id="21" name="Text 19"/>
          <p:cNvSpPr txBox="1"/>
          <p:nvPr/>
        </p:nvSpPr>
        <p:spPr>
          <a:xfrm>
            <a:off x="4828032" y="319125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24 monthly points with a 10 percent reference line</a:t>
            </a:r>
            <a:endParaRPr lang="en-US" sz="950" dirty="0"/>
          </a:p>
        </p:txBody>
      </p:sp>
      <p:sp>
        <p:nvSpPr>
          <p:cNvPr id="22" name="Shape 20"/>
          <p:cNvSpPr/>
          <p:nvPr/>
        </p:nvSpPr>
        <p:spPr>
          <a:xfrm>
            <a:off x="457200" y="3657600"/>
            <a:ext cx="4023360" cy="640080"/>
          </a:xfrm>
          <a:prstGeom prst="roundRect">
            <a:avLst>
              <a:gd name="adj" fmla="val 8571"/>
            </a:avLst>
          </a:prstGeom>
          <a:solidFill>
            <a:srgbClr val="1B534D"/>
          </a:solidFill>
          <a:ln/>
        </p:spPr>
      </p:sp>
      <p:sp>
        <p:nvSpPr>
          <p:cNvPr id="23" name="Text 21"/>
          <p:cNvSpPr txBox="1"/>
          <p:nvPr/>
        </p:nvSpPr>
        <p:spPr>
          <a:xfrm>
            <a:off x="621792" y="373075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Distribution</a:t>
            </a:r>
            <a:endParaRPr lang="en-US" sz="1200" dirty="0"/>
          </a:p>
        </p:txBody>
      </p:sp>
      <p:sp>
        <p:nvSpPr>
          <p:cNvPr id="24" name="Text 22"/>
          <p:cNvSpPr txBox="1"/>
          <p:nvPr/>
        </p:nvSpPr>
        <p:spPr>
          <a:xfrm>
            <a:off x="621792" y="396849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Out-of-pocket bins of two million rupiah</a:t>
            </a:r>
            <a:endParaRPr lang="en-US" sz="950" dirty="0"/>
          </a:p>
        </p:txBody>
      </p:sp>
      <p:sp>
        <p:nvSpPr>
          <p:cNvPr id="25" name="Shape 23"/>
          <p:cNvSpPr/>
          <p:nvPr/>
        </p:nvSpPr>
        <p:spPr>
          <a:xfrm>
            <a:off x="4663440" y="3657600"/>
            <a:ext cx="4023360" cy="640080"/>
          </a:xfrm>
          <a:prstGeom prst="roundRect">
            <a:avLst>
              <a:gd name="adj" fmla="val 8571"/>
            </a:avLst>
          </a:prstGeom>
          <a:solidFill>
            <a:srgbClr val="1B534D"/>
          </a:solidFill>
          <a:ln/>
        </p:spPr>
      </p:sp>
      <p:sp>
        <p:nvSpPr>
          <p:cNvPr id="26" name="Text 24"/>
          <p:cNvSpPr txBox="1"/>
          <p:nvPr/>
        </p:nvSpPr>
        <p:spPr>
          <a:xfrm>
            <a:off x="4828032" y="373075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Chart titles</a:t>
            </a:r>
            <a:endParaRPr lang="en-US" sz="1200" dirty="0"/>
          </a:p>
        </p:txBody>
      </p:sp>
      <p:sp>
        <p:nvSpPr>
          <p:cNvPr id="27" name="Text 25"/>
          <p:cNvSpPr txBox="1"/>
          <p:nvPr/>
        </p:nvSpPr>
        <p:spPr>
          <a:xfrm>
            <a:off x="4828032" y="396849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All written as findings rather than chart names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23F3A"/>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Milestone 2 Technical Build</a:t>
            </a:r>
            <a:endParaRPr lang="en-US" sz="2800" dirty="0"/>
          </a:p>
        </p:txBody>
      </p:sp>
      <p:sp>
        <p:nvSpPr>
          <p:cNvPr id="3" name="Text 1"/>
          <p:cNvSpPr txBox="1"/>
          <p:nvPr/>
        </p:nvSpPr>
        <p:spPr>
          <a:xfrm>
            <a:off x="457200" y="896112"/>
            <a:ext cx="8229600" cy="274320"/>
          </a:xfrm>
          <a:prstGeom prst="rect">
            <a:avLst/>
          </a:prstGeom>
          <a:noFill/>
          <a:ln/>
        </p:spPr>
        <p:txBody>
          <a:bodyPr wrap="square" lIns="0" tIns="0" rIns="0" bIns="0" rtlCol="0" anchor="ctr"/>
          <a:lstStyle/>
          <a:p>
            <a:pPr marL="0" indent="0">
              <a:buNone/>
            </a:pPr>
            <a:r>
              <a:rPr lang="en-US" sz="1200" dirty="0">
                <a:solidFill>
                  <a:srgbClr val="8FB0AA"/>
                </a:solidFill>
                <a:latin typeface="Calibri" pitchFamily="34" charset="0"/>
                <a:ea typeface="Calibri" pitchFamily="34" charset="-122"/>
                <a:cs typeface="Calibri" pitchFamily="34" charset="-120"/>
              </a:rPr>
              <a:t>Five advanced techniques layered on top of the Milestone 1 building blocks</a:t>
            </a:r>
            <a:endParaRPr lang="en-US" sz="1200" dirty="0"/>
          </a:p>
        </p:txBody>
      </p:sp>
      <p:sp>
        <p:nvSpPr>
          <p:cNvPr id="4" name="Shape 2"/>
          <p:cNvSpPr/>
          <p:nvPr/>
        </p:nvSpPr>
        <p:spPr>
          <a:xfrm>
            <a:off x="457200" y="1325880"/>
            <a:ext cx="4023360" cy="640080"/>
          </a:xfrm>
          <a:prstGeom prst="roundRect">
            <a:avLst>
              <a:gd name="adj" fmla="val 8571"/>
            </a:avLst>
          </a:prstGeom>
          <a:solidFill>
            <a:srgbClr val="1B534D"/>
          </a:solidFill>
          <a:ln/>
        </p:spPr>
      </p:sp>
      <p:sp>
        <p:nvSpPr>
          <p:cNvPr id="5" name="Text 3"/>
          <p:cNvSpPr txBox="1"/>
          <p:nvPr/>
        </p:nvSpPr>
        <p:spPr>
          <a:xfrm>
            <a:off x="621792" y="139903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LOD expression</a:t>
            </a:r>
            <a:endParaRPr lang="en-US" sz="1200" dirty="0"/>
          </a:p>
        </p:txBody>
      </p:sp>
      <p:sp>
        <p:nvSpPr>
          <p:cNvPr id="6" name="Text 4"/>
          <p:cNvSpPr txBox="1"/>
          <p:nvPr/>
        </p:nvSpPr>
        <p:spPr>
          <a:xfrm>
            <a:off x="621792" y="163677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Two-year branch revenue that stays the same when filters change</a:t>
            </a:r>
            <a:endParaRPr lang="en-US" sz="950" dirty="0"/>
          </a:p>
        </p:txBody>
      </p:sp>
      <p:sp>
        <p:nvSpPr>
          <p:cNvPr id="7" name="Shape 5"/>
          <p:cNvSpPr/>
          <p:nvPr/>
        </p:nvSpPr>
        <p:spPr>
          <a:xfrm>
            <a:off x="4663440" y="1325880"/>
            <a:ext cx="4023360" cy="640080"/>
          </a:xfrm>
          <a:prstGeom prst="roundRect">
            <a:avLst>
              <a:gd name="adj" fmla="val 8571"/>
            </a:avLst>
          </a:prstGeom>
          <a:solidFill>
            <a:srgbClr val="1B534D"/>
          </a:solidFill>
          <a:ln/>
        </p:spPr>
      </p:sp>
      <p:sp>
        <p:nvSpPr>
          <p:cNvPr id="8" name="Text 6"/>
          <p:cNvSpPr txBox="1"/>
          <p:nvPr/>
        </p:nvSpPr>
        <p:spPr>
          <a:xfrm>
            <a:off x="4828032" y="139903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Top 5 ranking</a:t>
            </a:r>
            <a:endParaRPr lang="en-US" sz="1200" dirty="0"/>
          </a:p>
        </p:txBody>
      </p:sp>
      <p:sp>
        <p:nvSpPr>
          <p:cNvPr id="9" name="Text 7"/>
          <p:cNvSpPr txBox="1"/>
          <p:nvPr/>
        </p:nvSpPr>
        <p:spPr>
          <a:xfrm>
            <a:off x="4828032" y="163677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Departments ordered by pending revenue rate</a:t>
            </a:r>
            <a:endParaRPr lang="en-US" sz="950" dirty="0"/>
          </a:p>
        </p:txBody>
      </p:sp>
      <p:sp>
        <p:nvSpPr>
          <p:cNvPr id="10" name="Shape 8"/>
          <p:cNvSpPr/>
          <p:nvPr/>
        </p:nvSpPr>
        <p:spPr>
          <a:xfrm>
            <a:off x="457200" y="2103120"/>
            <a:ext cx="4023360" cy="640080"/>
          </a:xfrm>
          <a:prstGeom prst="roundRect">
            <a:avLst>
              <a:gd name="adj" fmla="val 8571"/>
            </a:avLst>
          </a:prstGeom>
          <a:solidFill>
            <a:srgbClr val="1B534D"/>
          </a:solidFill>
          <a:ln/>
        </p:spPr>
      </p:sp>
      <p:sp>
        <p:nvSpPr>
          <p:cNvPr id="11" name="Text 9"/>
          <p:cNvSpPr txBox="1"/>
          <p:nvPr/>
        </p:nvSpPr>
        <p:spPr>
          <a:xfrm>
            <a:off x="621792" y="217627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Running total</a:t>
            </a:r>
            <a:endParaRPr lang="en-US" sz="1200" dirty="0"/>
          </a:p>
        </p:txBody>
      </p:sp>
      <p:sp>
        <p:nvSpPr>
          <p:cNvPr id="12" name="Text 10"/>
          <p:cNvSpPr txBox="1"/>
          <p:nvPr/>
        </p:nvSpPr>
        <p:spPr>
          <a:xfrm>
            <a:off x="621792" y="241401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Pending revenue added up by admission month</a:t>
            </a:r>
            <a:endParaRPr lang="en-US" sz="950" dirty="0"/>
          </a:p>
        </p:txBody>
      </p:sp>
      <p:sp>
        <p:nvSpPr>
          <p:cNvPr id="13" name="Shape 11"/>
          <p:cNvSpPr/>
          <p:nvPr/>
        </p:nvSpPr>
        <p:spPr>
          <a:xfrm>
            <a:off x="4663440" y="2103120"/>
            <a:ext cx="4023360" cy="640080"/>
          </a:xfrm>
          <a:prstGeom prst="roundRect">
            <a:avLst>
              <a:gd name="adj" fmla="val 8571"/>
            </a:avLst>
          </a:prstGeom>
          <a:solidFill>
            <a:srgbClr val="1B534D"/>
          </a:solidFill>
          <a:ln/>
        </p:spPr>
      </p:sp>
      <p:sp>
        <p:nvSpPr>
          <p:cNvPr id="14" name="Text 12"/>
          <p:cNvSpPr txBox="1"/>
          <p:nvPr/>
        </p:nvSpPr>
        <p:spPr>
          <a:xfrm>
            <a:off x="4828032" y="217627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Branch map</a:t>
            </a:r>
            <a:endParaRPr lang="en-US" sz="1200" dirty="0"/>
          </a:p>
        </p:txBody>
      </p:sp>
      <p:sp>
        <p:nvSpPr>
          <p:cNvPr id="15" name="Text 13"/>
          <p:cNvSpPr txBox="1"/>
          <p:nvPr/>
        </p:nvSpPr>
        <p:spPr>
          <a:xfrm>
            <a:off x="4828032" y="241401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Eight branches plotted from latitude and longitude</a:t>
            </a:r>
            <a:endParaRPr lang="en-US" sz="950" dirty="0"/>
          </a:p>
        </p:txBody>
      </p:sp>
      <p:sp>
        <p:nvSpPr>
          <p:cNvPr id="16" name="Shape 14"/>
          <p:cNvSpPr/>
          <p:nvPr/>
        </p:nvSpPr>
        <p:spPr>
          <a:xfrm>
            <a:off x="457200" y="2880360"/>
            <a:ext cx="4023360" cy="640080"/>
          </a:xfrm>
          <a:prstGeom prst="roundRect">
            <a:avLst>
              <a:gd name="adj" fmla="val 8571"/>
            </a:avLst>
          </a:prstGeom>
          <a:solidFill>
            <a:srgbClr val="1B534D"/>
          </a:solidFill>
          <a:ln/>
        </p:spPr>
      </p:sp>
      <p:sp>
        <p:nvSpPr>
          <p:cNvPr id="17" name="Text 15"/>
          <p:cNvSpPr txBox="1"/>
          <p:nvPr/>
        </p:nvSpPr>
        <p:spPr>
          <a:xfrm>
            <a:off x="621792" y="295351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Three filters</a:t>
            </a:r>
            <a:endParaRPr lang="en-US" sz="1200" dirty="0"/>
          </a:p>
        </p:txBody>
      </p:sp>
      <p:sp>
        <p:nvSpPr>
          <p:cNvPr id="18" name="Text 16"/>
          <p:cNvSpPr txBox="1"/>
          <p:nvPr/>
        </p:nvSpPr>
        <p:spPr>
          <a:xfrm>
            <a:off x="621792" y="319125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Admission date, branch name, insurance type</a:t>
            </a:r>
            <a:endParaRPr lang="en-US" sz="950" dirty="0"/>
          </a:p>
        </p:txBody>
      </p:sp>
      <p:sp>
        <p:nvSpPr>
          <p:cNvPr id="19" name="Shape 17"/>
          <p:cNvSpPr/>
          <p:nvPr/>
        </p:nvSpPr>
        <p:spPr>
          <a:xfrm>
            <a:off x="4663440" y="2880360"/>
            <a:ext cx="4023360" cy="640080"/>
          </a:xfrm>
          <a:prstGeom prst="roundRect">
            <a:avLst>
              <a:gd name="adj" fmla="val 8571"/>
            </a:avLst>
          </a:prstGeom>
          <a:solidFill>
            <a:srgbClr val="1B534D"/>
          </a:solidFill>
          <a:ln/>
        </p:spPr>
      </p:sp>
      <p:sp>
        <p:nvSpPr>
          <p:cNvPr id="20" name="Text 18"/>
          <p:cNvSpPr txBox="1"/>
          <p:nvPr/>
        </p:nvSpPr>
        <p:spPr>
          <a:xfrm>
            <a:off x="4828032" y="295351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Seven insights</a:t>
            </a:r>
            <a:endParaRPr lang="en-US" sz="1200" dirty="0"/>
          </a:p>
        </p:txBody>
      </p:sp>
      <p:sp>
        <p:nvSpPr>
          <p:cNvPr id="21" name="Text 19"/>
          <p:cNvSpPr txBox="1"/>
          <p:nvPr/>
        </p:nvSpPr>
        <p:spPr>
          <a:xfrm>
            <a:off x="4828032" y="319125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OBIPR findings close the deck</a:t>
            </a:r>
            <a:endParaRPr lang="en-US" sz="950" dirty="0"/>
          </a:p>
        </p:txBody>
      </p:sp>
      <p:sp>
        <p:nvSpPr>
          <p:cNvPr id="22" name="Shape 20"/>
          <p:cNvSpPr/>
          <p:nvPr/>
        </p:nvSpPr>
        <p:spPr>
          <a:xfrm>
            <a:off x="457200" y="3657600"/>
            <a:ext cx="4023360" cy="640080"/>
          </a:xfrm>
          <a:prstGeom prst="roundRect">
            <a:avLst>
              <a:gd name="adj" fmla="val 8571"/>
            </a:avLst>
          </a:prstGeom>
          <a:solidFill>
            <a:srgbClr val="1B534D"/>
          </a:solidFill>
          <a:ln/>
        </p:spPr>
      </p:sp>
      <p:sp>
        <p:nvSpPr>
          <p:cNvPr id="23" name="Text 21"/>
          <p:cNvSpPr txBox="1"/>
          <p:nvPr/>
        </p:nvSpPr>
        <p:spPr>
          <a:xfrm>
            <a:off x="621792" y="373075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Grain unchanged</a:t>
            </a:r>
            <a:endParaRPr lang="en-US" sz="1200" dirty="0"/>
          </a:p>
        </p:txBody>
      </p:sp>
      <p:sp>
        <p:nvSpPr>
          <p:cNvPr id="24" name="Text 22"/>
          <p:cNvSpPr txBox="1"/>
          <p:nvPr/>
        </p:nvSpPr>
        <p:spPr>
          <a:xfrm>
            <a:off x="621792" y="396849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Still one row per admission across every new view</a:t>
            </a:r>
            <a:endParaRPr lang="en-US" sz="950" dirty="0"/>
          </a:p>
        </p:txBody>
      </p:sp>
      <p:sp>
        <p:nvSpPr>
          <p:cNvPr id="25" name="Shape 23"/>
          <p:cNvSpPr/>
          <p:nvPr/>
        </p:nvSpPr>
        <p:spPr>
          <a:xfrm>
            <a:off x="4663440" y="3657600"/>
            <a:ext cx="4023360" cy="640080"/>
          </a:xfrm>
          <a:prstGeom prst="roundRect">
            <a:avLst>
              <a:gd name="adj" fmla="val 8571"/>
            </a:avLst>
          </a:prstGeom>
          <a:solidFill>
            <a:srgbClr val="1B534D"/>
          </a:solidFill>
          <a:ln/>
        </p:spPr>
      </p:sp>
      <p:sp>
        <p:nvSpPr>
          <p:cNvPr id="26" name="Text 24"/>
          <p:cNvSpPr txBox="1"/>
          <p:nvPr/>
        </p:nvSpPr>
        <p:spPr>
          <a:xfrm>
            <a:off x="4828032" y="373075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Published</a:t>
            </a:r>
            <a:endParaRPr lang="en-US" sz="1200" dirty="0"/>
          </a:p>
        </p:txBody>
      </p:sp>
      <p:sp>
        <p:nvSpPr>
          <p:cNvPr id="27" name="Text 25"/>
          <p:cNvSpPr txBox="1"/>
          <p:nvPr/>
        </p:nvSpPr>
        <p:spPr>
          <a:xfrm>
            <a:off x="4828032" y="396849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public.tableau.com/views/CollectionRiskDashboardRevoHospitalJavaNetwork</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Level of Detail</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dirty="0">
                <a:solidFill>
                  <a:srgbClr val="5A6B68"/>
                </a:solidFill>
                <a:latin typeface="Calibri" pitchFamily="34" charset="0"/>
                <a:ea typeface="Calibri" pitchFamily="34" charset="-122"/>
                <a:cs typeface="Calibri" pitchFamily="34" charset="-120"/>
              </a:rPr>
              <a:t>Branch totals that stay fixed while the rest of the dashboard filters</a:t>
            </a:r>
            <a:endParaRPr lang="en-US" sz="1200" dirty="0"/>
          </a:p>
        </p:txBody>
      </p:sp>
      <p:sp>
        <p:nvSpPr>
          <p:cNvPr id="4" name="Shape 2"/>
          <p:cNvSpPr/>
          <p:nvPr/>
        </p:nvSpPr>
        <p:spPr>
          <a:xfrm>
            <a:off x="457200" y="1234440"/>
            <a:ext cx="5029200" cy="2331720"/>
          </a:xfrm>
          <a:prstGeom prst="roundRect">
            <a:avLst>
              <a:gd name="adj" fmla="val 2353"/>
            </a:avLst>
          </a:prstGeom>
          <a:solidFill>
            <a:schemeClr val="bg1"/>
          </a:solidFill>
          <a:ln w="12700">
            <a:solidFill>
              <a:srgbClr val="C9D6D2"/>
            </a:solidFill>
            <a:prstDash val="dash"/>
          </a:ln>
        </p:spPr>
      </p:sp>
      <p:sp>
        <p:nvSpPr>
          <p:cNvPr id="6" name="Shape 4"/>
          <p:cNvSpPr/>
          <p:nvPr/>
        </p:nvSpPr>
        <p:spPr>
          <a:xfrm>
            <a:off x="5669280" y="123444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7" name="Text 5"/>
          <p:cNvSpPr txBox="1"/>
          <p:nvPr/>
        </p:nvSpPr>
        <p:spPr>
          <a:xfrm>
            <a:off x="5833872" y="136245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Purpose</a:t>
            </a:r>
            <a:endParaRPr lang="en-US" sz="1300" dirty="0"/>
          </a:p>
        </p:txBody>
      </p:sp>
      <p:sp>
        <p:nvSpPr>
          <p:cNvPr id="8" name="Text 6"/>
          <p:cNvSpPr txBox="1"/>
          <p:nvPr/>
        </p:nvSpPr>
        <p:spPr>
          <a:xfrm>
            <a:off x="5833872" y="165506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Keep each branch's full two-year revenue as a reference while the user filters a single month or segment.</a:t>
            </a:r>
            <a:endParaRPr lang="en-US" sz="1100" dirty="0"/>
          </a:p>
        </p:txBody>
      </p:sp>
      <p:sp>
        <p:nvSpPr>
          <p:cNvPr id="9" name="Shape 7"/>
          <p:cNvSpPr/>
          <p:nvPr/>
        </p:nvSpPr>
        <p:spPr>
          <a:xfrm>
            <a:off x="5669280" y="246888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10" name="Text 8"/>
          <p:cNvSpPr txBox="1"/>
          <p:nvPr/>
        </p:nvSpPr>
        <p:spPr>
          <a:xfrm>
            <a:off x="5833872" y="259689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Why the number stays fixed</a:t>
            </a:r>
            <a:endParaRPr lang="en-US" sz="1300" dirty="0"/>
          </a:p>
        </p:txBody>
      </p:sp>
      <p:sp>
        <p:nvSpPr>
          <p:cNvPr id="11" name="Text 9"/>
          <p:cNvSpPr txBox="1"/>
          <p:nvPr/>
        </p:nvSpPr>
        <p:spPr>
          <a:xfrm>
            <a:off x="5833872" y="288950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It counts every month and segment, so filters do not move it. The tooltip labels it as unfiltered.</a:t>
            </a:r>
            <a:endParaRPr lang="en-US" sz="1100" dirty="0"/>
          </a:p>
        </p:txBody>
      </p:sp>
      <p:sp>
        <p:nvSpPr>
          <p:cNvPr id="12" name="Shape 10"/>
          <p:cNvSpPr/>
          <p:nvPr/>
        </p:nvSpPr>
        <p:spPr>
          <a:xfrm>
            <a:off x="457200" y="3703320"/>
            <a:ext cx="8229600" cy="914400"/>
          </a:xfrm>
          <a:prstGeom prst="roundRect">
            <a:avLst>
              <a:gd name="adj" fmla="val 8000"/>
            </a:avLst>
          </a:prstGeom>
          <a:solidFill>
            <a:srgbClr val="EAF0EE"/>
          </a:solidFill>
          <a:ln/>
        </p:spPr>
      </p:sp>
      <p:sp>
        <p:nvSpPr>
          <p:cNvPr id="13" name="Text 11"/>
          <p:cNvSpPr txBox="1"/>
          <p:nvPr/>
        </p:nvSpPr>
        <p:spPr>
          <a:xfrm>
            <a:off x="685800" y="3803904"/>
            <a:ext cx="7772400" cy="237744"/>
          </a:xfrm>
          <a:prstGeom prst="rect">
            <a:avLst/>
          </a:prstGeom>
          <a:noFill/>
          <a:ln/>
        </p:spPr>
        <p:txBody>
          <a:bodyPr wrap="square" lIns="0" tIns="0" rIns="0" bIns="0" rtlCol="0" anchor="ctr"/>
          <a:lstStyle/>
          <a:p>
            <a:pPr marL="0" indent="0">
              <a:buNone/>
            </a:pPr>
            <a:r>
              <a:rPr lang="en-US" sz="1200" b="1" dirty="0">
                <a:solidFill>
                  <a:srgbClr val="B3382C"/>
                </a:solidFill>
                <a:latin typeface="Calibri" pitchFamily="34" charset="0"/>
                <a:ea typeface="Calibri" pitchFamily="34" charset="-122"/>
                <a:cs typeface="Calibri" pitchFamily="34" charset="-120"/>
              </a:rPr>
              <a:t>Weaker alternative</a:t>
            </a:r>
            <a:endParaRPr lang="en-US" sz="1200" dirty="0"/>
          </a:p>
        </p:txBody>
      </p:sp>
      <p:sp>
        <p:nvSpPr>
          <p:cNvPr id="14" name="Text 12"/>
          <p:cNvSpPr txBox="1"/>
          <p:nvPr/>
        </p:nvSpPr>
        <p:spPr>
          <a:xfrm>
            <a:off x="685800" y="4069080"/>
            <a:ext cx="7772400" cy="45720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A plain SUM of net revenue. It shrinks with every filter, so the user loses the denominator and can no longer tell whether the filtered slice is a large or a small part of that branch. A table calculation would break in the same way, because it recomputes on whatever rows the filter leaves behind.</a:t>
            </a:r>
            <a:endParaRPr lang="en-US" sz="1050" dirty="0"/>
          </a:p>
        </p:txBody>
      </p:sp>
      <p:pic>
        <p:nvPicPr>
          <p:cNvPr id="20" name="Picture 19">
            <a:extLst>
              <a:ext uri="{FF2B5EF4-FFF2-40B4-BE49-F238E27FC236}">
                <a16:creationId xmlns:a16="http://schemas.microsoft.com/office/drawing/2014/main" id="{8A4B3157-06FB-3E4A-43A4-B4757BB109ED}"/>
              </a:ext>
            </a:extLst>
          </p:cNvPr>
          <p:cNvPicPr>
            <a:picLocks noChangeAspect="1"/>
          </p:cNvPicPr>
          <p:nvPr/>
        </p:nvPicPr>
        <p:blipFill>
          <a:blip r:embed="rId2"/>
          <a:stretch>
            <a:fillRect/>
          </a:stretch>
        </p:blipFill>
        <p:spPr>
          <a:xfrm>
            <a:off x="685800" y="1751864"/>
            <a:ext cx="4653520" cy="115971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Ranking</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dirty="0">
                <a:solidFill>
                  <a:srgbClr val="5A6B68"/>
                </a:solidFill>
                <a:latin typeface="Calibri" pitchFamily="34" charset="0"/>
                <a:ea typeface="Calibri" pitchFamily="34" charset="-122"/>
                <a:cs typeface="Calibri" pitchFamily="34" charset="-120"/>
              </a:rPr>
              <a:t>Cardiology tops the pending rate at 18.3%, more than three points above the network average</a:t>
            </a:r>
            <a:endParaRPr lang="en-US" sz="1200" dirty="0"/>
          </a:p>
        </p:txBody>
      </p:sp>
      <p:sp>
        <p:nvSpPr>
          <p:cNvPr id="4" name="Shape 2"/>
          <p:cNvSpPr/>
          <p:nvPr/>
        </p:nvSpPr>
        <p:spPr>
          <a:xfrm>
            <a:off x="457200" y="1234440"/>
            <a:ext cx="5029200" cy="2331720"/>
          </a:xfrm>
          <a:prstGeom prst="roundRect">
            <a:avLst>
              <a:gd name="adj" fmla="val 2353"/>
            </a:avLst>
          </a:prstGeom>
          <a:solidFill>
            <a:schemeClr val="bg1"/>
          </a:solidFill>
          <a:ln w="12700">
            <a:solidFill>
              <a:srgbClr val="C9D6D2"/>
            </a:solidFill>
            <a:prstDash val="dash"/>
          </a:ln>
        </p:spPr>
      </p:sp>
      <p:sp>
        <p:nvSpPr>
          <p:cNvPr id="6" name="Shape 4"/>
          <p:cNvSpPr/>
          <p:nvPr/>
        </p:nvSpPr>
        <p:spPr>
          <a:xfrm>
            <a:off x="5669280" y="123444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7" name="Text 5"/>
          <p:cNvSpPr txBox="1"/>
          <p:nvPr/>
        </p:nvSpPr>
        <p:spPr>
          <a:xfrm>
            <a:off x="5833872" y="136245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Purpose</a:t>
            </a:r>
            <a:endParaRPr lang="en-US" sz="1300" dirty="0"/>
          </a:p>
        </p:txBody>
      </p:sp>
      <p:sp>
        <p:nvSpPr>
          <p:cNvPr id="8" name="Text 6"/>
          <p:cNvSpPr txBox="1"/>
          <p:nvPr/>
        </p:nvSpPr>
        <p:spPr>
          <a:xfrm>
            <a:off x="5833872" y="165506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Narrow eight departments down to the five where receivables build up fastest.</a:t>
            </a:r>
            <a:endParaRPr lang="en-US" sz="1100" dirty="0"/>
          </a:p>
        </p:txBody>
      </p:sp>
      <p:sp>
        <p:nvSpPr>
          <p:cNvPr id="9" name="Shape 7"/>
          <p:cNvSpPr/>
          <p:nvPr/>
        </p:nvSpPr>
        <p:spPr>
          <a:xfrm>
            <a:off x="5669280" y="246888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10" name="Text 8"/>
          <p:cNvSpPr txBox="1"/>
          <p:nvPr/>
        </p:nvSpPr>
        <p:spPr>
          <a:xfrm>
            <a:off x="5833872" y="259689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Why a sorted bar</a:t>
            </a:r>
            <a:endParaRPr lang="en-US" sz="1300" dirty="0"/>
          </a:p>
        </p:txBody>
      </p:sp>
      <p:sp>
        <p:nvSpPr>
          <p:cNvPr id="11" name="Text 9"/>
          <p:cNvSpPr txBox="1"/>
          <p:nvPr/>
        </p:nvSpPr>
        <p:spPr>
          <a:xfrm>
            <a:off x="5833872" y="288950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A Top 5 filter with a descending sort makes the order itself the message.</a:t>
            </a:r>
            <a:endParaRPr lang="en-US" sz="1100" dirty="0"/>
          </a:p>
        </p:txBody>
      </p:sp>
      <p:sp>
        <p:nvSpPr>
          <p:cNvPr id="12" name="Shape 10"/>
          <p:cNvSpPr/>
          <p:nvPr/>
        </p:nvSpPr>
        <p:spPr>
          <a:xfrm>
            <a:off x="457200" y="3703320"/>
            <a:ext cx="8229600" cy="914400"/>
          </a:xfrm>
          <a:prstGeom prst="roundRect">
            <a:avLst>
              <a:gd name="adj" fmla="val 8000"/>
            </a:avLst>
          </a:prstGeom>
          <a:solidFill>
            <a:srgbClr val="EAF0EE"/>
          </a:solidFill>
          <a:ln/>
        </p:spPr>
      </p:sp>
      <p:sp>
        <p:nvSpPr>
          <p:cNvPr id="13" name="Text 11"/>
          <p:cNvSpPr txBox="1"/>
          <p:nvPr/>
        </p:nvSpPr>
        <p:spPr>
          <a:xfrm>
            <a:off x="685800" y="3803904"/>
            <a:ext cx="7772400" cy="237744"/>
          </a:xfrm>
          <a:prstGeom prst="rect">
            <a:avLst/>
          </a:prstGeom>
          <a:noFill/>
          <a:ln/>
        </p:spPr>
        <p:txBody>
          <a:bodyPr wrap="square" lIns="0" tIns="0" rIns="0" bIns="0" rtlCol="0" anchor="ctr"/>
          <a:lstStyle/>
          <a:p>
            <a:pPr marL="0" indent="0">
              <a:buNone/>
            </a:pPr>
            <a:r>
              <a:rPr lang="en-US" sz="1200" b="1" dirty="0">
                <a:solidFill>
                  <a:srgbClr val="B3382C"/>
                </a:solidFill>
                <a:latin typeface="Calibri" pitchFamily="34" charset="0"/>
                <a:ea typeface="Calibri" pitchFamily="34" charset="-122"/>
                <a:cs typeface="Calibri" pitchFamily="34" charset="-120"/>
              </a:rPr>
              <a:t>Weaker alternative</a:t>
            </a:r>
            <a:endParaRPr lang="en-US" sz="1200" dirty="0"/>
          </a:p>
        </p:txBody>
      </p:sp>
      <p:sp>
        <p:nvSpPr>
          <p:cNvPr id="14" name="Text 12"/>
          <p:cNvSpPr txBox="1"/>
          <p:nvPr/>
        </p:nvSpPr>
        <p:spPr>
          <a:xfrm>
            <a:off x="685800" y="4069080"/>
            <a:ext cx="7772400" cy="45720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Showing all eight departments. The spread runs from 13 to 18 percent, so the lower half adds length without adding a decision. Ranking by rupiah instead of rate was also tested: it puts Oncology first at IDR 3 billion, which answers a different question about where the largest amounts sit.</a:t>
            </a:r>
            <a:endParaRPr lang="en-US" sz="1050" dirty="0"/>
          </a:p>
        </p:txBody>
      </p:sp>
      <p:pic>
        <p:nvPicPr>
          <p:cNvPr id="15" name="Picture 14" descr="1789661072312_image.png"/>
          <p:cNvPicPr>
            <a:picLocks noChangeAspect="1"/>
          </p:cNvPicPr>
          <p:nvPr/>
        </p:nvPicPr>
        <p:blipFill>
          <a:blip r:embed="rId2"/>
          <a:stretch>
            <a:fillRect/>
          </a:stretch>
        </p:blipFill>
        <p:spPr>
          <a:xfrm>
            <a:off x="585216" y="1866388"/>
            <a:ext cx="4773168" cy="10678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Table Calculation</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dirty="0">
                <a:solidFill>
                  <a:srgbClr val="5A6B68"/>
                </a:solidFill>
                <a:latin typeface="Calibri" pitchFamily="34" charset="0"/>
                <a:ea typeface="Calibri" pitchFamily="34" charset="-122"/>
                <a:cs typeface="Calibri" pitchFamily="34" charset="-120"/>
              </a:rPr>
              <a:t>Pending revenue summed by admission month reaches IDR 14.5 billion, climbing faster from 2025</a:t>
            </a:r>
            <a:endParaRPr lang="en-US" sz="1200" dirty="0"/>
          </a:p>
        </p:txBody>
      </p:sp>
      <p:sp>
        <p:nvSpPr>
          <p:cNvPr id="4" name="Shape 2"/>
          <p:cNvSpPr/>
          <p:nvPr/>
        </p:nvSpPr>
        <p:spPr>
          <a:xfrm>
            <a:off x="457200" y="1234440"/>
            <a:ext cx="5029200" cy="2331720"/>
          </a:xfrm>
          <a:prstGeom prst="roundRect">
            <a:avLst>
              <a:gd name="adj" fmla="val 2353"/>
            </a:avLst>
          </a:prstGeom>
          <a:solidFill>
            <a:schemeClr val="bg1"/>
          </a:solidFill>
          <a:ln w="12700">
            <a:solidFill>
              <a:srgbClr val="C9D6D2"/>
            </a:solidFill>
            <a:prstDash val="dash"/>
          </a:ln>
        </p:spPr>
      </p:sp>
      <p:sp>
        <p:nvSpPr>
          <p:cNvPr id="6" name="Shape 4"/>
          <p:cNvSpPr/>
          <p:nvPr/>
        </p:nvSpPr>
        <p:spPr>
          <a:xfrm>
            <a:off x="5669280" y="123444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7" name="Text 5"/>
          <p:cNvSpPr txBox="1"/>
          <p:nvPr/>
        </p:nvSpPr>
        <p:spPr>
          <a:xfrm>
            <a:off x="5833872" y="136245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Purpose</a:t>
            </a:r>
            <a:endParaRPr lang="en-US" sz="1300" dirty="0"/>
          </a:p>
        </p:txBody>
      </p:sp>
      <p:sp>
        <p:nvSpPr>
          <p:cNvPr id="8" name="Text 6"/>
          <p:cNvSpPr txBox="1"/>
          <p:nvPr/>
        </p:nvSpPr>
        <p:spPr>
          <a:xfrm>
            <a:off x="5833872" y="165506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Show which admission months created the bills that are still pending, added up over time.</a:t>
            </a:r>
            <a:endParaRPr lang="en-US" sz="1100" dirty="0"/>
          </a:p>
        </p:txBody>
      </p:sp>
      <p:sp>
        <p:nvSpPr>
          <p:cNvPr id="9" name="Shape 7"/>
          <p:cNvSpPr/>
          <p:nvPr/>
        </p:nvSpPr>
        <p:spPr>
          <a:xfrm>
            <a:off x="5669280" y="246888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10" name="Text 8"/>
          <p:cNvSpPr txBox="1"/>
          <p:nvPr/>
        </p:nvSpPr>
        <p:spPr>
          <a:xfrm>
            <a:off x="5833872" y="259689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What it is and is not</a:t>
            </a:r>
            <a:endParaRPr lang="en-US" sz="1300" dirty="0"/>
          </a:p>
        </p:txBody>
      </p:sp>
      <p:sp>
        <p:nvSpPr>
          <p:cNvPr id="11" name="Text 9"/>
          <p:cNvSpPr txBox="1"/>
          <p:nvPr/>
        </p:nvSpPr>
        <p:spPr>
          <a:xfrm>
            <a:off x="5833872" y="288950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A cumulative sum by admission month. Not a month-end receivable balance, the data has no payment date.</a:t>
            </a:r>
            <a:endParaRPr lang="en-US" sz="1100" dirty="0"/>
          </a:p>
        </p:txBody>
      </p:sp>
      <p:sp>
        <p:nvSpPr>
          <p:cNvPr id="12" name="Shape 10"/>
          <p:cNvSpPr/>
          <p:nvPr/>
        </p:nvSpPr>
        <p:spPr>
          <a:xfrm>
            <a:off x="457200" y="3703320"/>
            <a:ext cx="8229600" cy="914400"/>
          </a:xfrm>
          <a:prstGeom prst="roundRect">
            <a:avLst>
              <a:gd name="adj" fmla="val 8000"/>
            </a:avLst>
          </a:prstGeom>
          <a:solidFill>
            <a:srgbClr val="EAF0EE"/>
          </a:solidFill>
          <a:ln/>
        </p:spPr>
      </p:sp>
      <p:sp>
        <p:nvSpPr>
          <p:cNvPr id="13" name="Text 11"/>
          <p:cNvSpPr txBox="1"/>
          <p:nvPr/>
        </p:nvSpPr>
        <p:spPr>
          <a:xfrm>
            <a:off x="685800" y="3803904"/>
            <a:ext cx="7772400" cy="237744"/>
          </a:xfrm>
          <a:prstGeom prst="rect">
            <a:avLst/>
          </a:prstGeom>
          <a:noFill/>
          <a:ln/>
        </p:spPr>
        <p:txBody>
          <a:bodyPr wrap="square" lIns="0" tIns="0" rIns="0" bIns="0" rtlCol="0" anchor="ctr"/>
          <a:lstStyle/>
          <a:p>
            <a:pPr marL="0" indent="0">
              <a:buNone/>
            </a:pPr>
            <a:r>
              <a:rPr lang="en-US" sz="1200" b="1" dirty="0">
                <a:solidFill>
                  <a:srgbClr val="B3382C"/>
                </a:solidFill>
                <a:latin typeface="Calibri" pitchFamily="34" charset="0"/>
                <a:ea typeface="Calibri" pitchFamily="34" charset="-122"/>
                <a:cs typeface="Calibri" pitchFamily="34" charset="-120"/>
              </a:rPr>
              <a:t>Weaker alternative</a:t>
            </a:r>
            <a:endParaRPr lang="en-US" sz="1200" dirty="0"/>
          </a:p>
        </p:txBody>
      </p:sp>
      <p:sp>
        <p:nvSpPr>
          <p:cNvPr id="14" name="Text 12"/>
          <p:cNvSpPr txBox="1"/>
          <p:nvPr/>
        </p:nvSpPr>
        <p:spPr>
          <a:xfrm>
            <a:off x="685800" y="4069080"/>
            <a:ext cx="7772400" cy="45720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Monthly pending revenue on its own. Each bar looks small, and the reader never sees that bills admitted in 2024 already make up about IDR 4 billion of what is pending today, before the 2025 volume surge tripled the monthly intake.</a:t>
            </a:r>
            <a:endParaRPr lang="en-US" sz="1050" dirty="0"/>
          </a:p>
        </p:txBody>
      </p:sp>
      <p:pic>
        <p:nvPicPr>
          <p:cNvPr id="22" name="Picture 21">
            <a:extLst>
              <a:ext uri="{FF2B5EF4-FFF2-40B4-BE49-F238E27FC236}">
                <a16:creationId xmlns:a16="http://schemas.microsoft.com/office/drawing/2014/main" id="{A275DAC1-C853-85D2-180A-B10F0EBCA0DC}"/>
              </a:ext>
            </a:extLst>
          </p:cNvPr>
          <p:cNvPicPr>
            <a:picLocks noChangeAspect="1"/>
          </p:cNvPicPr>
          <p:nvPr/>
        </p:nvPicPr>
        <p:blipFill>
          <a:blip r:embed="rId2"/>
          <a:stretch>
            <a:fillRect/>
          </a:stretch>
        </p:blipFill>
        <p:spPr>
          <a:xfrm>
            <a:off x="1206062" y="1426434"/>
            <a:ext cx="3540254" cy="208489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Map Chart</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dirty="0">
                <a:solidFill>
                  <a:srgbClr val="5A6B68"/>
                </a:solidFill>
                <a:latin typeface="Calibri" pitchFamily="34" charset="0"/>
                <a:ea typeface="Calibri" pitchFamily="34" charset="-122"/>
                <a:cs typeface="Calibri" pitchFamily="34" charset="-120"/>
              </a:rPr>
              <a:t>Geography is not the problem: every branch sits between 12% and 16% pending</a:t>
            </a:r>
            <a:endParaRPr lang="en-US" sz="1200" dirty="0"/>
          </a:p>
        </p:txBody>
      </p:sp>
      <p:sp>
        <p:nvSpPr>
          <p:cNvPr id="4" name="Shape 2"/>
          <p:cNvSpPr/>
          <p:nvPr/>
        </p:nvSpPr>
        <p:spPr>
          <a:xfrm>
            <a:off x="457200" y="1234440"/>
            <a:ext cx="5029200" cy="2331720"/>
          </a:xfrm>
          <a:prstGeom prst="roundRect">
            <a:avLst>
              <a:gd name="adj" fmla="val 2353"/>
            </a:avLst>
          </a:prstGeom>
          <a:solidFill>
            <a:schemeClr val="bg1"/>
          </a:solidFill>
          <a:ln w="12700">
            <a:solidFill>
              <a:srgbClr val="C9D6D2"/>
            </a:solidFill>
            <a:prstDash val="dash"/>
          </a:ln>
        </p:spPr>
      </p:sp>
      <p:sp>
        <p:nvSpPr>
          <p:cNvPr id="6" name="Shape 4"/>
          <p:cNvSpPr/>
          <p:nvPr/>
        </p:nvSpPr>
        <p:spPr>
          <a:xfrm>
            <a:off x="5669280" y="123444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7" name="Text 5"/>
          <p:cNvSpPr txBox="1"/>
          <p:nvPr/>
        </p:nvSpPr>
        <p:spPr>
          <a:xfrm>
            <a:off x="5833872" y="136245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Purpose</a:t>
            </a:r>
            <a:endParaRPr lang="en-US" sz="1300" dirty="0"/>
          </a:p>
        </p:txBody>
      </p:sp>
      <p:sp>
        <p:nvSpPr>
          <p:cNvPr id="8" name="Text 6"/>
          <p:cNvSpPr txBox="1"/>
          <p:nvPr/>
        </p:nvSpPr>
        <p:spPr>
          <a:xfrm>
            <a:off x="5833872" y="165506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Test whether the collection problem is concentrated in one city or spread across the Java network.</a:t>
            </a:r>
            <a:endParaRPr lang="en-US" sz="1100" dirty="0"/>
          </a:p>
        </p:txBody>
      </p:sp>
      <p:sp>
        <p:nvSpPr>
          <p:cNvPr id="9" name="Shape 7"/>
          <p:cNvSpPr/>
          <p:nvPr/>
        </p:nvSpPr>
        <p:spPr>
          <a:xfrm>
            <a:off x="5669280" y="246888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10" name="Text 8"/>
          <p:cNvSpPr txBox="1"/>
          <p:nvPr/>
        </p:nvSpPr>
        <p:spPr>
          <a:xfrm>
            <a:off x="5833872" y="259689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Why a symbol map</a:t>
            </a:r>
            <a:endParaRPr lang="en-US" sz="1300" dirty="0"/>
          </a:p>
        </p:txBody>
      </p:sp>
      <p:sp>
        <p:nvSpPr>
          <p:cNvPr id="11" name="Text 9"/>
          <p:cNvSpPr txBox="1"/>
          <p:nvPr/>
        </p:nvSpPr>
        <p:spPr>
          <a:xfrm>
            <a:off x="5833872" y="288950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Colour carries the pending rate and size carries branch revenue, so scale and risk read in one glance.</a:t>
            </a:r>
            <a:endParaRPr lang="en-US" sz="1100" dirty="0"/>
          </a:p>
        </p:txBody>
      </p:sp>
      <p:sp>
        <p:nvSpPr>
          <p:cNvPr id="12" name="Shape 10"/>
          <p:cNvSpPr/>
          <p:nvPr/>
        </p:nvSpPr>
        <p:spPr>
          <a:xfrm>
            <a:off x="457200" y="3703320"/>
            <a:ext cx="8229600" cy="914400"/>
          </a:xfrm>
          <a:prstGeom prst="roundRect">
            <a:avLst>
              <a:gd name="adj" fmla="val 8000"/>
            </a:avLst>
          </a:prstGeom>
          <a:solidFill>
            <a:srgbClr val="EAF0EE"/>
          </a:solidFill>
          <a:ln/>
        </p:spPr>
      </p:sp>
      <p:sp>
        <p:nvSpPr>
          <p:cNvPr id="13" name="Text 11"/>
          <p:cNvSpPr txBox="1"/>
          <p:nvPr/>
        </p:nvSpPr>
        <p:spPr>
          <a:xfrm>
            <a:off x="685800" y="3803904"/>
            <a:ext cx="7772400" cy="237744"/>
          </a:xfrm>
          <a:prstGeom prst="rect">
            <a:avLst/>
          </a:prstGeom>
          <a:noFill/>
          <a:ln/>
        </p:spPr>
        <p:txBody>
          <a:bodyPr wrap="square" lIns="0" tIns="0" rIns="0" bIns="0" rtlCol="0" anchor="ctr"/>
          <a:lstStyle/>
          <a:p>
            <a:pPr marL="0" indent="0">
              <a:buNone/>
            </a:pPr>
            <a:r>
              <a:rPr lang="en-US" sz="1200" b="1" dirty="0">
                <a:solidFill>
                  <a:srgbClr val="B3382C"/>
                </a:solidFill>
                <a:latin typeface="Calibri" pitchFamily="34" charset="0"/>
                <a:ea typeface="Calibri" pitchFamily="34" charset="-122"/>
                <a:cs typeface="Calibri" pitchFamily="34" charset="-120"/>
              </a:rPr>
              <a:t>Weaker alternative</a:t>
            </a:r>
            <a:endParaRPr lang="en-US" sz="1200" dirty="0"/>
          </a:p>
        </p:txBody>
      </p:sp>
      <p:sp>
        <p:nvSpPr>
          <p:cNvPr id="14" name="Text 12"/>
          <p:cNvSpPr txBox="1"/>
          <p:nvPr/>
        </p:nvSpPr>
        <p:spPr>
          <a:xfrm>
            <a:off x="685800" y="4069080"/>
            <a:ext cx="7772400" cy="45720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A filled map shaded by province. Branches are points, not territories, so shading a whole province would credit a rate to areas the hospital does not serve. The flat spread is the finding here, and it moves the fix from branch management to network-wide payment policy.</a:t>
            </a:r>
            <a:endParaRPr lang="en-US" sz="1050" dirty="0"/>
          </a:p>
        </p:txBody>
      </p:sp>
      <p:pic>
        <p:nvPicPr>
          <p:cNvPr id="15" name="Picture 14" descr="1789661097611_image.png"/>
          <p:cNvPicPr>
            <a:picLocks noChangeAspect="1"/>
          </p:cNvPicPr>
          <p:nvPr/>
        </p:nvPicPr>
        <p:blipFill>
          <a:blip r:embed="rId2"/>
          <a:stretch>
            <a:fillRect/>
          </a:stretch>
        </p:blipFill>
        <p:spPr>
          <a:xfrm>
            <a:off x="1409756" y="1362456"/>
            <a:ext cx="3124086" cy="207568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Dashboard Interaction</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dirty="0">
                <a:solidFill>
                  <a:srgbClr val="5A6B68"/>
                </a:solidFill>
                <a:latin typeface="Calibri" pitchFamily="34" charset="0"/>
                <a:ea typeface="Calibri" pitchFamily="34" charset="-122"/>
                <a:cs typeface="Calibri" pitchFamily="34" charset="-120"/>
              </a:rPr>
              <a:t>Three filters, one of them a date range, applied across every worksheet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2610407872"/>
              </p:ext>
            </p:extLst>
          </p:nvPr>
        </p:nvGraphicFramePr>
        <p:xfrm>
          <a:off x="457200" y="1234440"/>
          <a:ext cx="8229600" cy="1664208"/>
        </p:xfrm>
        <a:graphic>
          <a:graphicData uri="http://schemas.openxmlformats.org/drawingml/2006/table">
            <a:tbl>
              <a:tblPr/>
              <a:tblGrid>
                <a:gridCol w="19202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Filter</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solidFill>
                      <a:srgbClr val="123F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solidFill>
                      <a:srgbClr val="123F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it lets the finance lead do</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solidFill>
                      <a:srgbClr val="123F3A"/>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Admission Date</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Range of dates</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Isolate a quarter or the 2025 surge and see whether the pending rate moved with it.</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Branch Name</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Multiple values</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Check one branch against the network band of 12 to 16 percent.</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Insurance Type</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Multiple values</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tc>
                  <a:txBody>
                    <a:bodyPr/>
                    <a:lstStyle/>
                    <a:p>
                      <a:pPr marL="0" indent="0">
                        <a:buNone/>
                      </a:pPr>
                      <a:r>
                        <a:rPr lang="en-US" sz="1100" dirty="0">
                          <a:solidFill>
                            <a:srgbClr val="5A6B68"/>
                          </a:solidFill>
                          <a:latin typeface="Calibri" pitchFamily="34" charset="0"/>
                          <a:ea typeface="Calibri" pitchFamily="34" charset="-122"/>
                          <a:cs typeface="Calibri" pitchFamily="34" charset="-120"/>
                        </a:rPr>
                        <a:t>Remove Self-pay and confirm the remaining segments sit near 12 percent.</a:t>
                      </a:r>
                      <a:endParaRPr lang="en-US" sz="1100" dirty="0">
                        <a:latin typeface="Calibri" charset="0"/>
                        <a:ea typeface="Calibri" charset="0"/>
                        <a:cs typeface="Calibri" charset="0"/>
                      </a:endParaRPr>
                    </a:p>
                  </a:txBody>
                  <a:tcPr anchor="ctr">
                    <a:lnL w="12700" cap="flat" cmpd="sng" algn="ctr">
                      <a:solidFill>
                        <a:srgbClr val="DDE5E3"/>
                      </a:solidFill>
                      <a:prstDash val="solid"/>
                      <a:round/>
                      <a:headEnd type="none" w="med" len="med"/>
                      <a:tailEnd type="none" w="med" len="med"/>
                    </a:lnL>
                    <a:lnR w="12700" cap="flat" cmpd="sng" algn="ctr">
                      <a:solidFill>
                        <a:srgbClr val="DDE5E3"/>
                      </a:solidFill>
                      <a:prstDash val="solid"/>
                      <a:round/>
                      <a:headEnd type="none" w="med" len="med"/>
                      <a:tailEnd type="none" w="med" len="med"/>
                    </a:lnR>
                    <a:lnT w="12700" cap="flat" cmpd="sng" algn="ctr">
                      <a:solidFill>
                        <a:srgbClr val="DDE5E3"/>
                      </a:solidFill>
                      <a:prstDash val="solid"/>
                      <a:round/>
                      <a:headEnd type="none" w="med" len="med"/>
                      <a:tailEnd type="none" w="med" len="med"/>
                    </a:lnT>
                    <a:lnB w="12700" cap="flat" cmpd="sng" algn="ctr">
                      <a:solidFill>
                        <a:srgbClr val="DDE5E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Shape 2"/>
          <p:cNvSpPr/>
          <p:nvPr/>
        </p:nvSpPr>
        <p:spPr>
          <a:xfrm>
            <a:off x="457200" y="3840480"/>
            <a:ext cx="3977640" cy="868680"/>
          </a:xfrm>
          <a:prstGeom prst="roundRect">
            <a:avLst>
              <a:gd name="adj" fmla="val 8421"/>
            </a:avLst>
          </a:prstGeom>
          <a:solidFill>
            <a:srgbClr val="EAF0EE"/>
          </a:solidFill>
          <a:ln/>
        </p:spPr>
      </p:sp>
      <p:sp>
        <p:nvSpPr>
          <p:cNvPr id="6" name="Text 3"/>
          <p:cNvSpPr txBox="1"/>
          <p:nvPr/>
        </p:nvSpPr>
        <p:spPr>
          <a:xfrm>
            <a:off x="640080" y="3950208"/>
            <a:ext cx="3657600" cy="237744"/>
          </a:xfrm>
          <a:prstGeom prst="rect">
            <a:avLst/>
          </a:prstGeom>
          <a:noFill/>
          <a:ln/>
        </p:spPr>
        <p:txBody>
          <a:bodyPr wrap="square" lIns="0" tIns="0" rIns="0" bIns="0" rtlCol="0" anchor="ctr"/>
          <a:lstStyle/>
          <a:p>
            <a:pPr marL="0" indent="0">
              <a:buNone/>
            </a:pPr>
            <a:r>
              <a:rPr lang="en-US" sz="1200" b="1" dirty="0">
                <a:solidFill>
                  <a:srgbClr val="123F3A"/>
                </a:solidFill>
                <a:latin typeface="Calibri" pitchFamily="34" charset="0"/>
                <a:ea typeface="Calibri" pitchFamily="34" charset="-122"/>
                <a:cs typeface="Calibri" pitchFamily="34" charset="-120"/>
              </a:rPr>
              <a:t>Applied to all worksheets</a:t>
            </a:r>
            <a:endParaRPr lang="en-US" sz="1200" dirty="0"/>
          </a:p>
        </p:txBody>
      </p:sp>
      <p:sp>
        <p:nvSpPr>
          <p:cNvPr id="7" name="Text 4"/>
          <p:cNvSpPr txBox="1"/>
          <p:nvPr/>
        </p:nvSpPr>
        <p:spPr>
          <a:xfrm>
            <a:off x="640080" y="4206240"/>
            <a:ext cx="3657600" cy="45720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Every filter uses All Using This Data Source, so one selection moves the KPI cards, the map and all four charts together.</a:t>
            </a:r>
            <a:endParaRPr lang="en-US" sz="1050" dirty="0"/>
          </a:p>
        </p:txBody>
      </p:sp>
      <p:sp>
        <p:nvSpPr>
          <p:cNvPr id="8" name="Shape 5"/>
          <p:cNvSpPr/>
          <p:nvPr/>
        </p:nvSpPr>
        <p:spPr>
          <a:xfrm>
            <a:off x="4709160" y="3840480"/>
            <a:ext cx="3977640" cy="868680"/>
          </a:xfrm>
          <a:prstGeom prst="roundRect">
            <a:avLst>
              <a:gd name="adj" fmla="val 8421"/>
            </a:avLst>
          </a:prstGeom>
          <a:solidFill>
            <a:srgbClr val="EAF0EE"/>
          </a:solidFill>
          <a:ln/>
        </p:spPr>
      </p:sp>
      <p:sp>
        <p:nvSpPr>
          <p:cNvPr id="9" name="Text 6"/>
          <p:cNvSpPr txBox="1"/>
          <p:nvPr/>
        </p:nvSpPr>
        <p:spPr>
          <a:xfrm>
            <a:off x="4892040" y="3950208"/>
            <a:ext cx="3657600" cy="237744"/>
          </a:xfrm>
          <a:prstGeom prst="rect">
            <a:avLst/>
          </a:prstGeom>
          <a:noFill/>
          <a:ln/>
        </p:spPr>
        <p:txBody>
          <a:bodyPr wrap="square" lIns="0" tIns="0" rIns="0" bIns="0" rtlCol="0" anchor="ctr"/>
          <a:lstStyle/>
          <a:p>
            <a:pPr marL="0" indent="0">
              <a:buNone/>
            </a:pPr>
            <a:r>
              <a:rPr lang="en-US" sz="1200" b="1" dirty="0">
                <a:solidFill>
                  <a:srgbClr val="123F3A"/>
                </a:solidFill>
                <a:latin typeface="Calibri" pitchFamily="34" charset="0"/>
                <a:ea typeface="Calibri" pitchFamily="34" charset="-122"/>
                <a:cs typeface="Calibri" pitchFamily="34" charset="-120"/>
              </a:rPr>
              <a:t>Reading order</a:t>
            </a:r>
            <a:endParaRPr lang="en-US" sz="1200" dirty="0"/>
          </a:p>
        </p:txBody>
      </p:sp>
      <p:sp>
        <p:nvSpPr>
          <p:cNvPr id="10" name="Text 7"/>
          <p:cNvSpPr txBox="1"/>
          <p:nvPr/>
        </p:nvSpPr>
        <p:spPr>
          <a:xfrm>
            <a:off x="4892040" y="4206240"/>
            <a:ext cx="3657600" cy="45720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KPI cards first, then segment and geography, then the time and ranking views that explain where the backlog sits.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Final Dashboard</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dirty="0">
                <a:solidFill>
                  <a:srgbClr val="5A6B68"/>
                </a:solidFill>
                <a:latin typeface="Calibri" pitchFamily="34" charset="0"/>
                <a:ea typeface="Calibri" pitchFamily="34" charset="-122"/>
                <a:cs typeface="Calibri" pitchFamily="34" charset="-120"/>
              </a:rPr>
              <a:t>Both halves of the final dashboard, eight views driven by the same three filters</a:t>
            </a:r>
            <a:endParaRPr lang="en-US" sz="1200" dirty="0"/>
          </a:p>
        </p:txBody>
      </p:sp>
      <p:sp>
        <p:nvSpPr>
          <p:cNvPr id="4" name="Shape 2"/>
          <p:cNvSpPr/>
          <p:nvPr/>
        </p:nvSpPr>
        <p:spPr>
          <a:xfrm>
            <a:off x="457200" y="1234440"/>
            <a:ext cx="5029200" cy="2331720"/>
          </a:xfrm>
          <a:prstGeom prst="roundRect">
            <a:avLst>
              <a:gd name="adj" fmla="val 2353"/>
            </a:avLst>
          </a:prstGeom>
          <a:solidFill>
            <a:schemeClr val="bg1"/>
          </a:solidFill>
          <a:ln w="12700">
            <a:solidFill>
              <a:srgbClr val="C9D6D2"/>
            </a:solidFill>
            <a:prstDash val="dash"/>
          </a:ln>
        </p:spPr>
      </p:sp>
      <p:sp>
        <p:nvSpPr>
          <p:cNvPr id="6" name="Shape 4"/>
          <p:cNvSpPr/>
          <p:nvPr/>
        </p:nvSpPr>
        <p:spPr>
          <a:xfrm>
            <a:off x="5669280" y="123444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7" name="Text 5"/>
          <p:cNvSpPr txBox="1"/>
          <p:nvPr/>
        </p:nvSpPr>
        <p:spPr>
          <a:xfrm>
            <a:off x="5833872" y="136245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Layout hierarchy</a:t>
            </a:r>
            <a:endParaRPr lang="en-US" sz="1300" dirty="0"/>
          </a:p>
        </p:txBody>
      </p:sp>
      <p:sp>
        <p:nvSpPr>
          <p:cNvPr id="8" name="Text 6"/>
          <p:cNvSpPr txBox="1"/>
          <p:nvPr/>
        </p:nvSpPr>
        <p:spPr>
          <a:xfrm>
            <a:off x="5833872" y="165506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Row one sizes the problem, row two locates it, row three explains it over time and by department.</a:t>
            </a:r>
            <a:endParaRPr lang="en-US" sz="1100" dirty="0"/>
          </a:p>
        </p:txBody>
      </p:sp>
      <p:sp>
        <p:nvSpPr>
          <p:cNvPr id="9" name="Shape 7"/>
          <p:cNvSpPr/>
          <p:nvPr/>
        </p:nvSpPr>
        <p:spPr>
          <a:xfrm>
            <a:off x="5669280" y="2468880"/>
            <a:ext cx="3017520" cy="1097280"/>
          </a:xfrm>
          <a:prstGeom prst="roundRect">
            <a:avLst>
              <a:gd name="adj" fmla="val 5000"/>
            </a:avLst>
          </a:prstGeom>
          <a:solidFill>
            <a:srgbClr val="FFFFFF"/>
          </a:solidFill>
          <a:ln w="12700">
            <a:solidFill>
              <a:srgbClr val="D8E2DF"/>
            </a:solidFill>
            <a:prstDash val="solid"/>
          </a:ln>
          <a:effectLst>
            <a:outerShdw blurRad="76200" dist="12700" dir="5400000" algn="bl" rotWithShape="0">
              <a:srgbClr val="B9C6C3">
                <a:alpha val="35000"/>
              </a:srgbClr>
            </a:outerShdw>
          </a:effectLst>
        </p:spPr>
      </p:sp>
      <p:sp>
        <p:nvSpPr>
          <p:cNvPr id="10" name="Text 8"/>
          <p:cNvSpPr txBox="1"/>
          <p:nvPr/>
        </p:nvSpPr>
        <p:spPr>
          <a:xfrm>
            <a:off x="5833872" y="2596896"/>
            <a:ext cx="2688336" cy="274320"/>
          </a:xfrm>
          <a:prstGeom prst="rect">
            <a:avLst/>
          </a:prstGeom>
          <a:noFill/>
          <a:ln/>
        </p:spPr>
        <p:txBody>
          <a:bodyPr wrap="square" lIns="0" tIns="0" rIns="0" bIns="0" rtlCol="0" anchor="ctr"/>
          <a:lstStyle/>
          <a:p>
            <a:pPr marL="0" indent="0">
              <a:buNone/>
            </a:pPr>
            <a:r>
              <a:rPr lang="en-US" sz="1300" b="1" dirty="0">
                <a:solidFill>
                  <a:srgbClr val="2E7D74"/>
                </a:solidFill>
                <a:latin typeface="Calibri" pitchFamily="34" charset="0"/>
                <a:ea typeface="Calibri" pitchFamily="34" charset="-122"/>
                <a:cs typeface="Calibri" pitchFamily="34" charset="-120"/>
              </a:rPr>
              <a:t>Interaction flow</a:t>
            </a:r>
            <a:endParaRPr lang="en-US" sz="1300" dirty="0"/>
          </a:p>
        </p:txBody>
      </p:sp>
      <p:sp>
        <p:nvSpPr>
          <p:cNvPr id="11" name="Text 9"/>
          <p:cNvSpPr txBox="1"/>
          <p:nvPr/>
        </p:nvSpPr>
        <p:spPr>
          <a:xfrm>
            <a:off x="5833872" y="2889504"/>
            <a:ext cx="2688336" cy="548640"/>
          </a:xfrm>
          <a:prstGeom prst="rect">
            <a:avLst/>
          </a:prstGeom>
          <a:noFill/>
          <a:ln/>
        </p:spPr>
        <p:txBody>
          <a:bodyPr wrap="square" lIns="0" tIns="0" rIns="0" bIns="0" rtlCol="0" anchor="t"/>
          <a:lstStyle/>
          <a:p>
            <a:pPr marL="0" indent="0">
              <a:buNone/>
            </a:pPr>
            <a:r>
              <a:rPr lang="en-US" sz="1100" dirty="0">
                <a:solidFill>
                  <a:srgbClr val="5A6B68"/>
                </a:solidFill>
                <a:latin typeface="Calibri" pitchFamily="34" charset="0"/>
                <a:ea typeface="Calibri" pitchFamily="34" charset="-122"/>
                <a:cs typeface="Calibri" pitchFamily="34" charset="-120"/>
              </a:rPr>
              <a:t>Filters sit in a fixed right rail, so they stay in reach while the lower rows are scrolled.</a:t>
            </a:r>
            <a:endParaRPr lang="en-US" sz="1100" dirty="0"/>
          </a:p>
        </p:txBody>
      </p:sp>
      <p:sp>
        <p:nvSpPr>
          <p:cNvPr id="12" name="Shape 10"/>
          <p:cNvSpPr/>
          <p:nvPr/>
        </p:nvSpPr>
        <p:spPr>
          <a:xfrm>
            <a:off x="457200" y="3703320"/>
            <a:ext cx="8229600" cy="914400"/>
          </a:xfrm>
          <a:prstGeom prst="roundRect">
            <a:avLst>
              <a:gd name="adj" fmla="val 8000"/>
            </a:avLst>
          </a:prstGeom>
          <a:solidFill>
            <a:srgbClr val="EAF0EE"/>
          </a:solidFill>
          <a:ln/>
        </p:spPr>
      </p:sp>
      <p:sp>
        <p:nvSpPr>
          <p:cNvPr id="13" name="Text 11"/>
          <p:cNvSpPr txBox="1"/>
          <p:nvPr/>
        </p:nvSpPr>
        <p:spPr>
          <a:xfrm>
            <a:off x="685800" y="3803904"/>
            <a:ext cx="7772400" cy="237744"/>
          </a:xfrm>
          <a:prstGeom prst="rect">
            <a:avLst/>
          </a:prstGeom>
          <a:noFill/>
          <a:ln/>
        </p:spPr>
        <p:txBody>
          <a:bodyPr wrap="square" lIns="0" tIns="0" rIns="0" bIns="0" rtlCol="0" anchor="ctr"/>
          <a:lstStyle/>
          <a:p>
            <a:pPr marL="0" indent="0">
              <a:buNone/>
            </a:pPr>
            <a:r>
              <a:rPr lang="en-US" sz="1200" b="1" dirty="0">
                <a:solidFill>
                  <a:srgbClr val="B3382C"/>
                </a:solidFill>
                <a:latin typeface="Calibri" pitchFamily="34" charset="0"/>
                <a:ea typeface="Calibri" pitchFamily="34" charset="-122"/>
                <a:cs typeface="Calibri" pitchFamily="34" charset="-120"/>
              </a:rPr>
              <a:t>Trade-off accepted</a:t>
            </a:r>
            <a:endParaRPr lang="en-US" sz="1200" dirty="0"/>
          </a:p>
        </p:txBody>
      </p:sp>
      <p:sp>
        <p:nvSpPr>
          <p:cNvPr id="14" name="Text 12"/>
          <p:cNvSpPr txBox="1"/>
          <p:nvPr/>
        </p:nvSpPr>
        <p:spPr>
          <a:xfrm>
            <a:off x="685800" y="4069080"/>
            <a:ext cx="7772400" cy="457200"/>
          </a:xfrm>
          <a:prstGeom prst="rect">
            <a:avLst/>
          </a:prstGeom>
          <a:noFill/>
          <a:ln/>
        </p:spPr>
        <p:txBody>
          <a:bodyPr wrap="square" lIns="0" tIns="0" rIns="0" bIns="0" rtlCol="0" anchor="ctr"/>
          <a:lstStyle/>
          <a:p>
            <a:pPr marL="0" indent="0">
              <a:buNone/>
            </a:pPr>
            <a:r>
              <a:rPr lang="en-US" sz="1050" dirty="0">
                <a:solidFill>
                  <a:srgbClr val="5A6B68"/>
                </a:solidFill>
                <a:latin typeface="Calibri" pitchFamily="34" charset="0"/>
                <a:ea typeface="Calibri" pitchFamily="34" charset="-122"/>
                <a:cs typeface="Calibri" pitchFamily="34" charset="-120"/>
              </a:rPr>
              <a:t>The canvas is 1200 by 1100, so the lower rows need a short scroll. Compressing everything into one screen would have shrunk the map and the histogram below a readable size, and the three KPI cards plus the segment chart already carry the headline before any scrolling happens.</a:t>
            </a:r>
            <a:endParaRPr lang="en-US" sz="1050" dirty="0"/>
          </a:p>
        </p:txBody>
      </p:sp>
      <p:pic>
        <p:nvPicPr>
          <p:cNvPr id="15" name="Picture 14">
            <a:extLst>
              <a:ext uri="{FF2B5EF4-FFF2-40B4-BE49-F238E27FC236}">
                <a16:creationId xmlns:a16="http://schemas.microsoft.com/office/drawing/2014/main" id="{14F6B3F6-5BFC-E2C9-9425-040E2DED5267}"/>
              </a:ext>
            </a:extLst>
          </p:cNvPr>
          <p:cNvPicPr>
            <a:picLocks noChangeAspect="1"/>
          </p:cNvPicPr>
          <p:nvPr/>
        </p:nvPicPr>
        <p:blipFill>
          <a:blip r:embed="rId2"/>
          <a:stretch>
            <a:fillRect/>
          </a:stretch>
        </p:blipFill>
        <p:spPr>
          <a:xfrm>
            <a:off x="1229864" y="1321720"/>
            <a:ext cx="3483872" cy="211642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marL="0" indent="0">
              <a:buNone/>
            </a:pPr>
            <a:r>
              <a:rPr lang="en-US" sz="2800" b="1" dirty="0">
                <a:solidFill>
                  <a:srgbClr val="123F3A"/>
                </a:solidFill>
                <a:latin typeface="Cambria" pitchFamily="34" charset="0"/>
                <a:ea typeface="Cambria" pitchFamily="34" charset="-122"/>
                <a:cs typeface="Cambria" pitchFamily="34" charset="-120"/>
              </a:rPr>
              <a:t>Insights</a:t>
            </a:r>
            <a:endParaRPr lang="en-US" sz="28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marL="0" indent="0">
              <a:buNone/>
            </a:pPr>
            <a:r>
              <a:rPr lang="en-US" sz="1200" dirty="0">
                <a:solidFill>
                  <a:srgbClr val="5A6B68"/>
                </a:solidFill>
                <a:latin typeface="Calibri" pitchFamily="34" charset="0"/>
                <a:ea typeface="Calibri" pitchFamily="34" charset="-122"/>
                <a:cs typeface="Calibri" pitchFamily="34" charset="-120"/>
              </a:rPr>
              <a:t>Seven OBIPR findings with observation, business impact, priority and action</a:t>
            </a:r>
            <a:endParaRPr lang="en-US" sz="1200" dirty="0"/>
          </a:p>
        </p:txBody>
      </p:sp>
      <p:sp>
        <p:nvSpPr>
          <p:cNvPr id="4" name="Shape 0"/>
          <p:cNvSpPr/>
          <p:nvPr/>
        </p:nvSpPr>
        <p:spPr>
          <a:xfrm>
            <a:off x="7635240" y="274320"/>
            <a:ext cx="1051560" cy="292608"/>
          </a:xfrm>
          <a:prstGeom prst="roundRect">
            <a:avLst>
              <a:gd name="adj" fmla="val 50000"/>
            </a:avLst>
          </a:prstGeom>
          <a:solidFill>
            <a:srgbClr val="B3382C"/>
          </a:solidFill>
          <a:ln/>
        </p:spPr>
        <p:txBody>
          <a:bodyPr/>
          <a:lstStyle/>
          <a:p>
            <a:endParaRPr/>
          </a:p>
        </p:txBody>
      </p:sp>
      <p:sp>
        <p:nvSpPr>
          <p:cNvPr id="6" name="Text 1"/>
          <p:cNvSpPr txBox="1"/>
          <p:nvPr/>
        </p:nvSpPr>
        <p:spPr>
          <a:xfrm>
            <a:off x="7635240" y="274320"/>
            <a:ext cx="105156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MILESTONE 2</a:t>
            </a:r>
            <a:endParaRPr lang="en-US" sz="900" dirty="0"/>
          </a:p>
        </p:txBody>
      </p:sp>
      <p:graphicFrame>
        <p:nvGraphicFramePr>
          <p:cNvPr id="7" name="Table 6"/>
          <p:cNvGraphicFramePr>
            <a:graphicFrameLocks noGrp="1"/>
          </p:cNvGraphicFramePr>
          <p:nvPr/>
        </p:nvGraphicFramePr>
        <p:xfrm>
          <a:off x="457200" y="1234440"/>
          <a:ext cx="8229600" cy="3218688"/>
        </p:xfrm>
        <a:graphic>
          <a:graphicData uri="http://schemas.openxmlformats.org/drawingml/2006/table">
            <a:tbl>
              <a:tblPr firstRow="1">
                <a:tableStyleId>{5C22544A-7EE6-4342-B048-85BDC9FD1C3A}</a:tableStyleId>
              </a:tblPr>
              <a:tblGrid>
                <a:gridCol w="15544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402336">
                <a:tc>
                  <a:txBody>
                    <a:bodyPr/>
                    <a:lstStyle/>
                    <a:p>
                      <a:r>
                        <a:rPr sz="900" b="1">
                          <a:solidFill>
                            <a:srgbClr val="FFFFFF"/>
                          </a:solidFill>
                          <a:latin typeface="Calibri"/>
                        </a:rPr>
                        <a:t>Insight</a:t>
                      </a:r>
                    </a:p>
                  </a:txBody>
                  <a:tcPr marL="73152" marR="73152" marT="36576" marB="36576" anchor="ctr">
                    <a:solidFill>
                      <a:srgbClr val="123F3A"/>
                    </a:solidFill>
                  </a:tcPr>
                </a:tc>
                <a:tc>
                  <a:txBody>
                    <a:bodyPr/>
                    <a:lstStyle/>
                    <a:p>
                      <a:r>
                        <a:rPr sz="900" b="1">
                          <a:solidFill>
                            <a:srgbClr val="FFFFFF"/>
                          </a:solidFill>
                          <a:latin typeface="Calibri"/>
                        </a:rPr>
                        <a:t>Observation</a:t>
                      </a:r>
                    </a:p>
                  </a:txBody>
                  <a:tcPr marL="73152" marR="73152" marT="36576" marB="36576" anchor="ctr">
                    <a:solidFill>
                      <a:srgbClr val="123F3A"/>
                    </a:solidFill>
                  </a:tcPr>
                </a:tc>
                <a:tc>
                  <a:txBody>
                    <a:bodyPr/>
                    <a:lstStyle/>
                    <a:p>
                      <a:r>
                        <a:rPr sz="900" b="1">
                          <a:solidFill>
                            <a:srgbClr val="FFFFFF"/>
                          </a:solidFill>
                          <a:latin typeface="Calibri"/>
                        </a:rPr>
                        <a:t>Business impact</a:t>
                      </a:r>
                    </a:p>
                  </a:txBody>
                  <a:tcPr marL="73152" marR="73152" marT="36576" marB="36576" anchor="ctr">
                    <a:solidFill>
                      <a:srgbClr val="123F3A"/>
                    </a:solidFill>
                  </a:tcPr>
                </a:tc>
                <a:tc>
                  <a:txBody>
                    <a:bodyPr/>
                    <a:lstStyle/>
                    <a:p>
                      <a:r>
                        <a:rPr sz="900" b="1">
                          <a:solidFill>
                            <a:srgbClr val="FFFFFF"/>
                          </a:solidFill>
                          <a:latin typeface="Calibri"/>
                        </a:rPr>
                        <a:t>Priority and action</a:t>
                      </a:r>
                    </a:p>
                  </a:txBody>
                  <a:tcPr marL="73152" marR="73152" marT="36576" marB="36576" anchor="ctr">
                    <a:solidFill>
                      <a:srgbClr val="123F3A"/>
                    </a:solidFill>
                  </a:tcPr>
                </a:tc>
                <a:extLst>
                  <a:ext uri="{0D108BD9-81ED-4DB2-BD59-A6C34878D82A}">
                    <a16:rowId xmlns:a16="http://schemas.microsoft.com/office/drawing/2014/main" val="10000"/>
                  </a:ext>
                </a:extLst>
              </a:tr>
              <a:tr h="402336">
                <a:tc>
                  <a:txBody>
                    <a:bodyPr/>
                    <a:lstStyle/>
                    <a:p>
                      <a:r>
                        <a:rPr sz="900">
                          <a:solidFill>
                            <a:srgbClr val="5A6B68"/>
                          </a:solidFill>
                          <a:latin typeface="Calibri"/>
                        </a:rPr>
                        <a:t>Self-pay drives the gap</a:t>
                      </a:r>
                    </a:p>
                  </a:txBody>
                  <a:tcPr marL="73152" marR="73152" marT="36576" marB="36576" anchor="ctr">
                    <a:solidFill>
                      <a:srgbClr val="FFFFFF"/>
                    </a:solidFill>
                  </a:tcPr>
                </a:tc>
                <a:tc>
                  <a:txBody>
                    <a:bodyPr/>
                    <a:lstStyle/>
                    <a:p>
                      <a:r>
                        <a:rPr sz="900">
                          <a:solidFill>
                            <a:srgbClr val="5A6B68"/>
                          </a:solidFill>
                          <a:latin typeface="Calibri"/>
                        </a:rPr>
                        <a:t>35% unpaid against 10 to 13% for insured segments</a:t>
                      </a:r>
                    </a:p>
                  </a:txBody>
                  <a:tcPr marL="73152" marR="73152" marT="36576" marB="36576" anchor="ctr">
                    <a:solidFill>
                      <a:srgbClr val="FFFFFF"/>
                    </a:solidFill>
                  </a:tcPr>
                </a:tc>
                <a:tc>
                  <a:txBody>
                    <a:bodyPr/>
                    <a:lstStyle/>
                    <a:p>
                      <a:r>
                        <a:rPr sz="900">
                          <a:solidFill>
                            <a:srgbClr val="5A6B68"/>
                          </a:solidFill>
                          <a:latin typeface="Calibri"/>
                        </a:rPr>
                        <a:t>13% of admissions but 30% of all pending revenue, about IDR 4B</a:t>
                      </a:r>
                    </a:p>
                  </a:txBody>
                  <a:tcPr marL="73152" marR="73152" marT="36576" marB="36576" anchor="ctr">
                    <a:solidFill>
                      <a:srgbClr val="FFFFFF"/>
                    </a:solidFill>
                  </a:tcPr>
                </a:tc>
                <a:tc>
                  <a:txBody>
                    <a:bodyPr/>
                    <a:lstStyle/>
                    <a:p>
                      <a:r>
                        <a:rPr sz="900">
                          <a:solidFill>
                            <a:srgbClr val="5A6B68"/>
                          </a:solidFill>
                          <a:latin typeface="Calibri"/>
                        </a:rPr>
                        <a:t>High. Deposit or payment plan for bills above IDR 20M</a:t>
                      </a:r>
                    </a:p>
                  </a:txBody>
                  <a:tcPr marL="73152" marR="73152" marT="36576" marB="36576" anchor="ctr">
                    <a:solidFill>
                      <a:srgbClr val="FFFFFF"/>
                    </a:solidFill>
                  </a:tcPr>
                </a:tc>
                <a:extLst>
                  <a:ext uri="{0D108BD9-81ED-4DB2-BD59-A6C34878D82A}">
                    <a16:rowId xmlns:a16="http://schemas.microsoft.com/office/drawing/2014/main" val="10001"/>
                  </a:ext>
                </a:extLst>
              </a:tr>
              <a:tr h="402336">
                <a:tc>
                  <a:txBody>
                    <a:bodyPr/>
                    <a:lstStyle/>
                    <a:p>
                      <a:r>
                        <a:rPr sz="900">
                          <a:solidFill>
                            <a:srgbClr val="5A6B68"/>
                          </a:solidFill>
                          <a:latin typeface="Calibri"/>
                        </a:rPr>
                        <a:t>The backlog is systemic</a:t>
                      </a:r>
                    </a:p>
                  </a:txBody>
                  <a:tcPr marL="73152" marR="73152" marT="36576" marB="36576" anchor="ctr">
                    <a:solidFill>
                      <a:srgbClr val="FFFFFF"/>
                    </a:solidFill>
                  </a:tcPr>
                </a:tc>
                <a:tc>
                  <a:txBody>
                    <a:bodyPr/>
                    <a:lstStyle/>
                    <a:p>
                      <a:r>
                        <a:rPr sz="900">
                          <a:solidFill>
                            <a:srgbClr val="5A6B68"/>
                          </a:solidFill>
                          <a:latin typeface="Calibri"/>
                        </a:rPr>
                        <a:t>All eight branches sit between 12% and 16% pending</a:t>
                      </a:r>
                    </a:p>
                  </a:txBody>
                  <a:tcPr marL="73152" marR="73152" marT="36576" marB="36576" anchor="ctr">
                    <a:solidFill>
                      <a:srgbClr val="FFFFFF"/>
                    </a:solidFill>
                  </a:tcPr>
                </a:tc>
                <a:tc>
                  <a:txBody>
                    <a:bodyPr/>
                    <a:lstStyle/>
                    <a:p>
                      <a:r>
                        <a:rPr sz="900">
                          <a:solidFill>
                            <a:srgbClr val="5A6B68"/>
                          </a:solidFill>
                          <a:latin typeface="Calibri"/>
                        </a:rPr>
                        <a:t>No single branch fix recovers the money, the IDR 14.5B is spread across every site</a:t>
                      </a:r>
                    </a:p>
                  </a:txBody>
                  <a:tcPr marL="73152" marR="73152" marT="36576" marB="36576" anchor="ctr">
                    <a:solidFill>
                      <a:srgbClr val="FFFFFF"/>
                    </a:solidFill>
                  </a:tcPr>
                </a:tc>
                <a:tc>
                  <a:txBody>
                    <a:bodyPr/>
                    <a:lstStyle/>
                    <a:p>
                      <a:r>
                        <a:rPr sz="900">
                          <a:solidFill>
                            <a:srgbClr val="5A6B68"/>
                          </a:solidFill>
                          <a:latin typeface="Calibri"/>
                        </a:rPr>
                        <a:t>High. Change payment policy at network level</a:t>
                      </a:r>
                    </a:p>
                  </a:txBody>
                  <a:tcPr marL="73152" marR="73152" marT="36576" marB="36576" anchor="ctr">
                    <a:solidFill>
                      <a:srgbClr val="FFFFFF"/>
                    </a:solidFill>
                  </a:tcPr>
                </a:tc>
                <a:extLst>
                  <a:ext uri="{0D108BD9-81ED-4DB2-BD59-A6C34878D82A}">
                    <a16:rowId xmlns:a16="http://schemas.microsoft.com/office/drawing/2014/main" val="10002"/>
                  </a:ext>
                </a:extLst>
              </a:tr>
              <a:tr h="402336">
                <a:tc>
                  <a:txBody>
                    <a:bodyPr/>
                    <a:lstStyle/>
                    <a:p>
                      <a:r>
                        <a:rPr sz="900">
                          <a:solidFill>
                            <a:srgbClr val="5A6B68"/>
                          </a:solidFill>
                          <a:latin typeface="Calibri"/>
                        </a:rPr>
                        <a:t>Volume multiplies exposure</a:t>
                      </a:r>
                    </a:p>
                  </a:txBody>
                  <a:tcPr marL="73152" marR="73152" marT="36576" marB="36576" anchor="ctr">
                    <a:solidFill>
                      <a:srgbClr val="FFFFFF"/>
                    </a:solidFill>
                  </a:tcPr>
                </a:tc>
                <a:tc>
                  <a:txBody>
                    <a:bodyPr/>
                    <a:lstStyle/>
                    <a:p>
                      <a:r>
                        <a:rPr sz="900">
                          <a:solidFill>
                            <a:srgbClr val="5A6B68"/>
                          </a:solidFill>
                          <a:latin typeface="Calibri"/>
                        </a:rPr>
                        <a:t>Monthly revenue tripled from IDR 2B to IDR 6B</a:t>
                      </a:r>
                    </a:p>
                  </a:txBody>
                  <a:tcPr marL="73152" marR="73152" marT="36576" marB="36576" anchor="ctr">
                    <a:solidFill>
                      <a:srgbClr val="FFFFFF"/>
                    </a:solidFill>
                  </a:tcPr>
                </a:tc>
                <a:tc>
                  <a:txBody>
                    <a:bodyPr/>
                    <a:lstStyle/>
                    <a:p>
                      <a:r>
                        <a:rPr sz="900">
                          <a:solidFill>
                            <a:srgbClr val="5A6B68"/>
                          </a:solidFill>
                          <a:latin typeface="Calibri"/>
                        </a:rPr>
                        <a:t>New pending revenue grew from about IDR 300M to IDR 900M a month</a:t>
                      </a:r>
                    </a:p>
                  </a:txBody>
                  <a:tcPr marL="73152" marR="73152" marT="36576" marB="36576" anchor="ctr">
                    <a:solidFill>
                      <a:srgbClr val="FFFFFF"/>
                    </a:solidFill>
                  </a:tcPr>
                </a:tc>
                <a:tc>
                  <a:txBody>
                    <a:bodyPr/>
                    <a:lstStyle/>
                    <a:p>
                      <a:r>
                        <a:rPr sz="900">
                          <a:solidFill>
                            <a:srgbClr val="5A6B68"/>
                          </a:solidFill>
                          <a:latin typeface="Calibri"/>
                        </a:rPr>
                        <a:t>Medium. Scale the collections team with volume</a:t>
                      </a:r>
                    </a:p>
                  </a:txBody>
                  <a:tcPr marL="73152" marR="73152" marT="36576" marB="36576" anchor="ctr">
                    <a:solidFill>
                      <a:srgbClr val="FFFFFF"/>
                    </a:solidFill>
                  </a:tcPr>
                </a:tc>
                <a:extLst>
                  <a:ext uri="{0D108BD9-81ED-4DB2-BD59-A6C34878D82A}">
                    <a16:rowId xmlns:a16="http://schemas.microsoft.com/office/drawing/2014/main" val="10003"/>
                  </a:ext>
                </a:extLst>
              </a:tr>
              <a:tr h="402336">
                <a:tc>
                  <a:txBody>
                    <a:bodyPr/>
                    <a:lstStyle/>
                    <a:p>
                      <a:r>
                        <a:rPr sz="900">
                          <a:solidFill>
                            <a:srgbClr val="5A6B68"/>
                          </a:solidFill>
                          <a:latin typeface="Calibri"/>
                        </a:rPr>
                        <a:t>Cardiology and Oncology lead</a:t>
                      </a:r>
                    </a:p>
                  </a:txBody>
                  <a:tcPr marL="73152" marR="73152" marT="36576" marB="36576" anchor="ctr">
                    <a:solidFill>
                      <a:srgbClr val="FFFFFF"/>
                    </a:solidFill>
                  </a:tcPr>
                </a:tc>
                <a:tc>
                  <a:txBody>
                    <a:bodyPr/>
                    <a:lstStyle/>
                    <a:p>
                      <a:r>
                        <a:rPr sz="900">
                          <a:solidFill>
                            <a:srgbClr val="5A6B68"/>
                          </a:solidFill>
                          <a:latin typeface="Calibri"/>
                        </a:rPr>
                        <a:t>Cardiology has the highest rate at 18%</a:t>
                      </a:r>
                    </a:p>
                  </a:txBody>
                  <a:tcPr marL="73152" marR="73152" marT="36576" marB="36576" anchor="ctr">
                    <a:solidFill>
                      <a:srgbClr val="FFFFFF"/>
                    </a:solidFill>
                  </a:tcPr>
                </a:tc>
                <a:tc>
                  <a:txBody>
                    <a:bodyPr/>
                    <a:lstStyle/>
                    <a:p>
                      <a:r>
                        <a:rPr sz="900">
                          <a:solidFill>
                            <a:srgbClr val="5A6B68"/>
                          </a:solidFill>
                          <a:latin typeface="Calibri"/>
                        </a:rPr>
                        <a:t>The two departments hold about IDR 6B, 40% of all pending revenue</a:t>
                      </a:r>
                    </a:p>
                  </a:txBody>
                  <a:tcPr marL="73152" marR="73152" marT="36576" marB="36576" anchor="ctr">
                    <a:solidFill>
                      <a:srgbClr val="FFFFFF"/>
                    </a:solidFill>
                  </a:tcPr>
                </a:tc>
                <a:tc>
                  <a:txBody>
                    <a:bodyPr/>
                    <a:lstStyle/>
                    <a:p>
                      <a:r>
                        <a:rPr sz="900">
                          <a:solidFill>
                            <a:srgbClr val="5A6B68"/>
                          </a:solidFill>
                          <a:latin typeface="Calibri"/>
                        </a:rPr>
                        <a:t>High. Structured instalments in both departments</a:t>
                      </a:r>
                    </a:p>
                  </a:txBody>
                  <a:tcPr marL="73152" marR="73152" marT="36576" marB="36576" anchor="ctr">
                    <a:solidFill>
                      <a:srgbClr val="FFFFFF"/>
                    </a:solidFill>
                  </a:tcPr>
                </a:tc>
                <a:extLst>
                  <a:ext uri="{0D108BD9-81ED-4DB2-BD59-A6C34878D82A}">
                    <a16:rowId xmlns:a16="http://schemas.microsoft.com/office/drawing/2014/main" val="10004"/>
                  </a:ext>
                </a:extLst>
              </a:tr>
              <a:tr h="402336">
                <a:tc>
                  <a:txBody>
                    <a:bodyPr/>
                    <a:lstStyle/>
                    <a:p>
                      <a:r>
                        <a:rPr sz="900">
                          <a:solidFill>
                            <a:srgbClr val="5A6B68"/>
                          </a:solidFill>
                          <a:latin typeface="Calibri"/>
                        </a:rPr>
                        <a:t>Large bills fail more often</a:t>
                      </a:r>
                    </a:p>
                  </a:txBody>
                  <a:tcPr marL="73152" marR="73152" marT="36576" marB="36576" anchor="ctr">
                    <a:solidFill>
                      <a:srgbClr val="FFFFFF"/>
                    </a:solidFill>
                  </a:tcPr>
                </a:tc>
                <a:tc>
                  <a:txBody>
                    <a:bodyPr/>
                    <a:lstStyle/>
                    <a:p>
                      <a:r>
                        <a:rPr sz="900">
                          <a:solidFill>
                            <a:srgbClr val="5A6B68"/>
                          </a:solidFill>
                          <a:latin typeface="Calibri"/>
                        </a:rPr>
                        <a:t>Median bill IDR 6M, tail up to IDR 85M</a:t>
                      </a:r>
                    </a:p>
                  </a:txBody>
                  <a:tcPr marL="73152" marR="73152" marT="36576" marB="36576" anchor="ctr">
                    <a:solidFill>
                      <a:srgbClr val="FFFFFF"/>
                    </a:solidFill>
                  </a:tcPr>
                </a:tc>
                <a:tc>
                  <a:txBody>
                    <a:bodyPr/>
                    <a:lstStyle/>
                    <a:p>
                      <a:r>
                        <a:rPr sz="900">
                          <a:solidFill>
                            <a:srgbClr val="5A6B68"/>
                          </a:solidFill>
                          <a:latin typeface="Calibri"/>
                        </a:rPr>
                        <a:t>Bills above IDR 20M are 6% of cases but 23% of pending revenue</a:t>
                      </a:r>
                    </a:p>
                  </a:txBody>
                  <a:tcPr marL="73152" marR="73152" marT="36576" marB="36576" anchor="ctr">
                    <a:solidFill>
                      <a:srgbClr val="FFFFFF"/>
                    </a:solidFill>
                  </a:tcPr>
                </a:tc>
                <a:tc>
                  <a:txBody>
                    <a:bodyPr/>
                    <a:lstStyle/>
                    <a:p>
                      <a:r>
                        <a:rPr sz="900">
                          <a:solidFill>
                            <a:srgbClr val="5A6B68"/>
                          </a:solidFill>
                          <a:latin typeface="Calibri"/>
                        </a:rPr>
                        <a:t>High. Financial counselling above IDR 20M</a:t>
                      </a:r>
                    </a:p>
                  </a:txBody>
                  <a:tcPr marL="73152" marR="73152" marT="36576" marB="36576" anchor="ctr">
                    <a:solidFill>
                      <a:srgbClr val="FFFFFF"/>
                    </a:solidFill>
                  </a:tcPr>
                </a:tc>
                <a:extLst>
                  <a:ext uri="{0D108BD9-81ED-4DB2-BD59-A6C34878D82A}">
                    <a16:rowId xmlns:a16="http://schemas.microsoft.com/office/drawing/2014/main" val="10005"/>
                  </a:ext>
                </a:extLst>
              </a:tr>
              <a:tr h="402336">
                <a:tc>
                  <a:txBody>
                    <a:bodyPr/>
                    <a:lstStyle/>
                    <a:p>
                      <a:r>
                        <a:rPr sz="900">
                          <a:solidFill>
                            <a:srgbClr val="5A6B68"/>
                          </a:solidFill>
                          <a:latin typeface="Calibri"/>
                        </a:rPr>
                        <a:t>Patients carry too much</a:t>
                      </a:r>
                    </a:p>
                  </a:txBody>
                  <a:tcPr marL="73152" marR="73152" marT="36576" marB="36576" anchor="ctr">
                    <a:solidFill>
                      <a:srgbClr val="FFFFFF"/>
                    </a:solidFill>
                  </a:tcPr>
                </a:tc>
                <a:tc>
                  <a:txBody>
                    <a:bodyPr/>
                    <a:lstStyle/>
                    <a:p>
                      <a:r>
                        <a:rPr sz="900">
                          <a:solidFill>
                            <a:srgbClr val="5A6B68"/>
                          </a:solidFill>
                          <a:latin typeface="Calibri"/>
                        </a:rPr>
                        <a:t>39% of gross charges fall on the patient</a:t>
                      </a:r>
                    </a:p>
                  </a:txBody>
                  <a:tcPr marL="73152" marR="73152" marT="36576" marB="36576" anchor="ctr">
                    <a:solidFill>
                      <a:srgbClr val="FFFFFF"/>
                    </a:solidFill>
                  </a:tcPr>
                </a:tc>
                <a:tc>
                  <a:txBody>
                    <a:bodyPr/>
                    <a:lstStyle/>
                    <a:p>
                      <a:r>
                        <a:rPr sz="900">
                          <a:solidFill>
                            <a:srgbClr val="5A6B68"/>
                          </a:solidFill>
                          <a:latin typeface="Calibri"/>
                        </a:rPr>
                        <a:t>About IDR 40B of charges depend on household ability to pay</a:t>
                      </a:r>
                    </a:p>
                  </a:txBody>
                  <a:tcPr marL="73152" marR="73152" marT="36576" marB="36576" anchor="ctr">
                    <a:solidFill>
                      <a:srgbClr val="FFFFFF"/>
                    </a:solidFill>
                  </a:tcPr>
                </a:tc>
                <a:tc>
                  <a:txBody>
                    <a:bodyPr/>
                    <a:lstStyle/>
                    <a:p>
                      <a:r>
                        <a:rPr sz="900">
                          <a:solidFill>
                            <a:srgbClr val="5A6B68"/>
                          </a:solidFill>
                          <a:latin typeface="Calibri"/>
                        </a:rPr>
                        <a:t>Medium. Widen insurer partnerships</a:t>
                      </a:r>
                    </a:p>
                  </a:txBody>
                  <a:tcPr marL="73152" marR="73152" marT="36576" marB="36576" anchor="ctr">
                    <a:solidFill>
                      <a:srgbClr val="FFFFFF"/>
                    </a:solidFill>
                  </a:tcPr>
                </a:tc>
                <a:extLst>
                  <a:ext uri="{0D108BD9-81ED-4DB2-BD59-A6C34878D82A}">
                    <a16:rowId xmlns:a16="http://schemas.microsoft.com/office/drawing/2014/main" val="10006"/>
                  </a:ext>
                </a:extLst>
              </a:tr>
              <a:tr h="402336">
                <a:tc>
                  <a:txBody>
                    <a:bodyPr/>
                    <a:lstStyle/>
                    <a:p>
                      <a:r>
                        <a:rPr sz="900">
                          <a:solidFill>
                            <a:srgbClr val="5A6B68"/>
                          </a:solidFill>
                          <a:latin typeface="Calibri"/>
                        </a:rPr>
                        <a:t>It never resolved itself</a:t>
                      </a:r>
                    </a:p>
                  </a:txBody>
                  <a:tcPr marL="73152" marR="73152" marT="36576" marB="36576" anchor="ctr">
                    <a:solidFill>
                      <a:srgbClr val="FFFFFF"/>
                    </a:solidFill>
                  </a:tcPr>
                </a:tc>
                <a:tc>
                  <a:txBody>
                    <a:bodyPr/>
                    <a:lstStyle/>
                    <a:p>
                      <a:r>
                        <a:rPr sz="900">
                          <a:solidFill>
                            <a:srgbClr val="5A6B68"/>
                          </a:solidFill>
                          <a:latin typeface="Calibri"/>
                        </a:rPr>
                        <a:t>Above the 10% target in 22 of 24 months, peak 23%</a:t>
                      </a:r>
                    </a:p>
                  </a:txBody>
                  <a:tcPr marL="73152" marR="73152" marT="36576" marB="36576" anchor="ctr">
                    <a:solidFill>
                      <a:srgbClr val="FFFFFF"/>
                    </a:solidFill>
                  </a:tcPr>
                </a:tc>
                <a:tc>
                  <a:txBody>
                    <a:bodyPr/>
                    <a:lstStyle/>
                    <a:p>
                      <a:r>
                        <a:rPr sz="900">
                          <a:solidFill>
                            <a:srgbClr val="5A6B68"/>
                          </a:solidFill>
                          <a:latin typeface="Calibri"/>
                        </a:rPr>
                        <a:t>At the 10% target the backlog would be IDR 10B, so about IDR 5B is excess</a:t>
                      </a:r>
                    </a:p>
                  </a:txBody>
                  <a:tcPr marL="73152" marR="73152" marT="36576" marB="36576" anchor="ctr">
                    <a:solidFill>
                      <a:srgbClr val="FFFFFF"/>
                    </a:solidFill>
                  </a:tcPr>
                </a:tc>
                <a:tc>
                  <a:txBody>
                    <a:bodyPr/>
                    <a:lstStyle/>
                    <a:p>
                      <a:r>
                        <a:rPr sz="900">
                          <a:solidFill>
                            <a:srgbClr val="5A6B68"/>
                          </a:solidFill>
                          <a:latin typeface="Calibri"/>
                        </a:rPr>
                        <a:t>High. Monthly review against the 10% target</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123F3A"/>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Closing Reflection</a:t>
            </a:r>
            <a:endParaRPr lang="en-US" sz="2800" dirty="0"/>
          </a:p>
        </p:txBody>
      </p:sp>
      <p:sp>
        <p:nvSpPr>
          <p:cNvPr id="3" name="Text 1"/>
          <p:cNvSpPr txBox="1"/>
          <p:nvPr/>
        </p:nvSpPr>
        <p:spPr>
          <a:xfrm>
            <a:off x="457200" y="896112"/>
            <a:ext cx="8229600" cy="274320"/>
          </a:xfrm>
          <a:prstGeom prst="rect">
            <a:avLst/>
          </a:prstGeom>
          <a:noFill/>
          <a:ln/>
        </p:spPr>
        <p:txBody>
          <a:bodyPr wrap="square" lIns="0" tIns="0" rIns="0" bIns="0" rtlCol="0" anchor="ctr"/>
          <a:lstStyle/>
          <a:p>
            <a:pPr marL="0" indent="0">
              <a:buNone/>
            </a:pPr>
            <a:r>
              <a:rPr lang="en-US" sz="1200" dirty="0">
                <a:solidFill>
                  <a:srgbClr val="8FB0AA"/>
                </a:solidFill>
                <a:latin typeface="Calibri" pitchFamily="34" charset="0"/>
                <a:ea typeface="Calibri" pitchFamily="34" charset="-122"/>
                <a:cs typeface="Calibri" pitchFamily="34" charset="-120"/>
              </a:rPr>
              <a:t>What worked, what was traded away, and what the next version would change</a:t>
            </a:r>
            <a:endParaRPr lang="en-US" sz="1200" dirty="0"/>
          </a:p>
        </p:txBody>
      </p:sp>
      <p:sp>
        <p:nvSpPr>
          <p:cNvPr id="4" name="Shape 2"/>
          <p:cNvSpPr/>
          <p:nvPr/>
        </p:nvSpPr>
        <p:spPr>
          <a:xfrm>
            <a:off x="457200" y="1325880"/>
            <a:ext cx="4023360" cy="640080"/>
          </a:xfrm>
          <a:prstGeom prst="roundRect">
            <a:avLst>
              <a:gd name="adj" fmla="val 8571"/>
            </a:avLst>
          </a:prstGeom>
          <a:solidFill>
            <a:srgbClr val="1B534D"/>
          </a:solidFill>
          <a:ln/>
        </p:spPr>
      </p:sp>
      <p:sp>
        <p:nvSpPr>
          <p:cNvPr id="5" name="Text 3"/>
          <p:cNvSpPr txBox="1"/>
          <p:nvPr/>
        </p:nvSpPr>
        <p:spPr>
          <a:xfrm>
            <a:off x="621792" y="1399032"/>
            <a:ext cx="3657600" cy="237744"/>
          </a:xfrm>
          <a:prstGeom prst="rect">
            <a:avLst/>
          </a:prstGeom>
          <a:noFill/>
          <a:ln/>
        </p:spPr>
        <p:txBody>
          <a:bodyPr wrap="square" lIns="0" tIns="0" rIns="0" bIns="0" rtlCol="0" anchor="ctr"/>
          <a:lstStyle/>
          <a:p>
            <a:pPr marL="0" indent="0">
              <a:buNone/>
            </a:pPr>
            <a:r>
              <a:rPr lang="en-US" sz="1200" b="1" dirty="0">
                <a:solidFill>
                  <a:schemeClr val="bg1"/>
                </a:solidFill>
                <a:latin typeface="Calibri" pitchFamily="34" charset="0"/>
                <a:ea typeface="Calibri" pitchFamily="34" charset="-122"/>
                <a:cs typeface="Calibri" pitchFamily="34" charset="-120"/>
              </a:rPr>
              <a:t>What worked</a:t>
            </a:r>
            <a:endParaRPr lang="en-US" sz="1200" dirty="0">
              <a:solidFill>
                <a:schemeClr val="bg1"/>
              </a:solidFill>
            </a:endParaRPr>
          </a:p>
        </p:txBody>
      </p:sp>
      <p:sp>
        <p:nvSpPr>
          <p:cNvPr id="6" name="Text 4"/>
          <p:cNvSpPr txBox="1"/>
          <p:nvPr/>
        </p:nvSpPr>
        <p:spPr>
          <a:xfrm>
            <a:off x="621792" y="163677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One angle held across all eight views, so no chart is decorative</a:t>
            </a:r>
            <a:endParaRPr lang="en-US" sz="950" dirty="0"/>
          </a:p>
        </p:txBody>
      </p:sp>
      <p:sp>
        <p:nvSpPr>
          <p:cNvPr id="7" name="Shape 5"/>
          <p:cNvSpPr/>
          <p:nvPr/>
        </p:nvSpPr>
        <p:spPr>
          <a:xfrm>
            <a:off x="4663440" y="1325880"/>
            <a:ext cx="4023360" cy="640080"/>
          </a:xfrm>
          <a:prstGeom prst="roundRect">
            <a:avLst>
              <a:gd name="adj" fmla="val 8571"/>
            </a:avLst>
          </a:prstGeom>
          <a:solidFill>
            <a:srgbClr val="1B534D"/>
          </a:solidFill>
          <a:ln/>
        </p:spPr>
      </p:sp>
      <p:sp>
        <p:nvSpPr>
          <p:cNvPr id="8" name="Text 6"/>
          <p:cNvSpPr txBox="1"/>
          <p:nvPr/>
        </p:nvSpPr>
        <p:spPr>
          <a:xfrm>
            <a:off x="4828032" y="139903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What worked</a:t>
            </a:r>
            <a:endParaRPr lang="en-US" sz="1200" dirty="0"/>
          </a:p>
        </p:txBody>
      </p:sp>
      <p:sp>
        <p:nvSpPr>
          <p:cNvPr id="9" name="Text 7"/>
          <p:cNvSpPr txBox="1"/>
          <p:nvPr/>
        </p:nvSpPr>
        <p:spPr>
          <a:xfrm>
            <a:off x="4828032" y="163677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Chart titles written as findings, which shortened the walkthrough</a:t>
            </a:r>
            <a:endParaRPr lang="en-US" sz="950" dirty="0"/>
          </a:p>
        </p:txBody>
      </p:sp>
      <p:sp>
        <p:nvSpPr>
          <p:cNvPr id="10" name="Shape 8"/>
          <p:cNvSpPr/>
          <p:nvPr/>
        </p:nvSpPr>
        <p:spPr>
          <a:xfrm>
            <a:off x="457200" y="2103120"/>
            <a:ext cx="4023360" cy="640080"/>
          </a:xfrm>
          <a:prstGeom prst="roundRect">
            <a:avLst>
              <a:gd name="adj" fmla="val 8571"/>
            </a:avLst>
          </a:prstGeom>
          <a:solidFill>
            <a:srgbClr val="1B534D"/>
          </a:solidFill>
          <a:ln/>
        </p:spPr>
      </p:sp>
      <p:sp>
        <p:nvSpPr>
          <p:cNvPr id="11" name="Text 9"/>
          <p:cNvSpPr txBox="1"/>
          <p:nvPr/>
        </p:nvSpPr>
        <p:spPr>
          <a:xfrm>
            <a:off x="621792" y="217627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Trade-off</a:t>
            </a:r>
            <a:endParaRPr lang="en-US" sz="1200" dirty="0"/>
          </a:p>
        </p:txBody>
      </p:sp>
      <p:sp>
        <p:nvSpPr>
          <p:cNvPr id="12" name="Text 10"/>
          <p:cNvSpPr txBox="1"/>
          <p:nvPr/>
        </p:nvSpPr>
        <p:spPr>
          <a:xfrm>
            <a:off x="621792" y="241401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The distribution keeps its long tail, so the axis stays wide</a:t>
            </a:r>
            <a:endParaRPr lang="en-US" sz="950" dirty="0"/>
          </a:p>
        </p:txBody>
      </p:sp>
      <p:sp>
        <p:nvSpPr>
          <p:cNvPr id="13" name="Shape 11"/>
          <p:cNvSpPr/>
          <p:nvPr/>
        </p:nvSpPr>
        <p:spPr>
          <a:xfrm>
            <a:off x="4663440" y="2103120"/>
            <a:ext cx="4023360" cy="640080"/>
          </a:xfrm>
          <a:prstGeom prst="roundRect">
            <a:avLst>
              <a:gd name="adj" fmla="val 8571"/>
            </a:avLst>
          </a:prstGeom>
          <a:solidFill>
            <a:srgbClr val="1B534D"/>
          </a:solidFill>
          <a:ln/>
        </p:spPr>
      </p:sp>
      <p:sp>
        <p:nvSpPr>
          <p:cNvPr id="14" name="Text 12"/>
          <p:cNvSpPr txBox="1"/>
          <p:nvPr/>
        </p:nvSpPr>
        <p:spPr>
          <a:xfrm>
            <a:off x="4828032" y="217627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Trade-off</a:t>
            </a:r>
            <a:endParaRPr lang="en-US" sz="1200" dirty="0"/>
          </a:p>
        </p:txBody>
      </p:sp>
      <p:sp>
        <p:nvSpPr>
          <p:cNvPr id="15" name="Text 13"/>
          <p:cNvSpPr txBox="1"/>
          <p:nvPr/>
        </p:nvSpPr>
        <p:spPr>
          <a:xfrm>
            <a:off x="4828032" y="241401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The map earns little space, but it proves the risk is not geographic</a:t>
            </a:r>
            <a:endParaRPr lang="en-US" sz="950" dirty="0"/>
          </a:p>
        </p:txBody>
      </p:sp>
      <p:sp>
        <p:nvSpPr>
          <p:cNvPr id="16" name="Shape 14"/>
          <p:cNvSpPr/>
          <p:nvPr/>
        </p:nvSpPr>
        <p:spPr>
          <a:xfrm>
            <a:off x="457200" y="2880360"/>
            <a:ext cx="4023360" cy="640080"/>
          </a:xfrm>
          <a:prstGeom prst="roundRect">
            <a:avLst>
              <a:gd name="adj" fmla="val 8571"/>
            </a:avLst>
          </a:prstGeom>
          <a:solidFill>
            <a:srgbClr val="1B534D"/>
          </a:solidFill>
          <a:ln/>
        </p:spPr>
      </p:sp>
      <p:sp>
        <p:nvSpPr>
          <p:cNvPr id="17" name="Text 15"/>
          <p:cNvSpPr txBox="1"/>
          <p:nvPr/>
        </p:nvSpPr>
        <p:spPr>
          <a:xfrm>
            <a:off x="621792" y="295351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Next version</a:t>
            </a:r>
            <a:endParaRPr lang="en-US" sz="1200" dirty="0"/>
          </a:p>
        </p:txBody>
      </p:sp>
      <p:sp>
        <p:nvSpPr>
          <p:cNvPr id="18" name="Text 16"/>
          <p:cNvSpPr txBox="1"/>
          <p:nvPr/>
        </p:nvSpPr>
        <p:spPr>
          <a:xfrm>
            <a:off x="621792" y="319125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Add a department by segment cross view to pinpoint the worst cell</a:t>
            </a:r>
            <a:endParaRPr lang="en-US" sz="950" dirty="0"/>
          </a:p>
        </p:txBody>
      </p:sp>
      <p:sp>
        <p:nvSpPr>
          <p:cNvPr id="19" name="Shape 17"/>
          <p:cNvSpPr/>
          <p:nvPr/>
        </p:nvSpPr>
        <p:spPr>
          <a:xfrm>
            <a:off x="4663440" y="2880360"/>
            <a:ext cx="4023360" cy="640080"/>
          </a:xfrm>
          <a:prstGeom prst="roundRect">
            <a:avLst>
              <a:gd name="adj" fmla="val 8571"/>
            </a:avLst>
          </a:prstGeom>
          <a:solidFill>
            <a:srgbClr val="1B534D"/>
          </a:solidFill>
          <a:ln/>
        </p:spPr>
      </p:sp>
      <p:sp>
        <p:nvSpPr>
          <p:cNvPr id="20" name="Text 18"/>
          <p:cNvSpPr txBox="1"/>
          <p:nvPr/>
        </p:nvSpPr>
        <p:spPr>
          <a:xfrm>
            <a:off x="4828032" y="295351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Next version</a:t>
            </a:r>
            <a:endParaRPr lang="en-US" sz="1200" dirty="0"/>
          </a:p>
        </p:txBody>
      </p:sp>
      <p:sp>
        <p:nvSpPr>
          <p:cNvPr id="21" name="Text 19"/>
          <p:cNvSpPr txBox="1"/>
          <p:nvPr/>
        </p:nvSpPr>
        <p:spPr>
          <a:xfrm>
            <a:off x="4828032" y="319125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Add an ageing bucket once a payment date column is available</a:t>
            </a:r>
            <a:endParaRPr lang="en-US" sz="950" dirty="0"/>
          </a:p>
        </p:txBody>
      </p:sp>
      <p:sp>
        <p:nvSpPr>
          <p:cNvPr id="22" name="Shape 20"/>
          <p:cNvSpPr/>
          <p:nvPr/>
        </p:nvSpPr>
        <p:spPr>
          <a:xfrm>
            <a:off x="457200" y="3657600"/>
            <a:ext cx="4023360" cy="640080"/>
          </a:xfrm>
          <a:prstGeom prst="roundRect">
            <a:avLst>
              <a:gd name="adj" fmla="val 8571"/>
            </a:avLst>
          </a:prstGeom>
          <a:solidFill>
            <a:srgbClr val="1B534D"/>
          </a:solidFill>
          <a:ln/>
        </p:spPr>
      </p:sp>
      <p:sp>
        <p:nvSpPr>
          <p:cNvPr id="23" name="Text 21"/>
          <p:cNvSpPr txBox="1"/>
          <p:nvPr/>
        </p:nvSpPr>
        <p:spPr>
          <a:xfrm>
            <a:off x="621792" y="373075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Next version</a:t>
            </a:r>
            <a:endParaRPr lang="en-US" sz="1200" dirty="0"/>
          </a:p>
        </p:txBody>
      </p:sp>
      <p:sp>
        <p:nvSpPr>
          <p:cNvPr id="24" name="Text 22"/>
          <p:cNvSpPr txBox="1"/>
          <p:nvPr/>
        </p:nvSpPr>
        <p:spPr>
          <a:xfrm>
            <a:off x="621792" y="396849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Publish a narrower layout for the same eight views</a:t>
            </a:r>
            <a:endParaRPr lang="en-US" sz="950" dirty="0"/>
          </a:p>
        </p:txBody>
      </p:sp>
      <p:sp>
        <p:nvSpPr>
          <p:cNvPr id="25" name="Shape 23"/>
          <p:cNvSpPr/>
          <p:nvPr/>
        </p:nvSpPr>
        <p:spPr>
          <a:xfrm>
            <a:off x="4663440" y="3657600"/>
            <a:ext cx="4023360" cy="640080"/>
          </a:xfrm>
          <a:prstGeom prst="roundRect">
            <a:avLst>
              <a:gd name="adj" fmla="val 8571"/>
            </a:avLst>
          </a:prstGeom>
          <a:solidFill>
            <a:srgbClr val="1B534D"/>
          </a:solidFill>
          <a:ln/>
        </p:spPr>
      </p:sp>
      <p:sp>
        <p:nvSpPr>
          <p:cNvPr id="26" name="Text 24"/>
          <p:cNvSpPr txBox="1"/>
          <p:nvPr/>
        </p:nvSpPr>
        <p:spPr>
          <a:xfrm>
            <a:off x="4828032" y="3730752"/>
            <a:ext cx="365760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Open question</a:t>
            </a:r>
            <a:endParaRPr lang="en-US" sz="1200" dirty="0"/>
          </a:p>
        </p:txBody>
      </p:sp>
      <p:sp>
        <p:nvSpPr>
          <p:cNvPr id="27" name="Text 25"/>
          <p:cNvSpPr txBox="1"/>
          <p:nvPr/>
        </p:nvSpPr>
        <p:spPr>
          <a:xfrm>
            <a:off x="4828032" y="3968496"/>
            <a:ext cx="3657600" cy="256032"/>
          </a:xfrm>
          <a:prstGeom prst="rect">
            <a:avLst/>
          </a:prstGeom>
          <a:noFill/>
          <a:ln/>
        </p:spPr>
        <p:txBody>
          <a:bodyPr wrap="square" lIns="0" tIns="0" rIns="0" bIns="0" rtlCol="0" anchor="ctr"/>
          <a:lstStyle/>
          <a:p>
            <a:pPr marL="0" indent="0">
              <a:buNone/>
            </a:pPr>
            <a:r>
              <a:rPr lang="en-US" sz="950" dirty="0">
                <a:solidFill>
                  <a:srgbClr val="A8C6C1"/>
                </a:solidFill>
                <a:latin typeface="Calibri" pitchFamily="34" charset="0"/>
                <a:ea typeface="Calibri" pitchFamily="34" charset="-122"/>
                <a:cs typeface="Calibri" pitchFamily="34" charset="-120"/>
              </a:rPr>
              <a:t>Whether a deposit rule would also reduce Self-pay admissions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23F3A"/>
        </a:solidFill>
        <a:effectLst/>
      </p:bgPr>
    </p:bg>
    <p:spTree>
      <p:nvGrpSpPr>
        <p:cNvPr id="1" name=""/>
        <p:cNvGrpSpPr/>
        <p:nvPr/>
      </p:nvGrpSpPr>
      <p:grpSpPr>
        <a:xfrm>
          <a:off x="0" y="0"/>
          <a:ext cx="0" cy="0"/>
          <a:chOff x="0" y="0"/>
          <a:chExt cx="0" cy="0"/>
        </a:xfrm>
      </p:grpSpPr>
      <p:sp>
        <p:nvSpPr>
          <p:cNvPr id="2" name="Shape 0"/>
          <p:cNvSpPr/>
          <p:nvPr/>
        </p:nvSpPr>
        <p:spPr>
          <a:xfrm>
            <a:off x="548640" y="914400"/>
            <a:ext cx="822960" cy="292608"/>
          </a:xfrm>
          <a:prstGeom prst="roundRect">
            <a:avLst>
              <a:gd name="adj" fmla="val 50000"/>
            </a:avLst>
          </a:prstGeom>
          <a:solidFill>
            <a:srgbClr val="B3382C"/>
          </a:solidFill>
          <a:ln/>
        </p:spPr>
      </p:sp>
      <p:sp>
        <p:nvSpPr>
          <p:cNvPr id="3" name="Text 1"/>
          <p:cNvSpPr txBox="1"/>
          <p:nvPr/>
        </p:nvSpPr>
        <p:spPr>
          <a:xfrm>
            <a:off x="548640" y="914400"/>
            <a:ext cx="82296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END OF REPORT</a:t>
            </a:r>
            <a:endParaRPr lang="en-US" sz="900" dirty="0"/>
          </a:p>
        </p:txBody>
      </p:sp>
      <p:sp>
        <p:nvSpPr>
          <p:cNvPr id="4" name="Text 2"/>
          <p:cNvSpPr txBox="1"/>
          <p:nvPr/>
        </p:nvSpPr>
        <p:spPr>
          <a:xfrm>
            <a:off x="548640" y="1371600"/>
            <a:ext cx="804672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Thank you</a:t>
            </a:r>
            <a:endParaRPr lang="en-US" sz="3600" dirty="0"/>
          </a:p>
        </p:txBody>
      </p:sp>
      <p:sp>
        <p:nvSpPr>
          <p:cNvPr id="5" name="Text 3"/>
          <p:cNvSpPr txBox="1"/>
          <p:nvPr/>
        </p:nvSpPr>
        <p:spPr>
          <a:xfrm>
            <a:off x="548640" y="2240280"/>
            <a:ext cx="7680960" cy="640080"/>
          </a:xfrm>
          <a:prstGeom prst="rect">
            <a:avLst/>
          </a:prstGeom>
          <a:noFill/>
          <a:ln/>
        </p:spPr>
        <p:txBody>
          <a:bodyPr wrap="square" lIns="0" tIns="0" rIns="0" bIns="0" rtlCol="0" anchor="ctr"/>
          <a:lstStyle/>
          <a:p>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Reinaldy  Zulfananda Arkaan ·  September 17, 2026</a:t>
            </a:r>
            <a:endPar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DATAVIZ_JUN26_Reinaldy_Zulfananda_Arkaan_Intermediate_M1M2</a:t>
            </a:r>
          </a:p>
          <a:p>
            <a:r>
              <a:rPr lang="en-US" sz="1400" b="1" dirty="0" err="1">
                <a:solidFill>
                  <a:schemeClr val="bg1"/>
                </a:solidFill>
                <a:latin typeface="Calibri" panose="020F0502020204030204" pitchFamily="34" charset="0"/>
                <a:ea typeface="Calibri" panose="020F0502020204030204" pitchFamily="34" charset="0"/>
                <a:cs typeface="Calibri" panose="020F0502020204030204" pitchFamily="34" charset="0"/>
              </a:rPr>
              <a:t>Linkedin</a:t>
            </a: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 : https://www.linkedin.com/in/reinaldy-zulfananda-arkaan-30567a179/</a:t>
            </a:r>
          </a:p>
        </p:txBody>
      </p:sp>
      <p:sp>
        <p:nvSpPr>
          <p:cNvPr id="6" name="Shape 4"/>
          <p:cNvSpPr/>
          <p:nvPr/>
        </p:nvSpPr>
        <p:spPr>
          <a:xfrm>
            <a:off x="548640" y="3063240"/>
            <a:ext cx="2926080" cy="0"/>
          </a:xfrm>
          <a:prstGeom prst="line">
            <a:avLst/>
          </a:prstGeom>
          <a:noFill/>
          <a:ln w="25400">
            <a:solidFill>
              <a:srgbClr val="2E7D74"/>
            </a:solidFill>
            <a:prstDash val="solid"/>
          </a:ln>
        </p:spPr>
      </p:sp>
      <p:sp>
        <p:nvSpPr>
          <p:cNvPr id="7" name="Text 5"/>
          <p:cNvSpPr txBox="1"/>
          <p:nvPr/>
        </p:nvSpPr>
        <p:spPr>
          <a:xfrm>
            <a:off x="548640" y="3246120"/>
            <a:ext cx="5486400" cy="274320"/>
          </a:xfrm>
          <a:prstGeom prst="rect">
            <a:avLst/>
          </a:prstGeom>
          <a:noFill/>
          <a:ln/>
        </p:spPr>
        <p:txBody>
          <a:bodyPr wrap="square" lIns="0" tIns="0" rIns="0" bIns="0" rtlCol="0" anchor="ctr"/>
          <a:lstStyle/>
          <a:p>
            <a:r>
              <a:rPr lang="en-US" sz="1200" b="1" dirty="0">
                <a:solidFill>
                  <a:schemeClr val="bg1"/>
                </a:solidFill>
              </a:rPr>
              <a:t>Live dashboard on Tableau Public</a:t>
            </a:r>
          </a:p>
        </p:txBody>
      </p:sp>
      <p:sp>
        <p:nvSpPr>
          <p:cNvPr id="8" name="Text 6"/>
          <p:cNvSpPr txBox="1"/>
          <p:nvPr/>
        </p:nvSpPr>
        <p:spPr>
          <a:xfrm>
            <a:off x="548640" y="3566160"/>
            <a:ext cx="7680960" cy="274320"/>
          </a:xfrm>
          <a:prstGeom prst="rect">
            <a:avLst/>
          </a:prstGeom>
          <a:noFill/>
          <a:ln/>
        </p:spPr>
        <p:txBody>
          <a:bodyPr wrap="square" lIns="0" tIns="0" rIns="0" bIns="0" rtlCol="0" anchor="ctr"/>
          <a:lstStyle/>
          <a:p>
            <a:r>
              <a:rPr lang="en-US" sz="1100" dirty="0">
                <a:solidFill>
                  <a:srgbClr val="8FB0AA"/>
                </a:solidFill>
                <a:latin typeface="Calibri" pitchFamily="34" charset="0"/>
                <a:ea typeface="Calibri" pitchFamily="34" charset="-122"/>
                <a:cs typeface="Calibri" pitchFamily="34" charset="-120"/>
              </a:rPr>
              <a:t>https://public.tableau.com/views/CollectionRiskDashboardRevoHospitalJavaNetwork_17896636711850/CollectionRiskDashboardRevoHospitalJavaNetwork?:language=en-US&amp;publish=yes&amp;:sid=&amp;:redirect=auth&amp;:display_count=n&amp;:origin=viz_share_link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1421</TotalTime>
  <Words>2508</Words>
  <Application>Microsoft Office PowerPoint</Application>
  <PresentationFormat>On-screen Show (16:9)</PresentationFormat>
  <Paragraphs>279</Paragraphs>
  <Slides>19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Reinaldy Zulfananda Arkaan</cp:lastModifiedBy>
  <cp:revision>21</cp:revision>
  <dcterms:created xsi:type="dcterms:W3CDTF">2026-09-08T14:00:46Z</dcterms:created>
  <dcterms:modified xsi:type="dcterms:W3CDTF">2026-09-23T15:55:09Z</dcterms:modified>
</cp:coreProperties>
</file>
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fENS7a4T1y1DbIpKfiRwNgyEw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DAE60E-7061-4D65-8B34-FC4A7D803766}">
  <a:tblStyle styleId="{FBDAE60E-7061-4D65-8B34-FC4A7D80376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Y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26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X1 Age</c:v>
                </c:pt>
                <c:pt idx="1">
                  <c:v>X2 Income</c:v>
                </c:pt>
                <c:pt idx="2">
                  <c:v>X3 Tenure</c:v>
                </c:pt>
                <c:pt idx="3">
                  <c:v>X6 Bounce Rate</c:v>
                </c:pt>
                <c:pt idx="4">
                  <c:v>X5 Total Promo</c:v>
                </c:pt>
                <c:pt idx="5">
                  <c:v>X4 Avg. Session Time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0.221</c:v>
                </c:pt>
                <c:pt idx="1">
                  <c:v>0.52700000000000002</c:v>
                </c:pt>
                <c:pt idx="2">
                  <c:v>0.71499999999999997</c:v>
                </c:pt>
                <c:pt idx="3">
                  <c:v>-0.86299999999999999</c:v>
                </c:pt>
                <c:pt idx="4">
                  <c:v>0.877</c:v>
                </c:pt>
                <c:pt idx="5">
                  <c:v>0.91400000000000003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8B-4661-B81D-EA59DB6ED7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6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12700" cap="flat">
              <a:solidFill>
                <a:srgbClr val="EDF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deck answers the four questions of the advanced assignment: correlation, stepwise regression, new customer prediction, plus insights and recommendations.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509760" y="-1188720"/>
            <a:ext cx="4754880" cy="47548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822960" y="1600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ADVANCED ASSIGNMENT  |  W2W3_</a:t>
            </a: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JUN</a:t>
            </a: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22960" y="2057400"/>
            <a:ext cx="8595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Drivers of Yearly Spending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TokoBli E-Commerce Customers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370332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E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DCE2"/>
                </a:solidFill>
                <a:latin typeface="Calibri"/>
                <a:ea typeface="Calibri"/>
                <a:cs typeface="Calibri"/>
                <a:sym typeface="Calibri"/>
              </a:rPr>
              <a:t>Correlation and Stepwise Regression Analysis of 299 Customers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4343400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59" y="4437529"/>
            <a:ext cx="9031045" cy="122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Reinaldy  Zulfananda Arkaan · 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July 2026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[W2 JUN26 UBP] Reinaldy Zulfananda Arkaan Intermediate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Linkedin : https://www.linkedin.com/in/reinaldy-zulfananda-arkaan-30567a179/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Business Context and Analytical Approach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The Product Manager wants to know which factors really drive customer yearly spending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40080" y="1600200"/>
            <a:ext cx="4937760" cy="1417320"/>
          </a:xfrm>
          <a:prstGeom prst="roundRect">
            <a:avLst>
              <a:gd fmla="val 5161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14400" y="17830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Business Question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914400" y="2103120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6262E"/>
                </a:solidFill>
                <a:latin typeface="Calibri"/>
                <a:ea typeface="Calibri"/>
                <a:cs typeface="Calibri"/>
                <a:sym typeface="Calibri"/>
              </a:rPr>
              <a:t>Which factors have a significant effect on Yearly Spending, and how much would a new customer potentially spend?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852160" y="1600200"/>
            <a:ext cx="5669280" cy="1417320"/>
          </a:xfrm>
          <a:prstGeom prst="roundRect">
            <a:avLst>
              <a:gd fmla="val 5161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126480" y="1783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Data Used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126480" y="210312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2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6262E"/>
                </a:solidFill>
                <a:latin typeface="Calibri"/>
                <a:ea typeface="Calibri"/>
                <a:cs typeface="Calibri"/>
                <a:sym typeface="Calibri"/>
              </a:rPr>
              <a:t>299 TokoBli customers with 6 independent variables (Age, Income, Tenure, Avg. Session Time, Total Promo, Bounce Rate) and 1 dependent variable (Yearly Spending)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34290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Analysis Workflow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39319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D8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68680" y="416052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68680" y="4160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68680" y="4663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68680" y="4956048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Measure how closely variables relate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46120" y="46177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410712" y="39319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D8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639312" y="416052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39312" y="4160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39312" y="4663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39312" y="4956048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Measure each effect on Yearly Spending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016752" y="46177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181344" y="39319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D8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409944" y="416052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409944" y="4160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09944" y="4663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Stepwise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9944" y="4956048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Filter variables until all are significant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787384" y="46177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951976" y="39319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D8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9180576" y="416052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180576" y="4160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180576" y="4663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180576" y="4956048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Estimate spending for a new customer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Data Overview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No missing values across the 299 rows of data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1691640"/>
            <a:ext cx="2560320" cy="1371600"/>
          </a:xfrm>
          <a:prstGeom prst="roundRect">
            <a:avLst>
              <a:gd fmla="val 5333" name="adj"/>
            </a:avLst>
          </a:prstGeom>
          <a:solidFill>
            <a:srgbClr val="0B3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77240" y="1874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299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77240" y="24505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FB8C0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410712" y="1691640"/>
            <a:ext cx="2560320" cy="1371600"/>
          </a:xfrm>
          <a:prstGeom prst="roundRect">
            <a:avLst>
              <a:gd fmla="val 5333" name="adj"/>
            </a:avLst>
          </a:prstGeom>
          <a:solidFill>
            <a:srgbClr val="0B3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547872" y="1874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547872" y="24505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FB8C0"/>
                </a:solidFill>
                <a:latin typeface="Calibri"/>
                <a:ea typeface="Calibri"/>
                <a:cs typeface="Calibri"/>
                <a:sym typeface="Calibri"/>
              </a:rPr>
              <a:t>Independent variables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181344" y="1691640"/>
            <a:ext cx="2560320" cy="1371600"/>
          </a:xfrm>
          <a:prstGeom prst="roundRect">
            <a:avLst>
              <a:gd fmla="val 5333" name="adj"/>
            </a:avLst>
          </a:prstGeom>
          <a:solidFill>
            <a:srgbClr val="0B3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318504" y="1874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Rp9.7M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318504" y="24505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FB8C0"/>
                </a:solidFill>
                <a:latin typeface="Calibri"/>
                <a:ea typeface="Calibri"/>
                <a:cs typeface="Calibri"/>
                <a:sym typeface="Calibri"/>
              </a:rPr>
              <a:t>Average yearly spending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951976" y="1691640"/>
            <a:ext cx="2560320" cy="1371600"/>
          </a:xfrm>
          <a:prstGeom prst="roundRect">
            <a:avLst>
              <a:gd fmla="val 5333" name="adj"/>
            </a:avLst>
          </a:prstGeom>
          <a:solidFill>
            <a:srgbClr val="0B3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9089136" y="1874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Rp20.2M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089136" y="24505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FB8C0"/>
                </a:solidFill>
                <a:latin typeface="Calibri"/>
                <a:ea typeface="Calibri"/>
                <a:cs typeface="Calibri"/>
                <a:sym typeface="Calibri"/>
              </a:rPr>
              <a:t>Highest yearly spending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40080" y="3337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Variable Notation Used Throughout the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" name="Google Shape;76;p3"/>
          <p:cNvGraphicFramePr/>
          <p:nvPr/>
        </p:nvGraphicFramePr>
        <p:xfrm>
          <a:off x="640080" y="3794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{FBDAE60E-7061-4D65-8B34-FC4A7D803766}</a:tableStyleId>
              </a:tblPr>
              <a:tblGrid>
                <a:gridCol w="1188725"/>
                <a:gridCol w="2926075"/>
                <a:gridCol w="6766550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income per year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Length of time as a customer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Session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session duration on the platform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Promo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promos the customer received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Bounce Rate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 of visits with no follow-up action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Yearly Spending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customer spending per year (target)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Case 1  |  Correlation Calculation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Pearson correlation across all variables, computed with the CORREL function in the spreadsheet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" name="Google Shape;84;p4"/>
          <p:cNvGraphicFramePr/>
          <p:nvPr/>
        </p:nvGraphicFramePr>
        <p:xfrm>
          <a:off x="64008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{FBDAE60E-7061-4D65-8B34-FC4A7D803766}</a:tableStyleId>
              </a:tblPr>
              <a:tblGrid>
                <a:gridCol w="2651750"/>
                <a:gridCol w="1170425"/>
                <a:gridCol w="1170425"/>
                <a:gridCol w="1170425"/>
                <a:gridCol w="1170425"/>
                <a:gridCol w="1170425"/>
                <a:gridCol w="1170425"/>
                <a:gridCol w="12070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C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3C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X1  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0.193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-0.129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C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3C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X2  Income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-0.448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C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3C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X3  Tenure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-0.570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C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3C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X4  Avg. Session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0.193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-0.787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C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3C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X5  Total Promo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-0.794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C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3C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X6  Bounce Rate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-0.129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-0.448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-0.570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-0.787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-0.794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-0.863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C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3C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 Yearly Spending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-0.863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4"/>
          <p:cNvSpPr/>
          <p:nvPr/>
        </p:nvSpPr>
        <p:spPr>
          <a:xfrm>
            <a:off x="640080" y="470916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Colored cells mark strong correlations (|r| above 0.5). Green means same direction, red means opposite direction.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fmla="val 8421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The three variables most strongly related to Yearly Spending: Avg. Session Time (0.914), Total Promo (0.877), and Bounce Rate (-0.863).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0080" y="6172200"/>
            <a:ext cx="3291840" cy="365760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40080" y="6172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Grading: correlation calculation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Case 1  |  Insights from the Correlation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How strongly each variable relates to Yearly Spending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p5"/>
          <p:cNvGraphicFramePr/>
          <p:nvPr/>
        </p:nvGraphicFramePr>
        <p:xfrm>
          <a:off x="548640" y="1600200"/>
          <a:ext cx="5943600" cy="4206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8" name="Google Shape;98;p5"/>
          <p:cNvSpPr/>
          <p:nvPr/>
        </p:nvSpPr>
        <p:spPr>
          <a:xfrm>
            <a:off x="6766560" y="1737360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223760" y="16916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Avg. Session Time matters most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223760" y="2002536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Correlation of 0.914. The longer a customer engages with the platform, the higher the yearly spending.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766560" y="2788920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223760" y="274320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Promos show a strong relationship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223760" y="3054096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Correlation of 0.877 between the number of promos received and the amount spent.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766560" y="3840480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7223760" y="379476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Bounce Rate holds spending down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223760" y="4105656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Correlation of -0.863. The more often visits end without action, the lower the yearly spending.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766560" y="4892040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223760" y="484632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Age is not a differentiator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223760" y="5157216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A correlation of only 0.221, so age-based segmentation is far less relevant.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0080" y="6172200"/>
            <a:ext cx="3291840" cy="365760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40080" y="6172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Grading: show the insights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822960" y="13716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Correlation to Regression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22960" y="2103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E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9DCE2"/>
                </a:solidFill>
                <a:latin typeface="Calibri"/>
                <a:ea typeface="Calibri"/>
                <a:cs typeface="Calibri"/>
                <a:sym typeface="Calibri"/>
              </a:rPr>
              <a:t>Correlation answers how close, regression answers how much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22960" y="2880360"/>
            <a:ext cx="5120640" cy="1371600"/>
          </a:xfrm>
          <a:prstGeom prst="roundRect">
            <a:avLst>
              <a:gd fmla="val 5333" name="adj"/>
            </a:avLst>
          </a:prstGeom>
          <a:solidFill>
            <a:srgbClr val="145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1097280" y="30449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Correlation does not measure impact size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97280" y="33832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CE8EB"/>
                </a:solidFill>
                <a:latin typeface="Calibri"/>
                <a:ea typeface="Calibri"/>
                <a:cs typeface="Calibri"/>
                <a:sym typeface="Calibri"/>
              </a:rPr>
              <a:t>The r value only shows direction and strength, not how many rupiah spending rises for one unit of change.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309360" y="2880360"/>
            <a:ext cx="5120640" cy="1371600"/>
          </a:xfrm>
          <a:prstGeom prst="roundRect">
            <a:avLst>
              <a:gd fmla="val 5333" name="adj"/>
            </a:avLst>
          </a:prstGeom>
          <a:solidFill>
            <a:srgbClr val="145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583680" y="30449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Correlation evaluates one pair at a time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583680" y="33832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CE8EB"/>
                </a:solidFill>
                <a:latin typeface="Calibri"/>
                <a:ea typeface="Calibri"/>
                <a:cs typeface="Calibri"/>
                <a:sym typeface="Calibri"/>
              </a:rPr>
              <a:t>Multiple regression evaluates all variables at once, so the pure effect of each one becomes visible.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22960" y="4480560"/>
            <a:ext cx="5120640" cy="1371600"/>
          </a:xfrm>
          <a:prstGeom prst="roundRect">
            <a:avLst>
              <a:gd fmla="val 5333" name="adj"/>
            </a:avLst>
          </a:prstGeom>
          <a:solidFill>
            <a:srgbClr val="145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1097280" y="46451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There are signs of multicollinearity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97280" y="49834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CE8EB"/>
                </a:solidFill>
                <a:latin typeface="Calibri"/>
                <a:ea typeface="Calibri"/>
                <a:cs typeface="Calibri"/>
                <a:sym typeface="Calibri"/>
              </a:rPr>
              <a:t>X4, X5, and X6 are highly correlated with each other (up to -0.794), so they need to be tested through regression and VIF.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309360" y="4480560"/>
            <a:ext cx="5120640" cy="1371600"/>
          </a:xfrm>
          <a:prstGeom prst="roundRect">
            <a:avLst>
              <a:gd fmla="val 5333" name="adj"/>
            </a:avLst>
          </a:prstGeom>
          <a:solidFill>
            <a:srgbClr val="145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583680" y="46451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A model is needed for prediction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583680" y="49834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8E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CE8EB"/>
                </a:solidFill>
                <a:latin typeface="Calibri"/>
                <a:ea typeface="Calibri"/>
                <a:cs typeface="Calibri"/>
                <a:sym typeface="Calibri"/>
              </a:rPr>
              <a:t>Predicting a new customer spending level is only possible with a regression equation, not with correlation.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40080" y="6172200"/>
            <a:ext cx="3291840" cy="365760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40080" y="6172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Grading: escalate correlation into regression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Case 2  |  Multiple Regression - Iteration 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Y = b0 + b1x1 + b2x2 + b3x3 + b4x4 + b5x5 + b6x6 with alpha 0.05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7"/>
          <p:cNvGraphicFramePr/>
          <p:nvPr/>
        </p:nvGraphicFramePr>
        <p:xfrm>
          <a:off x="64008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{FBDAE60E-7061-4D65-8B34-FC4A7D803766}</a:tableStyleId>
              </a:tblPr>
              <a:tblGrid>
                <a:gridCol w="2377450"/>
                <a:gridCol w="1463050"/>
                <a:gridCol w="1097275"/>
                <a:gridCol w="1371600"/>
                <a:gridCol w="1371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Coefficients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P-value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Conclusion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Intercept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1,947,880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X1  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30,555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0.0688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H0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3A2E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X2  Income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0.0358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X3  Tenure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64,158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X4  Avg. Session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6,287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X5  Total Promo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133,216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X6  Bounce Rate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-50,350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7"/>
          <p:cNvSpPr/>
          <p:nvPr/>
        </p:nvSpPr>
        <p:spPr>
          <a:xfrm>
            <a:off x="8595360" y="1645920"/>
            <a:ext cx="2926080" cy="1965960"/>
          </a:xfrm>
          <a:prstGeom prst="roundRect">
            <a:avLst>
              <a:gd fmla="val 3721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869680" y="181051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Goodness of Fit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869680" y="2121408"/>
            <a:ext cx="2468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R Square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0.9293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Adjusted R Square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0.9278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Significance 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close to 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595360" y="3840480"/>
            <a:ext cx="2926080" cy="1828800"/>
          </a:xfrm>
          <a:prstGeom prst="roundRect">
            <a:avLst>
              <a:gd fmla="val 4000" name="adj"/>
            </a:avLst>
          </a:prstGeom>
          <a:solidFill>
            <a:srgbClr val="B23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8869680" y="40233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9D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D9D2"/>
                </a:solidFill>
                <a:latin typeface="Calibri"/>
                <a:ea typeface="Calibri"/>
                <a:cs typeface="Calibri"/>
                <a:sym typeface="Calibri"/>
              </a:rPr>
              <a:t>Variable eliminated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869680" y="431596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X1  Age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8869680" y="4709160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E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E5E0"/>
                </a:solidFill>
                <a:latin typeface="Calibri"/>
                <a:ea typeface="Calibri"/>
                <a:cs typeface="Calibri"/>
                <a:sym typeface="Calibri"/>
              </a:rPr>
              <a:t>Its p-value of 0.0688 is above 0.05 and the largest of all, so it is dropped in the next iteration.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" y="6172200"/>
            <a:ext cx="3291840" cy="365760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40080" y="6172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Grading: regression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Case 2  |  Stepwise Regression - Iteration 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Backward elimination: the model is recalculated without X1 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8"/>
          <p:cNvGraphicFramePr/>
          <p:nvPr/>
        </p:nvGraphicFramePr>
        <p:xfrm>
          <a:off x="64008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{FBDAE60E-7061-4D65-8B34-FC4A7D803766}</a:tableStyleId>
              </a:tblPr>
              <a:tblGrid>
                <a:gridCol w="2377450"/>
                <a:gridCol w="1463050"/>
                <a:gridCol w="1097275"/>
                <a:gridCol w="1371600"/>
                <a:gridCol w="1371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Coefficients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P-value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Conclusion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Intercept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2,590,241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X2  Income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0.0368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X3  Tenure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64,576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X4  Avg. Session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6,342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X5  Total Promo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136,148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X6  Bounce Rate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-49,209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accepted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3EC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8"/>
          <p:cNvSpPr/>
          <p:nvPr/>
        </p:nvSpPr>
        <p:spPr>
          <a:xfrm>
            <a:off x="8595360" y="1645920"/>
            <a:ext cx="2926080" cy="1691640"/>
          </a:xfrm>
          <a:prstGeom prst="roundRect">
            <a:avLst>
              <a:gd fmla="val 4324" name="adj"/>
            </a:avLst>
          </a:prstGeom>
          <a:solidFill>
            <a:srgbClr val="2E7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869680" y="18288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p-values are below 0.05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8869680" y="233172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FE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CEFE3"/>
                </a:solidFill>
                <a:latin typeface="Calibri"/>
                <a:ea typeface="Calibri"/>
                <a:cs typeface="Calibri"/>
                <a:sym typeface="Calibri"/>
              </a:rPr>
              <a:t>The elimination process stops here. Two iterations in total, with one variable removed.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595360" y="3566160"/>
            <a:ext cx="2926080" cy="2103120"/>
          </a:xfrm>
          <a:prstGeom prst="roundRect">
            <a:avLst>
              <a:gd fmla="val 3478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8869680" y="37307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Multicollinearity Check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869680" y="4023360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Highest correlation among X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-0.794  (limit 0.8)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Highest VIF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3.78 on X4  (limit 5)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Conclusion: the model is safe, no further variables need to be removed.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0080" y="4343400"/>
            <a:ext cx="7680960" cy="1325880"/>
          </a:xfrm>
          <a:prstGeom prst="roundRect">
            <a:avLst>
              <a:gd fmla="val 5517" name="adj"/>
            </a:avLst>
          </a:prstGeom>
          <a:solidFill>
            <a:srgbClr val="0B3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14400" y="449884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Final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14400" y="480060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 = 2,590,241 + 0.0368 x2 + 64,576 x3 + 6,342 x4 + 136,148 x5 - 49,209 x6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914400" y="52578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FB8C0"/>
                </a:solidFill>
                <a:latin typeface="Calibri"/>
                <a:ea typeface="Calibri"/>
                <a:cs typeface="Calibri"/>
                <a:sym typeface="Calibri"/>
              </a:rPr>
              <a:t>Adjusted R Square of 0.927, so the model explains about 92.7 percent of the variation in Yearly Spending.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40080" y="6172200"/>
            <a:ext cx="3291840" cy="365760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40080" y="6172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Grading: stepwise regression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Case 3  |  Predicting a New Customer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Profile of a customer who joined about one month ago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9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{FBDAE60E-7061-4D65-8B34-FC4A7D803766}</a:tableStyleId>
              </a:tblPr>
              <a:tblGrid>
                <a:gridCol w="2377450"/>
                <a:gridCol w="1554475"/>
                <a:gridCol w="1371600"/>
                <a:gridCol w="15544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Coefficient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Contribution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C4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B82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B7B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X1  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B82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B7B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B82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B7B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used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B82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B7B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X2  Income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0.0368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736,863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X3  Tenure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64,576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64,576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X4  Avg. Session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6,342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6,341,902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X5  Total Promo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136,148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2,722,954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X6  Bounce Rate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-49,209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-1,476,274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b0  Intercept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2,590,241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6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2,590,241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8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9"/>
          <p:cNvSpPr/>
          <p:nvPr/>
        </p:nvSpPr>
        <p:spPr>
          <a:xfrm>
            <a:off x="7863840" y="1691640"/>
            <a:ext cx="3657600" cy="2286000"/>
          </a:xfrm>
          <a:prstGeom prst="roundRect">
            <a:avLst>
              <a:gd fmla="val 3200" name="adj"/>
            </a:avLst>
          </a:prstGeom>
          <a:solidFill>
            <a:srgbClr val="0B3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8092440" y="1920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Potential Yearly Spending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092440" y="22860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Rp10,980,264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092440" y="3017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FB8C0"/>
                </a:solidFill>
                <a:latin typeface="Calibri"/>
                <a:ea typeface="Calibri"/>
                <a:cs typeface="Calibri"/>
                <a:sym typeface="Calibri"/>
              </a:rPr>
              <a:t>About Rp11 million per year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092440" y="3310128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E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9DCE2"/>
                </a:solidFill>
                <a:latin typeface="Calibri"/>
                <a:ea typeface="Calibri"/>
                <a:cs typeface="Calibri"/>
                <a:sym typeface="Calibri"/>
              </a:rPr>
              <a:t>13 percent above the average of all customers (Rp9,700,334)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863840" y="4206240"/>
            <a:ext cx="3657600" cy="1463040"/>
          </a:xfrm>
          <a:prstGeom prst="roundRect">
            <a:avLst>
              <a:gd fmla="val 5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8092440" y="43708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How to read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092440" y="4663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The largest contributions come from Avg. Session Time (Rp6.3 million) and Total Promo (Rp2.7 million), while Bounce Rate holds back about Rp1.5 million.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40080" y="4572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X1 Age is still shown for completeness, but it is not counted because it is not significant in the final model.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0080" y="6172200"/>
            <a:ext cx="3291840" cy="365760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0080" y="6172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Grading: predict potential yearly spending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Case 4  |  Key Insights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A summary of the findings from correlation, regression, and prediction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40080" y="1691640"/>
            <a:ext cx="52120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8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914400" y="187452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Rp6,342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914400" y="240487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per 1 unit of Avg. Session Time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914400" y="2715768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Session duration is the strongest driver of yearly spending, both in the correlation (0.914) and in the regression.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217920" y="1691640"/>
            <a:ext cx="52120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8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6492240" y="187452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Rp136,148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492240" y="240487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per 1 additional promo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492240" y="2715768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Promos deliver the largest per-unit impact on the rise in customer yearly spending.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40080" y="3794760"/>
            <a:ext cx="52120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8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914400" y="397764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B23A2E"/>
                </a:solidFill>
                <a:latin typeface="Cambria"/>
                <a:ea typeface="Cambria"/>
                <a:cs typeface="Cambria"/>
                <a:sym typeface="Cambria"/>
              </a:rPr>
              <a:t>-Rp49,209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914400" y="45079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per 1 point of Bounce Rate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914400" y="4818888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An experience that makes visitors leave without acting eats directly into yearly spending.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217920" y="3794760"/>
            <a:ext cx="52120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8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492240" y="397764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92.7%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492240" y="45079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of Y variation explained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492240" y="4818888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Five behavioral and financial variables are enough to explain almost all of the variation in spending.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Age is not significant, so the strategy should target customer behavior rather than age demographics.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0B3C49"/>
                </a:solidFill>
                <a:latin typeface="Cambria"/>
                <a:ea typeface="Cambria"/>
                <a:cs typeface="Cambria"/>
                <a:sym typeface="Cambria"/>
              </a:rPr>
              <a:t>Case 4  |  Recommendations for the Product Manager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Four priorities ranked by the size of their impact on Yearly Spending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40080" y="1645920"/>
            <a:ext cx="1088136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1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914400" y="193852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914400" y="19385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508760" y="1773936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Make Avg. Session Time the primary KPI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508760" y="2084832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Personalize product recommendations, improve search relevance, and add review content so customers stay longer on the platform.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778240" y="1938528"/>
            <a:ext cx="2468880" cy="384048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8778240" y="193852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Highest impact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640080" y="2761488"/>
            <a:ext cx="10881360" cy="960120"/>
          </a:xfrm>
          <a:prstGeom prst="roundRect">
            <a:avLst>
              <a:gd fmla="val 7619" name="adj"/>
            </a:avLst>
          </a:prstGeom>
          <a:solidFill>
            <a:srgbClr val="F7FAFB"/>
          </a:solidFill>
          <a:ln cap="flat" cmpd="sng" w="12700">
            <a:solidFill>
              <a:srgbClr val="E1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914400" y="3054096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914400" y="30540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508760" y="2889504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Broaden promo reach and targeting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508760" y="32004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Apply bundling and tiered vouchers based on purchase history, since one extra promo is worth around Rp136 thousand.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8778240" y="3054096"/>
            <a:ext cx="2468880" cy="384048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8778240" y="305409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Largest per-unit impact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40080" y="3877056"/>
            <a:ext cx="1088136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1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914400" y="416966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914400" y="41696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508760" y="4005072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Push Bounce Rate down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508760" y="431596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Speed up page loading, improve campaign landing pages, and simplify the checkout flow so visits end in transactions.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8778240" y="4169664"/>
            <a:ext cx="2468880" cy="384048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8778240" y="416966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Experience improvement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40080" y="4992624"/>
            <a:ext cx="10881360" cy="960120"/>
          </a:xfrm>
          <a:prstGeom prst="roundRect">
            <a:avLst>
              <a:gd fmla="val 7619" name="adj"/>
            </a:avLst>
          </a:prstGeom>
          <a:solidFill>
            <a:srgbClr val="F7FAFB"/>
          </a:solidFill>
          <a:ln cap="flat" cmpd="sng" w="12700">
            <a:solidFill>
              <a:srgbClr val="E1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914400" y="5285232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914400" y="52852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508760" y="5120640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Build a tenure-based loyalty program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1508760" y="543153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2"/>
                </a:solidFill>
                <a:latin typeface="Calibri"/>
                <a:ea typeface="Calibri"/>
                <a:cs typeface="Calibri"/>
                <a:sym typeface="Calibri"/>
              </a:rPr>
              <a:t>Offer tiered benefits by length of membership to lift retention, since tenure is proven to raise spending significantly.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8778240" y="5285232"/>
            <a:ext cx="2468880" cy="384048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8778240" y="528523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Medium term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40080" y="6172200"/>
            <a:ext cx="3291840" cy="365760"/>
          </a:xfrm>
          <a:prstGeom prst="roundRect">
            <a:avLst>
              <a:gd fmla="val 50000" name="adj"/>
            </a:avLst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640080" y="6172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Grading: insight and recommendation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1097280" y="579815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1097275" y="1303423"/>
            <a:ext cx="96012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E8E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DCE8EB"/>
                </a:solidFill>
                <a:latin typeface="Calibri"/>
                <a:ea typeface="Calibri"/>
                <a:cs typeface="Calibri"/>
                <a:sym typeface="Calibri"/>
              </a:rPr>
              <a:t>Five variables have a significant effect on Yearly Spending: Income, Tenure, Avg. Session Time, Total Promo, and Bounce Rate.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DCE8E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DCE8EB"/>
                </a:solidFill>
                <a:latin typeface="Calibri"/>
                <a:ea typeface="Calibri"/>
                <a:cs typeface="Calibri"/>
                <a:sym typeface="Calibri"/>
              </a:rPr>
              <a:t>The final stepwise model (2 iterations, 1 elimination) explains 92.7 percent of the variation in spending and passes the multicollinearity check.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DCE8E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DCE8EB"/>
                </a:solidFill>
                <a:latin typeface="Calibri"/>
                <a:ea typeface="Calibri"/>
                <a:cs typeface="Calibri"/>
                <a:sym typeface="Calibri"/>
              </a:rPr>
              <a:t>The new customer in the case is predicted to spend about Rp10.98 million per year, above the TokoBli customer average.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DCE8E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DCE8EB"/>
                </a:solidFill>
                <a:latin typeface="Calibri"/>
                <a:ea typeface="Calibri"/>
                <a:cs typeface="Calibri"/>
                <a:sym typeface="Calibri"/>
              </a:rPr>
              <a:t>Campaign strategy should focus on customer behavior, especially session duration, promos, and lowering bounce rate.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097280" y="4838315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1212275" y="5295525"/>
            <a:ext cx="100902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URL 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https://docs.google.com/spreadsheets/d/19ewLgDPTgC3NhGHpAa-ISrVMpCnA21sae1fpixEBgx8/edit?usp=sharing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2026-07-24T11:07:57Z</dcterms:created>
  <dc:creator>PptxGenJS</dc:creator>
</cp:coreProperties>
</file>